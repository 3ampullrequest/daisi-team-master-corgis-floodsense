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2.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3.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4.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5.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6.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notesSlides/notesSlide7.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8.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9.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10.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notesSlides/notesSlide11.xml" ContentType="application/vnd.openxmlformats-officedocument.presentationml.notesSlide+xml"/>
  <Override PartName="/ppt/tags/tag105.xml" ContentType="application/vnd.openxmlformats-officedocument.presentationml.tags+xml"/>
  <Override PartName="/ppt/notesSlides/notesSlide12.xml" ContentType="application/vnd.openxmlformats-officedocument.presentationml.notesSlide+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notesSlides/notesSlide13.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14.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15.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notesSlides/notesSlide16.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notesSlides/notesSlide17.xml" ContentType="application/vnd.openxmlformats-officedocument.presentationml.notesSlide+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notesSlides/notesSlide18.xml" ContentType="application/vnd.openxmlformats-officedocument.presentationml.notesSlide+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notesSlides/notesSlide19.xml" ContentType="application/vnd.openxmlformats-officedocument.presentationml.notesSlide+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notesSlides/notesSlide20.xml" ContentType="application/vnd.openxmlformats-officedocument.presentationml.notesSlide+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notesSlides/notesSlide21.xml" ContentType="application/vnd.openxmlformats-officedocument.presentationml.notesSlide+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notesSlides/notesSlide22.xml" ContentType="application/vnd.openxmlformats-officedocument.presentationml.notesSlide+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notesSlides/notesSlide23.xml" ContentType="application/vnd.openxmlformats-officedocument.presentationml.notesSlide+xml"/>
  <Override PartName="/ppt/tags/tag312.xml" ContentType="application/vnd.openxmlformats-officedocument.presentationml.tags+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147473202" r:id="rId3"/>
    <p:sldId id="2147473203" r:id="rId4"/>
    <p:sldId id="2147473210" r:id="rId5"/>
    <p:sldId id="2147473212" r:id="rId6"/>
    <p:sldId id="2147473154" r:id="rId7"/>
    <p:sldId id="2147473183" r:id="rId8"/>
    <p:sldId id="2147473151" r:id="rId9"/>
    <p:sldId id="2147473208" r:id="rId10"/>
    <p:sldId id="2147473150" r:id="rId11"/>
    <p:sldId id="2147473173" r:id="rId12"/>
    <p:sldId id="2147473205" r:id="rId13"/>
    <p:sldId id="2147473224" r:id="rId14"/>
    <p:sldId id="2147473215" r:id="rId15"/>
    <p:sldId id="2147473214" r:id="rId16"/>
    <p:sldId id="2147473216" r:id="rId17"/>
    <p:sldId id="2147473206" r:id="rId18"/>
    <p:sldId id="2147473162" r:id="rId19"/>
    <p:sldId id="2147473180" r:id="rId20"/>
    <p:sldId id="2147473163" r:id="rId21"/>
    <p:sldId id="2147473161" r:id="rId22"/>
    <p:sldId id="2147473207" r:id="rId23"/>
    <p:sldId id="2147473178" r:id="rId24"/>
    <p:sldId id="2147473182" r:id="rId25"/>
    <p:sldId id="2147473175" r:id="rId26"/>
    <p:sldId id="2147473198" r:id="rId27"/>
    <p:sldId id="2147473194" r:id="rId28"/>
    <p:sldId id="2147473193" r:id="rId29"/>
    <p:sldId id="2147473187" r:id="rId30"/>
    <p:sldId id="2147473197" r:id="rId31"/>
    <p:sldId id="2147473189" r:id="rId32"/>
    <p:sldId id="2147473195" r:id="rId33"/>
    <p:sldId id="2147473196" r:id="rId34"/>
    <p:sldId id="2147473190" r:id="rId35"/>
    <p:sldId id="2147473172" r:id="rId36"/>
    <p:sldId id="214747320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60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1" autoAdjust="0"/>
    <p:restoredTop sz="70684" autoAdjust="0"/>
  </p:normalViewPr>
  <p:slideViewPr>
    <p:cSldViewPr snapToGrid="0">
      <p:cViewPr varScale="1">
        <p:scale>
          <a:sx n="76" d="100"/>
          <a:sy n="76" d="100"/>
        </p:scale>
        <p:origin x="156" y="57"/>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49DBB6-FC86-4AF5-949B-4A1E161DFD3C}" type="datetimeFigureOut">
              <a:rPr lang="en-MY" smtClean="0"/>
              <a:t>29/10/2026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C19E54-0AC7-4A36-A4D8-61A5DFCAD56C}" type="slidenum">
              <a:rPr lang="en-MY" smtClean="0"/>
              <a:t>‹#›</a:t>
            </a:fld>
            <a:endParaRPr lang="en-MY"/>
          </a:p>
        </p:txBody>
      </p:sp>
    </p:spTree>
    <p:extLst>
      <p:ext uri="{BB962C8B-B14F-4D97-AF65-F5344CB8AC3E}">
        <p14:creationId xmlns:p14="http://schemas.microsoft.com/office/powerpoint/2010/main" val="2950216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529513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defTabSz="978998" fontAlgn="base">
              <a:spcBef>
                <a:spcPct val="0"/>
              </a:spcBef>
              <a:spcAft>
                <a:spcPct val="0"/>
              </a:spcAft>
              <a:defRPr/>
            </a:pPr>
            <a:endParaRPr lang="en-US" sz="1100" dirty="0"/>
          </a:p>
        </p:txBody>
      </p:sp>
      <p:sp>
        <p:nvSpPr>
          <p:cNvPr id="4" name="Slide Number Placeholder 3"/>
          <p:cNvSpPr>
            <a:spLocks noGrp="1"/>
          </p:cNvSpPr>
          <p:nvPr>
            <p:ph type="sldNum" sz="quarter" idx="5"/>
          </p:nvPr>
        </p:nvSpPr>
        <p:spPr/>
        <p:txBody>
          <a:bodyPr/>
          <a:lstStyle/>
          <a:p>
            <a:fld id="{29C19E54-0AC7-4A36-A4D8-61A5DFCAD56C}" type="slidenum">
              <a:rPr lang="en-MY" smtClean="0"/>
              <a:t>5</a:t>
            </a:fld>
            <a:endParaRPr lang="en-MY"/>
          </a:p>
        </p:txBody>
      </p:sp>
    </p:spTree>
    <p:extLst>
      <p:ext uri="{BB962C8B-B14F-4D97-AF65-F5344CB8AC3E}">
        <p14:creationId xmlns:p14="http://schemas.microsoft.com/office/powerpoint/2010/main" val="481777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29C19E54-0AC7-4A36-A4D8-61A5DFCAD56C}" type="slidenum">
              <a:rPr lang="en-MY" smtClean="0"/>
              <a:t>6</a:t>
            </a:fld>
            <a:endParaRPr lang="en-MY"/>
          </a:p>
        </p:txBody>
      </p:sp>
    </p:spTree>
    <p:extLst>
      <p:ext uri="{BB962C8B-B14F-4D97-AF65-F5344CB8AC3E}">
        <p14:creationId xmlns:p14="http://schemas.microsoft.com/office/powerpoint/2010/main" val="577565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C829D-F742-06C7-F2A2-E49E0391D1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BC9917-E8DC-9D24-742A-1467BABC3F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091505-F619-E5D0-734B-4261503290BA}"/>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3F928287-71AF-873E-7A52-8FEB0D03817B}"/>
              </a:ext>
            </a:extLst>
          </p:cNvPr>
          <p:cNvSpPr>
            <a:spLocks noGrp="1"/>
          </p:cNvSpPr>
          <p:nvPr>
            <p:ph type="sldNum" sz="quarter" idx="5"/>
          </p:nvPr>
        </p:nvSpPr>
        <p:spPr/>
        <p:txBody>
          <a:bodyPr/>
          <a:lstStyle/>
          <a:p>
            <a:fld id="{29C19E54-0AC7-4A36-A4D8-61A5DFCAD56C}" type="slidenum">
              <a:rPr lang="en-MY" smtClean="0"/>
              <a:t>7</a:t>
            </a:fld>
            <a:endParaRPr lang="en-MY"/>
          </a:p>
        </p:txBody>
      </p:sp>
    </p:spTree>
    <p:extLst>
      <p:ext uri="{BB962C8B-B14F-4D97-AF65-F5344CB8AC3E}">
        <p14:creationId xmlns:p14="http://schemas.microsoft.com/office/powerpoint/2010/main" val="2198959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29C19E54-0AC7-4A36-A4D8-61A5DFCAD56C}" type="slidenum">
              <a:rPr lang="en-MY" smtClean="0"/>
              <a:t>8</a:t>
            </a:fld>
            <a:endParaRPr lang="en-MY"/>
          </a:p>
        </p:txBody>
      </p:sp>
    </p:spTree>
    <p:extLst>
      <p:ext uri="{BB962C8B-B14F-4D97-AF65-F5344CB8AC3E}">
        <p14:creationId xmlns:p14="http://schemas.microsoft.com/office/powerpoint/2010/main" val="1455071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So how does </a:t>
            </a:r>
            <a:r>
              <a:rPr lang="en-MY" dirty="0" err="1"/>
              <a:t>floodsense</a:t>
            </a:r>
            <a:r>
              <a:rPr lang="en-MY" dirty="0"/>
              <a:t> perform?</a:t>
            </a:r>
            <a:br>
              <a:rPr lang="en-MY" dirty="0"/>
            </a:br>
            <a:endParaRPr lang="en-MY" dirty="0"/>
          </a:p>
          <a:p>
            <a:r>
              <a:rPr lang="en-MY" dirty="0"/>
              <a:t>Its ROC-AUC is 0.93, which is better than the rainfall baseline at 0.85. Do note that these numbers are inflated due to the class imbalance resulting from flash floods being rare.</a:t>
            </a:r>
          </a:p>
          <a:p>
            <a:endParaRPr lang="en-MY" dirty="0"/>
          </a:p>
          <a:p>
            <a:r>
              <a:rPr lang="en-MY" dirty="0"/>
              <a:t>The PR-AUC is 0.018, which is 90 times better than random chance.</a:t>
            </a:r>
          </a:p>
          <a:p>
            <a:endParaRPr lang="en-MY" dirty="0"/>
          </a:p>
          <a:p>
            <a:r>
              <a:rPr lang="en-MY" dirty="0"/>
              <a:t>Of the 8 floods, 4 to 6 floods were caught. One flood occurred right as it was predicted, while another flood happened 1 hour 2 minutes after it was predicted, so the number varies depending on how lenient we count.</a:t>
            </a:r>
          </a:p>
          <a:p>
            <a:endParaRPr lang="en-MY" dirty="0"/>
          </a:p>
          <a:p>
            <a:r>
              <a:rPr lang="en-MY" dirty="0"/>
              <a:t>The average lead time was an improvement to 35.7 minutes, which beat our initial goal of 30 minutes.</a:t>
            </a:r>
          </a:p>
          <a:p>
            <a:endParaRPr lang="en-MY" dirty="0"/>
          </a:p>
          <a:p>
            <a:r>
              <a:rPr lang="en-MY" dirty="0"/>
              <a:t>However, </a:t>
            </a:r>
            <a:r>
              <a:rPr lang="en-MY" dirty="0" err="1"/>
              <a:t>floodsense</a:t>
            </a:r>
            <a:r>
              <a:rPr lang="en-MY" dirty="0"/>
              <a:t> is not yet ready, as it has rather high false positive rates.</a:t>
            </a:r>
          </a:p>
        </p:txBody>
      </p:sp>
      <p:sp>
        <p:nvSpPr>
          <p:cNvPr id="4" name="Slide Number Placeholder 3"/>
          <p:cNvSpPr>
            <a:spLocks noGrp="1"/>
          </p:cNvSpPr>
          <p:nvPr>
            <p:ph type="sldNum" sz="quarter" idx="5"/>
          </p:nvPr>
        </p:nvSpPr>
        <p:spPr/>
        <p:txBody>
          <a:bodyPr/>
          <a:lstStyle/>
          <a:p>
            <a:fld id="{29C19E54-0AC7-4A36-A4D8-61A5DFCAD56C}" type="slidenum">
              <a:rPr lang="en-MY" smtClean="0"/>
              <a:t>10</a:t>
            </a:fld>
            <a:endParaRPr lang="en-MY"/>
          </a:p>
        </p:txBody>
      </p:sp>
    </p:spTree>
    <p:extLst>
      <p:ext uri="{BB962C8B-B14F-4D97-AF65-F5344CB8AC3E}">
        <p14:creationId xmlns:p14="http://schemas.microsoft.com/office/powerpoint/2010/main" val="3478254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But I believe it has been shown that the direction of the solution is feasible. </a:t>
            </a:r>
            <a:r>
              <a:rPr lang="en-MY" dirty="0" err="1"/>
              <a:t>FloodSense</a:t>
            </a:r>
            <a:r>
              <a:rPr lang="en-MY" dirty="0"/>
              <a:t> predicted the alerts in the general vicinity correctly. If we have access to more granular and high quality data, we should be able to narrow the predictions to more precisely predict the alerts and hence flash floods.</a:t>
            </a:r>
          </a:p>
        </p:txBody>
      </p:sp>
      <p:sp>
        <p:nvSpPr>
          <p:cNvPr id="4" name="Slide Number Placeholder 3"/>
          <p:cNvSpPr>
            <a:spLocks noGrp="1"/>
          </p:cNvSpPr>
          <p:nvPr>
            <p:ph type="sldNum" sz="quarter" idx="5"/>
          </p:nvPr>
        </p:nvSpPr>
        <p:spPr/>
        <p:txBody>
          <a:bodyPr/>
          <a:lstStyle/>
          <a:p>
            <a:fld id="{29C19E54-0AC7-4A36-A4D8-61A5DFCAD56C}" type="slidenum">
              <a:rPr lang="en-MY" smtClean="0"/>
              <a:t>11</a:t>
            </a:fld>
            <a:endParaRPr lang="en-MY"/>
          </a:p>
        </p:txBody>
      </p:sp>
    </p:spTree>
    <p:extLst>
      <p:ext uri="{BB962C8B-B14F-4D97-AF65-F5344CB8AC3E}">
        <p14:creationId xmlns:p14="http://schemas.microsoft.com/office/powerpoint/2010/main" val="28533080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29C19E54-0AC7-4A36-A4D8-61A5DFCAD56C}" type="slidenum">
              <a:rPr lang="en-MY" smtClean="0"/>
              <a:t>12</a:t>
            </a:fld>
            <a:endParaRPr lang="en-MY"/>
          </a:p>
        </p:txBody>
      </p:sp>
    </p:spTree>
    <p:extLst>
      <p:ext uri="{BB962C8B-B14F-4D97-AF65-F5344CB8AC3E}">
        <p14:creationId xmlns:p14="http://schemas.microsoft.com/office/powerpoint/2010/main" val="33564256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 data sources used to train the model was NEA rainfall, 2-hour categorical weather forecast, wind speed and direction, </a:t>
            </a:r>
            <a:r>
              <a:rPr lang="en-MY" dirty="0" err="1"/>
              <a:t>tem</a:t>
            </a:r>
            <a:endParaRPr lang="en-MY" dirty="0"/>
          </a:p>
        </p:txBody>
      </p:sp>
      <p:sp>
        <p:nvSpPr>
          <p:cNvPr id="4" name="Slide Number Placeholder 3"/>
          <p:cNvSpPr>
            <a:spLocks noGrp="1"/>
          </p:cNvSpPr>
          <p:nvPr>
            <p:ph type="sldNum" sz="quarter" idx="5"/>
          </p:nvPr>
        </p:nvSpPr>
        <p:spPr/>
        <p:txBody>
          <a:bodyPr/>
          <a:lstStyle/>
          <a:p>
            <a:fld id="{29C19E54-0AC7-4A36-A4D8-61A5DFCAD56C}" type="slidenum">
              <a:rPr lang="en-MY" smtClean="0"/>
              <a:t>18</a:t>
            </a:fld>
            <a:endParaRPr lang="en-MY"/>
          </a:p>
        </p:txBody>
      </p:sp>
    </p:spTree>
    <p:extLst>
      <p:ext uri="{BB962C8B-B14F-4D97-AF65-F5344CB8AC3E}">
        <p14:creationId xmlns:p14="http://schemas.microsoft.com/office/powerpoint/2010/main" val="3403438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29C19E54-0AC7-4A36-A4D8-61A5DFCAD56C}" type="slidenum">
              <a:rPr lang="en-MY" smtClean="0"/>
              <a:t>21</a:t>
            </a:fld>
            <a:endParaRPr lang="en-MY"/>
          </a:p>
        </p:txBody>
      </p:sp>
    </p:spTree>
    <p:extLst>
      <p:ext uri="{BB962C8B-B14F-4D97-AF65-F5344CB8AC3E}">
        <p14:creationId xmlns:p14="http://schemas.microsoft.com/office/powerpoint/2010/main" val="10819166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29C19E54-0AC7-4A36-A4D8-61A5DFCAD56C}" type="slidenum">
              <a:rPr lang="en-MY" smtClean="0"/>
              <a:t>23</a:t>
            </a:fld>
            <a:endParaRPr lang="en-MY"/>
          </a:p>
        </p:txBody>
      </p:sp>
    </p:spTree>
    <p:extLst>
      <p:ext uri="{BB962C8B-B14F-4D97-AF65-F5344CB8AC3E}">
        <p14:creationId xmlns:p14="http://schemas.microsoft.com/office/powerpoint/2010/main" val="3128977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29C19E54-0AC7-4A36-A4D8-61A5DFCAD56C}" type="slidenum">
              <a:rPr lang="en-MY" smtClean="0"/>
              <a:t>24</a:t>
            </a:fld>
            <a:endParaRPr lang="en-MY"/>
          </a:p>
        </p:txBody>
      </p:sp>
    </p:spTree>
    <p:extLst>
      <p:ext uri="{BB962C8B-B14F-4D97-AF65-F5344CB8AC3E}">
        <p14:creationId xmlns:p14="http://schemas.microsoft.com/office/powerpoint/2010/main" val="23168654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29C19E54-0AC7-4A36-A4D8-61A5DFCAD56C}" type="slidenum">
              <a:rPr lang="en-MY" smtClean="0"/>
              <a:t>25</a:t>
            </a:fld>
            <a:endParaRPr lang="en-MY"/>
          </a:p>
        </p:txBody>
      </p:sp>
    </p:spTree>
    <p:extLst>
      <p:ext uri="{BB962C8B-B14F-4D97-AF65-F5344CB8AC3E}">
        <p14:creationId xmlns:p14="http://schemas.microsoft.com/office/powerpoint/2010/main" val="15073887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BF75B-D016-4A70-222E-9A0123887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01D6B-C8A9-7737-B768-20C72E85D1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9A5B32-2735-FAB4-D1D8-FE6D10F1C970}"/>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D5059D9F-2030-66F8-AD04-9B48905F7EF2}"/>
              </a:ext>
            </a:extLst>
          </p:cNvPr>
          <p:cNvSpPr>
            <a:spLocks noGrp="1"/>
          </p:cNvSpPr>
          <p:nvPr>
            <p:ph type="sldNum" sz="quarter" idx="5"/>
          </p:nvPr>
        </p:nvSpPr>
        <p:spPr/>
        <p:txBody>
          <a:bodyPr/>
          <a:lstStyle/>
          <a:p>
            <a:fld id="{29C19E54-0AC7-4A36-A4D8-61A5DFCAD56C}" type="slidenum">
              <a:rPr lang="en-MY" smtClean="0"/>
              <a:t>26</a:t>
            </a:fld>
            <a:endParaRPr lang="en-MY"/>
          </a:p>
        </p:txBody>
      </p:sp>
    </p:spTree>
    <p:extLst>
      <p:ext uri="{BB962C8B-B14F-4D97-AF65-F5344CB8AC3E}">
        <p14:creationId xmlns:p14="http://schemas.microsoft.com/office/powerpoint/2010/main" val="4522527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B7830-86F9-EBD6-DC43-A5D6F89A0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288D76-144A-08BB-583B-854BD0E47D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760329-9517-8E22-C98E-14A56DB0D467}"/>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1A44D55E-430A-B95E-5BED-CE58B2F0AC75}"/>
              </a:ext>
            </a:extLst>
          </p:cNvPr>
          <p:cNvSpPr>
            <a:spLocks noGrp="1"/>
          </p:cNvSpPr>
          <p:nvPr>
            <p:ph type="sldNum" sz="quarter" idx="5"/>
          </p:nvPr>
        </p:nvSpPr>
        <p:spPr/>
        <p:txBody>
          <a:bodyPr/>
          <a:lstStyle/>
          <a:p>
            <a:fld id="{29C19E54-0AC7-4A36-A4D8-61A5DFCAD56C}" type="slidenum">
              <a:rPr lang="en-MY" smtClean="0"/>
              <a:t>27</a:t>
            </a:fld>
            <a:endParaRPr lang="en-MY"/>
          </a:p>
        </p:txBody>
      </p:sp>
    </p:spTree>
    <p:extLst>
      <p:ext uri="{BB962C8B-B14F-4D97-AF65-F5344CB8AC3E}">
        <p14:creationId xmlns:p14="http://schemas.microsoft.com/office/powerpoint/2010/main" val="16980736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05600-2CA3-9F5E-7476-3EA896010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CFDDDC-3CAF-2A93-DC80-CC5C6CF23B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1E7F8D-C8AF-E00E-20F5-9D841743832E}"/>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D601DD05-0C9F-43BC-1756-747BC0E352F2}"/>
              </a:ext>
            </a:extLst>
          </p:cNvPr>
          <p:cNvSpPr>
            <a:spLocks noGrp="1"/>
          </p:cNvSpPr>
          <p:nvPr>
            <p:ph type="sldNum" sz="quarter" idx="5"/>
          </p:nvPr>
        </p:nvSpPr>
        <p:spPr/>
        <p:txBody>
          <a:bodyPr/>
          <a:lstStyle/>
          <a:p>
            <a:fld id="{29C19E54-0AC7-4A36-A4D8-61A5DFCAD56C}" type="slidenum">
              <a:rPr lang="en-MY" smtClean="0"/>
              <a:t>28</a:t>
            </a:fld>
            <a:endParaRPr lang="en-MY"/>
          </a:p>
        </p:txBody>
      </p:sp>
    </p:spTree>
    <p:extLst>
      <p:ext uri="{BB962C8B-B14F-4D97-AF65-F5344CB8AC3E}">
        <p14:creationId xmlns:p14="http://schemas.microsoft.com/office/powerpoint/2010/main" val="33504918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E2757-88B7-D7D2-70A4-5CCA6814B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E75EA-B6C6-4DBC-5AC1-5510B9CB6F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190201-9626-7CCE-8C55-CF809F0FBCE2}"/>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A57E542E-30CA-2C23-B38B-6C0857FA1004}"/>
              </a:ext>
            </a:extLst>
          </p:cNvPr>
          <p:cNvSpPr>
            <a:spLocks noGrp="1"/>
          </p:cNvSpPr>
          <p:nvPr>
            <p:ph type="sldNum" sz="quarter" idx="5"/>
          </p:nvPr>
        </p:nvSpPr>
        <p:spPr/>
        <p:txBody>
          <a:bodyPr/>
          <a:lstStyle/>
          <a:p>
            <a:fld id="{29C19E54-0AC7-4A36-A4D8-61A5DFCAD56C}" type="slidenum">
              <a:rPr lang="en-MY" smtClean="0"/>
              <a:t>29</a:t>
            </a:fld>
            <a:endParaRPr lang="en-MY"/>
          </a:p>
        </p:txBody>
      </p:sp>
    </p:spTree>
    <p:extLst>
      <p:ext uri="{BB962C8B-B14F-4D97-AF65-F5344CB8AC3E}">
        <p14:creationId xmlns:p14="http://schemas.microsoft.com/office/powerpoint/2010/main" val="2360779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E2757-88B7-D7D2-70A4-5CCA6814B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E75EA-B6C6-4DBC-5AC1-5510B9CB6F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190201-9626-7CCE-8C55-CF809F0FBCE2}"/>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A57E542E-30CA-2C23-B38B-6C0857FA1004}"/>
              </a:ext>
            </a:extLst>
          </p:cNvPr>
          <p:cNvSpPr>
            <a:spLocks noGrp="1"/>
          </p:cNvSpPr>
          <p:nvPr>
            <p:ph type="sldNum" sz="quarter" idx="5"/>
          </p:nvPr>
        </p:nvSpPr>
        <p:spPr/>
        <p:txBody>
          <a:bodyPr/>
          <a:lstStyle/>
          <a:p>
            <a:fld id="{29C19E54-0AC7-4A36-A4D8-61A5DFCAD56C}" type="slidenum">
              <a:rPr lang="en-MY" smtClean="0"/>
              <a:t>30</a:t>
            </a:fld>
            <a:endParaRPr lang="en-MY"/>
          </a:p>
        </p:txBody>
      </p:sp>
    </p:spTree>
    <p:extLst>
      <p:ext uri="{BB962C8B-B14F-4D97-AF65-F5344CB8AC3E}">
        <p14:creationId xmlns:p14="http://schemas.microsoft.com/office/powerpoint/2010/main" val="23607796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DA82C-3274-E366-58C3-01E5B3A33B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39B0D-A6C2-34E1-27F0-206CC9811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F0E42B-50B9-8D54-2634-88E8FEC2F984}"/>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7216A96D-6BC3-D2DA-A1C0-686170FA6A49}"/>
              </a:ext>
            </a:extLst>
          </p:cNvPr>
          <p:cNvSpPr>
            <a:spLocks noGrp="1"/>
          </p:cNvSpPr>
          <p:nvPr>
            <p:ph type="sldNum" sz="quarter" idx="5"/>
          </p:nvPr>
        </p:nvSpPr>
        <p:spPr/>
        <p:txBody>
          <a:bodyPr/>
          <a:lstStyle/>
          <a:p>
            <a:fld id="{29C19E54-0AC7-4A36-A4D8-61A5DFCAD56C}" type="slidenum">
              <a:rPr lang="en-MY" smtClean="0"/>
              <a:t>31</a:t>
            </a:fld>
            <a:endParaRPr lang="en-MY"/>
          </a:p>
        </p:txBody>
      </p:sp>
    </p:spTree>
    <p:extLst>
      <p:ext uri="{BB962C8B-B14F-4D97-AF65-F5344CB8AC3E}">
        <p14:creationId xmlns:p14="http://schemas.microsoft.com/office/powerpoint/2010/main" val="6636314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C4E08-2993-1103-93D6-CF4428B7E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141C9-EBE6-5D64-C78C-DBB48F017A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0396A5-BD51-FB79-FA75-0F6A213202D5}"/>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79ECDC59-E5A0-8CA2-030D-8710F6E8B7F7}"/>
              </a:ext>
            </a:extLst>
          </p:cNvPr>
          <p:cNvSpPr>
            <a:spLocks noGrp="1"/>
          </p:cNvSpPr>
          <p:nvPr>
            <p:ph type="sldNum" sz="quarter" idx="5"/>
          </p:nvPr>
        </p:nvSpPr>
        <p:spPr/>
        <p:txBody>
          <a:bodyPr/>
          <a:lstStyle/>
          <a:p>
            <a:fld id="{29C19E54-0AC7-4A36-A4D8-61A5DFCAD56C}" type="slidenum">
              <a:rPr lang="en-MY" smtClean="0"/>
              <a:t>32</a:t>
            </a:fld>
            <a:endParaRPr lang="en-MY"/>
          </a:p>
        </p:txBody>
      </p:sp>
    </p:spTree>
    <p:extLst>
      <p:ext uri="{BB962C8B-B14F-4D97-AF65-F5344CB8AC3E}">
        <p14:creationId xmlns:p14="http://schemas.microsoft.com/office/powerpoint/2010/main" val="2755654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F35CD-6782-AF23-C439-F7378104C2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91CA06-3A87-4E59-60F6-F13E54A531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DA9978-87CB-9A3A-FCF4-0269E3379DBD}"/>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0542FDC0-B8A9-9EF7-7404-6195DFFE4C67}"/>
              </a:ext>
            </a:extLst>
          </p:cNvPr>
          <p:cNvSpPr>
            <a:spLocks noGrp="1"/>
          </p:cNvSpPr>
          <p:nvPr>
            <p:ph type="sldNum" sz="quarter" idx="5"/>
          </p:nvPr>
        </p:nvSpPr>
        <p:spPr/>
        <p:txBody>
          <a:bodyPr/>
          <a:lstStyle/>
          <a:p>
            <a:fld id="{29C19E54-0AC7-4A36-A4D8-61A5DFCAD56C}" type="slidenum">
              <a:rPr lang="en-MY" smtClean="0"/>
              <a:t>33</a:t>
            </a:fld>
            <a:endParaRPr lang="en-MY"/>
          </a:p>
        </p:txBody>
      </p:sp>
    </p:spTree>
    <p:extLst>
      <p:ext uri="{BB962C8B-B14F-4D97-AF65-F5344CB8AC3E}">
        <p14:creationId xmlns:p14="http://schemas.microsoft.com/office/powerpoint/2010/main" val="2175685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EF4C-86BC-D96E-ACFD-DA0212361F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16C3D2-CA00-033F-99B0-237A8B4BCB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8EA987-4835-0D39-3F42-2D94B64CEA40}"/>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E1A3436E-A13F-64CE-3CF3-2324A42C2167}"/>
              </a:ext>
            </a:extLst>
          </p:cNvPr>
          <p:cNvSpPr>
            <a:spLocks noGrp="1"/>
          </p:cNvSpPr>
          <p:nvPr>
            <p:ph type="sldNum" sz="quarter" idx="5"/>
          </p:nvPr>
        </p:nvSpPr>
        <p:spPr/>
        <p:txBody>
          <a:bodyPr/>
          <a:lstStyle/>
          <a:p>
            <a:fld id="{29C19E54-0AC7-4A36-A4D8-61A5DFCAD56C}" type="slidenum">
              <a:rPr lang="en-MY" smtClean="0"/>
              <a:t>34</a:t>
            </a:fld>
            <a:endParaRPr lang="en-MY"/>
          </a:p>
        </p:txBody>
      </p:sp>
    </p:spTree>
    <p:extLst>
      <p:ext uri="{BB962C8B-B14F-4D97-AF65-F5344CB8AC3E}">
        <p14:creationId xmlns:p14="http://schemas.microsoft.com/office/powerpoint/2010/main" val="39546294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29C19E54-0AC7-4A36-A4D8-61A5DFCAD56C}" type="slidenum">
              <a:rPr lang="en-MY" smtClean="0"/>
              <a:t>35</a:t>
            </a:fld>
            <a:endParaRPr lang="en-MY"/>
          </a:p>
        </p:txBody>
      </p:sp>
    </p:spTree>
    <p:extLst>
      <p:ext uri="{BB962C8B-B14F-4D97-AF65-F5344CB8AC3E}">
        <p14:creationId xmlns:p14="http://schemas.microsoft.com/office/powerpoint/2010/main" val="18850318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29C19E54-0AC7-4A36-A4D8-61A5DFCAD56C}" type="slidenum">
              <a:rPr lang="en-MY" smtClean="0"/>
              <a:t>36</a:t>
            </a:fld>
            <a:endParaRPr lang="en-MY"/>
          </a:p>
        </p:txBody>
      </p:sp>
    </p:spTree>
    <p:extLst>
      <p:ext uri="{BB962C8B-B14F-4D97-AF65-F5344CB8AC3E}">
        <p14:creationId xmlns:p14="http://schemas.microsoft.com/office/powerpoint/2010/main" val="2764327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8EDDC-FA71-56DB-FEDA-9D8027EFF5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DC7CA8CD-7E0A-B027-E5D8-B586DDAC6A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FB9828CD-9F2A-0854-F74A-ED694A9E1F21}"/>
              </a:ext>
            </a:extLst>
          </p:cNvPr>
          <p:cNvSpPr>
            <a:spLocks noGrp="1"/>
          </p:cNvSpPr>
          <p:nvPr>
            <p:ph type="dt" sz="half" idx="10"/>
          </p:nvPr>
        </p:nvSpPr>
        <p:spPr/>
        <p:txBody>
          <a:bodyPr/>
          <a:lstStyle/>
          <a:p>
            <a:fld id="{417393E8-AD8E-42CE-82C9-2D3B211C5B37}" type="datetimeFigureOut">
              <a:rPr lang="en-MY" smtClean="0"/>
              <a:t>29/10/2026</a:t>
            </a:fld>
            <a:endParaRPr lang="en-MY"/>
          </a:p>
        </p:txBody>
      </p:sp>
      <p:sp>
        <p:nvSpPr>
          <p:cNvPr id="5" name="Footer Placeholder 4">
            <a:extLst>
              <a:ext uri="{FF2B5EF4-FFF2-40B4-BE49-F238E27FC236}">
                <a16:creationId xmlns:a16="http://schemas.microsoft.com/office/drawing/2014/main" id="{28B78BCC-C16D-313E-CC49-5BB61210C172}"/>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14961554-4777-6DED-B327-15E167D6273B}"/>
              </a:ext>
            </a:extLst>
          </p:cNvPr>
          <p:cNvSpPr>
            <a:spLocks noGrp="1"/>
          </p:cNvSpPr>
          <p:nvPr>
            <p:ph type="sldNum" sz="quarter" idx="12"/>
          </p:nvPr>
        </p:nvSpPr>
        <p:spPr/>
        <p:txBody>
          <a:bodyPr/>
          <a:lstStyle/>
          <a:p>
            <a:fld id="{858E474E-A684-477D-9981-2773FAE03701}" type="slidenum">
              <a:rPr lang="en-MY" smtClean="0"/>
              <a:t>‹#›</a:t>
            </a:fld>
            <a:endParaRPr lang="en-MY"/>
          </a:p>
        </p:txBody>
      </p:sp>
    </p:spTree>
    <p:extLst>
      <p:ext uri="{BB962C8B-B14F-4D97-AF65-F5344CB8AC3E}">
        <p14:creationId xmlns:p14="http://schemas.microsoft.com/office/powerpoint/2010/main" val="2254192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8C00E-582B-8F7B-56F7-3AFAD1312612}"/>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99D20A23-1E91-D400-04E1-BED3ED1FD2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604162EC-6CB8-24F3-D266-09CE4F7B5371}"/>
              </a:ext>
            </a:extLst>
          </p:cNvPr>
          <p:cNvSpPr>
            <a:spLocks noGrp="1"/>
          </p:cNvSpPr>
          <p:nvPr>
            <p:ph type="dt" sz="half" idx="10"/>
          </p:nvPr>
        </p:nvSpPr>
        <p:spPr/>
        <p:txBody>
          <a:bodyPr/>
          <a:lstStyle/>
          <a:p>
            <a:fld id="{417393E8-AD8E-42CE-82C9-2D3B211C5B37}" type="datetimeFigureOut">
              <a:rPr lang="en-MY" smtClean="0"/>
              <a:t>29/10/2026</a:t>
            </a:fld>
            <a:endParaRPr lang="en-MY"/>
          </a:p>
        </p:txBody>
      </p:sp>
      <p:sp>
        <p:nvSpPr>
          <p:cNvPr id="5" name="Footer Placeholder 4">
            <a:extLst>
              <a:ext uri="{FF2B5EF4-FFF2-40B4-BE49-F238E27FC236}">
                <a16:creationId xmlns:a16="http://schemas.microsoft.com/office/drawing/2014/main" id="{DCCEA902-5F18-91A9-4346-1D17D845CE0F}"/>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1EFDEB74-EE29-26AD-E0F6-D570F9849942}"/>
              </a:ext>
            </a:extLst>
          </p:cNvPr>
          <p:cNvSpPr>
            <a:spLocks noGrp="1"/>
          </p:cNvSpPr>
          <p:nvPr>
            <p:ph type="sldNum" sz="quarter" idx="12"/>
          </p:nvPr>
        </p:nvSpPr>
        <p:spPr/>
        <p:txBody>
          <a:bodyPr/>
          <a:lstStyle/>
          <a:p>
            <a:fld id="{858E474E-A684-477D-9981-2773FAE03701}" type="slidenum">
              <a:rPr lang="en-MY" smtClean="0"/>
              <a:t>‹#›</a:t>
            </a:fld>
            <a:endParaRPr lang="en-MY"/>
          </a:p>
        </p:txBody>
      </p:sp>
    </p:spTree>
    <p:extLst>
      <p:ext uri="{BB962C8B-B14F-4D97-AF65-F5344CB8AC3E}">
        <p14:creationId xmlns:p14="http://schemas.microsoft.com/office/powerpoint/2010/main" val="4154682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FC691-2EB8-254C-EA53-8A4ACC6830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87D56407-BFB3-BBD4-5F0B-925AFAB7B30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9B4D6A-57B3-9EFE-3D47-185DB6E21F44}"/>
              </a:ext>
            </a:extLst>
          </p:cNvPr>
          <p:cNvSpPr>
            <a:spLocks noGrp="1"/>
          </p:cNvSpPr>
          <p:nvPr>
            <p:ph type="dt" sz="half" idx="10"/>
          </p:nvPr>
        </p:nvSpPr>
        <p:spPr/>
        <p:txBody>
          <a:bodyPr/>
          <a:lstStyle/>
          <a:p>
            <a:fld id="{417393E8-AD8E-42CE-82C9-2D3B211C5B37}" type="datetimeFigureOut">
              <a:rPr lang="en-MY" smtClean="0"/>
              <a:t>29/10/2026</a:t>
            </a:fld>
            <a:endParaRPr lang="en-MY"/>
          </a:p>
        </p:txBody>
      </p:sp>
      <p:sp>
        <p:nvSpPr>
          <p:cNvPr id="5" name="Footer Placeholder 4">
            <a:extLst>
              <a:ext uri="{FF2B5EF4-FFF2-40B4-BE49-F238E27FC236}">
                <a16:creationId xmlns:a16="http://schemas.microsoft.com/office/drawing/2014/main" id="{1565EE57-C9EA-9CD8-E633-0957DC192329}"/>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4FB543B3-FB7F-B736-BEDE-F00BC2CB0650}"/>
              </a:ext>
            </a:extLst>
          </p:cNvPr>
          <p:cNvSpPr>
            <a:spLocks noGrp="1"/>
          </p:cNvSpPr>
          <p:nvPr>
            <p:ph type="sldNum" sz="quarter" idx="12"/>
          </p:nvPr>
        </p:nvSpPr>
        <p:spPr/>
        <p:txBody>
          <a:bodyPr/>
          <a:lstStyle/>
          <a:p>
            <a:fld id="{858E474E-A684-477D-9981-2773FAE03701}" type="slidenum">
              <a:rPr lang="en-MY" smtClean="0"/>
              <a:t>‹#›</a:t>
            </a:fld>
            <a:endParaRPr lang="en-MY"/>
          </a:p>
        </p:txBody>
      </p:sp>
    </p:spTree>
    <p:extLst>
      <p:ext uri="{BB962C8B-B14F-4D97-AF65-F5344CB8AC3E}">
        <p14:creationId xmlns:p14="http://schemas.microsoft.com/office/powerpoint/2010/main" val="2499059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8CF8E-9EA0-4938-29DF-F786BCECAFBE}"/>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4B43CE66-F167-986A-3024-4A4D84AA30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95FA74CB-5E2F-7963-55E7-5FE7E50F41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F59BEA17-D709-A4D8-87F1-86A233C1662F}"/>
              </a:ext>
            </a:extLst>
          </p:cNvPr>
          <p:cNvSpPr>
            <a:spLocks noGrp="1"/>
          </p:cNvSpPr>
          <p:nvPr>
            <p:ph type="dt" sz="half" idx="10"/>
          </p:nvPr>
        </p:nvSpPr>
        <p:spPr/>
        <p:txBody>
          <a:bodyPr/>
          <a:lstStyle/>
          <a:p>
            <a:fld id="{417393E8-AD8E-42CE-82C9-2D3B211C5B37}" type="datetimeFigureOut">
              <a:rPr lang="en-MY" smtClean="0"/>
              <a:t>29/10/2026</a:t>
            </a:fld>
            <a:endParaRPr lang="en-MY"/>
          </a:p>
        </p:txBody>
      </p:sp>
      <p:sp>
        <p:nvSpPr>
          <p:cNvPr id="6" name="Footer Placeholder 5">
            <a:extLst>
              <a:ext uri="{FF2B5EF4-FFF2-40B4-BE49-F238E27FC236}">
                <a16:creationId xmlns:a16="http://schemas.microsoft.com/office/drawing/2014/main" id="{45CE0B0B-88AC-9EA8-A838-5A115ECBC4E7}"/>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8C74E5A7-7858-AD68-2BDA-809A4DA4B7B1}"/>
              </a:ext>
            </a:extLst>
          </p:cNvPr>
          <p:cNvSpPr>
            <a:spLocks noGrp="1"/>
          </p:cNvSpPr>
          <p:nvPr>
            <p:ph type="sldNum" sz="quarter" idx="12"/>
          </p:nvPr>
        </p:nvSpPr>
        <p:spPr/>
        <p:txBody>
          <a:bodyPr/>
          <a:lstStyle/>
          <a:p>
            <a:fld id="{858E474E-A684-477D-9981-2773FAE03701}" type="slidenum">
              <a:rPr lang="en-MY" smtClean="0"/>
              <a:t>‹#›</a:t>
            </a:fld>
            <a:endParaRPr lang="en-MY"/>
          </a:p>
        </p:txBody>
      </p:sp>
    </p:spTree>
    <p:extLst>
      <p:ext uri="{BB962C8B-B14F-4D97-AF65-F5344CB8AC3E}">
        <p14:creationId xmlns:p14="http://schemas.microsoft.com/office/powerpoint/2010/main" val="375004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840CA-EF5B-3786-79B5-B1E255684D7C}"/>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B11FB8D5-8E38-BCF3-75A6-BBA3DAAEA8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733678-FD79-F84D-82DD-5DA386AEBB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1BC5B3A5-3ED3-2092-F859-DBD8692DEC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C6A157-0BFB-14DE-03C7-0885829907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B1F851DF-9733-9CD5-D6CB-3091B7CEDBEF}"/>
              </a:ext>
            </a:extLst>
          </p:cNvPr>
          <p:cNvSpPr>
            <a:spLocks noGrp="1"/>
          </p:cNvSpPr>
          <p:nvPr>
            <p:ph type="dt" sz="half" idx="10"/>
          </p:nvPr>
        </p:nvSpPr>
        <p:spPr/>
        <p:txBody>
          <a:bodyPr/>
          <a:lstStyle/>
          <a:p>
            <a:fld id="{417393E8-AD8E-42CE-82C9-2D3B211C5B37}" type="datetimeFigureOut">
              <a:rPr lang="en-MY" smtClean="0"/>
              <a:t>29/10/2026</a:t>
            </a:fld>
            <a:endParaRPr lang="en-MY"/>
          </a:p>
        </p:txBody>
      </p:sp>
      <p:sp>
        <p:nvSpPr>
          <p:cNvPr id="8" name="Footer Placeholder 7">
            <a:extLst>
              <a:ext uri="{FF2B5EF4-FFF2-40B4-BE49-F238E27FC236}">
                <a16:creationId xmlns:a16="http://schemas.microsoft.com/office/drawing/2014/main" id="{6A9C952E-8A1B-7682-8D02-AD34683E7479}"/>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102ECBFB-C777-BAD3-B528-02FAF1F39480}"/>
              </a:ext>
            </a:extLst>
          </p:cNvPr>
          <p:cNvSpPr>
            <a:spLocks noGrp="1"/>
          </p:cNvSpPr>
          <p:nvPr>
            <p:ph type="sldNum" sz="quarter" idx="12"/>
          </p:nvPr>
        </p:nvSpPr>
        <p:spPr/>
        <p:txBody>
          <a:bodyPr/>
          <a:lstStyle/>
          <a:p>
            <a:fld id="{858E474E-A684-477D-9981-2773FAE03701}" type="slidenum">
              <a:rPr lang="en-MY" smtClean="0"/>
              <a:t>‹#›</a:t>
            </a:fld>
            <a:endParaRPr lang="en-MY"/>
          </a:p>
        </p:txBody>
      </p:sp>
    </p:spTree>
    <p:extLst>
      <p:ext uri="{BB962C8B-B14F-4D97-AF65-F5344CB8AC3E}">
        <p14:creationId xmlns:p14="http://schemas.microsoft.com/office/powerpoint/2010/main" val="2157069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A0548-112D-4E70-DD94-01FDCA91AAB5}"/>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511D5457-ABE9-60C7-3380-39699CABF62E}"/>
              </a:ext>
            </a:extLst>
          </p:cNvPr>
          <p:cNvSpPr>
            <a:spLocks noGrp="1"/>
          </p:cNvSpPr>
          <p:nvPr>
            <p:ph type="dt" sz="half" idx="10"/>
          </p:nvPr>
        </p:nvSpPr>
        <p:spPr/>
        <p:txBody>
          <a:bodyPr/>
          <a:lstStyle/>
          <a:p>
            <a:fld id="{417393E8-AD8E-42CE-82C9-2D3B211C5B37}" type="datetimeFigureOut">
              <a:rPr lang="en-MY" smtClean="0"/>
              <a:t>29/10/2026</a:t>
            </a:fld>
            <a:endParaRPr lang="en-MY"/>
          </a:p>
        </p:txBody>
      </p:sp>
      <p:sp>
        <p:nvSpPr>
          <p:cNvPr id="4" name="Footer Placeholder 3">
            <a:extLst>
              <a:ext uri="{FF2B5EF4-FFF2-40B4-BE49-F238E27FC236}">
                <a16:creationId xmlns:a16="http://schemas.microsoft.com/office/drawing/2014/main" id="{20DF2B5D-965E-BA40-1953-4234AAD0DFE6}"/>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0BAE433C-7DF5-E562-67FC-03AC3B155ACC}"/>
              </a:ext>
            </a:extLst>
          </p:cNvPr>
          <p:cNvSpPr>
            <a:spLocks noGrp="1"/>
          </p:cNvSpPr>
          <p:nvPr>
            <p:ph type="sldNum" sz="quarter" idx="12"/>
          </p:nvPr>
        </p:nvSpPr>
        <p:spPr/>
        <p:txBody>
          <a:bodyPr/>
          <a:lstStyle/>
          <a:p>
            <a:fld id="{858E474E-A684-477D-9981-2773FAE03701}" type="slidenum">
              <a:rPr lang="en-MY" smtClean="0"/>
              <a:t>‹#›</a:t>
            </a:fld>
            <a:endParaRPr lang="en-MY"/>
          </a:p>
        </p:txBody>
      </p:sp>
    </p:spTree>
    <p:extLst>
      <p:ext uri="{BB962C8B-B14F-4D97-AF65-F5344CB8AC3E}">
        <p14:creationId xmlns:p14="http://schemas.microsoft.com/office/powerpoint/2010/main" val="3130498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FC13B9-94FC-ABA8-E24D-6177E082FC66}"/>
              </a:ext>
            </a:extLst>
          </p:cNvPr>
          <p:cNvSpPr>
            <a:spLocks noGrp="1"/>
          </p:cNvSpPr>
          <p:nvPr>
            <p:ph type="dt" sz="half" idx="10"/>
          </p:nvPr>
        </p:nvSpPr>
        <p:spPr/>
        <p:txBody>
          <a:bodyPr/>
          <a:lstStyle/>
          <a:p>
            <a:fld id="{417393E8-AD8E-42CE-82C9-2D3B211C5B37}" type="datetimeFigureOut">
              <a:rPr lang="en-MY" smtClean="0"/>
              <a:t>29/10/2026</a:t>
            </a:fld>
            <a:endParaRPr lang="en-MY"/>
          </a:p>
        </p:txBody>
      </p:sp>
      <p:sp>
        <p:nvSpPr>
          <p:cNvPr id="3" name="Footer Placeholder 2">
            <a:extLst>
              <a:ext uri="{FF2B5EF4-FFF2-40B4-BE49-F238E27FC236}">
                <a16:creationId xmlns:a16="http://schemas.microsoft.com/office/drawing/2014/main" id="{133F1B14-BD45-A049-9776-3C8EE486FCE0}"/>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C916CE18-12C9-F053-A5AA-5CAA66305362}"/>
              </a:ext>
            </a:extLst>
          </p:cNvPr>
          <p:cNvSpPr>
            <a:spLocks noGrp="1"/>
          </p:cNvSpPr>
          <p:nvPr>
            <p:ph type="sldNum" sz="quarter" idx="12"/>
          </p:nvPr>
        </p:nvSpPr>
        <p:spPr/>
        <p:txBody>
          <a:bodyPr/>
          <a:lstStyle/>
          <a:p>
            <a:fld id="{858E474E-A684-477D-9981-2773FAE03701}" type="slidenum">
              <a:rPr lang="en-MY" smtClean="0"/>
              <a:t>‹#›</a:t>
            </a:fld>
            <a:endParaRPr lang="en-MY"/>
          </a:p>
        </p:txBody>
      </p:sp>
    </p:spTree>
    <p:extLst>
      <p:ext uri="{BB962C8B-B14F-4D97-AF65-F5344CB8AC3E}">
        <p14:creationId xmlns:p14="http://schemas.microsoft.com/office/powerpoint/2010/main" val="3180790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40CFD-3A7E-5587-5462-9F440FD8E4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49041E98-27B6-889F-4266-24D2413076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6EDFBB9A-68DA-A969-E485-3C1FD21955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63DEC7-9244-FAD8-953C-C2936E68F18A}"/>
              </a:ext>
            </a:extLst>
          </p:cNvPr>
          <p:cNvSpPr>
            <a:spLocks noGrp="1"/>
          </p:cNvSpPr>
          <p:nvPr>
            <p:ph type="dt" sz="half" idx="10"/>
          </p:nvPr>
        </p:nvSpPr>
        <p:spPr/>
        <p:txBody>
          <a:bodyPr/>
          <a:lstStyle/>
          <a:p>
            <a:fld id="{417393E8-AD8E-42CE-82C9-2D3B211C5B37}" type="datetimeFigureOut">
              <a:rPr lang="en-MY" smtClean="0"/>
              <a:t>29/10/2026</a:t>
            </a:fld>
            <a:endParaRPr lang="en-MY"/>
          </a:p>
        </p:txBody>
      </p:sp>
      <p:sp>
        <p:nvSpPr>
          <p:cNvPr id="6" name="Footer Placeholder 5">
            <a:extLst>
              <a:ext uri="{FF2B5EF4-FFF2-40B4-BE49-F238E27FC236}">
                <a16:creationId xmlns:a16="http://schemas.microsoft.com/office/drawing/2014/main" id="{C0D11FFF-33C3-2323-11EC-06C22D0B8B18}"/>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91A74FE5-5FA6-3A7E-3235-A315DA7FB115}"/>
              </a:ext>
            </a:extLst>
          </p:cNvPr>
          <p:cNvSpPr>
            <a:spLocks noGrp="1"/>
          </p:cNvSpPr>
          <p:nvPr>
            <p:ph type="sldNum" sz="quarter" idx="12"/>
          </p:nvPr>
        </p:nvSpPr>
        <p:spPr/>
        <p:txBody>
          <a:bodyPr/>
          <a:lstStyle/>
          <a:p>
            <a:fld id="{858E474E-A684-477D-9981-2773FAE03701}" type="slidenum">
              <a:rPr lang="en-MY" smtClean="0"/>
              <a:t>‹#›</a:t>
            </a:fld>
            <a:endParaRPr lang="en-MY"/>
          </a:p>
        </p:txBody>
      </p:sp>
    </p:spTree>
    <p:extLst>
      <p:ext uri="{BB962C8B-B14F-4D97-AF65-F5344CB8AC3E}">
        <p14:creationId xmlns:p14="http://schemas.microsoft.com/office/powerpoint/2010/main" val="1027787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393CA-65EF-E632-107A-4E60A2C877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3B472333-AAE1-B391-E18D-6510C953624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38D1DF23-FE50-212A-D866-0B2178B965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A53460-BEC1-33CE-34D6-1180C17819CC}"/>
              </a:ext>
            </a:extLst>
          </p:cNvPr>
          <p:cNvSpPr>
            <a:spLocks noGrp="1"/>
          </p:cNvSpPr>
          <p:nvPr>
            <p:ph type="dt" sz="half" idx="10"/>
          </p:nvPr>
        </p:nvSpPr>
        <p:spPr/>
        <p:txBody>
          <a:bodyPr/>
          <a:lstStyle/>
          <a:p>
            <a:fld id="{417393E8-AD8E-42CE-82C9-2D3B211C5B37}" type="datetimeFigureOut">
              <a:rPr lang="en-MY" smtClean="0"/>
              <a:t>29/10/2026</a:t>
            </a:fld>
            <a:endParaRPr lang="en-MY"/>
          </a:p>
        </p:txBody>
      </p:sp>
      <p:sp>
        <p:nvSpPr>
          <p:cNvPr id="6" name="Footer Placeholder 5">
            <a:extLst>
              <a:ext uri="{FF2B5EF4-FFF2-40B4-BE49-F238E27FC236}">
                <a16:creationId xmlns:a16="http://schemas.microsoft.com/office/drawing/2014/main" id="{6753C7FA-8A20-A5F6-E5B5-618FD250A875}"/>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19618619-2CB3-E0A6-105E-ED3744376B98}"/>
              </a:ext>
            </a:extLst>
          </p:cNvPr>
          <p:cNvSpPr>
            <a:spLocks noGrp="1"/>
          </p:cNvSpPr>
          <p:nvPr>
            <p:ph type="sldNum" sz="quarter" idx="12"/>
          </p:nvPr>
        </p:nvSpPr>
        <p:spPr/>
        <p:txBody>
          <a:bodyPr/>
          <a:lstStyle/>
          <a:p>
            <a:fld id="{858E474E-A684-477D-9981-2773FAE03701}" type="slidenum">
              <a:rPr lang="en-MY" smtClean="0"/>
              <a:t>‹#›</a:t>
            </a:fld>
            <a:endParaRPr lang="en-MY"/>
          </a:p>
        </p:txBody>
      </p:sp>
    </p:spTree>
    <p:extLst>
      <p:ext uri="{BB962C8B-B14F-4D97-AF65-F5344CB8AC3E}">
        <p14:creationId xmlns:p14="http://schemas.microsoft.com/office/powerpoint/2010/main" val="653425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62A46-1517-F742-37F8-84FB63A52F3D}"/>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645A9C5A-E925-433D-8F4D-D0682D4E12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AF5C677F-4031-4B58-0C10-CDF9412678C2}"/>
              </a:ext>
            </a:extLst>
          </p:cNvPr>
          <p:cNvSpPr>
            <a:spLocks noGrp="1"/>
          </p:cNvSpPr>
          <p:nvPr>
            <p:ph type="dt" sz="half" idx="10"/>
          </p:nvPr>
        </p:nvSpPr>
        <p:spPr/>
        <p:txBody>
          <a:bodyPr/>
          <a:lstStyle/>
          <a:p>
            <a:fld id="{417393E8-AD8E-42CE-82C9-2D3B211C5B37}" type="datetimeFigureOut">
              <a:rPr lang="en-MY" smtClean="0"/>
              <a:t>29/10/2026</a:t>
            </a:fld>
            <a:endParaRPr lang="en-MY"/>
          </a:p>
        </p:txBody>
      </p:sp>
      <p:sp>
        <p:nvSpPr>
          <p:cNvPr id="5" name="Footer Placeholder 4">
            <a:extLst>
              <a:ext uri="{FF2B5EF4-FFF2-40B4-BE49-F238E27FC236}">
                <a16:creationId xmlns:a16="http://schemas.microsoft.com/office/drawing/2014/main" id="{2F1B98F1-2D55-0A27-A4E5-A9B0D337618A}"/>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117BCA2C-B3F5-3709-B365-F3E84F5AF6DE}"/>
              </a:ext>
            </a:extLst>
          </p:cNvPr>
          <p:cNvSpPr>
            <a:spLocks noGrp="1"/>
          </p:cNvSpPr>
          <p:nvPr>
            <p:ph type="sldNum" sz="quarter" idx="12"/>
          </p:nvPr>
        </p:nvSpPr>
        <p:spPr/>
        <p:txBody>
          <a:bodyPr/>
          <a:lstStyle/>
          <a:p>
            <a:fld id="{858E474E-A684-477D-9981-2773FAE03701}" type="slidenum">
              <a:rPr lang="en-MY" smtClean="0"/>
              <a:t>‹#›</a:t>
            </a:fld>
            <a:endParaRPr lang="en-MY"/>
          </a:p>
        </p:txBody>
      </p:sp>
    </p:spTree>
    <p:extLst>
      <p:ext uri="{BB962C8B-B14F-4D97-AF65-F5344CB8AC3E}">
        <p14:creationId xmlns:p14="http://schemas.microsoft.com/office/powerpoint/2010/main" val="1637344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5B6446-65CA-10E1-D788-75ECBB8DA8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15501147-E3DC-A4F6-23A8-6977C355BD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2BCE8C13-8D0D-1086-2B1C-C3FABD6DF2A4}"/>
              </a:ext>
            </a:extLst>
          </p:cNvPr>
          <p:cNvSpPr>
            <a:spLocks noGrp="1"/>
          </p:cNvSpPr>
          <p:nvPr>
            <p:ph type="dt" sz="half" idx="10"/>
          </p:nvPr>
        </p:nvSpPr>
        <p:spPr/>
        <p:txBody>
          <a:bodyPr/>
          <a:lstStyle/>
          <a:p>
            <a:fld id="{417393E8-AD8E-42CE-82C9-2D3B211C5B37}" type="datetimeFigureOut">
              <a:rPr lang="en-MY" smtClean="0"/>
              <a:t>29/10/2026</a:t>
            </a:fld>
            <a:endParaRPr lang="en-MY"/>
          </a:p>
        </p:txBody>
      </p:sp>
      <p:sp>
        <p:nvSpPr>
          <p:cNvPr id="5" name="Footer Placeholder 4">
            <a:extLst>
              <a:ext uri="{FF2B5EF4-FFF2-40B4-BE49-F238E27FC236}">
                <a16:creationId xmlns:a16="http://schemas.microsoft.com/office/drawing/2014/main" id="{7D0607F3-A258-1B6A-54F7-B803FB4F3247}"/>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2C3DEBD3-D5D8-303C-C76A-B89721E87DCF}"/>
              </a:ext>
            </a:extLst>
          </p:cNvPr>
          <p:cNvSpPr>
            <a:spLocks noGrp="1"/>
          </p:cNvSpPr>
          <p:nvPr>
            <p:ph type="sldNum" sz="quarter" idx="12"/>
          </p:nvPr>
        </p:nvSpPr>
        <p:spPr/>
        <p:txBody>
          <a:bodyPr/>
          <a:lstStyle/>
          <a:p>
            <a:fld id="{858E474E-A684-477D-9981-2773FAE03701}" type="slidenum">
              <a:rPr lang="en-MY" smtClean="0"/>
              <a:t>‹#›</a:t>
            </a:fld>
            <a:endParaRPr lang="en-MY"/>
          </a:p>
        </p:txBody>
      </p:sp>
    </p:spTree>
    <p:extLst>
      <p:ext uri="{BB962C8B-B14F-4D97-AF65-F5344CB8AC3E}">
        <p14:creationId xmlns:p14="http://schemas.microsoft.com/office/powerpoint/2010/main" val="1697438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1D373AFA-93EC-FD7B-2EC3-8C51E039751C}"/>
              </a:ext>
            </a:extLst>
          </p:cNvPr>
          <p:cNvGraphicFramePr>
            <a:graphicFrameLocks/>
          </p:cNvGraphicFramePr>
          <p:nvPr userDrawn="1">
            <p:custDataLst>
              <p:tags r:id="rId13"/>
            </p:custDataLst>
            <p:extLst>
              <p:ext uri="{D42A27DB-BD31-4B8C-83A1-F6EECF244321}">
                <p14:modId xmlns:p14="http://schemas.microsoft.com/office/powerpoint/2010/main" val="28913857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43" imgH="443" progId="TCLayout.ActiveDocument.1">
                  <p:embed/>
                </p:oleObj>
              </mc:Choice>
              <mc:Fallback>
                <p:oleObj name="thinkcell Slide" r:id="rId14" imgW="443" imgH="443" progId="TCLayout.ActiveDocument.1">
                  <p:embed/>
                  <p:pic>
                    <p:nvPicPr>
                      <p:cNvPr id="7" name="thinkcell data - do not delete" hidden="1">
                        <a:extLst>
                          <a:ext uri="{FF2B5EF4-FFF2-40B4-BE49-F238E27FC236}">
                            <a16:creationId xmlns:a16="http://schemas.microsoft.com/office/drawing/2014/main" id="{1D373AFA-93EC-FD7B-2EC3-8C51E039751C}"/>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132F6550-9050-829B-1342-B93939D76E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8EEDFAF5-12A5-4E70-4A96-1BD681C5F1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83690408-4B03-4827-5A29-63B8959719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7393E8-AD8E-42CE-82C9-2D3B211C5B37}" type="datetimeFigureOut">
              <a:rPr lang="en-MY" smtClean="0"/>
              <a:t>29/10/2026</a:t>
            </a:fld>
            <a:endParaRPr lang="en-MY"/>
          </a:p>
        </p:txBody>
      </p:sp>
      <p:sp>
        <p:nvSpPr>
          <p:cNvPr id="5" name="Footer Placeholder 4">
            <a:extLst>
              <a:ext uri="{FF2B5EF4-FFF2-40B4-BE49-F238E27FC236}">
                <a16:creationId xmlns:a16="http://schemas.microsoft.com/office/drawing/2014/main" id="{B1AA38AB-1C95-8AAC-7F6C-05A39045BB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Y"/>
          </a:p>
        </p:txBody>
      </p:sp>
      <p:sp>
        <p:nvSpPr>
          <p:cNvPr id="6" name="Slide Number Placeholder 5">
            <a:extLst>
              <a:ext uri="{FF2B5EF4-FFF2-40B4-BE49-F238E27FC236}">
                <a16:creationId xmlns:a16="http://schemas.microsoft.com/office/drawing/2014/main" id="{B97BD648-A4C0-A82B-24AF-C3506269E0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8E474E-A684-477D-9981-2773FAE03701}" type="slidenum">
              <a:rPr lang="en-MY" smtClean="0"/>
              <a:t>‹#›</a:t>
            </a:fld>
            <a:endParaRPr lang="en-MY"/>
          </a:p>
        </p:txBody>
      </p:sp>
    </p:spTree>
    <p:extLst>
      <p:ext uri="{BB962C8B-B14F-4D97-AF65-F5344CB8AC3E}">
        <p14:creationId xmlns:p14="http://schemas.microsoft.com/office/powerpoint/2010/main" val="3564515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2.svg"/><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notesSlide" Target="../notesSlides/notesSlide1.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slideLayout" Target="../slideLayouts/slideLayout6.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image" Target="../media/image3.emf"/><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oleObject" Target="../embeddings/oleObject3.bin"/></Relationships>
</file>

<file path=ppt/slides/_rels/slide3.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slideLayout" Target="../slideLayouts/slideLayout1.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tags" Target="../tags/tag25.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5" Type="http://schemas.openxmlformats.org/officeDocument/2006/relationships/image" Target="../media/image1.emf"/><Relationship Id="rId10" Type="http://schemas.openxmlformats.org/officeDocument/2006/relationships/tags" Target="../tags/tag23.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1.emf"/><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oleObject" Target="../embeddings/oleObject5.bin"/><Relationship Id="rId5" Type="http://schemas.openxmlformats.org/officeDocument/2006/relationships/tags" Target="../tags/tag30.xml"/><Relationship Id="rId10" Type="http://schemas.openxmlformats.org/officeDocument/2006/relationships/notesSlide" Target="../notesSlides/notesSlide2.xml"/><Relationship Id="rId4" Type="http://schemas.openxmlformats.org/officeDocument/2006/relationships/tags" Target="../tags/tag29.xml"/><Relationship Id="rId9"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8" Type="http://schemas.openxmlformats.org/officeDocument/2006/relationships/tags" Target="../tags/tag45.xml"/><Relationship Id="rId13" Type="http://schemas.openxmlformats.org/officeDocument/2006/relationships/notesSlide" Target="../notesSlides/notesSlide5.xml"/><Relationship Id="rId18" Type="http://schemas.openxmlformats.org/officeDocument/2006/relationships/image" Target="../media/image6.svg"/><Relationship Id="rId3" Type="http://schemas.openxmlformats.org/officeDocument/2006/relationships/tags" Target="../tags/tag40.xml"/><Relationship Id="rId7" Type="http://schemas.openxmlformats.org/officeDocument/2006/relationships/tags" Target="../tags/tag44.xml"/><Relationship Id="rId12" Type="http://schemas.openxmlformats.org/officeDocument/2006/relationships/slideLayout" Target="../slideLayouts/slideLayout6.xml"/><Relationship Id="rId17" Type="http://schemas.openxmlformats.org/officeDocument/2006/relationships/image" Target="../media/image5.svg"/><Relationship Id="rId2" Type="http://schemas.openxmlformats.org/officeDocument/2006/relationships/tags" Target="../tags/tag39.xml"/><Relationship Id="rId16" Type="http://schemas.openxmlformats.org/officeDocument/2006/relationships/image" Target="../media/image4.svg"/><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tags" Target="../tags/tag48.xml"/><Relationship Id="rId5" Type="http://schemas.openxmlformats.org/officeDocument/2006/relationships/tags" Target="../tags/tag42.xml"/><Relationship Id="rId15" Type="http://schemas.openxmlformats.org/officeDocument/2006/relationships/image" Target="../media/image1.emf"/><Relationship Id="rId10" Type="http://schemas.openxmlformats.org/officeDocument/2006/relationships/tags" Target="../tags/tag47.xml"/><Relationship Id="rId4" Type="http://schemas.openxmlformats.org/officeDocument/2006/relationships/tags" Target="../tags/tag41.xml"/><Relationship Id="rId9" Type="http://schemas.openxmlformats.org/officeDocument/2006/relationships/tags" Target="../tags/tag46.xml"/><Relationship Id="rId14"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slideLayout" Target="../slideLayouts/slideLayout1.xml"/><Relationship Id="rId3" Type="http://schemas.openxmlformats.org/officeDocument/2006/relationships/tags" Target="../tags/tag51.xml"/><Relationship Id="rId7" Type="http://schemas.openxmlformats.org/officeDocument/2006/relationships/tags" Target="../tags/tag55.xml"/><Relationship Id="rId12" Type="http://schemas.openxmlformats.org/officeDocument/2006/relationships/tags" Target="../tags/tag60.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tags" Target="../tags/tag59.xml"/><Relationship Id="rId5" Type="http://schemas.openxmlformats.org/officeDocument/2006/relationships/tags" Target="../tags/tag53.xml"/><Relationship Id="rId15" Type="http://schemas.openxmlformats.org/officeDocument/2006/relationships/image" Target="../media/image1.emf"/><Relationship Id="rId10" Type="http://schemas.openxmlformats.org/officeDocument/2006/relationships/tags" Target="../tags/tag58.xml"/><Relationship Id="rId4" Type="http://schemas.openxmlformats.org/officeDocument/2006/relationships/tags" Target="../tags/tag52.xml"/><Relationship Id="rId9" Type="http://schemas.openxmlformats.org/officeDocument/2006/relationships/tags" Target="../tags/tag57.xml"/><Relationship Id="rId14"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1.xml"/><Relationship Id="rId5" Type="http://schemas.openxmlformats.org/officeDocument/2006/relationships/image" Target="../media/image1.emf"/><Relationship Id="rId4"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slideLayout" Target="../slideLayouts/slideLayout2.xm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1.emf"/><Relationship Id="rId11" Type="http://schemas.openxmlformats.org/officeDocument/2006/relationships/image" Target="../media/image11.png"/><Relationship Id="rId5" Type="http://schemas.openxmlformats.org/officeDocument/2006/relationships/oleObject" Target="../embeddings/oleObject10.bin"/><Relationship Id="rId10" Type="http://schemas.openxmlformats.org/officeDocument/2006/relationships/image" Target="../media/image10.png"/><Relationship Id="rId4" Type="http://schemas.openxmlformats.org/officeDocument/2006/relationships/notesSlide" Target="../notesSlides/notesSlide7.xml"/><Relationship Id="rId9" Type="http://schemas.openxmlformats.org/officeDocument/2006/relationships/image" Target="../media/image9.png"/><Relationship Id="rId14"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slideLayout" Target="../slideLayouts/slideLayout1.xml"/><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tags" Target="../tags/tag75.xml"/><Relationship Id="rId2" Type="http://schemas.openxmlformats.org/officeDocument/2006/relationships/tags" Target="../tags/tag65.xml"/><Relationship Id="rId16" Type="http://schemas.openxmlformats.org/officeDocument/2006/relationships/image" Target="../media/image1.emf"/><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tags" Target="../tags/tag74.xml"/><Relationship Id="rId5" Type="http://schemas.openxmlformats.org/officeDocument/2006/relationships/tags" Target="../tags/tag68.xml"/><Relationship Id="rId15" Type="http://schemas.openxmlformats.org/officeDocument/2006/relationships/oleObject" Target="../embeddings/oleObject11.bin"/><Relationship Id="rId10" Type="http://schemas.openxmlformats.org/officeDocument/2006/relationships/tags" Target="../tags/tag73.xml"/><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tags" Target="../tags/tag83.xml"/><Relationship Id="rId13" Type="http://schemas.openxmlformats.org/officeDocument/2006/relationships/slideLayout" Target="../slideLayouts/slideLayout1.xml"/><Relationship Id="rId3" Type="http://schemas.openxmlformats.org/officeDocument/2006/relationships/tags" Target="../tags/tag78.xml"/><Relationship Id="rId7" Type="http://schemas.openxmlformats.org/officeDocument/2006/relationships/tags" Target="../tags/tag82.xml"/><Relationship Id="rId12" Type="http://schemas.openxmlformats.org/officeDocument/2006/relationships/tags" Target="../tags/tag87.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tags" Target="../tags/tag86.xml"/><Relationship Id="rId5" Type="http://schemas.openxmlformats.org/officeDocument/2006/relationships/tags" Target="../tags/tag80.xml"/><Relationship Id="rId15" Type="http://schemas.openxmlformats.org/officeDocument/2006/relationships/image" Target="../media/image1.emf"/><Relationship Id="rId10" Type="http://schemas.openxmlformats.org/officeDocument/2006/relationships/tags" Target="../tags/tag85.xml"/><Relationship Id="rId4" Type="http://schemas.openxmlformats.org/officeDocument/2006/relationships/tags" Target="../tags/tag79.xml"/><Relationship Id="rId9" Type="http://schemas.openxmlformats.org/officeDocument/2006/relationships/tags" Target="../tags/tag84.xml"/><Relationship Id="rId14" Type="http://schemas.openxmlformats.org/officeDocument/2006/relationships/oleObject" Target="../embeddings/oleObject12.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8.xml"/><Relationship Id="rId5" Type="http://schemas.openxmlformats.org/officeDocument/2006/relationships/image" Target="../media/image1.emf"/><Relationship Id="rId4" Type="http://schemas.openxmlformats.org/officeDocument/2006/relationships/oleObject" Target="../embeddings/oleObject13.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5.xml"/><Relationship Id="rId1" Type="http://schemas.openxmlformats.org/officeDocument/2006/relationships/tags" Target="../tags/tag89.xml"/><Relationship Id="rId4" Type="http://schemas.openxmlformats.org/officeDocument/2006/relationships/image" Target="../media/image1.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tags" Target="../tags/tag90.xml"/><Relationship Id="rId4" Type="http://schemas.openxmlformats.org/officeDocument/2006/relationships/image" Target="../media/image1.e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1.xml"/><Relationship Id="rId5" Type="http://schemas.openxmlformats.org/officeDocument/2006/relationships/image" Target="../media/image1.emf"/><Relationship Id="rId4" Type="http://schemas.openxmlformats.org/officeDocument/2006/relationships/oleObject" Target="../embeddings/oleObject16.bin"/></Relationships>
</file>

<file path=ppt/slides/_rels/slide22.xml.rels><?xml version="1.0" encoding="UTF-8" standalone="yes"?>
<Relationships xmlns="http://schemas.openxmlformats.org/package/2006/relationships"><Relationship Id="rId8" Type="http://schemas.openxmlformats.org/officeDocument/2006/relationships/tags" Target="../tags/tag99.xml"/><Relationship Id="rId13" Type="http://schemas.openxmlformats.org/officeDocument/2006/relationships/slideLayout" Target="../slideLayouts/slideLayout1.xml"/><Relationship Id="rId3" Type="http://schemas.openxmlformats.org/officeDocument/2006/relationships/tags" Target="../tags/tag94.xml"/><Relationship Id="rId7" Type="http://schemas.openxmlformats.org/officeDocument/2006/relationships/tags" Target="../tags/tag98.xml"/><Relationship Id="rId12" Type="http://schemas.openxmlformats.org/officeDocument/2006/relationships/tags" Target="../tags/tag103.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tags" Target="../tags/tag102.xml"/><Relationship Id="rId5" Type="http://schemas.openxmlformats.org/officeDocument/2006/relationships/tags" Target="../tags/tag96.xml"/><Relationship Id="rId15" Type="http://schemas.openxmlformats.org/officeDocument/2006/relationships/image" Target="../media/image1.emf"/><Relationship Id="rId10" Type="http://schemas.openxmlformats.org/officeDocument/2006/relationships/tags" Target="../tags/tag101.xml"/><Relationship Id="rId4" Type="http://schemas.openxmlformats.org/officeDocument/2006/relationships/tags" Target="../tags/tag95.xml"/><Relationship Id="rId9" Type="http://schemas.openxmlformats.org/officeDocument/2006/relationships/tags" Target="../tags/tag100.xml"/><Relationship Id="rId14" Type="http://schemas.openxmlformats.org/officeDocument/2006/relationships/oleObject" Target="../embeddings/oleObject17.bin"/></Relationships>
</file>

<file path=ppt/slides/_rels/slide2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11.xml"/><Relationship Id="rId7"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104.xml"/><Relationship Id="rId6" Type="http://schemas.openxmlformats.org/officeDocument/2006/relationships/image" Target="../media/image19.png"/><Relationship Id="rId5" Type="http://schemas.openxmlformats.org/officeDocument/2006/relationships/image" Target="../media/image1.emf"/><Relationship Id="rId4" Type="http://schemas.openxmlformats.org/officeDocument/2006/relationships/oleObject" Target="../embeddings/oleObject18.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05.xml"/><Relationship Id="rId6" Type="http://schemas.openxmlformats.org/officeDocument/2006/relationships/image" Target="../media/image22.png"/><Relationship Id="rId5" Type="http://schemas.openxmlformats.org/officeDocument/2006/relationships/image" Target="../media/image1.emf"/><Relationship Id="rId4" Type="http://schemas.openxmlformats.org/officeDocument/2006/relationships/oleObject" Target="../embeddings/oleObject19.bin"/></Relationships>
</file>

<file path=ppt/slides/_rels/slide25.xml.rels><?xml version="1.0" encoding="UTF-8" standalone="yes"?>
<Relationships xmlns="http://schemas.openxmlformats.org/package/2006/relationships"><Relationship Id="rId13" Type="http://schemas.openxmlformats.org/officeDocument/2006/relationships/tags" Target="../tags/tag118.xml"/><Relationship Id="rId18" Type="http://schemas.openxmlformats.org/officeDocument/2006/relationships/notesSlide" Target="../notesSlides/notesSlide13.xml"/><Relationship Id="rId26" Type="http://schemas.openxmlformats.org/officeDocument/2006/relationships/image" Target="../media/image28.svg"/><Relationship Id="rId3" Type="http://schemas.openxmlformats.org/officeDocument/2006/relationships/tags" Target="../tags/tag108.xml"/><Relationship Id="rId21" Type="http://schemas.openxmlformats.org/officeDocument/2006/relationships/image" Target="../media/image23.svg"/><Relationship Id="rId34" Type="http://schemas.openxmlformats.org/officeDocument/2006/relationships/image" Target="../media/image36.svg"/><Relationship Id="rId7" Type="http://schemas.openxmlformats.org/officeDocument/2006/relationships/tags" Target="../tags/tag112.xml"/><Relationship Id="rId12" Type="http://schemas.openxmlformats.org/officeDocument/2006/relationships/tags" Target="../tags/tag117.xml"/><Relationship Id="rId17" Type="http://schemas.openxmlformats.org/officeDocument/2006/relationships/slideLayout" Target="../slideLayouts/slideLayout6.xml"/><Relationship Id="rId25" Type="http://schemas.openxmlformats.org/officeDocument/2006/relationships/image" Target="../media/image27.svg"/><Relationship Id="rId33" Type="http://schemas.openxmlformats.org/officeDocument/2006/relationships/image" Target="../media/image35.svg"/><Relationship Id="rId2" Type="http://schemas.openxmlformats.org/officeDocument/2006/relationships/tags" Target="../tags/tag107.xml"/><Relationship Id="rId16" Type="http://schemas.openxmlformats.org/officeDocument/2006/relationships/tags" Target="../tags/tag121.xml"/><Relationship Id="rId20" Type="http://schemas.openxmlformats.org/officeDocument/2006/relationships/image" Target="../media/image1.emf"/><Relationship Id="rId29" Type="http://schemas.openxmlformats.org/officeDocument/2006/relationships/image" Target="../media/image31.svg"/><Relationship Id="rId1" Type="http://schemas.openxmlformats.org/officeDocument/2006/relationships/tags" Target="../tags/tag106.xml"/><Relationship Id="rId6" Type="http://schemas.openxmlformats.org/officeDocument/2006/relationships/tags" Target="../tags/tag111.xml"/><Relationship Id="rId11" Type="http://schemas.openxmlformats.org/officeDocument/2006/relationships/tags" Target="../tags/tag116.xml"/><Relationship Id="rId24" Type="http://schemas.openxmlformats.org/officeDocument/2006/relationships/image" Target="../media/image26.svg"/><Relationship Id="rId32" Type="http://schemas.openxmlformats.org/officeDocument/2006/relationships/image" Target="../media/image34.svg"/><Relationship Id="rId5" Type="http://schemas.openxmlformats.org/officeDocument/2006/relationships/tags" Target="../tags/tag110.xml"/><Relationship Id="rId15" Type="http://schemas.openxmlformats.org/officeDocument/2006/relationships/tags" Target="../tags/tag120.xml"/><Relationship Id="rId23" Type="http://schemas.openxmlformats.org/officeDocument/2006/relationships/image" Target="../media/image25.svg"/><Relationship Id="rId28" Type="http://schemas.openxmlformats.org/officeDocument/2006/relationships/image" Target="../media/image30.svg"/><Relationship Id="rId10" Type="http://schemas.openxmlformats.org/officeDocument/2006/relationships/tags" Target="../tags/tag115.xml"/><Relationship Id="rId19" Type="http://schemas.openxmlformats.org/officeDocument/2006/relationships/oleObject" Target="../embeddings/oleObject20.bin"/><Relationship Id="rId31" Type="http://schemas.openxmlformats.org/officeDocument/2006/relationships/image" Target="../media/image33.svg"/><Relationship Id="rId4" Type="http://schemas.openxmlformats.org/officeDocument/2006/relationships/tags" Target="../tags/tag109.xml"/><Relationship Id="rId9" Type="http://schemas.openxmlformats.org/officeDocument/2006/relationships/tags" Target="../tags/tag114.xml"/><Relationship Id="rId14" Type="http://schemas.openxmlformats.org/officeDocument/2006/relationships/tags" Target="../tags/tag119.xml"/><Relationship Id="rId22" Type="http://schemas.openxmlformats.org/officeDocument/2006/relationships/image" Target="../media/image24.svg"/><Relationship Id="rId27" Type="http://schemas.openxmlformats.org/officeDocument/2006/relationships/image" Target="../media/image29.svg"/><Relationship Id="rId30" Type="http://schemas.openxmlformats.org/officeDocument/2006/relationships/image" Target="../media/image32.svg"/><Relationship Id="rId8" Type="http://schemas.openxmlformats.org/officeDocument/2006/relationships/tags" Target="../tags/tag113.xml"/></Relationships>
</file>

<file path=ppt/slides/_rels/slide26.xml.rels><?xml version="1.0" encoding="UTF-8" standalone="yes"?>
<Relationships xmlns="http://schemas.openxmlformats.org/package/2006/relationships"><Relationship Id="rId13" Type="http://schemas.openxmlformats.org/officeDocument/2006/relationships/tags" Target="../tags/tag134.xml"/><Relationship Id="rId18" Type="http://schemas.openxmlformats.org/officeDocument/2006/relationships/notesSlide" Target="../notesSlides/notesSlide14.xml"/><Relationship Id="rId26" Type="http://schemas.openxmlformats.org/officeDocument/2006/relationships/image" Target="../media/image27.svg"/><Relationship Id="rId3" Type="http://schemas.openxmlformats.org/officeDocument/2006/relationships/tags" Target="../tags/tag124.xml"/><Relationship Id="rId21" Type="http://schemas.openxmlformats.org/officeDocument/2006/relationships/image" Target="../media/image23.svg"/><Relationship Id="rId34" Type="http://schemas.openxmlformats.org/officeDocument/2006/relationships/image" Target="../media/image35.svg"/><Relationship Id="rId7" Type="http://schemas.openxmlformats.org/officeDocument/2006/relationships/tags" Target="../tags/tag128.xml"/><Relationship Id="rId12" Type="http://schemas.openxmlformats.org/officeDocument/2006/relationships/tags" Target="../tags/tag133.xml"/><Relationship Id="rId17" Type="http://schemas.openxmlformats.org/officeDocument/2006/relationships/slideLayout" Target="../slideLayouts/slideLayout6.xml"/><Relationship Id="rId25" Type="http://schemas.openxmlformats.org/officeDocument/2006/relationships/image" Target="../media/image36.svg"/><Relationship Id="rId33" Type="http://schemas.openxmlformats.org/officeDocument/2006/relationships/image" Target="../media/image34.svg"/><Relationship Id="rId2" Type="http://schemas.openxmlformats.org/officeDocument/2006/relationships/tags" Target="../tags/tag123.xml"/><Relationship Id="rId16" Type="http://schemas.openxmlformats.org/officeDocument/2006/relationships/tags" Target="../tags/tag137.xml"/><Relationship Id="rId20" Type="http://schemas.openxmlformats.org/officeDocument/2006/relationships/image" Target="../media/image1.emf"/><Relationship Id="rId29" Type="http://schemas.openxmlformats.org/officeDocument/2006/relationships/image" Target="../media/image30.svg"/><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24" Type="http://schemas.openxmlformats.org/officeDocument/2006/relationships/image" Target="../media/image26.svg"/><Relationship Id="rId32" Type="http://schemas.openxmlformats.org/officeDocument/2006/relationships/image" Target="../media/image33.svg"/><Relationship Id="rId5" Type="http://schemas.openxmlformats.org/officeDocument/2006/relationships/tags" Target="../tags/tag126.xml"/><Relationship Id="rId15" Type="http://schemas.openxmlformats.org/officeDocument/2006/relationships/tags" Target="../tags/tag136.xml"/><Relationship Id="rId23" Type="http://schemas.openxmlformats.org/officeDocument/2006/relationships/image" Target="../media/image25.svg"/><Relationship Id="rId28" Type="http://schemas.openxmlformats.org/officeDocument/2006/relationships/image" Target="../media/image29.svg"/><Relationship Id="rId10" Type="http://schemas.openxmlformats.org/officeDocument/2006/relationships/tags" Target="../tags/tag131.xml"/><Relationship Id="rId19" Type="http://schemas.openxmlformats.org/officeDocument/2006/relationships/oleObject" Target="../embeddings/oleObject21.bin"/><Relationship Id="rId31" Type="http://schemas.openxmlformats.org/officeDocument/2006/relationships/image" Target="../media/image32.svg"/><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tags" Target="../tags/tag135.xml"/><Relationship Id="rId22" Type="http://schemas.openxmlformats.org/officeDocument/2006/relationships/image" Target="../media/image24.svg"/><Relationship Id="rId27" Type="http://schemas.openxmlformats.org/officeDocument/2006/relationships/image" Target="../media/image28.svg"/><Relationship Id="rId30" Type="http://schemas.openxmlformats.org/officeDocument/2006/relationships/image" Target="../media/image31.svg"/><Relationship Id="rId8" Type="http://schemas.openxmlformats.org/officeDocument/2006/relationships/tags" Target="../tags/tag129.xml"/></Relationships>
</file>

<file path=ppt/slides/_rels/slide27.xml.rels><?xml version="1.0" encoding="UTF-8" standalone="yes"?>
<Relationships xmlns="http://schemas.openxmlformats.org/package/2006/relationships"><Relationship Id="rId13" Type="http://schemas.openxmlformats.org/officeDocument/2006/relationships/tags" Target="../tags/tag150.xml"/><Relationship Id="rId18" Type="http://schemas.openxmlformats.org/officeDocument/2006/relationships/tags" Target="../tags/tag155.xml"/><Relationship Id="rId26" Type="http://schemas.openxmlformats.org/officeDocument/2006/relationships/image" Target="../media/image25.svg"/><Relationship Id="rId39" Type="http://schemas.openxmlformats.org/officeDocument/2006/relationships/image" Target="../media/image38.svg"/><Relationship Id="rId21" Type="http://schemas.openxmlformats.org/officeDocument/2006/relationships/notesSlide" Target="../notesSlides/notesSlide15.xml"/><Relationship Id="rId34" Type="http://schemas.openxmlformats.org/officeDocument/2006/relationships/image" Target="../media/image32.svg"/><Relationship Id="rId7" Type="http://schemas.openxmlformats.org/officeDocument/2006/relationships/tags" Target="../tags/tag144.xml"/><Relationship Id="rId12" Type="http://schemas.openxmlformats.org/officeDocument/2006/relationships/tags" Target="../tags/tag149.xml"/><Relationship Id="rId17" Type="http://schemas.openxmlformats.org/officeDocument/2006/relationships/tags" Target="../tags/tag154.xml"/><Relationship Id="rId25" Type="http://schemas.openxmlformats.org/officeDocument/2006/relationships/image" Target="../media/image24.svg"/><Relationship Id="rId33" Type="http://schemas.openxmlformats.org/officeDocument/2006/relationships/image" Target="../media/image31.svg"/><Relationship Id="rId38" Type="http://schemas.openxmlformats.org/officeDocument/2006/relationships/image" Target="../media/image37.svg"/><Relationship Id="rId2" Type="http://schemas.openxmlformats.org/officeDocument/2006/relationships/tags" Target="../tags/tag139.xml"/><Relationship Id="rId16" Type="http://schemas.openxmlformats.org/officeDocument/2006/relationships/tags" Target="../tags/tag153.xml"/><Relationship Id="rId20" Type="http://schemas.openxmlformats.org/officeDocument/2006/relationships/slideLayout" Target="../slideLayouts/slideLayout6.xml"/><Relationship Id="rId29" Type="http://schemas.openxmlformats.org/officeDocument/2006/relationships/image" Target="../media/image27.svg"/><Relationship Id="rId1" Type="http://schemas.openxmlformats.org/officeDocument/2006/relationships/tags" Target="../tags/tag138.xml"/><Relationship Id="rId6" Type="http://schemas.openxmlformats.org/officeDocument/2006/relationships/tags" Target="../tags/tag143.xml"/><Relationship Id="rId11" Type="http://schemas.openxmlformats.org/officeDocument/2006/relationships/tags" Target="../tags/tag148.xml"/><Relationship Id="rId24" Type="http://schemas.openxmlformats.org/officeDocument/2006/relationships/image" Target="../media/image23.svg"/><Relationship Id="rId32" Type="http://schemas.openxmlformats.org/officeDocument/2006/relationships/image" Target="../media/image30.svg"/><Relationship Id="rId37" Type="http://schemas.openxmlformats.org/officeDocument/2006/relationships/image" Target="../media/image35.svg"/><Relationship Id="rId40" Type="http://schemas.openxmlformats.org/officeDocument/2006/relationships/image" Target="../media/image39.svg"/><Relationship Id="rId5" Type="http://schemas.openxmlformats.org/officeDocument/2006/relationships/tags" Target="../tags/tag142.xml"/><Relationship Id="rId15" Type="http://schemas.openxmlformats.org/officeDocument/2006/relationships/tags" Target="../tags/tag152.xml"/><Relationship Id="rId23" Type="http://schemas.openxmlformats.org/officeDocument/2006/relationships/image" Target="../media/image1.emf"/><Relationship Id="rId28" Type="http://schemas.openxmlformats.org/officeDocument/2006/relationships/image" Target="../media/image36.svg"/><Relationship Id="rId36" Type="http://schemas.openxmlformats.org/officeDocument/2006/relationships/image" Target="../media/image34.svg"/><Relationship Id="rId10" Type="http://schemas.openxmlformats.org/officeDocument/2006/relationships/tags" Target="../tags/tag147.xml"/><Relationship Id="rId19" Type="http://schemas.openxmlformats.org/officeDocument/2006/relationships/tags" Target="../tags/tag156.xml"/><Relationship Id="rId31" Type="http://schemas.openxmlformats.org/officeDocument/2006/relationships/image" Target="../media/image29.svg"/><Relationship Id="rId4" Type="http://schemas.openxmlformats.org/officeDocument/2006/relationships/tags" Target="../tags/tag141.xml"/><Relationship Id="rId9" Type="http://schemas.openxmlformats.org/officeDocument/2006/relationships/tags" Target="../tags/tag146.xml"/><Relationship Id="rId14" Type="http://schemas.openxmlformats.org/officeDocument/2006/relationships/tags" Target="../tags/tag151.xml"/><Relationship Id="rId22" Type="http://schemas.openxmlformats.org/officeDocument/2006/relationships/oleObject" Target="../embeddings/oleObject22.bin"/><Relationship Id="rId27" Type="http://schemas.openxmlformats.org/officeDocument/2006/relationships/image" Target="../media/image26.svg"/><Relationship Id="rId30" Type="http://schemas.openxmlformats.org/officeDocument/2006/relationships/image" Target="../media/image28.svg"/><Relationship Id="rId35" Type="http://schemas.openxmlformats.org/officeDocument/2006/relationships/image" Target="../media/image33.svg"/><Relationship Id="rId8" Type="http://schemas.openxmlformats.org/officeDocument/2006/relationships/tags" Target="../tags/tag145.xml"/><Relationship Id="rId3" Type="http://schemas.openxmlformats.org/officeDocument/2006/relationships/tags" Target="../tags/tag140.xml"/></Relationships>
</file>

<file path=ppt/slides/_rels/slide28.xml.rels><?xml version="1.0" encoding="UTF-8" standalone="yes"?>
<Relationships xmlns="http://schemas.openxmlformats.org/package/2006/relationships"><Relationship Id="rId13" Type="http://schemas.openxmlformats.org/officeDocument/2006/relationships/tags" Target="../tags/tag169.xml"/><Relationship Id="rId18" Type="http://schemas.openxmlformats.org/officeDocument/2006/relationships/tags" Target="../tags/tag174.xml"/><Relationship Id="rId26" Type="http://schemas.openxmlformats.org/officeDocument/2006/relationships/image" Target="../media/image25.svg"/><Relationship Id="rId39" Type="http://schemas.openxmlformats.org/officeDocument/2006/relationships/image" Target="../media/image41.svg"/><Relationship Id="rId21" Type="http://schemas.openxmlformats.org/officeDocument/2006/relationships/notesSlide" Target="../notesSlides/notesSlide16.xml"/><Relationship Id="rId34" Type="http://schemas.openxmlformats.org/officeDocument/2006/relationships/image" Target="../media/image32.svg"/><Relationship Id="rId7" Type="http://schemas.openxmlformats.org/officeDocument/2006/relationships/tags" Target="../tags/tag163.xml"/><Relationship Id="rId12" Type="http://schemas.openxmlformats.org/officeDocument/2006/relationships/tags" Target="../tags/tag168.xml"/><Relationship Id="rId17" Type="http://schemas.openxmlformats.org/officeDocument/2006/relationships/tags" Target="../tags/tag173.xml"/><Relationship Id="rId25" Type="http://schemas.openxmlformats.org/officeDocument/2006/relationships/image" Target="../media/image24.svg"/><Relationship Id="rId33" Type="http://schemas.openxmlformats.org/officeDocument/2006/relationships/image" Target="../media/image31.svg"/><Relationship Id="rId38" Type="http://schemas.openxmlformats.org/officeDocument/2006/relationships/image" Target="../media/image40.svg"/><Relationship Id="rId2" Type="http://schemas.openxmlformats.org/officeDocument/2006/relationships/tags" Target="../tags/tag158.xml"/><Relationship Id="rId16" Type="http://schemas.openxmlformats.org/officeDocument/2006/relationships/tags" Target="../tags/tag172.xml"/><Relationship Id="rId20" Type="http://schemas.openxmlformats.org/officeDocument/2006/relationships/slideLayout" Target="../slideLayouts/slideLayout6.xml"/><Relationship Id="rId29" Type="http://schemas.openxmlformats.org/officeDocument/2006/relationships/image" Target="../media/image27.svg"/><Relationship Id="rId1" Type="http://schemas.openxmlformats.org/officeDocument/2006/relationships/tags" Target="../tags/tag157.xml"/><Relationship Id="rId6" Type="http://schemas.openxmlformats.org/officeDocument/2006/relationships/tags" Target="../tags/tag162.xml"/><Relationship Id="rId11" Type="http://schemas.openxmlformats.org/officeDocument/2006/relationships/tags" Target="../tags/tag167.xml"/><Relationship Id="rId24" Type="http://schemas.openxmlformats.org/officeDocument/2006/relationships/image" Target="../media/image23.svg"/><Relationship Id="rId32" Type="http://schemas.openxmlformats.org/officeDocument/2006/relationships/image" Target="../media/image30.svg"/><Relationship Id="rId37" Type="http://schemas.openxmlformats.org/officeDocument/2006/relationships/image" Target="../media/image35.svg"/><Relationship Id="rId40" Type="http://schemas.openxmlformats.org/officeDocument/2006/relationships/image" Target="../media/image42.svg"/><Relationship Id="rId5" Type="http://schemas.openxmlformats.org/officeDocument/2006/relationships/tags" Target="../tags/tag161.xml"/><Relationship Id="rId15" Type="http://schemas.openxmlformats.org/officeDocument/2006/relationships/tags" Target="../tags/tag171.xml"/><Relationship Id="rId23" Type="http://schemas.openxmlformats.org/officeDocument/2006/relationships/image" Target="../media/image1.emf"/><Relationship Id="rId28" Type="http://schemas.openxmlformats.org/officeDocument/2006/relationships/image" Target="../media/image36.svg"/><Relationship Id="rId36" Type="http://schemas.openxmlformats.org/officeDocument/2006/relationships/image" Target="../media/image34.svg"/><Relationship Id="rId10" Type="http://schemas.openxmlformats.org/officeDocument/2006/relationships/tags" Target="../tags/tag166.xml"/><Relationship Id="rId19" Type="http://schemas.openxmlformats.org/officeDocument/2006/relationships/tags" Target="../tags/tag175.xml"/><Relationship Id="rId31" Type="http://schemas.openxmlformats.org/officeDocument/2006/relationships/image" Target="../media/image29.svg"/><Relationship Id="rId4" Type="http://schemas.openxmlformats.org/officeDocument/2006/relationships/tags" Target="../tags/tag160.xml"/><Relationship Id="rId9" Type="http://schemas.openxmlformats.org/officeDocument/2006/relationships/tags" Target="../tags/tag165.xml"/><Relationship Id="rId14" Type="http://schemas.openxmlformats.org/officeDocument/2006/relationships/tags" Target="../tags/tag170.xml"/><Relationship Id="rId22" Type="http://schemas.openxmlformats.org/officeDocument/2006/relationships/oleObject" Target="../embeddings/oleObject23.bin"/><Relationship Id="rId27" Type="http://schemas.openxmlformats.org/officeDocument/2006/relationships/image" Target="../media/image26.svg"/><Relationship Id="rId30" Type="http://schemas.openxmlformats.org/officeDocument/2006/relationships/image" Target="../media/image28.svg"/><Relationship Id="rId35" Type="http://schemas.openxmlformats.org/officeDocument/2006/relationships/image" Target="../media/image33.svg"/><Relationship Id="rId8" Type="http://schemas.openxmlformats.org/officeDocument/2006/relationships/tags" Target="../tags/tag164.xml"/><Relationship Id="rId3" Type="http://schemas.openxmlformats.org/officeDocument/2006/relationships/tags" Target="../tags/tag159.xml"/></Relationships>
</file>

<file path=ppt/slides/_rels/slide29.xml.rels><?xml version="1.0" encoding="UTF-8" standalone="yes"?>
<Relationships xmlns="http://schemas.openxmlformats.org/package/2006/relationships"><Relationship Id="rId13" Type="http://schemas.openxmlformats.org/officeDocument/2006/relationships/tags" Target="../tags/tag188.xml"/><Relationship Id="rId18" Type="http://schemas.openxmlformats.org/officeDocument/2006/relationships/tags" Target="../tags/tag193.xml"/><Relationship Id="rId26" Type="http://schemas.openxmlformats.org/officeDocument/2006/relationships/oleObject" Target="../embeddings/oleObject24.bin"/><Relationship Id="rId39" Type="http://schemas.openxmlformats.org/officeDocument/2006/relationships/image" Target="../media/image33.svg"/><Relationship Id="rId21" Type="http://schemas.openxmlformats.org/officeDocument/2006/relationships/tags" Target="../tags/tag196.xml"/><Relationship Id="rId34" Type="http://schemas.openxmlformats.org/officeDocument/2006/relationships/image" Target="../media/image28.svg"/><Relationship Id="rId42" Type="http://schemas.openxmlformats.org/officeDocument/2006/relationships/image" Target="../media/image43.svg"/><Relationship Id="rId47" Type="http://schemas.openxmlformats.org/officeDocument/2006/relationships/image" Target="../media/image48.svg"/><Relationship Id="rId7" Type="http://schemas.openxmlformats.org/officeDocument/2006/relationships/tags" Target="../tags/tag182.xml"/><Relationship Id="rId2" Type="http://schemas.openxmlformats.org/officeDocument/2006/relationships/tags" Target="../tags/tag177.xml"/><Relationship Id="rId16" Type="http://schemas.openxmlformats.org/officeDocument/2006/relationships/tags" Target="../tags/tag191.xml"/><Relationship Id="rId29" Type="http://schemas.openxmlformats.org/officeDocument/2006/relationships/image" Target="../media/image23.svg"/><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tags" Target="../tags/tag186.xml"/><Relationship Id="rId24" Type="http://schemas.openxmlformats.org/officeDocument/2006/relationships/slideLayout" Target="../slideLayouts/slideLayout6.xml"/><Relationship Id="rId32" Type="http://schemas.openxmlformats.org/officeDocument/2006/relationships/image" Target="../media/image26.svg"/><Relationship Id="rId37" Type="http://schemas.openxmlformats.org/officeDocument/2006/relationships/image" Target="../media/image31.svg"/><Relationship Id="rId40" Type="http://schemas.openxmlformats.org/officeDocument/2006/relationships/image" Target="../media/image34.svg"/><Relationship Id="rId45" Type="http://schemas.openxmlformats.org/officeDocument/2006/relationships/image" Target="../media/image46.svg"/><Relationship Id="rId5" Type="http://schemas.openxmlformats.org/officeDocument/2006/relationships/tags" Target="../tags/tag180.xml"/><Relationship Id="rId15" Type="http://schemas.openxmlformats.org/officeDocument/2006/relationships/tags" Target="../tags/tag190.xml"/><Relationship Id="rId23" Type="http://schemas.openxmlformats.org/officeDocument/2006/relationships/tags" Target="../tags/tag198.xml"/><Relationship Id="rId28" Type="http://schemas.openxmlformats.org/officeDocument/2006/relationships/image" Target="../media/image36.svg"/><Relationship Id="rId36" Type="http://schemas.openxmlformats.org/officeDocument/2006/relationships/image" Target="../media/image30.svg"/><Relationship Id="rId10" Type="http://schemas.openxmlformats.org/officeDocument/2006/relationships/tags" Target="../tags/tag185.xml"/><Relationship Id="rId19" Type="http://schemas.openxmlformats.org/officeDocument/2006/relationships/tags" Target="../tags/tag194.xml"/><Relationship Id="rId31" Type="http://schemas.openxmlformats.org/officeDocument/2006/relationships/image" Target="../media/image25.svg"/><Relationship Id="rId44" Type="http://schemas.openxmlformats.org/officeDocument/2006/relationships/image" Target="../media/image45.svg"/><Relationship Id="rId4" Type="http://schemas.openxmlformats.org/officeDocument/2006/relationships/tags" Target="../tags/tag179.xml"/><Relationship Id="rId9" Type="http://schemas.openxmlformats.org/officeDocument/2006/relationships/tags" Target="../tags/tag184.xml"/><Relationship Id="rId14" Type="http://schemas.openxmlformats.org/officeDocument/2006/relationships/tags" Target="../tags/tag189.xml"/><Relationship Id="rId22" Type="http://schemas.openxmlformats.org/officeDocument/2006/relationships/tags" Target="../tags/tag197.xml"/><Relationship Id="rId27" Type="http://schemas.openxmlformats.org/officeDocument/2006/relationships/image" Target="../media/image1.emf"/><Relationship Id="rId30" Type="http://schemas.openxmlformats.org/officeDocument/2006/relationships/image" Target="../media/image24.svg"/><Relationship Id="rId35" Type="http://schemas.openxmlformats.org/officeDocument/2006/relationships/image" Target="../media/image29.svg"/><Relationship Id="rId43" Type="http://schemas.openxmlformats.org/officeDocument/2006/relationships/image" Target="../media/image44.svg"/><Relationship Id="rId8" Type="http://schemas.openxmlformats.org/officeDocument/2006/relationships/tags" Target="../tags/tag183.xml"/><Relationship Id="rId3" Type="http://schemas.openxmlformats.org/officeDocument/2006/relationships/tags" Target="../tags/tag178.xml"/><Relationship Id="rId12" Type="http://schemas.openxmlformats.org/officeDocument/2006/relationships/tags" Target="../tags/tag187.xml"/><Relationship Id="rId17" Type="http://schemas.openxmlformats.org/officeDocument/2006/relationships/tags" Target="../tags/tag192.xml"/><Relationship Id="rId25" Type="http://schemas.openxmlformats.org/officeDocument/2006/relationships/notesSlide" Target="../notesSlides/notesSlide17.xml"/><Relationship Id="rId33" Type="http://schemas.openxmlformats.org/officeDocument/2006/relationships/image" Target="../media/image27.svg"/><Relationship Id="rId38" Type="http://schemas.openxmlformats.org/officeDocument/2006/relationships/image" Target="../media/image32.svg"/><Relationship Id="rId46" Type="http://schemas.openxmlformats.org/officeDocument/2006/relationships/image" Target="../media/image47.svg"/><Relationship Id="rId20" Type="http://schemas.openxmlformats.org/officeDocument/2006/relationships/tags" Target="../tags/tag195.xml"/><Relationship Id="rId41" Type="http://schemas.openxmlformats.org/officeDocument/2006/relationships/image" Target="../media/image35.svg"/></Relationships>
</file>

<file path=ppt/slides/_rels/slide30.xml.rels><?xml version="1.0" encoding="UTF-8" standalone="yes"?>
<Relationships xmlns="http://schemas.openxmlformats.org/package/2006/relationships"><Relationship Id="rId13" Type="http://schemas.openxmlformats.org/officeDocument/2006/relationships/tags" Target="../tags/tag211.xml"/><Relationship Id="rId18" Type="http://schemas.openxmlformats.org/officeDocument/2006/relationships/tags" Target="../tags/tag216.xml"/><Relationship Id="rId26" Type="http://schemas.openxmlformats.org/officeDocument/2006/relationships/image" Target="../media/image1.emf"/><Relationship Id="rId39" Type="http://schemas.openxmlformats.org/officeDocument/2006/relationships/image" Target="../media/image35.svg"/><Relationship Id="rId21" Type="http://schemas.openxmlformats.org/officeDocument/2006/relationships/tags" Target="../tags/tag219.xml"/><Relationship Id="rId34" Type="http://schemas.openxmlformats.org/officeDocument/2006/relationships/image" Target="../media/image30.svg"/><Relationship Id="rId42" Type="http://schemas.openxmlformats.org/officeDocument/2006/relationships/image" Target="../media/image51.svg"/><Relationship Id="rId7" Type="http://schemas.openxmlformats.org/officeDocument/2006/relationships/tags" Target="../tags/tag205.xml"/><Relationship Id="rId2" Type="http://schemas.openxmlformats.org/officeDocument/2006/relationships/tags" Target="../tags/tag200.xml"/><Relationship Id="rId16" Type="http://schemas.openxmlformats.org/officeDocument/2006/relationships/tags" Target="../tags/tag214.xml"/><Relationship Id="rId29" Type="http://schemas.openxmlformats.org/officeDocument/2006/relationships/image" Target="../media/image25.svg"/><Relationship Id="rId1" Type="http://schemas.openxmlformats.org/officeDocument/2006/relationships/tags" Target="../tags/tag199.xml"/><Relationship Id="rId6" Type="http://schemas.openxmlformats.org/officeDocument/2006/relationships/tags" Target="../tags/tag204.xml"/><Relationship Id="rId11" Type="http://schemas.openxmlformats.org/officeDocument/2006/relationships/tags" Target="../tags/tag209.xml"/><Relationship Id="rId24" Type="http://schemas.openxmlformats.org/officeDocument/2006/relationships/notesSlide" Target="../notesSlides/notesSlide18.xml"/><Relationship Id="rId32" Type="http://schemas.openxmlformats.org/officeDocument/2006/relationships/image" Target="../media/image28.svg"/><Relationship Id="rId37" Type="http://schemas.openxmlformats.org/officeDocument/2006/relationships/image" Target="../media/image33.svg"/><Relationship Id="rId40" Type="http://schemas.openxmlformats.org/officeDocument/2006/relationships/image" Target="../media/image49.svg"/><Relationship Id="rId45" Type="http://schemas.openxmlformats.org/officeDocument/2006/relationships/image" Target="../media/image54.svg"/><Relationship Id="rId5" Type="http://schemas.openxmlformats.org/officeDocument/2006/relationships/tags" Target="../tags/tag203.xml"/><Relationship Id="rId15" Type="http://schemas.openxmlformats.org/officeDocument/2006/relationships/tags" Target="../tags/tag213.xml"/><Relationship Id="rId23" Type="http://schemas.openxmlformats.org/officeDocument/2006/relationships/slideLayout" Target="../slideLayouts/slideLayout6.xml"/><Relationship Id="rId28" Type="http://schemas.openxmlformats.org/officeDocument/2006/relationships/image" Target="../media/image24.svg"/><Relationship Id="rId36" Type="http://schemas.openxmlformats.org/officeDocument/2006/relationships/image" Target="../media/image32.svg"/><Relationship Id="rId10" Type="http://schemas.openxmlformats.org/officeDocument/2006/relationships/tags" Target="../tags/tag208.xml"/><Relationship Id="rId19" Type="http://schemas.openxmlformats.org/officeDocument/2006/relationships/tags" Target="../tags/tag217.xml"/><Relationship Id="rId31" Type="http://schemas.openxmlformats.org/officeDocument/2006/relationships/image" Target="../media/image27.svg"/><Relationship Id="rId44" Type="http://schemas.openxmlformats.org/officeDocument/2006/relationships/image" Target="../media/image53.svg"/><Relationship Id="rId4" Type="http://schemas.openxmlformats.org/officeDocument/2006/relationships/tags" Target="../tags/tag202.xml"/><Relationship Id="rId9" Type="http://schemas.openxmlformats.org/officeDocument/2006/relationships/tags" Target="../tags/tag207.xml"/><Relationship Id="rId14" Type="http://schemas.openxmlformats.org/officeDocument/2006/relationships/tags" Target="../tags/tag212.xml"/><Relationship Id="rId22" Type="http://schemas.openxmlformats.org/officeDocument/2006/relationships/tags" Target="../tags/tag220.xml"/><Relationship Id="rId27" Type="http://schemas.openxmlformats.org/officeDocument/2006/relationships/image" Target="../media/image23.svg"/><Relationship Id="rId30" Type="http://schemas.openxmlformats.org/officeDocument/2006/relationships/image" Target="../media/image26.svg"/><Relationship Id="rId35" Type="http://schemas.openxmlformats.org/officeDocument/2006/relationships/image" Target="../media/image31.svg"/><Relationship Id="rId43" Type="http://schemas.openxmlformats.org/officeDocument/2006/relationships/image" Target="../media/image52.svg"/><Relationship Id="rId8" Type="http://schemas.openxmlformats.org/officeDocument/2006/relationships/tags" Target="../tags/tag206.xml"/><Relationship Id="rId3" Type="http://schemas.openxmlformats.org/officeDocument/2006/relationships/tags" Target="../tags/tag201.xml"/><Relationship Id="rId12" Type="http://schemas.openxmlformats.org/officeDocument/2006/relationships/tags" Target="../tags/tag210.xml"/><Relationship Id="rId17" Type="http://schemas.openxmlformats.org/officeDocument/2006/relationships/tags" Target="../tags/tag215.xml"/><Relationship Id="rId25" Type="http://schemas.openxmlformats.org/officeDocument/2006/relationships/oleObject" Target="../embeddings/oleObject25.bin"/><Relationship Id="rId33" Type="http://schemas.openxmlformats.org/officeDocument/2006/relationships/image" Target="../media/image29.svg"/><Relationship Id="rId38" Type="http://schemas.openxmlformats.org/officeDocument/2006/relationships/image" Target="../media/image34.svg"/><Relationship Id="rId46" Type="http://schemas.openxmlformats.org/officeDocument/2006/relationships/image" Target="../media/image36.svg"/><Relationship Id="rId20" Type="http://schemas.openxmlformats.org/officeDocument/2006/relationships/tags" Target="../tags/tag218.xml"/><Relationship Id="rId41" Type="http://schemas.openxmlformats.org/officeDocument/2006/relationships/image" Target="../media/image50.svg"/></Relationships>
</file>

<file path=ppt/slides/_rels/slide31.xml.rels><?xml version="1.0" encoding="UTF-8" standalone="yes"?>
<Relationships xmlns="http://schemas.openxmlformats.org/package/2006/relationships"><Relationship Id="rId13" Type="http://schemas.openxmlformats.org/officeDocument/2006/relationships/tags" Target="../tags/tag233.xml"/><Relationship Id="rId18" Type="http://schemas.openxmlformats.org/officeDocument/2006/relationships/tags" Target="../tags/tag238.xml"/><Relationship Id="rId26" Type="http://schemas.openxmlformats.org/officeDocument/2006/relationships/image" Target="../media/image1.emf"/><Relationship Id="rId39" Type="http://schemas.openxmlformats.org/officeDocument/2006/relationships/image" Target="../media/image34.svg"/><Relationship Id="rId21" Type="http://schemas.openxmlformats.org/officeDocument/2006/relationships/tags" Target="../tags/tag241.xml"/><Relationship Id="rId34" Type="http://schemas.openxmlformats.org/officeDocument/2006/relationships/image" Target="../media/image29.svg"/><Relationship Id="rId42" Type="http://schemas.openxmlformats.org/officeDocument/2006/relationships/image" Target="../media/image56.svg"/><Relationship Id="rId7" Type="http://schemas.openxmlformats.org/officeDocument/2006/relationships/tags" Target="../tags/tag227.xml"/><Relationship Id="rId2" Type="http://schemas.openxmlformats.org/officeDocument/2006/relationships/tags" Target="../tags/tag222.xml"/><Relationship Id="rId16" Type="http://schemas.openxmlformats.org/officeDocument/2006/relationships/tags" Target="../tags/tag236.xml"/><Relationship Id="rId29" Type="http://schemas.openxmlformats.org/officeDocument/2006/relationships/image" Target="../media/image25.svg"/><Relationship Id="rId1" Type="http://schemas.openxmlformats.org/officeDocument/2006/relationships/tags" Target="../tags/tag221.xml"/><Relationship Id="rId6" Type="http://schemas.openxmlformats.org/officeDocument/2006/relationships/tags" Target="../tags/tag226.xml"/><Relationship Id="rId11" Type="http://schemas.openxmlformats.org/officeDocument/2006/relationships/tags" Target="../tags/tag231.xml"/><Relationship Id="rId24" Type="http://schemas.openxmlformats.org/officeDocument/2006/relationships/notesSlide" Target="../notesSlides/notesSlide19.xml"/><Relationship Id="rId32" Type="http://schemas.openxmlformats.org/officeDocument/2006/relationships/image" Target="../media/image27.svg"/><Relationship Id="rId37" Type="http://schemas.openxmlformats.org/officeDocument/2006/relationships/image" Target="../media/image32.svg"/><Relationship Id="rId40" Type="http://schemas.openxmlformats.org/officeDocument/2006/relationships/image" Target="../media/image35.svg"/><Relationship Id="rId45" Type="http://schemas.openxmlformats.org/officeDocument/2006/relationships/image" Target="../media/image59.svg"/><Relationship Id="rId5" Type="http://schemas.openxmlformats.org/officeDocument/2006/relationships/tags" Target="../tags/tag225.xml"/><Relationship Id="rId15" Type="http://schemas.openxmlformats.org/officeDocument/2006/relationships/tags" Target="../tags/tag235.xml"/><Relationship Id="rId23" Type="http://schemas.openxmlformats.org/officeDocument/2006/relationships/slideLayout" Target="../slideLayouts/slideLayout6.xml"/><Relationship Id="rId28" Type="http://schemas.openxmlformats.org/officeDocument/2006/relationships/image" Target="../media/image24.svg"/><Relationship Id="rId36" Type="http://schemas.openxmlformats.org/officeDocument/2006/relationships/image" Target="../media/image31.svg"/><Relationship Id="rId10" Type="http://schemas.openxmlformats.org/officeDocument/2006/relationships/tags" Target="../tags/tag230.xml"/><Relationship Id="rId19" Type="http://schemas.openxmlformats.org/officeDocument/2006/relationships/tags" Target="../tags/tag239.xml"/><Relationship Id="rId31" Type="http://schemas.openxmlformats.org/officeDocument/2006/relationships/image" Target="../media/image36.svg"/><Relationship Id="rId44" Type="http://schemas.openxmlformats.org/officeDocument/2006/relationships/image" Target="../media/image58.svg"/><Relationship Id="rId4" Type="http://schemas.openxmlformats.org/officeDocument/2006/relationships/tags" Target="../tags/tag224.xml"/><Relationship Id="rId9" Type="http://schemas.openxmlformats.org/officeDocument/2006/relationships/tags" Target="../tags/tag229.xml"/><Relationship Id="rId14" Type="http://schemas.openxmlformats.org/officeDocument/2006/relationships/tags" Target="../tags/tag234.xml"/><Relationship Id="rId22" Type="http://schemas.openxmlformats.org/officeDocument/2006/relationships/tags" Target="../tags/tag242.xml"/><Relationship Id="rId27" Type="http://schemas.openxmlformats.org/officeDocument/2006/relationships/image" Target="../media/image23.svg"/><Relationship Id="rId30" Type="http://schemas.openxmlformats.org/officeDocument/2006/relationships/image" Target="../media/image26.svg"/><Relationship Id="rId35" Type="http://schemas.openxmlformats.org/officeDocument/2006/relationships/image" Target="../media/image30.svg"/><Relationship Id="rId43" Type="http://schemas.openxmlformats.org/officeDocument/2006/relationships/image" Target="../media/image57.svg"/><Relationship Id="rId8" Type="http://schemas.openxmlformats.org/officeDocument/2006/relationships/tags" Target="../tags/tag228.xml"/><Relationship Id="rId3" Type="http://schemas.openxmlformats.org/officeDocument/2006/relationships/tags" Target="../tags/tag223.xml"/><Relationship Id="rId12" Type="http://schemas.openxmlformats.org/officeDocument/2006/relationships/tags" Target="../tags/tag232.xml"/><Relationship Id="rId17" Type="http://schemas.openxmlformats.org/officeDocument/2006/relationships/tags" Target="../tags/tag237.xml"/><Relationship Id="rId25" Type="http://schemas.openxmlformats.org/officeDocument/2006/relationships/oleObject" Target="../embeddings/oleObject26.bin"/><Relationship Id="rId33" Type="http://schemas.openxmlformats.org/officeDocument/2006/relationships/image" Target="../media/image28.svg"/><Relationship Id="rId38" Type="http://schemas.openxmlformats.org/officeDocument/2006/relationships/image" Target="../media/image33.svg"/><Relationship Id="rId46" Type="http://schemas.openxmlformats.org/officeDocument/2006/relationships/image" Target="../media/image60.svg"/><Relationship Id="rId20" Type="http://schemas.openxmlformats.org/officeDocument/2006/relationships/tags" Target="../tags/tag240.xml"/><Relationship Id="rId41" Type="http://schemas.openxmlformats.org/officeDocument/2006/relationships/image" Target="../media/image55.svg"/></Relationships>
</file>

<file path=ppt/slides/_rels/slide32.xml.rels><?xml version="1.0" encoding="UTF-8" standalone="yes"?>
<Relationships xmlns="http://schemas.openxmlformats.org/package/2006/relationships"><Relationship Id="rId13" Type="http://schemas.openxmlformats.org/officeDocument/2006/relationships/tags" Target="../tags/tag255.xml"/><Relationship Id="rId18" Type="http://schemas.openxmlformats.org/officeDocument/2006/relationships/tags" Target="../tags/tag260.xml"/><Relationship Id="rId26" Type="http://schemas.openxmlformats.org/officeDocument/2006/relationships/image" Target="../media/image23.svg"/><Relationship Id="rId39" Type="http://schemas.openxmlformats.org/officeDocument/2006/relationships/image" Target="../media/image35.svg"/><Relationship Id="rId21" Type="http://schemas.openxmlformats.org/officeDocument/2006/relationships/tags" Target="../tags/tag263.xml"/><Relationship Id="rId34" Type="http://schemas.openxmlformats.org/officeDocument/2006/relationships/image" Target="../media/image30.svg"/><Relationship Id="rId42" Type="http://schemas.openxmlformats.org/officeDocument/2006/relationships/image" Target="../media/image63.svg"/><Relationship Id="rId7" Type="http://schemas.openxmlformats.org/officeDocument/2006/relationships/tags" Target="../tags/tag249.xml"/><Relationship Id="rId2" Type="http://schemas.openxmlformats.org/officeDocument/2006/relationships/tags" Target="../tags/tag244.xml"/><Relationship Id="rId16" Type="http://schemas.openxmlformats.org/officeDocument/2006/relationships/tags" Target="../tags/tag258.xml"/><Relationship Id="rId20" Type="http://schemas.openxmlformats.org/officeDocument/2006/relationships/tags" Target="../tags/tag262.xml"/><Relationship Id="rId29" Type="http://schemas.openxmlformats.org/officeDocument/2006/relationships/image" Target="../media/image26.svg"/><Relationship Id="rId41" Type="http://schemas.openxmlformats.org/officeDocument/2006/relationships/image" Target="../media/image62.svg"/><Relationship Id="rId1" Type="http://schemas.openxmlformats.org/officeDocument/2006/relationships/tags" Target="../tags/tag243.xml"/><Relationship Id="rId6" Type="http://schemas.openxmlformats.org/officeDocument/2006/relationships/tags" Target="../tags/tag248.xml"/><Relationship Id="rId11" Type="http://schemas.openxmlformats.org/officeDocument/2006/relationships/tags" Target="../tags/tag253.xml"/><Relationship Id="rId24" Type="http://schemas.openxmlformats.org/officeDocument/2006/relationships/oleObject" Target="../embeddings/oleObject27.bin"/><Relationship Id="rId32" Type="http://schemas.openxmlformats.org/officeDocument/2006/relationships/image" Target="../media/image28.svg"/><Relationship Id="rId37" Type="http://schemas.openxmlformats.org/officeDocument/2006/relationships/image" Target="../media/image33.svg"/><Relationship Id="rId40" Type="http://schemas.openxmlformats.org/officeDocument/2006/relationships/image" Target="../media/image61.svg"/><Relationship Id="rId5" Type="http://schemas.openxmlformats.org/officeDocument/2006/relationships/tags" Target="../tags/tag247.xml"/><Relationship Id="rId15" Type="http://schemas.openxmlformats.org/officeDocument/2006/relationships/tags" Target="../tags/tag257.xml"/><Relationship Id="rId23" Type="http://schemas.openxmlformats.org/officeDocument/2006/relationships/notesSlide" Target="../notesSlides/notesSlide20.xml"/><Relationship Id="rId28" Type="http://schemas.openxmlformats.org/officeDocument/2006/relationships/image" Target="../media/image25.svg"/><Relationship Id="rId36" Type="http://schemas.openxmlformats.org/officeDocument/2006/relationships/image" Target="../media/image32.svg"/><Relationship Id="rId10" Type="http://schemas.openxmlformats.org/officeDocument/2006/relationships/tags" Target="../tags/tag252.xml"/><Relationship Id="rId19" Type="http://schemas.openxmlformats.org/officeDocument/2006/relationships/tags" Target="../tags/tag261.xml"/><Relationship Id="rId31" Type="http://schemas.openxmlformats.org/officeDocument/2006/relationships/image" Target="../media/image27.svg"/><Relationship Id="rId44" Type="http://schemas.openxmlformats.org/officeDocument/2006/relationships/image" Target="../media/image65.svg"/><Relationship Id="rId4" Type="http://schemas.openxmlformats.org/officeDocument/2006/relationships/tags" Target="../tags/tag246.xml"/><Relationship Id="rId9" Type="http://schemas.openxmlformats.org/officeDocument/2006/relationships/tags" Target="../tags/tag251.xml"/><Relationship Id="rId14" Type="http://schemas.openxmlformats.org/officeDocument/2006/relationships/tags" Target="../tags/tag256.xml"/><Relationship Id="rId22" Type="http://schemas.openxmlformats.org/officeDocument/2006/relationships/slideLayout" Target="../slideLayouts/slideLayout6.xml"/><Relationship Id="rId27" Type="http://schemas.openxmlformats.org/officeDocument/2006/relationships/image" Target="../media/image24.svg"/><Relationship Id="rId30" Type="http://schemas.openxmlformats.org/officeDocument/2006/relationships/image" Target="../media/image36.svg"/><Relationship Id="rId35" Type="http://schemas.openxmlformats.org/officeDocument/2006/relationships/image" Target="../media/image31.svg"/><Relationship Id="rId43" Type="http://schemas.openxmlformats.org/officeDocument/2006/relationships/image" Target="../media/image64.svg"/><Relationship Id="rId8" Type="http://schemas.openxmlformats.org/officeDocument/2006/relationships/tags" Target="../tags/tag250.xml"/><Relationship Id="rId3" Type="http://schemas.openxmlformats.org/officeDocument/2006/relationships/tags" Target="../tags/tag245.xml"/><Relationship Id="rId12" Type="http://schemas.openxmlformats.org/officeDocument/2006/relationships/tags" Target="../tags/tag254.xml"/><Relationship Id="rId17" Type="http://schemas.openxmlformats.org/officeDocument/2006/relationships/tags" Target="../tags/tag259.xml"/><Relationship Id="rId25" Type="http://schemas.openxmlformats.org/officeDocument/2006/relationships/image" Target="../media/image1.emf"/><Relationship Id="rId33" Type="http://schemas.openxmlformats.org/officeDocument/2006/relationships/image" Target="../media/image29.svg"/><Relationship Id="rId38" Type="http://schemas.openxmlformats.org/officeDocument/2006/relationships/image" Target="../media/image34.svg"/></Relationships>
</file>

<file path=ppt/slides/_rels/slide33.xml.rels><?xml version="1.0" encoding="UTF-8" standalone="yes"?>
<Relationships xmlns="http://schemas.openxmlformats.org/package/2006/relationships"><Relationship Id="rId13" Type="http://schemas.openxmlformats.org/officeDocument/2006/relationships/tags" Target="../tags/tag276.xml"/><Relationship Id="rId18" Type="http://schemas.openxmlformats.org/officeDocument/2006/relationships/tags" Target="../tags/tag281.xml"/><Relationship Id="rId26" Type="http://schemas.openxmlformats.org/officeDocument/2006/relationships/image" Target="../media/image1.emf"/><Relationship Id="rId39" Type="http://schemas.openxmlformats.org/officeDocument/2006/relationships/image" Target="../media/image34.svg"/><Relationship Id="rId21" Type="http://schemas.openxmlformats.org/officeDocument/2006/relationships/tags" Target="../tags/tag284.xml"/><Relationship Id="rId34" Type="http://schemas.openxmlformats.org/officeDocument/2006/relationships/image" Target="../media/image29.svg"/><Relationship Id="rId42" Type="http://schemas.openxmlformats.org/officeDocument/2006/relationships/image" Target="../media/image67.svg"/><Relationship Id="rId7" Type="http://schemas.openxmlformats.org/officeDocument/2006/relationships/tags" Target="../tags/tag270.xml"/><Relationship Id="rId2" Type="http://schemas.openxmlformats.org/officeDocument/2006/relationships/tags" Target="../tags/tag265.xml"/><Relationship Id="rId16" Type="http://schemas.openxmlformats.org/officeDocument/2006/relationships/tags" Target="../tags/tag279.xml"/><Relationship Id="rId29" Type="http://schemas.openxmlformats.org/officeDocument/2006/relationships/image" Target="../media/image25.svg"/><Relationship Id="rId1" Type="http://schemas.openxmlformats.org/officeDocument/2006/relationships/tags" Target="../tags/tag264.xml"/><Relationship Id="rId6" Type="http://schemas.openxmlformats.org/officeDocument/2006/relationships/tags" Target="../tags/tag269.xml"/><Relationship Id="rId11" Type="http://schemas.openxmlformats.org/officeDocument/2006/relationships/tags" Target="../tags/tag274.xml"/><Relationship Id="rId24" Type="http://schemas.openxmlformats.org/officeDocument/2006/relationships/notesSlide" Target="../notesSlides/notesSlide21.xml"/><Relationship Id="rId32" Type="http://schemas.openxmlformats.org/officeDocument/2006/relationships/image" Target="../media/image27.svg"/><Relationship Id="rId37" Type="http://schemas.openxmlformats.org/officeDocument/2006/relationships/image" Target="../media/image32.svg"/><Relationship Id="rId40" Type="http://schemas.openxmlformats.org/officeDocument/2006/relationships/image" Target="../media/image35.svg"/><Relationship Id="rId45" Type="http://schemas.openxmlformats.org/officeDocument/2006/relationships/image" Target="../media/image70.svg"/><Relationship Id="rId5" Type="http://schemas.openxmlformats.org/officeDocument/2006/relationships/tags" Target="../tags/tag268.xml"/><Relationship Id="rId15" Type="http://schemas.openxmlformats.org/officeDocument/2006/relationships/tags" Target="../tags/tag278.xml"/><Relationship Id="rId23" Type="http://schemas.openxmlformats.org/officeDocument/2006/relationships/slideLayout" Target="../slideLayouts/slideLayout6.xml"/><Relationship Id="rId28" Type="http://schemas.openxmlformats.org/officeDocument/2006/relationships/image" Target="../media/image24.svg"/><Relationship Id="rId36" Type="http://schemas.openxmlformats.org/officeDocument/2006/relationships/image" Target="../media/image31.svg"/><Relationship Id="rId10" Type="http://schemas.openxmlformats.org/officeDocument/2006/relationships/tags" Target="../tags/tag273.xml"/><Relationship Id="rId19" Type="http://schemas.openxmlformats.org/officeDocument/2006/relationships/tags" Target="../tags/tag282.xml"/><Relationship Id="rId31" Type="http://schemas.openxmlformats.org/officeDocument/2006/relationships/image" Target="../media/image36.svg"/><Relationship Id="rId44" Type="http://schemas.openxmlformats.org/officeDocument/2006/relationships/image" Target="../media/image69.svg"/><Relationship Id="rId4" Type="http://schemas.openxmlformats.org/officeDocument/2006/relationships/tags" Target="../tags/tag267.xml"/><Relationship Id="rId9" Type="http://schemas.openxmlformats.org/officeDocument/2006/relationships/tags" Target="../tags/tag272.xml"/><Relationship Id="rId14" Type="http://schemas.openxmlformats.org/officeDocument/2006/relationships/tags" Target="../tags/tag277.xml"/><Relationship Id="rId22" Type="http://schemas.openxmlformats.org/officeDocument/2006/relationships/tags" Target="../tags/tag285.xml"/><Relationship Id="rId27" Type="http://schemas.openxmlformats.org/officeDocument/2006/relationships/image" Target="../media/image23.svg"/><Relationship Id="rId30" Type="http://schemas.openxmlformats.org/officeDocument/2006/relationships/image" Target="../media/image26.svg"/><Relationship Id="rId35" Type="http://schemas.openxmlformats.org/officeDocument/2006/relationships/image" Target="../media/image30.svg"/><Relationship Id="rId43" Type="http://schemas.openxmlformats.org/officeDocument/2006/relationships/image" Target="../media/image68.svg"/><Relationship Id="rId8" Type="http://schemas.openxmlformats.org/officeDocument/2006/relationships/tags" Target="../tags/tag271.xml"/><Relationship Id="rId3" Type="http://schemas.openxmlformats.org/officeDocument/2006/relationships/tags" Target="../tags/tag266.xml"/><Relationship Id="rId12" Type="http://schemas.openxmlformats.org/officeDocument/2006/relationships/tags" Target="../tags/tag275.xml"/><Relationship Id="rId17" Type="http://schemas.openxmlformats.org/officeDocument/2006/relationships/tags" Target="../tags/tag280.xml"/><Relationship Id="rId25" Type="http://schemas.openxmlformats.org/officeDocument/2006/relationships/oleObject" Target="../embeddings/oleObject28.bin"/><Relationship Id="rId33" Type="http://schemas.openxmlformats.org/officeDocument/2006/relationships/image" Target="../media/image28.svg"/><Relationship Id="rId38" Type="http://schemas.openxmlformats.org/officeDocument/2006/relationships/image" Target="../media/image33.svg"/><Relationship Id="rId46" Type="http://schemas.openxmlformats.org/officeDocument/2006/relationships/image" Target="../media/image71.svg"/><Relationship Id="rId20" Type="http://schemas.openxmlformats.org/officeDocument/2006/relationships/tags" Target="../tags/tag283.xml"/><Relationship Id="rId41" Type="http://schemas.openxmlformats.org/officeDocument/2006/relationships/image" Target="../media/image66.svg"/></Relationships>
</file>

<file path=ppt/slides/_rels/slide34.xml.rels><?xml version="1.0" encoding="UTF-8" standalone="yes"?>
<Relationships xmlns="http://schemas.openxmlformats.org/package/2006/relationships"><Relationship Id="rId13" Type="http://schemas.openxmlformats.org/officeDocument/2006/relationships/tags" Target="../tags/tag298.xml"/><Relationship Id="rId18" Type="http://schemas.openxmlformats.org/officeDocument/2006/relationships/tags" Target="../tags/tag303.xml"/><Relationship Id="rId26" Type="http://schemas.openxmlformats.org/officeDocument/2006/relationships/image" Target="../media/image25.svg"/><Relationship Id="rId39" Type="http://schemas.openxmlformats.org/officeDocument/2006/relationships/image" Target="../media/image72.svg"/><Relationship Id="rId21" Type="http://schemas.openxmlformats.org/officeDocument/2006/relationships/notesSlide" Target="../notesSlides/notesSlide22.xml"/><Relationship Id="rId34" Type="http://schemas.openxmlformats.org/officeDocument/2006/relationships/image" Target="../media/image32.svg"/><Relationship Id="rId7" Type="http://schemas.openxmlformats.org/officeDocument/2006/relationships/tags" Target="../tags/tag292.xml"/><Relationship Id="rId12" Type="http://schemas.openxmlformats.org/officeDocument/2006/relationships/tags" Target="../tags/tag297.xml"/><Relationship Id="rId17" Type="http://schemas.openxmlformats.org/officeDocument/2006/relationships/tags" Target="../tags/tag302.xml"/><Relationship Id="rId25" Type="http://schemas.openxmlformats.org/officeDocument/2006/relationships/image" Target="../media/image24.svg"/><Relationship Id="rId33" Type="http://schemas.openxmlformats.org/officeDocument/2006/relationships/image" Target="../media/image31.svg"/><Relationship Id="rId38" Type="http://schemas.openxmlformats.org/officeDocument/2006/relationships/image" Target="../media/image62.svg"/><Relationship Id="rId2" Type="http://schemas.openxmlformats.org/officeDocument/2006/relationships/tags" Target="../tags/tag287.xml"/><Relationship Id="rId16" Type="http://schemas.openxmlformats.org/officeDocument/2006/relationships/tags" Target="../tags/tag301.xml"/><Relationship Id="rId20" Type="http://schemas.openxmlformats.org/officeDocument/2006/relationships/slideLayout" Target="../slideLayouts/slideLayout6.xml"/><Relationship Id="rId29" Type="http://schemas.openxmlformats.org/officeDocument/2006/relationships/image" Target="../media/image27.svg"/><Relationship Id="rId1" Type="http://schemas.openxmlformats.org/officeDocument/2006/relationships/tags" Target="../tags/tag286.xml"/><Relationship Id="rId6" Type="http://schemas.openxmlformats.org/officeDocument/2006/relationships/tags" Target="../tags/tag291.xml"/><Relationship Id="rId11" Type="http://schemas.openxmlformats.org/officeDocument/2006/relationships/tags" Target="../tags/tag296.xml"/><Relationship Id="rId24" Type="http://schemas.openxmlformats.org/officeDocument/2006/relationships/image" Target="../media/image23.svg"/><Relationship Id="rId32" Type="http://schemas.openxmlformats.org/officeDocument/2006/relationships/image" Target="../media/image30.svg"/><Relationship Id="rId37" Type="http://schemas.openxmlformats.org/officeDocument/2006/relationships/image" Target="../media/image35.svg"/><Relationship Id="rId40" Type="http://schemas.openxmlformats.org/officeDocument/2006/relationships/image" Target="../media/image73.svg"/><Relationship Id="rId5" Type="http://schemas.openxmlformats.org/officeDocument/2006/relationships/tags" Target="../tags/tag290.xml"/><Relationship Id="rId15" Type="http://schemas.openxmlformats.org/officeDocument/2006/relationships/tags" Target="../tags/tag300.xml"/><Relationship Id="rId23" Type="http://schemas.openxmlformats.org/officeDocument/2006/relationships/image" Target="../media/image1.emf"/><Relationship Id="rId28" Type="http://schemas.openxmlformats.org/officeDocument/2006/relationships/image" Target="../media/image36.svg"/><Relationship Id="rId36" Type="http://schemas.openxmlformats.org/officeDocument/2006/relationships/image" Target="../media/image34.svg"/><Relationship Id="rId10" Type="http://schemas.openxmlformats.org/officeDocument/2006/relationships/tags" Target="../tags/tag295.xml"/><Relationship Id="rId19" Type="http://schemas.openxmlformats.org/officeDocument/2006/relationships/tags" Target="../tags/tag304.xml"/><Relationship Id="rId31" Type="http://schemas.openxmlformats.org/officeDocument/2006/relationships/image" Target="../media/image29.svg"/><Relationship Id="rId4" Type="http://schemas.openxmlformats.org/officeDocument/2006/relationships/tags" Target="../tags/tag289.xml"/><Relationship Id="rId9" Type="http://schemas.openxmlformats.org/officeDocument/2006/relationships/tags" Target="../tags/tag294.xml"/><Relationship Id="rId14" Type="http://schemas.openxmlformats.org/officeDocument/2006/relationships/tags" Target="../tags/tag299.xml"/><Relationship Id="rId22" Type="http://schemas.openxmlformats.org/officeDocument/2006/relationships/oleObject" Target="../embeddings/oleObject29.bin"/><Relationship Id="rId27" Type="http://schemas.openxmlformats.org/officeDocument/2006/relationships/image" Target="../media/image26.svg"/><Relationship Id="rId30" Type="http://schemas.openxmlformats.org/officeDocument/2006/relationships/image" Target="../media/image28.svg"/><Relationship Id="rId35" Type="http://schemas.openxmlformats.org/officeDocument/2006/relationships/image" Target="../media/image33.svg"/><Relationship Id="rId8" Type="http://schemas.openxmlformats.org/officeDocument/2006/relationships/tags" Target="../tags/tag293.xml"/><Relationship Id="rId3" Type="http://schemas.openxmlformats.org/officeDocument/2006/relationships/tags" Target="../tags/tag288.xml"/></Relationships>
</file>

<file path=ppt/slides/_rels/slide35.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75.svg"/><Relationship Id="rId3" Type="http://schemas.openxmlformats.org/officeDocument/2006/relationships/tags" Target="../tags/tag307.xml"/><Relationship Id="rId7" Type="http://schemas.openxmlformats.org/officeDocument/2006/relationships/tags" Target="../tags/tag311.xml"/><Relationship Id="rId12" Type="http://schemas.openxmlformats.org/officeDocument/2006/relationships/image" Target="../media/image74.svg"/><Relationship Id="rId17" Type="http://schemas.openxmlformats.org/officeDocument/2006/relationships/image" Target="../media/image79.svg"/><Relationship Id="rId2" Type="http://schemas.openxmlformats.org/officeDocument/2006/relationships/tags" Target="../tags/tag306.xml"/><Relationship Id="rId16" Type="http://schemas.openxmlformats.org/officeDocument/2006/relationships/image" Target="../media/image78.svg"/><Relationship Id="rId1" Type="http://schemas.openxmlformats.org/officeDocument/2006/relationships/tags" Target="../tags/tag305.xml"/><Relationship Id="rId6" Type="http://schemas.openxmlformats.org/officeDocument/2006/relationships/tags" Target="../tags/tag310.xml"/><Relationship Id="rId11" Type="http://schemas.openxmlformats.org/officeDocument/2006/relationships/image" Target="../media/image1.emf"/><Relationship Id="rId5" Type="http://schemas.openxmlformats.org/officeDocument/2006/relationships/tags" Target="../tags/tag309.xml"/><Relationship Id="rId15" Type="http://schemas.openxmlformats.org/officeDocument/2006/relationships/image" Target="../media/image77.svg"/><Relationship Id="rId10" Type="http://schemas.openxmlformats.org/officeDocument/2006/relationships/oleObject" Target="../embeddings/oleObject30.bin"/><Relationship Id="rId4" Type="http://schemas.openxmlformats.org/officeDocument/2006/relationships/tags" Target="../tags/tag308.xml"/><Relationship Id="rId9" Type="http://schemas.openxmlformats.org/officeDocument/2006/relationships/notesSlide" Target="../notesSlides/notesSlide23.xml"/><Relationship Id="rId14" Type="http://schemas.openxmlformats.org/officeDocument/2006/relationships/image" Target="../media/image76.sv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tags" Target="../tags/tag312.xml"/><Relationship Id="rId5" Type="http://schemas.openxmlformats.org/officeDocument/2006/relationships/image" Target="../media/image1.emf"/><Relationship Id="rId4" Type="http://schemas.openxmlformats.org/officeDocument/2006/relationships/oleObject" Target="../embeddings/oleObject3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6CD8245-81B4-CE3F-3D06-5B0ABFA98A5C}"/>
              </a:ext>
            </a:extLst>
          </p:cNvPr>
          <p:cNvGraphicFramePr>
            <a:graphicFrameLocks/>
          </p:cNvGraphicFramePr>
          <p:nvPr>
            <p:custDataLst>
              <p:tags r:id="rId1"/>
            </p:custDataLst>
            <p:extLst>
              <p:ext uri="{D42A27DB-BD31-4B8C-83A1-F6EECF244321}">
                <p14:modId xmlns:p14="http://schemas.microsoft.com/office/powerpoint/2010/main" val="29766539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43" imgH="443" progId="TCLayout.ActiveDocument.1">
                  <p:embed/>
                </p:oleObj>
              </mc:Choice>
              <mc:Fallback>
                <p:oleObj name="thinkcell Slide" r:id="rId3" imgW="443" imgH="443" progId="TCLayout.ActiveDocument.1">
                  <p:embed/>
                  <p:pic>
                    <p:nvPicPr>
                      <p:cNvPr id="7" name="thinkcell data - do not delete" hidden="1">
                        <a:extLst>
                          <a:ext uri="{FF2B5EF4-FFF2-40B4-BE49-F238E27FC236}">
                            <a16:creationId xmlns:a16="http://schemas.microsoft.com/office/drawing/2014/main" id="{96CD8245-81B4-CE3F-3D06-5B0ABFA98A5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534FCC2-8E54-2865-09B5-F92C45FF8A09}"/>
              </a:ext>
            </a:extLst>
          </p:cNvPr>
          <p:cNvSpPr>
            <a:spLocks noGrp="1"/>
          </p:cNvSpPr>
          <p:nvPr>
            <p:ph type="ctrTitle"/>
          </p:nvPr>
        </p:nvSpPr>
        <p:spPr>
          <a:xfrm>
            <a:off x="838200" y="1905000"/>
            <a:ext cx="6350000" cy="1524000"/>
          </a:xfrm>
        </p:spPr>
        <p:txBody>
          <a:bodyPr anchor="b">
            <a:noAutofit/>
          </a:bodyPr>
          <a:lstStyle/>
          <a:p>
            <a:pPr algn="l"/>
            <a:r>
              <a:rPr lang="en-MY" sz="7200" dirty="0" err="1">
                <a:solidFill>
                  <a:schemeClr val="tx2">
                    <a:lumMod val="75000"/>
                    <a:lumOff val="25000"/>
                  </a:schemeClr>
                </a:solidFill>
              </a:rPr>
              <a:t>FloodSense</a:t>
            </a:r>
            <a:endParaRPr lang="en-MY" dirty="0">
              <a:solidFill>
                <a:schemeClr val="tx2">
                  <a:lumMod val="75000"/>
                  <a:lumOff val="25000"/>
                </a:schemeClr>
              </a:solidFill>
            </a:endParaRPr>
          </a:p>
        </p:txBody>
      </p:sp>
      <p:sp>
        <p:nvSpPr>
          <p:cNvPr id="3" name="Subtitle 2">
            <a:extLst>
              <a:ext uri="{FF2B5EF4-FFF2-40B4-BE49-F238E27FC236}">
                <a16:creationId xmlns:a16="http://schemas.microsoft.com/office/drawing/2014/main" id="{BA289019-5247-1C34-8E5C-73C9E3DF96E4}"/>
              </a:ext>
            </a:extLst>
          </p:cNvPr>
          <p:cNvSpPr>
            <a:spLocks noGrp="1"/>
          </p:cNvSpPr>
          <p:nvPr>
            <p:ph type="subTitle" idx="1"/>
          </p:nvPr>
        </p:nvSpPr>
        <p:spPr>
          <a:xfrm>
            <a:off x="838200" y="3556000"/>
            <a:ext cx="5121166" cy="1397000"/>
          </a:xfrm>
        </p:spPr>
        <p:txBody>
          <a:bodyPr anchor="t">
            <a:noAutofit/>
          </a:bodyPr>
          <a:lstStyle/>
          <a:p>
            <a:pPr algn="l"/>
            <a:r>
              <a:rPr lang="en-MY" dirty="0"/>
              <a:t>Predictive flood alerts for Singapore</a:t>
            </a:r>
          </a:p>
          <a:p>
            <a:pPr algn="l"/>
            <a:r>
              <a:rPr lang="en-MY" sz="1800" b="1" dirty="0">
                <a:solidFill>
                  <a:schemeClr val="accent1"/>
                </a:solidFill>
              </a:rPr>
              <a:t>By Team Master Corgis</a:t>
            </a:r>
          </a:p>
          <a:p>
            <a:pPr algn="l"/>
            <a:r>
              <a:rPr lang="en-MY" sz="1800" b="1" dirty="0"/>
              <a:t>[Team Names]</a:t>
            </a:r>
          </a:p>
        </p:txBody>
      </p:sp>
      <p:grpSp>
        <p:nvGrpSpPr>
          <p:cNvPr id="4" name="Group 3">
            <a:extLst>
              <a:ext uri="{FF2B5EF4-FFF2-40B4-BE49-F238E27FC236}">
                <a16:creationId xmlns:a16="http://schemas.microsoft.com/office/drawing/2014/main" id="{F479707B-AD9B-98D0-A5A6-5FC682354398}"/>
              </a:ext>
            </a:extLst>
          </p:cNvPr>
          <p:cNvGrpSpPr/>
          <p:nvPr/>
        </p:nvGrpSpPr>
        <p:grpSpPr>
          <a:xfrm>
            <a:off x="7239000" y="1206500"/>
            <a:ext cx="4445000" cy="4445000"/>
            <a:chOff x="7239000" y="1206500"/>
            <a:chExt cx="4445000" cy="4445000"/>
          </a:xfrm>
        </p:grpSpPr>
        <p:sp>
          <p:nvSpPr>
            <p:cNvPr id="8" name="Oval 7">
              <a:extLst>
                <a:ext uri="{FF2B5EF4-FFF2-40B4-BE49-F238E27FC236}">
                  <a16:creationId xmlns:a16="http://schemas.microsoft.com/office/drawing/2014/main" id="{124CCEFD-298F-E976-7705-37D014C62956}"/>
                </a:ext>
              </a:extLst>
            </p:cNvPr>
            <p:cNvSpPr/>
            <p:nvPr/>
          </p:nvSpPr>
          <p:spPr>
            <a:xfrm>
              <a:off x="7684264" y="1809989"/>
              <a:ext cx="3554472" cy="349202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pic>
          <p:nvPicPr>
            <p:cNvPr id="5" name="Graphic 4">
              <a:extLst>
                <a:ext uri="{FF2B5EF4-FFF2-40B4-BE49-F238E27FC236}">
                  <a16:creationId xmlns:a16="http://schemas.microsoft.com/office/drawing/2014/main" id="{AAB7C0CC-5226-6354-CC49-27188EF191B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39000" y="1206500"/>
              <a:ext cx="4445000" cy="4445000"/>
            </a:xfrm>
            <a:prstGeom prst="rect">
              <a:avLst/>
            </a:prstGeom>
          </p:spPr>
        </p:pic>
      </p:grpSp>
    </p:spTree>
    <p:extLst>
      <p:ext uri="{BB962C8B-B14F-4D97-AF65-F5344CB8AC3E}">
        <p14:creationId xmlns:p14="http://schemas.microsoft.com/office/powerpoint/2010/main" val="225080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F5B038-CF88-2EB0-55F0-3865C8D2718D}"/>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49" imgH="349" progId="TCLayout.ActiveDocument.1">
                  <p:embed/>
                </p:oleObj>
              </mc:Choice>
              <mc:Fallback>
                <p:oleObj name="thinkcell Slide" r:id="rId14" imgW="349" imgH="349" progId="TCLayout.ActiveDocument.1">
                  <p:embed/>
                  <p:pic>
                    <p:nvPicPr>
                      <p:cNvPr id="3" name="think-cell data - do not delete" hidden="1">
                        <a:extLst>
                          <a:ext uri="{FF2B5EF4-FFF2-40B4-BE49-F238E27FC236}">
                            <a16:creationId xmlns:a16="http://schemas.microsoft.com/office/drawing/2014/main" id="{1CF5B038-CF88-2EB0-55F0-3865C8D2718D}"/>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dirty="0"/>
              <a:t>Agenda</a:t>
            </a:r>
          </a:p>
        </p:txBody>
      </p:sp>
      <p:cxnSp>
        <p:nvCxnSpPr>
          <p:cNvPr id="32" name="Gerader Verbinder 22">
            <a:extLst>
              <a:ext uri="{FF2B5EF4-FFF2-40B4-BE49-F238E27FC236}">
                <a16:creationId xmlns:a16="http://schemas.microsoft.com/office/drawing/2014/main" id="{0D5E26FD-8837-B5B5-A23F-2096F2B2F6F6}"/>
              </a:ext>
            </a:extLst>
          </p:cNvPr>
          <p:cNvCxnSpPr>
            <a:cxnSpLocks/>
          </p:cNvCxnSpPr>
          <p:nvPr/>
        </p:nvCxnSpPr>
        <p:spPr>
          <a:xfrm>
            <a:off x="407987" y="1557338"/>
            <a:ext cx="0" cy="449909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Rectangle 3">
            <a:extLst>
              <a:ext uri="{FF2B5EF4-FFF2-40B4-BE49-F238E27FC236}">
                <a16:creationId xmlns:a16="http://schemas.microsoft.com/office/drawing/2014/main" id="{7A005708-D6FF-D33E-72AF-2F2B6692022B}"/>
              </a:ext>
            </a:extLst>
          </p:cNvPr>
          <p:cNvSpPr>
            <a:spLocks/>
          </p:cNvSpPr>
          <p:nvPr>
            <p:custDataLst>
              <p:tags r:id="rId2"/>
            </p:custDataLst>
          </p:nvPr>
        </p:nvSpPr>
        <p:spPr bwMode="gray">
          <a:xfrm>
            <a:off x="720121" y="3470336"/>
            <a:ext cx="3391241"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a:t>Why Databricks</a:t>
            </a:r>
          </a:p>
        </p:txBody>
      </p:sp>
      <p:sp>
        <p:nvSpPr>
          <p:cNvPr id="28" name="Rectangle 3">
            <a:extLst>
              <a:ext uri="{FF2B5EF4-FFF2-40B4-BE49-F238E27FC236}">
                <a16:creationId xmlns:a16="http://schemas.microsoft.com/office/drawing/2014/main" id="{5C86CD47-4408-566D-0701-57E136BD82FD}"/>
              </a:ext>
            </a:extLst>
          </p:cNvPr>
          <p:cNvSpPr>
            <a:spLocks/>
          </p:cNvSpPr>
          <p:nvPr>
            <p:custDataLst>
              <p:tags r:id="rId3"/>
            </p:custDataLst>
          </p:nvPr>
        </p:nvSpPr>
        <p:spPr bwMode="gray">
          <a:xfrm>
            <a:off x="720121" y="1557338"/>
            <a:ext cx="3391241"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a:t>Social Impact</a:t>
            </a:r>
          </a:p>
        </p:txBody>
      </p:sp>
      <p:sp>
        <p:nvSpPr>
          <p:cNvPr id="29" name="Rectangle 3">
            <a:extLst>
              <a:ext uri="{FF2B5EF4-FFF2-40B4-BE49-F238E27FC236}">
                <a16:creationId xmlns:a16="http://schemas.microsoft.com/office/drawing/2014/main" id="{E01594ED-9099-154D-9793-F20068660647}"/>
              </a:ext>
            </a:extLst>
          </p:cNvPr>
          <p:cNvSpPr>
            <a:spLocks/>
          </p:cNvSpPr>
          <p:nvPr>
            <p:custDataLst>
              <p:tags r:id="rId4"/>
            </p:custDataLst>
          </p:nvPr>
        </p:nvSpPr>
        <p:spPr bwMode="gray">
          <a:xfrm>
            <a:off x="720121" y="4426835"/>
            <a:ext cx="3391241"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a:t>Data Rigour</a:t>
            </a:r>
          </a:p>
        </p:txBody>
      </p:sp>
      <p:sp>
        <p:nvSpPr>
          <p:cNvPr id="30" name="Rectangle 3">
            <a:extLst>
              <a:ext uri="{FF2B5EF4-FFF2-40B4-BE49-F238E27FC236}">
                <a16:creationId xmlns:a16="http://schemas.microsoft.com/office/drawing/2014/main" id="{4CD4BAF4-05D4-0661-355A-253337544A75}"/>
              </a:ext>
            </a:extLst>
          </p:cNvPr>
          <p:cNvSpPr>
            <a:spLocks/>
          </p:cNvSpPr>
          <p:nvPr>
            <p:custDataLst>
              <p:tags r:id="rId5"/>
            </p:custDataLst>
          </p:nvPr>
        </p:nvSpPr>
        <p:spPr bwMode="gray">
          <a:xfrm>
            <a:off x="720121" y="2513837"/>
            <a:ext cx="3391241"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a:t>Demo</a:t>
            </a:r>
          </a:p>
        </p:txBody>
      </p:sp>
      <p:sp>
        <p:nvSpPr>
          <p:cNvPr id="38" name="Rectangle 3">
            <a:extLst>
              <a:ext uri="{FF2B5EF4-FFF2-40B4-BE49-F238E27FC236}">
                <a16:creationId xmlns:a16="http://schemas.microsoft.com/office/drawing/2014/main" id="{A32C164C-839A-62B2-03EC-6F8D3AC53649}"/>
              </a:ext>
            </a:extLst>
          </p:cNvPr>
          <p:cNvSpPr>
            <a:spLocks/>
          </p:cNvSpPr>
          <p:nvPr>
            <p:custDataLst>
              <p:tags r:id="rId6"/>
            </p:custDataLst>
          </p:nvPr>
        </p:nvSpPr>
        <p:spPr bwMode="gray">
          <a:xfrm>
            <a:off x="812054" y="1634226"/>
            <a:ext cx="594443" cy="520790"/>
          </a:xfrm>
          <a:prstGeom prst="rect">
            <a:avLst/>
          </a:prstGeom>
          <a:noFill/>
          <a:ln w="9525" algn="ctr">
            <a:noFill/>
            <a:miter lim="800000"/>
            <a:headEnd/>
            <a:tailEnd/>
          </a:ln>
          <a:effectLst/>
        </p:spPr>
        <p:txBody>
          <a:bodyPr wrap="square" lIns="0" tIns="0" rIns="0" bIns="0" anchor="ctr">
            <a:noAutofit/>
          </a:bodyPr>
          <a:lstStyle/>
          <a:p>
            <a:pPr marL="0" marR="0" lvl="0" indent="0" defTabSz="978998"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dirty="0">
                <a:solidFill>
                  <a:schemeClr val="accent1"/>
                </a:solidFill>
                <a:effectLst/>
                <a:uLnTx/>
                <a:uFillTx/>
              </a:rPr>
              <a:t>01.</a:t>
            </a:r>
          </a:p>
        </p:txBody>
      </p:sp>
      <p:sp>
        <p:nvSpPr>
          <p:cNvPr id="39" name="Rectangle 3">
            <a:extLst>
              <a:ext uri="{FF2B5EF4-FFF2-40B4-BE49-F238E27FC236}">
                <a16:creationId xmlns:a16="http://schemas.microsoft.com/office/drawing/2014/main" id="{1C016ACC-1048-9F45-A168-05F988684C33}"/>
              </a:ext>
            </a:extLst>
          </p:cNvPr>
          <p:cNvSpPr>
            <a:spLocks/>
          </p:cNvSpPr>
          <p:nvPr>
            <p:custDataLst>
              <p:tags r:id="rId7"/>
            </p:custDataLst>
          </p:nvPr>
        </p:nvSpPr>
        <p:spPr bwMode="gray">
          <a:xfrm>
            <a:off x="812054" y="3547224"/>
            <a:ext cx="594443" cy="520790"/>
          </a:xfrm>
          <a:prstGeom prst="rect">
            <a:avLst/>
          </a:prstGeom>
          <a:noFill/>
          <a:ln w="9525" algn="ctr">
            <a:noFill/>
            <a:miter lim="800000"/>
            <a:headEnd/>
            <a:tailEnd/>
          </a:ln>
          <a:effectLst/>
        </p:spPr>
        <p:txBody>
          <a:bodyPr wrap="square" lIns="0" tIns="0" rIns="0" bIns="0" anchor="ctr">
            <a:noAutofit/>
          </a:bodyPr>
          <a:lstStyle/>
          <a:p>
            <a:pPr marL="0" marR="0" lvl="0" indent="0" defTabSz="978998"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dirty="0">
                <a:solidFill>
                  <a:schemeClr val="accent1"/>
                </a:solidFill>
                <a:effectLst/>
                <a:uLnTx/>
                <a:uFillTx/>
              </a:rPr>
              <a:t>03.</a:t>
            </a:r>
          </a:p>
        </p:txBody>
      </p:sp>
      <p:sp>
        <p:nvSpPr>
          <p:cNvPr id="40" name="Rectangle 3">
            <a:extLst>
              <a:ext uri="{FF2B5EF4-FFF2-40B4-BE49-F238E27FC236}">
                <a16:creationId xmlns:a16="http://schemas.microsoft.com/office/drawing/2014/main" id="{92EDAD3D-FC61-1D1D-8B4B-6392526DC903}"/>
              </a:ext>
            </a:extLst>
          </p:cNvPr>
          <p:cNvSpPr>
            <a:spLocks/>
          </p:cNvSpPr>
          <p:nvPr>
            <p:custDataLst>
              <p:tags r:id="rId8"/>
            </p:custDataLst>
          </p:nvPr>
        </p:nvSpPr>
        <p:spPr bwMode="gray">
          <a:xfrm>
            <a:off x="812054" y="4503723"/>
            <a:ext cx="594443" cy="520790"/>
          </a:xfrm>
          <a:prstGeom prst="rect">
            <a:avLst/>
          </a:prstGeom>
          <a:noFill/>
          <a:ln w="9525" algn="ctr">
            <a:noFill/>
            <a:miter lim="800000"/>
            <a:headEnd/>
            <a:tailEnd/>
          </a:ln>
          <a:effectLst/>
        </p:spPr>
        <p:txBody>
          <a:bodyPr wrap="square" lIns="0" tIns="0" rIns="0" bIns="0" anchor="ctr">
            <a:noAutofit/>
          </a:bodyPr>
          <a:lstStyle/>
          <a:p>
            <a:pPr marL="0" marR="0" lvl="0" indent="0" defTabSz="978998"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dirty="0">
                <a:solidFill>
                  <a:schemeClr val="accent1"/>
                </a:solidFill>
                <a:effectLst/>
                <a:uLnTx/>
                <a:uFillTx/>
              </a:rPr>
              <a:t>04.</a:t>
            </a:r>
          </a:p>
        </p:txBody>
      </p:sp>
      <p:sp>
        <p:nvSpPr>
          <p:cNvPr id="41" name="Rectangle 3">
            <a:extLst>
              <a:ext uri="{FF2B5EF4-FFF2-40B4-BE49-F238E27FC236}">
                <a16:creationId xmlns:a16="http://schemas.microsoft.com/office/drawing/2014/main" id="{F29E01A4-98B7-2AB4-ACDE-7A82A952F3ED}"/>
              </a:ext>
            </a:extLst>
          </p:cNvPr>
          <p:cNvSpPr>
            <a:spLocks/>
          </p:cNvSpPr>
          <p:nvPr>
            <p:custDataLst>
              <p:tags r:id="rId9"/>
            </p:custDataLst>
          </p:nvPr>
        </p:nvSpPr>
        <p:spPr bwMode="gray">
          <a:xfrm>
            <a:off x="812054" y="2590725"/>
            <a:ext cx="594443" cy="520790"/>
          </a:xfrm>
          <a:prstGeom prst="rect">
            <a:avLst/>
          </a:prstGeom>
          <a:noFill/>
          <a:ln w="9525" algn="ctr">
            <a:noFill/>
            <a:miter lim="800000"/>
            <a:headEnd/>
            <a:tailEnd/>
          </a:ln>
          <a:effectLst/>
        </p:spPr>
        <p:txBody>
          <a:bodyPr wrap="square" lIns="0" tIns="0" rIns="0" bIns="0" anchor="ctr">
            <a:noAutofit/>
          </a:bodyPr>
          <a:lstStyle/>
          <a:p>
            <a:pPr marL="0" marR="0" lvl="0" indent="0" defTabSz="978998"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dirty="0">
                <a:solidFill>
                  <a:schemeClr val="accent1"/>
                </a:solidFill>
                <a:effectLst/>
                <a:uLnTx/>
                <a:uFillTx/>
              </a:rPr>
              <a:t>02.</a:t>
            </a:r>
          </a:p>
        </p:txBody>
      </p:sp>
      <p:sp>
        <p:nvSpPr>
          <p:cNvPr id="43" name="Rectangle 3">
            <a:extLst>
              <a:ext uri="{FF2B5EF4-FFF2-40B4-BE49-F238E27FC236}">
                <a16:creationId xmlns:a16="http://schemas.microsoft.com/office/drawing/2014/main" id="{CA712340-8D57-05EF-2159-4E94AAED8BD4}"/>
              </a:ext>
            </a:extLst>
          </p:cNvPr>
          <p:cNvSpPr>
            <a:spLocks/>
          </p:cNvSpPr>
          <p:nvPr/>
        </p:nvSpPr>
        <p:spPr bwMode="gray">
          <a:xfrm>
            <a:off x="4475751" y="1557338"/>
            <a:ext cx="7332074" cy="6732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MY" dirty="0"/>
              <a:t>Who benefits, how much, and whether the solution could realistically be adopted.</a:t>
            </a:r>
            <a:endParaRPr lang="en-US" sz="1600" dirty="0"/>
          </a:p>
        </p:txBody>
      </p:sp>
      <p:sp>
        <p:nvSpPr>
          <p:cNvPr id="44" name="Rectangle 3">
            <a:extLst>
              <a:ext uri="{FF2B5EF4-FFF2-40B4-BE49-F238E27FC236}">
                <a16:creationId xmlns:a16="http://schemas.microsoft.com/office/drawing/2014/main" id="{F0B232F1-93A0-8E95-4907-F58B2C62B1A4}"/>
              </a:ext>
            </a:extLst>
          </p:cNvPr>
          <p:cNvSpPr>
            <a:spLocks/>
          </p:cNvSpPr>
          <p:nvPr/>
        </p:nvSpPr>
        <p:spPr bwMode="gray">
          <a:xfrm>
            <a:off x="4475751" y="3470338"/>
            <a:ext cx="7332074" cy="673200"/>
          </a:xfrm>
          <a:prstGeom prst="rect">
            <a:avLst/>
          </a:prstGeom>
          <a:noFill/>
          <a:ln w="9525" algn="ctr">
            <a:noFill/>
            <a:miter lim="800000"/>
            <a:headEnd/>
            <a:tailEnd/>
          </a:ln>
          <a:effectLst/>
        </p:spPr>
        <p:txBody>
          <a:bodyPr wrap="square" lIns="0" tIns="0" rIns="0" bIns="0" anchor="ctr">
            <a:noAutofit/>
          </a:bodyPr>
          <a:lstStyle/>
          <a:p>
            <a:pPr defTabSz="978998" fontAlgn="base">
              <a:spcBef>
                <a:spcPct val="0"/>
              </a:spcBef>
              <a:spcAft>
                <a:spcPct val="0"/>
              </a:spcAft>
              <a:defRPr/>
            </a:pPr>
            <a:r>
              <a:rPr lang="en-MY" dirty="0"/>
              <a:t>A working end-to-end pipeline: ingestion, transformation, governance, analytics or AI.</a:t>
            </a:r>
            <a:endParaRPr lang="en-US" sz="1600" dirty="0"/>
          </a:p>
        </p:txBody>
      </p:sp>
      <p:sp>
        <p:nvSpPr>
          <p:cNvPr id="45" name="Rectangle 3">
            <a:extLst>
              <a:ext uri="{FF2B5EF4-FFF2-40B4-BE49-F238E27FC236}">
                <a16:creationId xmlns:a16="http://schemas.microsoft.com/office/drawing/2014/main" id="{50956BF1-A299-BBBD-1BC8-999D33102A16}"/>
              </a:ext>
            </a:extLst>
          </p:cNvPr>
          <p:cNvSpPr>
            <a:spLocks/>
          </p:cNvSpPr>
          <p:nvPr/>
        </p:nvSpPr>
        <p:spPr bwMode="gray">
          <a:xfrm>
            <a:off x="4475751" y="4426838"/>
            <a:ext cx="7332074" cy="673200"/>
          </a:xfrm>
          <a:prstGeom prst="rect">
            <a:avLst/>
          </a:prstGeom>
          <a:noFill/>
          <a:ln w="9525" algn="ctr">
            <a:noFill/>
            <a:miter lim="800000"/>
            <a:headEnd/>
            <a:tailEnd/>
          </a:ln>
          <a:effectLst/>
        </p:spPr>
        <p:txBody>
          <a:bodyPr wrap="square" lIns="0" tIns="0" rIns="0" bIns="0" anchor="ctr">
            <a:noAutofit/>
          </a:bodyPr>
          <a:lstStyle/>
          <a:p>
            <a:pPr defTabSz="978998" fontAlgn="base">
              <a:spcBef>
                <a:spcPct val="0"/>
              </a:spcBef>
              <a:spcAft>
                <a:spcPct val="0"/>
              </a:spcAft>
              <a:defRPr/>
            </a:pPr>
            <a:r>
              <a:rPr lang="en-MY"/>
              <a:t>Sound use of Singapore open data, handling of messy data, and honest limitations.</a:t>
            </a:r>
            <a:endParaRPr lang="en-US" sz="1600" dirty="0"/>
          </a:p>
        </p:txBody>
      </p:sp>
      <p:sp>
        <p:nvSpPr>
          <p:cNvPr id="46" name="Rectangle 3">
            <a:extLst>
              <a:ext uri="{FF2B5EF4-FFF2-40B4-BE49-F238E27FC236}">
                <a16:creationId xmlns:a16="http://schemas.microsoft.com/office/drawing/2014/main" id="{A4F0622F-629B-E0E1-1FF7-1C76FF2A5A07}"/>
              </a:ext>
            </a:extLst>
          </p:cNvPr>
          <p:cNvSpPr>
            <a:spLocks/>
          </p:cNvSpPr>
          <p:nvPr/>
        </p:nvSpPr>
        <p:spPr bwMode="gray">
          <a:xfrm>
            <a:off x="4475751" y="2513838"/>
            <a:ext cx="7332074" cy="673200"/>
          </a:xfrm>
          <a:prstGeom prst="rect">
            <a:avLst/>
          </a:prstGeom>
          <a:noFill/>
          <a:ln w="9525" algn="ctr">
            <a:noFill/>
            <a:miter lim="800000"/>
            <a:headEnd/>
            <a:tailEnd/>
          </a:ln>
          <a:effectLst/>
        </p:spPr>
        <p:txBody>
          <a:bodyPr wrap="square" lIns="0" tIns="0" rIns="0" bIns="0" anchor="ctr">
            <a:noAutofit/>
          </a:bodyPr>
          <a:lstStyle/>
          <a:p>
            <a:pPr defTabSz="978998" fontAlgn="base">
              <a:spcBef>
                <a:spcPct val="0"/>
              </a:spcBef>
              <a:spcAft>
                <a:spcPct val="0"/>
              </a:spcAft>
              <a:defRPr/>
            </a:pPr>
            <a:r>
              <a:rPr lang="en-MY"/>
              <a:t>A usable dashboard, app or interface a non-technical stakeholder could act on.</a:t>
            </a:r>
            <a:endParaRPr lang="en-US" sz="1600" dirty="0"/>
          </a:p>
        </p:txBody>
      </p:sp>
      <p:cxnSp>
        <p:nvCxnSpPr>
          <p:cNvPr id="49" name="Straight Connector 48">
            <a:extLst>
              <a:ext uri="{FF2B5EF4-FFF2-40B4-BE49-F238E27FC236}">
                <a16:creationId xmlns:a16="http://schemas.microsoft.com/office/drawing/2014/main" id="{1977A4D5-7932-4C7E-D0A4-F1CDD7EB493D}"/>
              </a:ext>
            </a:extLst>
          </p:cNvPr>
          <p:cNvCxnSpPr>
            <a:cxnSpLocks/>
          </p:cNvCxnSpPr>
          <p:nvPr/>
        </p:nvCxnSpPr>
        <p:spPr>
          <a:xfrm>
            <a:off x="4475668" y="2372188"/>
            <a:ext cx="7333745" cy="0"/>
          </a:xfrm>
          <a:prstGeom prst="line">
            <a:avLst/>
          </a:prstGeom>
          <a:ln w="952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FA7ACC9-1681-B038-6920-A2867352274C}"/>
              </a:ext>
            </a:extLst>
          </p:cNvPr>
          <p:cNvCxnSpPr>
            <a:cxnSpLocks/>
          </p:cNvCxnSpPr>
          <p:nvPr/>
        </p:nvCxnSpPr>
        <p:spPr>
          <a:xfrm>
            <a:off x="4475668" y="3328688"/>
            <a:ext cx="7333745" cy="0"/>
          </a:xfrm>
          <a:prstGeom prst="line">
            <a:avLst/>
          </a:prstGeom>
          <a:ln w="952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9D93E6B-E0AD-2ABA-816A-C6094AECF151}"/>
              </a:ext>
            </a:extLst>
          </p:cNvPr>
          <p:cNvCxnSpPr>
            <a:cxnSpLocks/>
          </p:cNvCxnSpPr>
          <p:nvPr/>
        </p:nvCxnSpPr>
        <p:spPr>
          <a:xfrm>
            <a:off x="4475668" y="4285188"/>
            <a:ext cx="7333745" cy="0"/>
          </a:xfrm>
          <a:prstGeom prst="line">
            <a:avLst/>
          </a:prstGeom>
          <a:ln w="952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9334E68C-8565-77BE-6E7C-94B33E3B8CC3}"/>
              </a:ext>
            </a:extLst>
          </p:cNvPr>
          <p:cNvSpPr>
            <a:spLocks/>
          </p:cNvSpPr>
          <p:nvPr>
            <p:custDataLst>
              <p:tags r:id="rId10"/>
            </p:custDataLst>
          </p:nvPr>
        </p:nvSpPr>
        <p:spPr bwMode="gray">
          <a:xfrm>
            <a:off x="720121" y="5383334"/>
            <a:ext cx="3391241"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a:t>Q&amp;A</a:t>
            </a:r>
          </a:p>
        </p:txBody>
      </p:sp>
      <p:sp>
        <p:nvSpPr>
          <p:cNvPr id="7" name="Rectangle 3">
            <a:extLst>
              <a:ext uri="{FF2B5EF4-FFF2-40B4-BE49-F238E27FC236}">
                <a16:creationId xmlns:a16="http://schemas.microsoft.com/office/drawing/2014/main" id="{88A6F9D7-9114-0C22-E474-0E43FAEF7D2B}"/>
              </a:ext>
            </a:extLst>
          </p:cNvPr>
          <p:cNvSpPr>
            <a:spLocks/>
          </p:cNvSpPr>
          <p:nvPr>
            <p:custDataLst>
              <p:tags r:id="rId11"/>
            </p:custDataLst>
          </p:nvPr>
        </p:nvSpPr>
        <p:spPr bwMode="gray">
          <a:xfrm>
            <a:off x="812054" y="5460222"/>
            <a:ext cx="594443" cy="520790"/>
          </a:xfrm>
          <a:prstGeom prst="rect">
            <a:avLst/>
          </a:prstGeom>
          <a:noFill/>
          <a:ln w="9525" algn="ctr">
            <a:noFill/>
            <a:miter lim="800000"/>
            <a:headEnd/>
            <a:tailEnd/>
          </a:ln>
          <a:effectLst/>
        </p:spPr>
        <p:txBody>
          <a:bodyPr wrap="square" lIns="0" tIns="0" rIns="0" bIns="0" anchor="ctr">
            <a:noAutofit/>
          </a:bodyPr>
          <a:lstStyle/>
          <a:p>
            <a:pPr marL="0" marR="0" lvl="0" indent="0" defTabSz="978998"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dirty="0">
                <a:solidFill>
                  <a:schemeClr val="accent1"/>
                </a:solidFill>
                <a:effectLst/>
                <a:uLnTx/>
                <a:uFillTx/>
              </a:rPr>
              <a:t>05.</a:t>
            </a:r>
          </a:p>
        </p:txBody>
      </p:sp>
      <p:cxnSp>
        <p:nvCxnSpPr>
          <p:cNvPr id="10" name="Straight Connector 9">
            <a:extLst>
              <a:ext uri="{FF2B5EF4-FFF2-40B4-BE49-F238E27FC236}">
                <a16:creationId xmlns:a16="http://schemas.microsoft.com/office/drawing/2014/main" id="{13F8E7A1-1412-20CA-00E9-587E9F8D2DF6}"/>
              </a:ext>
            </a:extLst>
          </p:cNvPr>
          <p:cNvCxnSpPr>
            <a:cxnSpLocks/>
          </p:cNvCxnSpPr>
          <p:nvPr/>
        </p:nvCxnSpPr>
        <p:spPr>
          <a:xfrm>
            <a:off x="4474080" y="5263701"/>
            <a:ext cx="7333745" cy="0"/>
          </a:xfrm>
          <a:prstGeom prst="line">
            <a:avLst/>
          </a:prstGeom>
          <a:ln w="952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1920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BECD6-684D-2390-7284-FD67683903E1}"/>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1726D1D1-7EF4-2C00-CA38-CD4DB81C518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43" imgH="443" progId="TCLayout.ActiveDocument.1">
                  <p:embed/>
                </p:oleObj>
              </mc:Choice>
              <mc:Fallback>
                <p:oleObj name="thinkcell Slide" r:id="rId14" imgW="443" imgH="443" progId="TCLayout.ActiveDocument.1">
                  <p:embed/>
                  <p:pic>
                    <p:nvPicPr>
                      <p:cNvPr id="13" name="thinkcell data - do not delete" hidden="1">
                        <a:extLst>
                          <a:ext uri="{FF2B5EF4-FFF2-40B4-BE49-F238E27FC236}">
                            <a16:creationId xmlns:a16="http://schemas.microsoft.com/office/drawing/2014/main" id="{1726D1D1-7EF4-2C00-CA38-CD4DB81C5184}"/>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04E9B1A-B6F8-5FCF-3DAB-48A63B0C4D9B}"/>
              </a:ext>
            </a:extLst>
          </p:cNvPr>
          <p:cNvSpPr>
            <a:spLocks noGrp="1"/>
          </p:cNvSpPr>
          <p:nvPr>
            <p:ph type="ctrTitle"/>
          </p:nvPr>
        </p:nvSpPr>
        <p:spPr>
          <a:xfrm>
            <a:off x="838200" y="2298700"/>
            <a:ext cx="6858000" cy="914400"/>
          </a:xfrm>
        </p:spPr>
        <p:txBody>
          <a:bodyPr anchor="t">
            <a:noAutofit/>
          </a:bodyPr>
          <a:lstStyle/>
          <a:p>
            <a:pPr algn="l"/>
            <a:r>
              <a:rPr lang="en-US" dirty="0"/>
              <a:t>Social Impact</a:t>
            </a:r>
            <a:endParaRPr lang="en-MY" dirty="0"/>
          </a:p>
        </p:txBody>
      </p:sp>
      <p:sp>
        <p:nvSpPr>
          <p:cNvPr id="3" name="Subtitle 2">
            <a:extLst>
              <a:ext uri="{FF2B5EF4-FFF2-40B4-BE49-F238E27FC236}">
                <a16:creationId xmlns:a16="http://schemas.microsoft.com/office/drawing/2014/main" id="{C39DB6CF-F065-D3E7-C988-B8F26AE7A591}"/>
              </a:ext>
            </a:extLst>
          </p:cNvPr>
          <p:cNvSpPr>
            <a:spLocks noGrp="1"/>
          </p:cNvSpPr>
          <p:nvPr>
            <p:ph type="subTitle" idx="1"/>
          </p:nvPr>
        </p:nvSpPr>
        <p:spPr>
          <a:xfrm>
            <a:off x="838200" y="3340100"/>
            <a:ext cx="6858000" cy="762000"/>
          </a:xfrm>
        </p:spPr>
        <p:txBody>
          <a:bodyPr anchor="t">
            <a:noAutofit/>
          </a:bodyPr>
          <a:lstStyle/>
          <a:p>
            <a:pPr algn="l"/>
            <a:r>
              <a:rPr lang="en-MY" sz="2000"/>
              <a:t>Who benefits, how much, and whether the solution could realistically be adopted.</a:t>
            </a:r>
            <a:endParaRPr lang="en-US" sz="2000" dirty="0"/>
          </a:p>
        </p:txBody>
      </p:sp>
      <p:cxnSp>
        <p:nvCxnSpPr>
          <p:cNvPr id="4" name="Gerader Verbinder 22">
            <a:extLst>
              <a:ext uri="{FF2B5EF4-FFF2-40B4-BE49-F238E27FC236}">
                <a16:creationId xmlns:a16="http://schemas.microsoft.com/office/drawing/2014/main" id="{FF2FCF60-DBB8-2CDF-16D4-AAD3FA6F1D3C}"/>
              </a:ext>
            </a:extLst>
          </p:cNvPr>
          <p:cNvCxnSpPr>
            <a:cxnSpLocks/>
          </p:cNvCxnSpPr>
          <p:nvPr/>
        </p:nvCxnSpPr>
        <p:spPr>
          <a:xfrm>
            <a:off x="407987" y="1422400"/>
            <a:ext cx="0" cy="40259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Rectangle 3">
            <a:extLst>
              <a:ext uri="{FF2B5EF4-FFF2-40B4-BE49-F238E27FC236}">
                <a16:creationId xmlns:a16="http://schemas.microsoft.com/office/drawing/2014/main" id="{8785C27C-E166-DE1A-496A-ED3559BD090B}"/>
              </a:ext>
            </a:extLst>
          </p:cNvPr>
          <p:cNvSpPr>
            <a:spLocks/>
          </p:cNvSpPr>
          <p:nvPr>
            <p:custDataLst>
              <p:tags r:id="rId2"/>
            </p:custDataLst>
          </p:nvPr>
        </p:nvSpPr>
        <p:spPr bwMode="gray">
          <a:xfrm>
            <a:off x="8128000" y="30988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a:solidFill>
                  <a:schemeClr val="bg2">
                    <a:lumMod val="50000"/>
                  </a:schemeClr>
                </a:solidFill>
              </a:rPr>
              <a:t>Why Databricks</a:t>
            </a:r>
          </a:p>
        </p:txBody>
      </p:sp>
      <p:sp>
        <p:nvSpPr>
          <p:cNvPr id="6" name="Rectangle 3">
            <a:extLst>
              <a:ext uri="{FF2B5EF4-FFF2-40B4-BE49-F238E27FC236}">
                <a16:creationId xmlns:a16="http://schemas.microsoft.com/office/drawing/2014/main" id="{176634EE-5C7B-4F11-E946-6C81FDEC29A3}"/>
              </a:ext>
            </a:extLst>
          </p:cNvPr>
          <p:cNvSpPr>
            <a:spLocks/>
          </p:cNvSpPr>
          <p:nvPr>
            <p:custDataLst>
              <p:tags r:id="rId3"/>
            </p:custDataLst>
          </p:nvPr>
        </p:nvSpPr>
        <p:spPr bwMode="gray">
          <a:xfrm>
            <a:off x="8128000" y="14224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b="1"/>
              <a:t>Social Impact</a:t>
            </a:r>
          </a:p>
        </p:txBody>
      </p:sp>
      <p:sp>
        <p:nvSpPr>
          <p:cNvPr id="7" name="Rectangle 3">
            <a:extLst>
              <a:ext uri="{FF2B5EF4-FFF2-40B4-BE49-F238E27FC236}">
                <a16:creationId xmlns:a16="http://schemas.microsoft.com/office/drawing/2014/main" id="{ECD4548A-905A-B7F3-0B88-AAED4167F60F}"/>
              </a:ext>
            </a:extLst>
          </p:cNvPr>
          <p:cNvSpPr>
            <a:spLocks/>
          </p:cNvSpPr>
          <p:nvPr>
            <p:custDataLst>
              <p:tags r:id="rId4"/>
            </p:custDataLst>
          </p:nvPr>
        </p:nvSpPr>
        <p:spPr bwMode="gray">
          <a:xfrm>
            <a:off x="8128000" y="39370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a:solidFill>
                  <a:schemeClr val="bg2">
                    <a:lumMod val="50000"/>
                  </a:schemeClr>
                </a:solidFill>
              </a:rPr>
              <a:t>Data Rigour</a:t>
            </a:r>
          </a:p>
        </p:txBody>
      </p:sp>
      <p:sp>
        <p:nvSpPr>
          <p:cNvPr id="8" name="Rectangle 3">
            <a:extLst>
              <a:ext uri="{FF2B5EF4-FFF2-40B4-BE49-F238E27FC236}">
                <a16:creationId xmlns:a16="http://schemas.microsoft.com/office/drawing/2014/main" id="{B5FE28B5-3550-02F3-CD98-9FCFD4D65F6B}"/>
              </a:ext>
            </a:extLst>
          </p:cNvPr>
          <p:cNvSpPr>
            <a:spLocks/>
          </p:cNvSpPr>
          <p:nvPr>
            <p:custDataLst>
              <p:tags r:id="rId5"/>
            </p:custDataLst>
          </p:nvPr>
        </p:nvSpPr>
        <p:spPr bwMode="gray">
          <a:xfrm>
            <a:off x="8128000" y="22606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a:solidFill>
                  <a:schemeClr val="bg2">
                    <a:lumMod val="50000"/>
                  </a:schemeClr>
                </a:solidFill>
              </a:rPr>
              <a:t>Demo</a:t>
            </a:r>
          </a:p>
        </p:txBody>
      </p:sp>
      <p:sp>
        <p:nvSpPr>
          <p:cNvPr id="9" name="Rectangle 3">
            <a:extLst>
              <a:ext uri="{FF2B5EF4-FFF2-40B4-BE49-F238E27FC236}">
                <a16:creationId xmlns:a16="http://schemas.microsoft.com/office/drawing/2014/main" id="{812B1466-B2F4-61C7-712E-A50867804BAC}"/>
              </a:ext>
            </a:extLst>
          </p:cNvPr>
          <p:cNvSpPr>
            <a:spLocks/>
          </p:cNvSpPr>
          <p:nvPr>
            <p:custDataLst>
              <p:tags r:id="rId6"/>
            </p:custDataLst>
          </p:nvPr>
        </p:nvSpPr>
        <p:spPr bwMode="gray">
          <a:xfrm>
            <a:off x="8220075" y="1498600"/>
            <a:ext cx="594443" cy="520790"/>
          </a:xfrm>
          <a:prstGeom prst="rect">
            <a:avLst/>
          </a:prstGeom>
          <a:noFill/>
          <a:ln w="9525" algn="ctr">
            <a:noFill/>
            <a:miter lim="800000"/>
            <a:headEnd/>
            <a:tailEnd/>
          </a:ln>
          <a:effectLst/>
        </p:spPr>
        <p:txBody>
          <a:bodyPr wrap="square" lIns="0" tIns="0" rIns="0" bIns="0" anchor="ctr">
            <a:noAutofit/>
          </a:bodyPr>
          <a:lstStyle/>
          <a:p>
            <a:pPr marL="0" marR="0" lvl="0" indent="0" defTabSz="978998"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dirty="0">
                <a:solidFill>
                  <a:schemeClr val="accent1"/>
                </a:solidFill>
                <a:effectLst/>
                <a:uLnTx/>
                <a:uFillTx/>
              </a:rPr>
              <a:t>01.</a:t>
            </a:r>
          </a:p>
        </p:txBody>
      </p:sp>
      <p:sp>
        <p:nvSpPr>
          <p:cNvPr id="10" name="Rectangle 3">
            <a:extLst>
              <a:ext uri="{FF2B5EF4-FFF2-40B4-BE49-F238E27FC236}">
                <a16:creationId xmlns:a16="http://schemas.microsoft.com/office/drawing/2014/main" id="{A0029171-1C18-D6D6-7572-165E0D126D58}"/>
              </a:ext>
            </a:extLst>
          </p:cNvPr>
          <p:cNvSpPr>
            <a:spLocks/>
          </p:cNvSpPr>
          <p:nvPr>
            <p:custDataLst>
              <p:tags r:id="rId7"/>
            </p:custDataLst>
          </p:nvPr>
        </p:nvSpPr>
        <p:spPr bwMode="gray">
          <a:xfrm>
            <a:off x="8220075" y="31750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bg2">
                    <a:lumMod val="75000"/>
                  </a:schemeClr>
                </a:solidFill>
              </a:rPr>
              <a:t>03.</a:t>
            </a:r>
          </a:p>
        </p:txBody>
      </p:sp>
      <p:sp>
        <p:nvSpPr>
          <p:cNvPr id="11" name="Rectangle 3">
            <a:extLst>
              <a:ext uri="{FF2B5EF4-FFF2-40B4-BE49-F238E27FC236}">
                <a16:creationId xmlns:a16="http://schemas.microsoft.com/office/drawing/2014/main" id="{11CA7F37-D34E-1316-1936-82CE8110FFC3}"/>
              </a:ext>
            </a:extLst>
          </p:cNvPr>
          <p:cNvSpPr>
            <a:spLocks/>
          </p:cNvSpPr>
          <p:nvPr>
            <p:custDataLst>
              <p:tags r:id="rId8"/>
            </p:custDataLst>
          </p:nvPr>
        </p:nvSpPr>
        <p:spPr bwMode="gray">
          <a:xfrm>
            <a:off x="8220075" y="40132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bg2">
                    <a:lumMod val="75000"/>
                  </a:schemeClr>
                </a:solidFill>
              </a:rPr>
              <a:t>04.</a:t>
            </a:r>
          </a:p>
        </p:txBody>
      </p:sp>
      <p:sp>
        <p:nvSpPr>
          <p:cNvPr id="12" name="Rectangle 3">
            <a:extLst>
              <a:ext uri="{FF2B5EF4-FFF2-40B4-BE49-F238E27FC236}">
                <a16:creationId xmlns:a16="http://schemas.microsoft.com/office/drawing/2014/main" id="{D1A4D414-6A9D-8299-DFA7-E34E7CD85E8D}"/>
              </a:ext>
            </a:extLst>
          </p:cNvPr>
          <p:cNvSpPr>
            <a:spLocks/>
          </p:cNvSpPr>
          <p:nvPr>
            <p:custDataLst>
              <p:tags r:id="rId9"/>
            </p:custDataLst>
          </p:nvPr>
        </p:nvSpPr>
        <p:spPr bwMode="gray">
          <a:xfrm>
            <a:off x="8220075" y="23368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bg2">
                    <a:lumMod val="75000"/>
                  </a:schemeClr>
                </a:solidFill>
              </a:rPr>
              <a:t>02.</a:t>
            </a:r>
          </a:p>
        </p:txBody>
      </p:sp>
      <p:sp>
        <p:nvSpPr>
          <p:cNvPr id="14" name="Rectangle 3">
            <a:extLst>
              <a:ext uri="{FF2B5EF4-FFF2-40B4-BE49-F238E27FC236}">
                <a16:creationId xmlns:a16="http://schemas.microsoft.com/office/drawing/2014/main" id="{EA90C504-208C-0325-67BA-35F7151470E1}"/>
              </a:ext>
            </a:extLst>
          </p:cNvPr>
          <p:cNvSpPr>
            <a:spLocks/>
          </p:cNvSpPr>
          <p:nvPr>
            <p:custDataLst>
              <p:tags r:id="rId10"/>
            </p:custDataLst>
          </p:nvPr>
        </p:nvSpPr>
        <p:spPr bwMode="gray">
          <a:xfrm>
            <a:off x="838200" y="1371600"/>
            <a:ext cx="3048000" cy="9144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5400" b="1">
                <a:solidFill>
                  <a:schemeClr val="accent1"/>
                </a:solidFill>
              </a:rPr>
              <a:t>01.</a:t>
            </a:r>
          </a:p>
        </p:txBody>
      </p:sp>
      <p:sp>
        <p:nvSpPr>
          <p:cNvPr id="15" name="Rectangle 3">
            <a:extLst>
              <a:ext uri="{FF2B5EF4-FFF2-40B4-BE49-F238E27FC236}">
                <a16:creationId xmlns:a16="http://schemas.microsoft.com/office/drawing/2014/main" id="{D7747D91-DF63-257A-8D20-9713F964EA3D}"/>
              </a:ext>
            </a:extLst>
          </p:cNvPr>
          <p:cNvSpPr>
            <a:spLocks/>
          </p:cNvSpPr>
          <p:nvPr>
            <p:custDataLst>
              <p:tags r:id="rId11"/>
            </p:custDataLst>
          </p:nvPr>
        </p:nvSpPr>
        <p:spPr bwMode="gray">
          <a:xfrm>
            <a:off x="8128000" y="47752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a:solidFill>
                  <a:schemeClr val="bg2">
                    <a:lumMod val="50000"/>
                  </a:schemeClr>
                </a:solidFill>
              </a:rPr>
              <a:t>Q&amp;A</a:t>
            </a:r>
          </a:p>
        </p:txBody>
      </p:sp>
      <p:sp>
        <p:nvSpPr>
          <p:cNvPr id="16" name="Rectangle 3">
            <a:extLst>
              <a:ext uri="{FF2B5EF4-FFF2-40B4-BE49-F238E27FC236}">
                <a16:creationId xmlns:a16="http://schemas.microsoft.com/office/drawing/2014/main" id="{3D54C957-231B-1990-D1A6-B1E9C889AE0D}"/>
              </a:ext>
            </a:extLst>
          </p:cNvPr>
          <p:cNvSpPr>
            <a:spLocks/>
          </p:cNvSpPr>
          <p:nvPr>
            <p:custDataLst>
              <p:tags r:id="rId12"/>
            </p:custDataLst>
          </p:nvPr>
        </p:nvSpPr>
        <p:spPr bwMode="gray">
          <a:xfrm>
            <a:off x="8220075" y="48514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dirty="0">
                <a:solidFill>
                  <a:schemeClr val="bg2">
                    <a:lumMod val="75000"/>
                  </a:schemeClr>
                </a:solidFill>
              </a:rPr>
              <a:t>05.</a:t>
            </a:r>
          </a:p>
        </p:txBody>
      </p:sp>
    </p:spTree>
    <p:extLst>
      <p:ext uri="{BB962C8B-B14F-4D97-AF65-F5344CB8AC3E}">
        <p14:creationId xmlns:p14="http://schemas.microsoft.com/office/powerpoint/2010/main" val="2969756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9E3A-C0CE-8248-9DFA-AD0FBB09A79B}"/>
              </a:ext>
            </a:extLst>
          </p:cNvPr>
          <p:cNvSpPr>
            <a:spLocks noGrp="1"/>
          </p:cNvSpPr>
          <p:nvPr>
            <p:ph type="title"/>
          </p:nvPr>
        </p:nvSpPr>
        <p:spPr/>
        <p:txBody>
          <a:bodyPr/>
          <a:lstStyle/>
          <a:p>
            <a:r>
              <a:rPr lang="en-US" dirty="0"/>
              <a:t>PUB Flood Alerts</a:t>
            </a:r>
          </a:p>
        </p:txBody>
      </p:sp>
      <p:sp>
        <p:nvSpPr>
          <p:cNvPr id="3" name="Content Placeholder 2">
            <a:extLst>
              <a:ext uri="{FF2B5EF4-FFF2-40B4-BE49-F238E27FC236}">
                <a16:creationId xmlns:a16="http://schemas.microsoft.com/office/drawing/2014/main" id="{4E47CED0-2B80-E8D4-5261-3177633BB713}"/>
              </a:ext>
            </a:extLst>
          </p:cNvPr>
          <p:cNvSpPr>
            <a:spLocks noGrp="1"/>
          </p:cNvSpPr>
          <p:nvPr>
            <p:ph idx="1"/>
          </p:nvPr>
        </p:nvSpPr>
        <p:spPr>
          <a:xfrm>
            <a:off x="720121" y="2479000"/>
            <a:ext cx="11087100" cy="1900000"/>
          </a:xfrm>
          <a:solidFill>
            <a:schemeClr val="bg2"/>
          </a:solidFill>
        </p:spPr>
        <p:txBody>
          <a:bodyPr wrap="square" lIns="360000" tIns="72000" rIns="360000" bIns="72000" anchor="ctr">
            <a:noAutofit/>
          </a:bodyPr>
          <a:lstStyle/>
          <a:p>
            <a:pPr marL="0" indent="0">
              <a:spcBef>
                <a:spcPts val="0"/>
              </a:spcBef>
              <a:buNone/>
            </a:pPr>
            <a:r>
              <a:rPr lang="en-US" sz="2800" dirty="0"/>
              <a:t>We can infer that “Risk of Flash Floods” alerts are issued when sensors detect drain water levels reach a </a:t>
            </a:r>
            <a:r>
              <a:rPr lang="en-US" sz="2800" b="1" dirty="0"/>
              <a:t>critical threshold</a:t>
            </a:r>
            <a:r>
              <a:rPr lang="en-US" sz="2800" dirty="0"/>
              <a:t>.</a:t>
            </a:r>
          </a:p>
        </p:txBody>
      </p:sp>
      <p:cxnSp>
        <p:nvCxnSpPr>
          <p:cNvPr id="4" name="Accent line"/>
          <p:cNvCxnSpPr>
            <a:cxnSpLocks/>
          </p:cNvCxnSpPr>
          <p:nvPr/>
        </p:nvCxnSpPr>
        <p:spPr>
          <a:xfrm>
            <a:off x="407987" y="2479000"/>
            <a:ext cx="0" cy="19000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Source note"/>
          <p:cNvSpPr txBox="1"/>
          <p:nvPr/>
        </p:nvSpPr>
        <p:spPr>
          <a:xfrm>
            <a:off x="720121" y="5740000"/>
            <a:ext cx="11087100" cy="300000"/>
          </a:xfrm>
          <a:prstGeom prst="rect">
            <a:avLst/>
          </a:prstGeom>
          <a:noFill/>
        </p:spPr>
        <p:txBody>
          <a:bodyPr wrap="square" lIns="0" tIns="0" rIns="0" bIns="0" anchor="t">
            <a:noAutofit/>
          </a:bodyPr>
          <a:lstStyle/>
          <a:p>
            <a:r>
              <a:rPr lang="en-US" sz="1200" dirty="0">
                <a:solidFill>
                  <a:srgbClr val="595959"/>
                </a:solidFill>
              </a:rPr>
              <a:t>Inferred from PUB’s official flood alert channel.</a:t>
            </a:r>
          </a:p>
        </p:txBody>
      </p:sp>
    </p:spTree>
    <p:extLst>
      <p:ext uri="{BB962C8B-B14F-4D97-AF65-F5344CB8AC3E}">
        <p14:creationId xmlns:p14="http://schemas.microsoft.com/office/powerpoint/2010/main" val="3487935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6C57EF6-8CE9-5FA6-CC7A-01AAEC19931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43" imgH="443" progId="TCLayout.ActiveDocument.1">
                  <p:embed/>
                </p:oleObj>
              </mc:Choice>
              <mc:Fallback>
                <p:oleObj name="thinkcell Slide" r:id="rId11" imgW="443" imgH="443" progId="TCLayout.ActiveDocument.1">
                  <p:embed/>
                  <p:pic>
                    <p:nvPicPr>
                      <p:cNvPr id="4" name="thinkcell data - do not delete" hidden="1">
                        <a:extLst>
                          <a:ext uri="{FF2B5EF4-FFF2-40B4-BE49-F238E27FC236}">
                            <a16:creationId xmlns:a16="http://schemas.microsoft.com/office/drawing/2014/main" id="{C6C57EF6-8CE9-5FA6-CC7A-01AAEC19931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58A6F8A-1C56-E50B-7D58-DCFD2358F5A1}"/>
              </a:ext>
            </a:extLst>
          </p:cNvPr>
          <p:cNvSpPr>
            <a:spLocks noGrp="1"/>
          </p:cNvSpPr>
          <p:nvPr>
            <p:ph type="title"/>
          </p:nvPr>
        </p:nvSpPr>
        <p:spPr/>
        <p:txBody>
          <a:bodyPr/>
          <a:lstStyle/>
          <a:p>
            <a:r>
              <a:rPr lang="en-MY"/>
              <a:t>Problem</a:t>
            </a:r>
          </a:p>
        </p:txBody>
      </p:sp>
      <p:cxnSp>
        <p:nvCxnSpPr>
          <p:cNvPr id="3" name="Gerader Verbinder 22">
            <a:extLst>
              <a:ext uri="{FF2B5EF4-FFF2-40B4-BE49-F238E27FC236}">
                <a16:creationId xmlns:a16="http://schemas.microsoft.com/office/drawing/2014/main" id="{DFD9B701-94FC-8C32-F35C-C61DA6CD69A7}"/>
              </a:ext>
            </a:extLst>
          </p:cNvPr>
          <p:cNvCxnSpPr>
            <a:cxnSpLocks/>
          </p:cNvCxnSpPr>
          <p:nvPr/>
        </p:nvCxnSpPr>
        <p:spPr>
          <a:xfrm>
            <a:off x="407987" y="1557338"/>
            <a:ext cx="0" cy="3979863"/>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Rectangle 3">
            <a:extLst>
              <a:ext uri="{FF2B5EF4-FFF2-40B4-BE49-F238E27FC236}">
                <a16:creationId xmlns:a16="http://schemas.microsoft.com/office/drawing/2014/main" id="{C59F69BE-FABB-2F0A-7C32-A69F211930B0}"/>
              </a:ext>
            </a:extLst>
          </p:cNvPr>
          <p:cNvSpPr>
            <a:spLocks/>
          </p:cNvSpPr>
          <p:nvPr>
            <p:custDataLst>
              <p:tags r:id="rId2"/>
            </p:custDataLst>
          </p:nvPr>
        </p:nvSpPr>
        <p:spPr bwMode="gray">
          <a:xfrm>
            <a:off x="720121" y="1557338"/>
            <a:ext cx="11087100" cy="7620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endParaRPr lang="en-MY"/>
          </a:p>
        </p:txBody>
      </p:sp>
      <p:sp>
        <p:nvSpPr>
          <p:cNvPr id="7" name="Rectangle 3">
            <a:extLst>
              <a:ext uri="{FF2B5EF4-FFF2-40B4-BE49-F238E27FC236}">
                <a16:creationId xmlns:a16="http://schemas.microsoft.com/office/drawing/2014/main" id="{C15CAE48-C56B-B1DD-721F-ABC81A1CEA7F}"/>
              </a:ext>
            </a:extLst>
          </p:cNvPr>
          <p:cNvSpPr>
            <a:spLocks/>
          </p:cNvSpPr>
          <p:nvPr>
            <p:custDataLst>
              <p:tags r:id="rId3"/>
            </p:custDataLst>
          </p:nvPr>
        </p:nvSpPr>
        <p:spPr bwMode="gray">
          <a:xfrm>
            <a:off x="4518025" y="2616200"/>
            <a:ext cx="3494088" cy="29210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endParaRPr lang="en-MY"/>
          </a:p>
        </p:txBody>
      </p:sp>
      <p:sp>
        <p:nvSpPr>
          <p:cNvPr id="10" name="Rectangle 3">
            <a:extLst>
              <a:ext uri="{FF2B5EF4-FFF2-40B4-BE49-F238E27FC236}">
                <a16:creationId xmlns:a16="http://schemas.microsoft.com/office/drawing/2014/main" id="{5F5D85B1-8C8F-C8BB-5E62-8970B71619A7}"/>
              </a:ext>
            </a:extLst>
          </p:cNvPr>
          <p:cNvSpPr>
            <a:spLocks/>
          </p:cNvSpPr>
          <p:nvPr>
            <p:custDataLst>
              <p:tags r:id="rId4"/>
            </p:custDataLst>
          </p:nvPr>
        </p:nvSpPr>
        <p:spPr bwMode="gray">
          <a:xfrm>
            <a:off x="4772025" y="2870200"/>
            <a:ext cx="2986088" cy="10160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5400" b="1">
                <a:solidFill>
                  <a:schemeClr val="accent1"/>
                </a:solidFill>
              </a:rPr>
              <a:t>~15</a:t>
            </a:r>
          </a:p>
        </p:txBody>
      </p:sp>
      <p:sp>
        <p:nvSpPr>
          <p:cNvPr id="12" name="Rectangle 3">
            <a:extLst>
              <a:ext uri="{FF2B5EF4-FFF2-40B4-BE49-F238E27FC236}">
                <a16:creationId xmlns:a16="http://schemas.microsoft.com/office/drawing/2014/main" id="{6AA4A64F-D110-FA48-9165-DF6451B0D9D7}"/>
              </a:ext>
            </a:extLst>
          </p:cNvPr>
          <p:cNvSpPr>
            <a:spLocks/>
          </p:cNvSpPr>
          <p:nvPr/>
        </p:nvSpPr>
        <p:spPr bwMode="gray">
          <a:xfrm>
            <a:off x="974725" y="1557338"/>
            <a:ext cx="10580688" cy="7620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dirty="0"/>
              <a:t>With rising rainfall, drains fill up faster. In 2026, the average time from when the water levels went from critical to a flash flood was </a:t>
            </a:r>
            <a:r>
              <a:rPr lang="en-US" sz="1800" b="1" dirty="0"/>
              <a:t>16.6 minutes</a:t>
            </a:r>
            <a:r>
              <a:rPr lang="en-US" dirty="0"/>
              <a:t>, which is very little time to react</a:t>
            </a:r>
            <a:r>
              <a:rPr lang="en-US" sz="1800" dirty="0"/>
              <a:t>.</a:t>
            </a:r>
          </a:p>
        </p:txBody>
      </p:sp>
      <p:sp>
        <p:nvSpPr>
          <p:cNvPr id="14" name="Rectangle 3">
            <a:extLst>
              <a:ext uri="{FF2B5EF4-FFF2-40B4-BE49-F238E27FC236}">
                <a16:creationId xmlns:a16="http://schemas.microsoft.com/office/drawing/2014/main" id="{BCE05C4E-5B39-33C5-F6F6-9094D0DF8AE5}"/>
              </a:ext>
            </a:extLst>
          </p:cNvPr>
          <p:cNvSpPr>
            <a:spLocks/>
          </p:cNvSpPr>
          <p:nvPr/>
        </p:nvSpPr>
        <p:spPr bwMode="gray">
          <a:xfrm>
            <a:off x="4772025" y="4165600"/>
            <a:ext cx="2986088" cy="7112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MY"/>
              <a:t>Flash floods per year</a:t>
            </a:r>
            <a:endParaRPr lang="en-US" sz="1600" dirty="0"/>
          </a:p>
        </p:txBody>
      </p:sp>
      <p:cxnSp>
        <p:nvCxnSpPr>
          <p:cNvPr id="20" name="Straight Connector 19">
            <a:extLst>
              <a:ext uri="{FF2B5EF4-FFF2-40B4-BE49-F238E27FC236}">
                <a16:creationId xmlns:a16="http://schemas.microsoft.com/office/drawing/2014/main" id="{CF061EA6-139B-D925-9C45-0F45984CA5B1}"/>
              </a:ext>
            </a:extLst>
          </p:cNvPr>
          <p:cNvCxnSpPr>
            <a:cxnSpLocks/>
          </p:cNvCxnSpPr>
          <p:nvPr/>
        </p:nvCxnSpPr>
        <p:spPr>
          <a:xfrm>
            <a:off x="4772555" y="4013200"/>
            <a:ext cx="2985029" cy="0"/>
          </a:xfrm>
          <a:prstGeom prst="line">
            <a:avLst/>
          </a:prstGeom>
          <a:ln w="952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6966617C-D6A7-1076-68A3-DAEEF8F76B7B}"/>
              </a:ext>
            </a:extLst>
          </p:cNvPr>
          <p:cNvGrpSpPr/>
          <p:nvPr/>
        </p:nvGrpSpPr>
        <p:grpSpPr>
          <a:xfrm>
            <a:off x="8266113" y="2616200"/>
            <a:ext cx="3492500" cy="2921000"/>
            <a:chOff x="720725" y="2616200"/>
            <a:chExt cx="3492500" cy="2921000"/>
          </a:xfrm>
        </p:grpSpPr>
        <p:sp>
          <p:nvSpPr>
            <p:cNvPr id="24" name="Rectangle 3">
              <a:extLst>
                <a:ext uri="{FF2B5EF4-FFF2-40B4-BE49-F238E27FC236}">
                  <a16:creationId xmlns:a16="http://schemas.microsoft.com/office/drawing/2014/main" id="{17F58EAB-5F49-1187-F454-1067645E20B3}"/>
                </a:ext>
              </a:extLst>
            </p:cNvPr>
            <p:cNvSpPr>
              <a:spLocks/>
            </p:cNvSpPr>
            <p:nvPr>
              <p:custDataLst>
                <p:tags r:id="rId7"/>
              </p:custDataLst>
            </p:nvPr>
          </p:nvSpPr>
          <p:spPr bwMode="gray">
            <a:xfrm>
              <a:off x="720725" y="2616200"/>
              <a:ext cx="3492500" cy="29210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endParaRPr lang="en-MY"/>
            </a:p>
          </p:txBody>
        </p:sp>
        <p:sp>
          <p:nvSpPr>
            <p:cNvPr id="25" name="Rectangle 3">
              <a:extLst>
                <a:ext uri="{FF2B5EF4-FFF2-40B4-BE49-F238E27FC236}">
                  <a16:creationId xmlns:a16="http://schemas.microsoft.com/office/drawing/2014/main" id="{2E467F1D-7BFF-1980-1C6F-CB463A5D123B}"/>
                </a:ext>
              </a:extLst>
            </p:cNvPr>
            <p:cNvSpPr>
              <a:spLocks/>
            </p:cNvSpPr>
            <p:nvPr>
              <p:custDataLst>
                <p:tags r:id="rId8"/>
              </p:custDataLst>
            </p:nvPr>
          </p:nvSpPr>
          <p:spPr bwMode="gray">
            <a:xfrm>
              <a:off x="974725" y="2870200"/>
              <a:ext cx="2984500" cy="10160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5400" b="1" dirty="0">
                  <a:solidFill>
                    <a:schemeClr val="accent1"/>
                  </a:solidFill>
                </a:rPr>
                <a:t>16.6</a:t>
              </a:r>
              <a:r>
                <a:rPr lang="en-US" sz="2800" b="1" dirty="0">
                  <a:solidFill>
                    <a:schemeClr val="accent1"/>
                  </a:solidFill>
                </a:rPr>
                <a:t> min</a:t>
              </a:r>
            </a:p>
          </p:txBody>
        </p:sp>
        <p:sp>
          <p:nvSpPr>
            <p:cNvPr id="26" name="Rectangle 3">
              <a:extLst>
                <a:ext uri="{FF2B5EF4-FFF2-40B4-BE49-F238E27FC236}">
                  <a16:creationId xmlns:a16="http://schemas.microsoft.com/office/drawing/2014/main" id="{8A856307-BF8B-E493-A94B-32F6181C459B}"/>
                </a:ext>
              </a:extLst>
            </p:cNvPr>
            <p:cNvSpPr>
              <a:spLocks/>
            </p:cNvSpPr>
            <p:nvPr/>
          </p:nvSpPr>
          <p:spPr bwMode="gray">
            <a:xfrm>
              <a:off x="974725" y="4165600"/>
              <a:ext cx="2984500" cy="7112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MY" dirty="0"/>
                <a:t>Average alert lead time before a flood</a:t>
              </a:r>
              <a:endParaRPr lang="en-US" sz="1600" dirty="0"/>
            </a:p>
          </p:txBody>
        </p:sp>
        <p:sp>
          <p:nvSpPr>
            <p:cNvPr id="27" name="Rectangle 3">
              <a:extLst>
                <a:ext uri="{FF2B5EF4-FFF2-40B4-BE49-F238E27FC236}">
                  <a16:creationId xmlns:a16="http://schemas.microsoft.com/office/drawing/2014/main" id="{1DD50F8D-BD90-E9F6-511B-C667503D3107}"/>
                </a:ext>
              </a:extLst>
            </p:cNvPr>
            <p:cNvSpPr>
              <a:spLocks/>
            </p:cNvSpPr>
            <p:nvPr/>
          </p:nvSpPr>
          <p:spPr bwMode="gray">
            <a:xfrm>
              <a:off x="974725" y="4927600"/>
              <a:ext cx="2984500" cy="3810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MY" sz="1400" dirty="0"/>
                <a:t>1 Jan 2026 to 29 Oct 2026</a:t>
              </a:r>
              <a:endParaRPr lang="en-US" sz="1600" dirty="0"/>
            </a:p>
          </p:txBody>
        </p:sp>
        <p:cxnSp>
          <p:nvCxnSpPr>
            <p:cNvPr id="28" name="Straight Connector 27">
              <a:extLst>
                <a:ext uri="{FF2B5EF4-FFF2-40B4-BE49-F238E27FC236}">
                  <a16:creationId xmlns:a16="http://schemas.microsoft.com/office/drawing/2014/main" id="{B580E257-B248-F409-FE73-EF63EAEC27DB}"/>
                </a:ext>
              </a:extLst>
            </p:cNvPr>
            <p:cNvCxnSpPr>
              <a:cxnSpLocks/>
            </p:cNvCxnSpPr>
            <p:nvPr/>
          </p:nvCxnSpPr>
          <p:spPr>
            <a:xfrm>
              <a:off x="974726" y="4013200"/>
              <a:ext cx="2985029" cy="0"/>
            </a:xfrm>
            <a:prstGeom prst="line">
              <a:avLst/>
            </a:prstGeom>
            <a:ln w="952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BDE9BCD0-6B40-989F-A15C-FEBA2D5EE488}"/>
              </a:ext>
            </a:extLst>
          </p:cNvPr>
          <p:cNvGrpSpPr/>
          <p:nvPr/>
        </p:nvGrpSpPr>
        <p:grpSpPr>
          <a:xfrm>
            <a:off x="717550" y="2616200"/>
            <a:ext cx="3490913" cy="2921000"/>
            <a:chOff x="8316913" y="2616200"/>
            <a:chExt cx="3490913" cy="2921000"/>
          </a:xfrm>
        </p:grpSpPr>
        <p:sp>
          <p:nvSpPr>
            <p:cNvPr id="31" name="Rectangle 3">
              <a:extLst>
                <a:ext uri="{FF2B5EF4-FFF2-40B4-BE49-F238E27FC236}">
                  <a16:creationId xmlns:a16="http://schemas.microsoft.com/office/drawing/2014/main" id="{DDE85C2A-8174-0965-764C-664E664E2B51}"/>
                </a:ext>
              </a:extLst>
            </p:cNvPr>
            <p:cNvSpPr>
              <a:spLocks/>
            </p:cNvSpPr>
            <p:nvPr>
              <p:custDataLst>
                <p:tags r:id="rId5"/>
              </p:custDataLst>
            </p:nvPr>
          </p:nvSpPr>
          <p:spPr bwMode="gray">
            <a:xfrm>
              <a:off x="8316913" y="2616200"/>
              <a:ext cx="3490913" cy="29210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endParaRPr lang="en-MY"/>
            </a:p>
          </p:txBody>
        </p:sp>
        <p:sp>
          <p:nvSpPr>
            <p:cNvPr id="32" name="Rectangle 3">
              <a:extLst>
                <a:ext uri="{FF2B5EF4-FFF2-40B4-BE49-F238E27FC236}">
                  <a16:creationId xmlns:a16="http://schemas.microsoft.com/office/drawing/2014/main" id="{0BBAE335-7AA6-EA96-D388-42C266AED993}"/>
                </a:ext>
              </a:extLst>
            </p:cNvPr>
            <p:cNvSpPr>
              <a:spLocks/>
            </p:cNvSpPr>
            <p:nvPr>
              <p:custDataLst>
                <p:tags r:id="rId6"/>
              </p:custDataLst>
            </p:nvPr>
          </p:nvSpPr>
          <p:spPr bwMode="gray">
            <a:xfrm>
              <a:off x="8570913" y="2870200"/>
              <a:ext cx="2984500" cy="10160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5400" b="1">
                  <a:solidFill>
                    <a:schemeClr val="accent1"/>
                  </a:solidFill>
                </a:rPr>
                <a:t>92.5</a:t>
              </a:r>
              <a:r>
                <a:rPr lang="en-US" sz="2800" b="1">
                  <a:solidFill>
                    <a:schemeClr val="accent1"/>
                  </a:solidFill>
                </a:rPr>
                <a:t> mm</a:t>
              </a:r>
            </a:p>
          </p:txBody>
        </p:sp>
        <p:sp>
          <p:nvSpPr>
            <p:cNvPr id="33" name="Rectangle 3">
              <a:extLst>
                <a:ext uri="{FF2B5EF4-FFF2-40B4-BE49-F238E27FC236}">
                  <a16:creationId xmlns:a16="http://schemas.microsoft.com/office/drawing/2014/main" id="{A76FAF6A-BBDE-4C53-DF2E-7F0FACF5BF8E}"/>
                </a:ext>
              </a:extLst>
            </p:cNvPr>
            <p:cNvSpPr>
              <a:spLocks/>
            </p:cNvSpPr>
            <p:nvPr/>
          </p:nvSpPr>
          <p:spPr bwMode="gray">
            <a:xfrm>
              <a:off x="8570913" y="4165600"/>
              <a:ext cx="2984500" cy="7112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MY"/>
                <a:t>Rise in rainfall every 10 years</a:t>
              </a:r>
              <a:endParaRPr lang="en-US" sz="1600" dirty="0"/>
            </a:p>
          </p:txBody>
        </p:sp>
        <p:cxnSp>
          <p:nvCxnSpPr>
            <p:cNvPr id="34" name="Straight Connector 33">
              <a:extLst>
                <a:ext uri="{FF2B5EF4-FFF2-40B4-BE49-F238E27FC236}">
                  <a16:creationId xmlns:a16="http://schemas.microsoft.com/office/drawing/2014/main" id="{16FFEEF8-69F6-F70F-D736-71D5C55868E1}"/>
                </a:ext>
              </a:extLst>
            </p:cNvPr>
            <p:cNvCxnSpPr>
              <a:cxnSpLocks/>
            </p:cNvCxnSpPr>
            <p:nvPr/>
          </p:nvCxnSpPr>
          <p:spPr>
            <a:xfrm>
              <a:off x="8570384" y="4013200"/>
              <a:ext cx="2985029" cy="0"/>
            </a:xfrm>
            <a:prstGeom prst="line">
              <a:avLst/>
            </a:prstGeom>
            <a:ln w="952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41015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C517ED6-28AC-A13C-1403-59FB86281226}"/>
              </a:ext>
            </a:extLst>
          </p:cNvPr>
          <p:cNvGraphicFramePr>
            <a:graphicFrameLocks/>
          </p:cNvGraphicFramePr>
          <p:nvPr>
            <p:custDataLst>
              <p:tags r:id="rId1"/>
            </p:custDataLst>
            <p:extLst>
              <p:ext uri="{D42A27DB-BD31-4B8C-83A1-F6EECF244321}">
                <p14:modId xmlns:p14="http://schemas.microsoft.com/office/powerpoint/2010/main" val="35988633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43" imgH="443" progId="TCLayout.ActiveDocument.1">
                  <p:embed/>
                </p:oleObj>
              </mc:Choice>
              <mc:Fallback>
                <p:oleObj name="thinkcell Slide" r:id="rId5" imgW="443" imgH="443" progId="TCLayout.ActiveDocument.1">
                  <p:embed/>
                  <p:pic>
                    <p:nvPicPr>
                      <p:cNvPr id="7" name="thinkcell data - do not delete" hidden="1">
                        <a:extLst>
                          <a:ext uri="{FF2B5EF4-FFF2-40B4-BE49-F238E27FC236}">
                            <a16:creationId xmlns:a16="http://schemas.microsoft.com/office/drawing/2014/main" id="{0C517ED6-28AC-A13C-1403-59FB8628122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08CC617-A1D3-C754-4FAB-7CB3F2792343}"/>
              </a:ext>
            </a:extLst>
          </p:cNvPr>
          <p:cNvSpPr>
            <a:spLocks noGrp="1"/>
          </p:cNvSpPr>
          <p:nvPr>
            <p:ph type="title"/>
          </p:nvPr>
        </p:nvSpPr>
        <p:spPr/>
        <p:txBody>
          <a:bodyPr/>
          <a:lstStyle/>
          <a:p>
            <a:r>
              <a:rPr lang="en-MY" dirty="0"/>
              <a:t>Solution: </a:t>
            </a:r>
            <a:r>
              <a:rPr lang="en-MY" dirty="0" err="1"/>
              <a:t>FloodSense</a:t>
            </a:r>
            <a:endParaRPr lang="en-MY" dirty="0"/>
          </a:p>
        </p:txBody>
      </p:sp>
      <p:cxnSp>
        <p:nvCxnSpPr>
          <p:cNvPr id="4" name="Gerader Verbinder 22">
            <a:extLst>
              <a:ext uri="{FF2B5EF4-FFF2-40B4-BE49-F238E27FC236}">
                <a16:creationId xmlns:a16="http://schemas.microsoft.com/office/drawing/2014/main" id="{31214725-44C2-3DFC-38D5-C2A812807B88}"/>
              </a:ext>
            </a:extLst>
          </p:cNvPr>
          <p:cNvCxnSpPr>
            <a:cxnSpLocks/>
          </p:cNvCxnSpPr>
          <p:nvPr/>
        </p:nvCxnSpPr>
        <p:spPr>
          <a:xfrm>
            <a:off x="407987" y="1557338"/>
            <a:ext cx="0" cy="3979863"/>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Rectangle 3">
            <a:extLst>
              <a:ext uri="{FF2B5EF4-FFF2-40B4-BE49-F238E27FC236}">
                <a16:creationId xmlns:a16="http://schemas.microsoft.com/office/drawing/2014/main" id="{CE6ED6BD-AEA7-202F-3293-7F0A7E058EC0}"/>
              </a:ext>
            </a:extLst>
          </p:cNvPr>
          <p:cNvSpPr>
            <a:spLocks/>
          </p:cNvSpPr>
          <p:nvPr>
            <p:custDataLst>
              <p:tags r:id="rId2"/>
            </p:custDataLst>
          </p:nvPr>
        </p:nvSpPr>
        <p:spPr bwMode="gray">
          <a:xfrm>
            <a:off x="720121" y="1557338"/>
            <a:ext cx="11087100" cy="3979863"/>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endParaRPr lang="en-MY"/>
          </a:p>
        </p:txBody>
      </p:sp>
      <p:sp>
        <p:nvSpPr>
          <p:cNvPr id="6" name="Rectangle 3">
            <a:extLst>
              <a:ext uri="{FF2B5EF4-FFF2-40B4-BE49-F238E27FC236}">
                <a16:creationId xmlns:a16="http://schemas.microsoft.com/office/drawing/2014/main" id="{BA15BC52-7ADC-BBC8-9E24-4D9146792F46}"/>
              </a:ext>
            </a:extLst>
          </p:cNvPr>
          <p:cNvSpPr>
            <a:spLocks/>
          </p:cNvSpPr>
          <p:nvPr/>
        </p:nvSpPr>
        <p:spPr bwMode="gray">
          <a:xfrm>
            <a:off x="1228725" y="1811338"/>
            <a:ext cx="10071100" cy="3471863"/>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MY" sz="3200" dirty="0" err="1"/>
              <a:t>FloodSense</a:t>
            </a:r>
            <a:r>
              <a:rPr lang="en-MY" sz="3200" dirty="0"/>
              <a:t> forecasts, every </a:t>
            </a:r>
            <a:r>
              <a:rPr lang="en-MY" sz="3200" b="1" dirty="0"/>
              <a:t>5 minutes</a:t>
            </a:r>
            <a:r>
              <a:rPr lang="en-MY" sz="3200" dirty="0"/>
              <a:t>, which of NEA’s </a:t>
            </a:r>
            <a:r>
              <a:rPr lang="en-MY" sz="3200" b="1" dirty="0"/>
              <a:t>47 weather‑forecast areas</a:t>
            </a:r>
            <a:r>
              <a:rPr lang="en-MY" sz="3200" dirty="0"/>
              <a:t> is likely to get a</a:t>
            </a:r>
          </a:p>
          <a:p>
            <a:pPr lvl="0" defTabSz="978998" fontAlgn="base">
              <a:spcBef>
                <a:spcPct val="0"/>
              </a:spcBef>
              <a:spcAft>
                <a:spcPct val="0"/>
              </a:spcAft>
              <a:defRPr/>
            </a:pPr>
            <a:r>
              <a:rPr lang="en-MY" sz="3200" dirty="0"/>
              <a:t>flash flood in the </a:t>
            </a:r>
            <a:r>
              <a:rPr lang="en-MY" sz="3200" b="1" dirty="0"/>
              <a:t>next hour</a:t>
            </a:r>
            <a:r>
              <a:rPr lang="en-MY" sz="3200" dirty="0"/>
              <a:t>, rating each </a:t>
            </a:r>
            <a:r>
              <a:rPr lang="en-MY" sz="3200" b="1" dirty="0"/>
              <a:t>Low, Moderate or Elevated</a:t>
            </a:r>
            <a:r>
              <a:rPr lang="en-MY" sz="3200" dirty="0"/>
              <a:t>.</a:t>
            </a:r>
            <a:endParaRPr lang="en-US" sz="1600" dirty="0"/>
          </a:p>
        </p:txBody>
      </p:sp>
    </p:spTree>
    <p:extLst>
      <p:ext uri="{BB962C8B-B14F-4D97-AF65-F5344CB8AC3E}">
        <p14:creationId xmlns:p14="http://schemas.microsoft.com/office/powerpoint/2010/main" val="4144810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A3040-3979-B367-7E54-7B6077070CC5}"/>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AAD51A2-370B-1774-525E-544B8FF2053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43" imgH="443" progId="TCLayout.ActiveDocument.1">
                  <p:embed/>
                </p:oleObj>
              </mc:Choice>
              <mc:Fallback>
                <p:oleObj name="thinkcell Slide" r:id="rId5" imgW="443" imgH="443" progId="TCLayout.ActiveDocument.1">
                  <p:embed/>
                  <p:pic>
                    <p:nvPicPr>
                      <p:cNvPr id="7" name="thinkcell data - do not delete" hidden="1">
                        <a:extLst>
                          <a:ext uri="{FF2B5EF4-FFF2-40B4-BE49-F238E27FC236}">
                            <a16:creationId xmlns:a16="http://schemas.microsoft.com/office/drawing/2014/main" id="{9AAD51A2-370B-1774-525E-544B8FF2053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B0C0522-DF72-B5B7-F137-F473222F0934}"/>
              </a:ext>
            </a:extLst>
          </p:cNvPr>
          <p:cNvSpPr>
            <a:spLocks noGrp="1"/>
          </p:cNvSpPr>
          <p:nvPr>
            <p:ph type="title"/>
          </p:nvPr>
        </p:nvSpPr>
        <p:spPr/>
        <p:txBody>
          <a:bodyPr/>
          <a:lstStyle/>
          <a:p>
            <a:r>
              <a:rPr lang="en-MY" dirty="0"/>
              <a:t>Solution: </a:t>
            </a:r>
            <a:r>
              <a:rPr lang="en-MY" dirty="0" err="1"/>
              <a:t>FloodSense</a:t>
            </a:r>
            <a:endParaRPr lang="en-MY" dirty="0"/>
          </a:p>
        </p:txBody>
      </p:sp>
      <p:cxnSp>
        <p:nvCxnSpPr>
          <p:cNvPr id="4" name="Gerader Verbinder 22">
            <a:extLst>
              <a:ext uri="{FF2B5EF4-FFF2-40B4-BE49-F238E27FC236}">
                <a16:creationId xmlns:a16="http://schemas.microsoft.com/office/drawing/2014/main" id="{C018C490-9AFE-460B-B54F-94EE05C0FF97}"/>
              </a:ext>
            </a:extLst>
          </p:cNvPr>
          <p:cNvCxnSpPr>
            <a:cxnSpLocks/>
          </p:cNvCxnSpPr>
          <p:nvPr/>
        </p:nvCxnSpPr>
        <p:spPr>
          <a:xfrm>
            <a:off x="407987" y="1557338"/>
            <a:ext cx="0" cy="3979863"/>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Rectangle 3">
            <a:extLst>
              <a:ext uri="{FF2B5EF4-FFF2-40B4-BE49-F238E27FC236}">
                <a16:creationId xmlns:a16="http://schemas.microsoft.com/office/drawing/2014/main" id="{843AE432-C148-3292-FF4C-4F546F964815}"/>
              </a:ext>
            </a:extLst>
          </p:cNvPr>
          <p:cNvSpPr>
            <a:spLocks/>
          </p:cNvSpPr>
          <p:nvPr>
            <p:custDataLst>
              <p:tags r:id="rId2"/>
            </p:custDataLst>
          </p:nvPr>
        </p:nvSpPr>
        <p:spPr bwMode="gray">
          <a:xfrm>
            <a:off x="720121" y="1557338"/>
            <a:ext cx="11087100" cy="3979863"/>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endParaRPr lang="en-MY"/>
          </a:p>
        </p:txBody>
      </p:sp>
      <p:sp>
        <p:nvSpPr>
          <p:cNvPr id="6" name="Rectangle 3">
            <a:extLst>
              <a:ext uri="{FF2B5EF4-FFF2-40B4-BE49-F238E27FC236}">
                <a16:creationId xmlns:a16="http://schemas.microsoft.com/office/drawing/2014/main" id="{46CC3894-0770-1C74-94E2-FF37FBB2AF45}"/>
              </a:ext>
            </a:extLst>
          </p:cNvPr>
          <p:cNvSpPr>
            <a:spLocks/>
          </p:cNvSpPr>
          <p:nvPr/>
        </p:nvSpPr>
        <p:spPr bwMode="gray">
          <a:xfrm>
            <a:off x="1228725" y="1811338"/>
            <a:ext cx="10071100" cy="3471863"/>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MY" sz="3200" dirty="0" err="1"/>
              <a:t>FloodSense</a:t>
            </a:r>
            <a:r>
              <a:rPr lang="en-MY" sz="3200" dirty="0"/>
              <a:t> forecasts, every </a:t>
            </a:r>
            <a:r>
              <a:rPr lang="en-MY" sz="3200" b="1" dirty="0"/>
              <a:t>5 minutes</a:t>
            </a:r>
            <a:r>
              <a:rPr lang="en-MY" sz="3200" dirty="0"/>
              <a:t>, which of NEA’s </a:t>
            </a:r>
            <a:r>
              <a:rPr lang="en-MY" sz="3200" b="1" dirty="0"/>
              <a:t>47 weather‑forecast areas</a:t>
            </a:r>
            <a:r>
              <a:rPr lang="en-MY" sz="3200" dirty="0"/>
              <a:t> is likely to get a</a:t>
            </a:r>
          </a:p>
          <a:p>
            <a:pPr lvl="0" defTabSz="978998" fontAlgn="base">
              <a:spcBef>
                <a:spcPct val="0"/>
              </a:spcBef>
              <a:spcAft>
                <a:spcPct val="0"/>
              </a:spcAft>
              <a:defRPr/>
            </a:pPr>
            <a:r>
              <a:rPr lang="en-MY" sz="3200" dirty="0">
                <a:solidFill>
                  <a:schemeClr val="accent1"/>
                </a:solidFill>
              </a:rPr>
              <a:t>‘risk of flash flood’ </a:t>
            </a:r>
            <a:r>
              <a:rPr lang="en-MY" sz="3200" dirty="0"/>
              <a:t>alert</a:t>
            </a:r>
            <a:r>
              <a:rPr lang="en-MY" sz="3200" dirty="0">
                <a:solidFill>
                  <a:schemeClr val="accent1"/>
                </a:solidFill>
              </a:rPr>
              <a:t> </a:t>
            </a:r>
            <a:r>
              <a:rPr lang="en-MY" sz="3200" dirty="0"/>
              <a:t>in the </a:t>
            </a:r>
            <a:r>
              <a:rPr lang="en-MY" sz="3200" b="1" dirty="0"/>
              <a:t>next hour</a:t>
            </a:r>
            <a:r>
              <a:rPr lang="en-MY" sz="3200" dirty="0"/>
              <a:t>, rating each </a:t>
            </a:r>
            <a:r>
              <a:rPr lang="en-MY" sz="3200" b="1" dirty="0"/>
              <a:t>Low, Moderate or Elevated</a:t>
            </a:r>
            <a:r>
              <a:rPr lang="en-MY" sz="3200" dirty="0"/>
              <a:t>.</a:t>
            </a:r>
            <a:endParaRPr lang="en-US" sz="1600" dirty="0"/>
          </a:p>
        </p:txBody>
      </p:sp>
    </p:spTree>
    <p:extLst>
      <p:ext uri="{BB962C8B-B14F-4D97-AF65-F5344CB8AC3E}">
        <p14:creationId xmlns:p14="http://schemas.microsoft.com/office/powerpoint/2010/main" val="1227722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5CF01C4B-DB0D-2C77-B36B-63E14F81B50E}"/>
              </a:ext>
            </a:extLst>
          </p:cNvPr>
          <p:cNvGraphicFramePr>
            <a:graphicFrameLocks/>
          </p:cNvGraphicFramePr>
          <p:nvPr>
            <p:custDataLst>
              <p:tags r:id="rId1"/>
            </p:custDataLst>
            <p:extLst>
              <p:ext uri="{D42A27DB-BD31-4B8C-83A1-F6EECF244321}">
                <p14:modId xmlns:p14="http://schemas.microsoft.com/office/powerpoint/2010/main" val="384116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43" imgH="443" progId="TCLayout.ActiveDocument.1">
                  <p:embed/>
                </p:oleObj>
              </mc:Choice>
              <mc:Fallback>
                <p:oleObj name="thinkcell Slide" r:id="rId14" imgW="443" imgH="443" progId="TCLayout.ActiveDocument.1">
                  <p:embed/>
                  <p:pic>
                    <p:nvPicPr>
                      <p:cNvPr id="19" name="thinkcell data - do not delete" hidden="1">
                        <a:extLst>
                          <a:ext uri="{FF2B5EF4-FFF2-40B4-BE49-F238E27FC236}">
                            <a16:creationId xmlns:a16="http://schemas.microsoft.com/office/drawing/2014/main" id="{5CF01C4B-DB0D-2C77-B36B-63E14F81B50E}"/>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3D11BAD-9289-6DF7-F31A-4CB83B18491E}"/>
              </a:ext>
            </a:extLst>
          </p:cNvPr>
          <p:cNvSpPr>
            <a:spLocks noGrp="1"/>
          </p:cNvSpPr>
          <p:nvPr>
            <p:ph type="title"/>
          </p:nvPr>
        </p:nvSpPr>
        <p:spPr/>
        <p:txBody>
          <a:bodyPr/>
          <a:lstStyle/>
          <a:p>
            <a:r>
              <a:rPr lang="en-MY"/>
              <a:t>Who benefits?</a:t>
            </a:r>
          </a:p>
        </p:txBody>
      </p:sp>
      <p:cxnSp>
        <p:nvCxnSpPr>
          <p:cNvPr id="3" name="Gerader Verbinder 22">
            <a:extLst>
              <a:ext uri="{FF2B5EF4-FFF2-40B4-BE49-F238E27FC236}">
                <a16:creationId xmlns:a16="http://schemas.microsoft.com/office/drawing/2014/main" id="{89E79818-41E8-332E-EB34-5C1331DD08E3}"/>
              </a:ext>
            </a:extLst>
          </p:cNvPr>
          <p:cNvCxnSpPr>
            <a:cxnSpLocks/>
          </p:cNvCxnSpPr>
          <p:nvPr/>
        </p:nvCxnSpPr>
        <p:spPr>
          <a:xfrm>
            <a:off x="407987" y="1557338"/>
            <a:ext cx="0" cy="3979863"/>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F875E35F-F2D5-330F-EB8E-E4D29A0BDEDC}"/>
              </a:ext>
            </a:extLst>
          </p:cNvPr>
          <p:cNvSpPr>
            <a:spLocks/>
          </p:cNvSpPr>
          <p:nvPr>
            <p:custDataLst>
              <p:tags r:id="rId2"/>
            </p:custDataLst>
          </p:nvPr>
        </p:nvSpPr>
        <p:spPr bwMode="gray">
          <a:xfrm>
            <a:off x="720121" y="1557338"/>
            <a:ext cx="11087100" cy="7620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endParaRPr lang="en-MY"/>
          </a:p>
        </p:txBody>
      </p:sp>
      <p:sp>
        <p:nvSpPr>
          <p:cNvPr id="5" name="Rectangle 3">
            <a:extLst>
              <a:ext uri="{FF2B5EF4-FFF2-40B4-BE49-F238E27FC236}">
                <a16:creationId xmlns:a16="http://schemas.microsoft.com/office/drawing/2014/main" id="{2F72B845-5F1E-86D3-799C-7DE4CC949DCA}"/>
              </a:ext>
            </a:extLst>
          </p:cNvPr>
          <p:cNvSpPr>
            <a:spLocks/>
          </p:cNvSpPr>
          <p:nvPr>
            <p:custDataLst>
              <p:tags r:id="rId3"/>
            </p:custDataLst>
          </p:nvPr>
        </p:nvSpPr>
        <p:spPr bwMode="gray">
          <a:xfrm>
            <a:off x="720725" y="2616200"/>
            <a:ext cx="3492500" cy="29210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endParaRPr lang="en-MY"/>
          </a:p>
        </p:txBody>
      </p:sp>
      <p:sp>
        <p:nvSpPr>
          <p:cNvPr id="6" name="Rectangle 3">
            <a:extLst>
              <a:ext uri="{FF2B5EF4-FFF2-40B4-BE49-F238E27FC236}">
                <a16:creationId xmlns:a16="http://schemas.microsoft.com/office/drawing/2014/main" id="{2D9DA39D-0149-9D36-66C5-409A2DA8D41C}"/>
              </a:ext>
            </a:extLst>
          </p:cNvPr>
          <p:cNvSpPr>
            <a:spLocks/>
          </p:cNvSpPr>
          <p:nvPr>
            <p:custDataLst>
              <p:tags r:id="rId4"/>
            </p:custDataLst>
          </p:nvPr>
        </p:nvSpPr>
        <p:spPr bwMode="gray">
          <a:xfrm>
            <a:off x="4518025" y="2616200"/>
            <a:ext cx="3494088" cy="29210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endParaRPr lang="en-MY"/>
          </a:p>
        </p:txBody>
      </p:sp>
      <p:sp>
        <p:nvSpPr>
          <p:cNvPr id="7" name="Rectangle 3">
            <a:extLst>
              <a:ext uri="{FF2B5EF4-FFF2-40B4-BE49-F238E27FC236}">
                <a16:creationId xmlns:a16="http://schemas.microsoft.com/office/drawing/2014/main" id="{F35DB2B2-77B3-5F0D-8201-903A5D7F5749}"/>
              </a:ext>
            </a:extLst>
          </p:cNvPr>
          <p:cNvSpPr>
            <a:spLocks/>
          </p:cNvSpPr>
          <p:nvPr>
            <p:custDataLst>
              <p:tags r:id="rId5"/>
            </p:custDataLst>
          </p:nvPr>
        </p:nvSpPr>
        <p:spPr bwMode="gray">
          <a:xfrm>
            <a:off x="8316913" y="2616200"/>
            <a:ext cx="3490913" cy="29210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endParaRPr lang="en-MY"/>
          </a:p>
        </p:txBody>
      </p:sp>
      <p:sp>
        <p:nvSpPr>
          <p:cNvPr id="8" name="Rectangle 3">
            <a:extLst>
              <a:ext uri="{FF2B5EF4-FFF2-40B4-BE49-F238E27FC236}">
                <a16:creationId xmlns:a16="http://schemas.microsoft.com/office/drawing/2014/main" id="{E1DF1C2C-E005-7ED4-B378-C79D56E6CFD4}"/>
              </a:ext>
            </a:extLst>
          </p:cNvPr>
          <p:cNvSpPr>
            <a:spLocks/>
          </p:cNvSpPr>
          <p:nvPr>
            <p:custDataLst>
              <p:tags r:id="rId6"/>
            </p:custDataLst>
          </p:nvPr>
        </p:nvSpPr>
        <p:spPr bwMode="gray">
          <a:xfrm>
            <a:off x="974725" y="3505200"/>
            <a:ext cx="2984500" cy="5080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2400" b="1">
                <a:solidFill>
                  <a:schemeClr val="accent1"/>
                </a:solidFill>
              </a:rPr>
              <a:t>Commuters</a:t>
            </a:r>
          </a:p>
        </p:txBody>
      </p:sp>
      <p:sp>
        <p:nvSpPr>
          <p:cNvPr id="9" name="Rectangle 3">
            <a:extLst>
              <a:ext uri="{FF2B5EF4-FFF2-40B4-BE49-F238E27FC236}">
                <a16:creationId xmlns:a16="http://schemas.microsoft.com/office/drawing/2014/main" id="{7B4A9A20-D5B0-C7FB-F924-618D2FC980F8}"/>
              </a:ext>
            </a:extLst>
          </p:cNvPr>
          <p:cNvSpPr>
            <a:spLocks/>
          </p:cNvSpPr>
          <p:nvPr>
            <p:custDataLst>
              <p:tags r:id="rId7"/>
            </p:custDataLst>
          </p:nvPr>
        </p:nvSpPr>
        <p:spPr bwMode="gray">
          <a:xfrm>
            <a:off x="4772025" y="3505200"/>
            <a:ext cx="2984500" cy="5080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2400" b="1">
                <a:solidFill>
                  <a:schemeClr val="accent1"/>
                </a:solidFill>
              </a:rPr>
              <a:t>Residents &amp; shops</a:t>
            </a:r>
          </a:p>
        </p:txBody>
      </p:sp>
      <p:sp>
        <p:nvSpPr>
          <p:cNvPr id="10" name="Rectangle 3">
            <a:extLst>
              <a:ext uri="{FF2B5EF4-FFF2-40B4-BE49-F238E27FC236}">
                <a16:creationId xmlns:a16="http://schemas.microsoft.com/office/drawing/2014/main" id="{41295B8C-3162-4D2B-438E-A18AC427496C}"/>
              </a:ext>
            </a:extLst>
          </p:cNvPr>
          <p:cNvSpPr>
            <a:spLocks/>
          </p:cNvSpPr>
          <p:nvPr>
            <p:custDataLst>
              <p:tags r:id="rId8"/>
            </p:custDataLst>
          </p:nvPr>
        </p:nvSpPr>
        <p:spPr bwMode="gray">
          <a:xfrm>
            <a:off x="8570913" y="3505200"/>
            <a:ext cx="2984500" cy="5080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2400" b="1">
                <a:solidFill>
                  <a:schemeClr val="accent1"/>
                </a:solidFill>
              </a:rPr>
              <a:t>Agencies</a:t>
            </a:r>
          </a:p>
        </p:txBody>
      </p:sp>
      <p:sp>
        <p:nvSpPr>
          <p:cNvPr id="11" name="Rectangle 3">
            <a:extLst>
              <a:ext uri="{FF2B5EF4-FFF2-40B4-BE49-F238E27FC236}">
                <a16:creationId xmlns:a16="http://schemas.microsoft.com/office/drawing/2014/main" id="{9505A35C-B79B-4C31-DA74-08BB2B3F4C60}"/>
              </a:ext>
            </a:extLst>
          </p:cNvPr>
          <p:cNvSpPr>
            <a:spLocks/>
          </p:cNvSpPr>
          <p:nvPr/>
        </p:nvSpPr>
        <p:spPr bwMode="gray">
          <a:xfrm>
            <a:off x="974725" y="1557338"/>
            <a:ext cx="10580688" cy="7620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MY"/>
              <a:t>Earlier, predictive flood alerts give each group time to act before the water arrives</a:t>
            </a:r>
            <a:endParaRPr lang="en-US" sz="1600" dirty="0"/>
          </a:p>
        </p:txBody>
      </p:sp>
      <p:sp>
        <p:nvSpPr>
          <p:cNvPr id="12" name="Rectangle 3">
            <a:extLst>
              <a:ext uri="{FF2B5EF4-FFF2-40B4-BE49-F238E27FC236}">
                <a16:creationId xmlns:a16="http://schemas.microsoft.com/office/drawing/2014/main" id="{EF5AB804-5C78-024A-CCC2-E1E61D67E868}"/>
              </a:ext>
            </a:extLst>
          </p:cNvPr>
          <p:cNvSpPr>
            <a:spLocks/>
          </p:cNvSpPr>
          <p:nvPr/>
        </p:nvSpPr>
        <p:spPr bwMode="gray">
          <a:xfrm>
            <a:off x="974725" y="4241800"/>
            <a:ext cx="2984500" cy="7112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MY"/>
              <a:t>Avoid flood-prone roads while on the move</a:t>
            </a:r>
            <a:endParaRPr lang="en-US" sz="1600" dirty="0"/>
          </a:p>
        </p:txBody>
      </p:sp>
      <p:sp>
        <p:nvSpPr>
          <p:cNvPr id="13" name="Rectangle 3">
            <a:extLst>
              <a:ext uri="{FF2B5EF4-FFF2-40B4-BE49-F238E27FC236}">
                <a16:creationId xmlns:a16="http://schemas.microsoft.com/office/drawing/2014/main" id="{9D35D0EB-7806-F74F-B9F6-6B05F833B1DD}"/>
              </a:ext>
            </a:extLst>
          </p:cNvPr>
          <p:cNvSpPr>
            <a:spLocks/>
          </p:cNvSpPr>
          <p:nvPr/>
        </p:nvSpPr>
        <p:spPr bwMode="gray">
          <a:xfrm>
            <a:off x="4772025" y="4241800"/>
            <a:ext cx="2984500" cy="7112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MY"/>
              <a:t>Set up flood barriers before water rises</a:t>
            </a:r>
            <a:endParaRPr lang="en-US" sz="1600" dirty="0"/>
          </a:p>
        </p:txBody>
      </p:sp>
      <p:sp>
        <p:nvSpPr>
          <p:cNvPr id="14" name="Rectangle 3">
            <a:extLst>
              <a:ext uri="{FF2B5EF4-FFF2-40B4-BE49-F238E27FC236}">
                <a16:creationId xmlns:a16="http://schemas.microsoft.com/office/drawing/2014/main" id="{557AF9E0-3B65-783F-CF73-E70061C9FB55}"/>
              </a:ext>
            </a:extLst>
          </p:cNvPr>
          <p:cNvSpPr>
            <a:spLocks/>
          </p:cNvSpPr>
          <p:nvPr/>
        </p:nvSpPr>
        <p:spPr bwMode="gray">
          <a:xfrm>
            <a:off x="8570913" y="4241800"/>
            <a:ext cx="2984500" cy="7112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MY"/>
              <a:t>Deploy personnel in advance</a:t>
            </a:r>
            <a:endParaRPr lang="en-US" sz="1600" dirty="0"/>
          </a:p>
        </p:txBody>
      </p:sp>
      <p:sp>
        <p:nvSpPr>
          <p:cNvPr id="15" name="Rectangle 3">
            <a:extLst>
              <a:ext uri="{FF2B5EF4-FFF2-40B4-BE49-F238E27FC236}">
                <a16:creationId xmlns:a16="http://schemas.microsoft.com/office/drawing/2014/main" id="{BCD217B2-82A1-D149-B2B7-FDA5D67D2C40}"/>
              </a:ext>
            </a:extLst>
          </p:cNvPr>
          <p:cNvSpPr>
            <a:spLocks/>
          </p:cNvSpPr>
          <p:nvPr/>
        </p:nvSpPr>
        <p:spPr bwMode="gray">
          <a:xfrm>
            <a:off x="974725" y="4978400"/>
            <a:ext cx="2984500" cy="3556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MY" sz="1400"/>
              <a:t>Median car commute: 30 min</a:t>
            </a:r>
            <a:endParaRPr lang="en-US" sz="1600" dirty="0"/>
          </a:p>
        </p:txBody>
      </p:sp>
      <p:cxnSp>
        <p:nvCxnSpPr>
          <p:cNvPr id="16" name="Straight Connector 15">
            <a:extLst>
              <a:ext uri="{FF2B5EF4-FFF2-40B4-BE49-F238E27FC236}">
                <a16:creationId xmlns:a16="http://schemas.microsoft.com/office/drawing/2014/main" id="{1445D3DD-7202-84BB-471F-4A58D8609206}"/>
              </a:ext>
            </a:extLst>
          </p:cNvPr>
          <p:cNvCxnSpPr>
            <a:cxnSpLocks/>
          </p:cNvCxnSpPr>
          <p:nvPr/>
        </p:nvCxnSpPr>
        <p:spPr>
          <a:xfrm>
            <a:off x="974726" y="4114800"/>
            <a:ext cx="2985029" cy="0"/>
          </a:xfrm>
          <a:prstGeom prst="line">
            <a:avLst/>
          </a:prstGeom>
          <a:ln w="952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BCD659C-4069-3240-A49E-64A4177442F8}"/>
              </a:ext>
            </a:extLst>
          </p:cNvPr>
          <p:cNvCxnSpPr>
            <a:cxnSpLocks/>
          </p:cNvCxnSpPr>
          <p:nvPr/>
        </p:nvCxnSpPr>
        <p:spPr>
          <a:xfrm>
            <a:off x="4772555" y="4114800"/>
            <a:ext cx="2985029" cy="0"/>
          </a:xfrm>
          <a:prstGeom prst="line">
            <a:avLst/>
          </a:prstGeom>
          <a:ln w="952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665725-BEB7-A47A-81E0-F5420FE7AEE3}"/>
              </a:ext>
            </a:extLst>
          </p:cNvPr>
          <p:cNvCxnSpPr>
            <a:cxnSpLocks/>
          </p:cNvCxnSpPr>
          <p:nvPr/>
        </p:nvCxnSpPr>
        <p:spPr>
          <a:xfrm>
            <a:off x="8570384" y="4114800"/>
            <a:ext cx="2985029" cy="0"/>
          </a:xfrm>
          <a:prstGeom prst="line">
            <a:avLst/>
          </a:prstGeom>
          <a:ln w="952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0" name="Rectangle 3">
            <a:extLst>
              <a:ext uri="{FF2B5EF4-FFF2-40B4-BE49-F238E27FC236}">
                <a16:creationId xmlns:a16="http://schemas.microsoft.com/office/drawing/2014/main" id="{5969BA3B-7A14-C047-2114-39E8CCDCAB67}"/>
              </a:ext>
            </a:extLst>
          </p:cNvPr>
          <p:cNvSpPr>
            <a:spLocks/>
          </p:cNvSpPr>
          <p:nvPr/>
        </p:nvSpPr>
        <p:spPr bwMode="gray">
          <a:xfrm>
            <a:off x="4772025" y="4978400"/>
            <a:ext cx="2984500" cy="3556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MY" sz="1400"/>
              <a:t>Incl. shop owners &amp; town councils</a:t>
            </a:r>
            <a:endParaRPr lang="en-US" sz="1600" dirty="0"/>
          </a:p>
        </p:txBody>
      </p:sp>
      <p:pic>
        <p:nvPicPr>
          <p:cNvPr id="23" name="Pic">
            <a:extLst>
              <a:ext uri="{FF2B5EF4-FFF2-40B4-BE49-F238E27FC236}">
                <a16:creationId xmlns:a16="http://schemas.microsoft.com/office/drawing/2014/main" id="{9F0CCD1C-DB38-72E9-2DC9-E6C9854CA64D}"/>
              </a:ext>
            </a:extLst>
          </p:cNvPr>
          <p:cNvPicPr>
            <a:picLocks/>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 uri="{6F801314-5768-4EAC-8CED-0F2297F94238}"/>
            </a:extLst>
          </a:blip>
          <a:stretch>
            <a:fillRect/>
          </a:stretch>
        </p:blipFill>
        <p:spPr bwMode="auto">
          <a:xfrm>
            <a:off x="977900" y="2870200"/>
            <a:ext cx="508000" cy="508000"/>
          </a:xfrm>
          <a:prstGeom prst="rect">
            <a:avLst/>
          </a:prstGeom>
          <a:noFill/>
          <a:effectLst/>
        </p:spPr>
      </p:pic>
      <p:pic>
        <p:nvPicPr>
          <p:cNvPr id="21" name="Pic">
            <a:extLst>
              <a:ext uri="{FF2B5EF4-FFF2-40B4-BE49-F238E27FC236}">
                <a16:creationId xmlns:a16="http://schemas.microsoft.com/office/drawing/2014/main" id="{14881CD1-E145-2895-6029-33020E7D5F98}"/>
              </a:ext>
            </a:extLst>
          </p:cNvPr>
          <p:cNvPicPr>
            <a:picLocks/>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 uri="{6F801314-5768-4EAC-8CED-0F2297F94238}"/>
            </a:extLst>
          </a:blip>
          <a:stretch>
            <a:fillRect/>
          </a:stretch>
        </p:blipFill>
        <p:spPr bwMode="auto">
          <a:xfrm>
            <a:off x="4775200" y="2870200"/>
            <a:ext cx="508000" cy="508000"/>
          </a:xfrm>
          <a:prstGeom prst="rect">
            <a:avLst/>
          </a:prstGeom>
          <a:noFill/>
          <a:effectLst/>
        </p:spPr>
      </p:pic>
      <p:pic>
        <p:nvPicPr>
          <p:cNvPr id="22" name="Pic">
            <a:extLst>
              <a:ext uri="{FF2B5EF4-FFF2-40B4-BE49-F238E27FC236}">
                <a16:creationId xmlns:a16="http://schemas.microsoft.com/office/drawing/2014/main" id="{482A12DF-81DC-7655-F5D5-03444C245A3B}"/>
              </a:ext>
            </a:extLst>
          </p:cNvPr>
          <p:cNvPicPr>
            <a:picLocks/>
          </p:cNvPicPr>
          <p:nvPr>
            <p:custDataLst>
              <p:tags r:id="rId1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 uri="{6F801314-5768-4EAC-8CED-0F2297F94238}"/>
            </a:extLst>
          </a:blip>
          <a:stretch>
            <a:fillRect/>
          </a:stretch>
        </p:blipFill>
        <p:spPr bwMode="auto">
          <a:xfrm>
            <a:off x="8572500" y="2870200"/>
            <a:ext cx="508000" cy="508000"/>
          </a:xfrm>
          <a:prstGeom prst="rect">
            <a:avLst/>
          </a:prstGeom>
          <a:noFill/>
          <a:effectLst/>
        </p:spPr>
      </p:pic>
    </p:spTree>
    <p:extLst>
      <p:ext uri="{BB962C8B-B14F-4D97-AF65-F5344CB8AC3E}">
        <p14:creationId xmlns:p14="http://schemas.microsoft.com/office/powerpoint/2010/main" val="988520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9BA099C0-4387-821B-8642-3FE30148851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43" imgH="443" progId="TCLayout.ActiveDocument.1">
                  <p:embed/>
                </p:oleObj>
              </mc:Choice>
              <mc:Fallback>
                <p:oleObj name="thinkcell Slide" r:id="rId14" imgW="443" imgH="443" progId="TCLayout.ActiveDocument.1">
                  <p:embed/>
                  <p:pic>
                    <p:nvPicPr>
                      <p:cNvPr id="14" name="thinkcell data - do not delete" hidden="1">
                        <a:extLst>
                          <a:ext uri="{FF2B5EF4-FFF2-40B4-BE49-F238E27FC236}">
                            <a16:creationId xmlns:a16="http://schemas.microsoft.com/office/drawing/2014/main" id="{9BA099C0-4387-821B-8642-3FE301488515}"/>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A0CAD3-7A17-9586-E3AC-CFFF9F641032}"/>
              </a:ext>
            </a:extLst>
          </p:cNvPr>
          <p:cNvSpPr>
            <a:spLocks noGrp="1"/>
          </p:cNvSpPr>
          <p:nvPr>
            <p:ph type="ctrTitle"/>
          </p:nvPr>
        </p:nvSpPr>
        <p:spPr>
          <a:xfrm>
            <a:off x="838200" y="2298700"/>
            <a:ext cx="6858000" cy="1737360"/>
          </a:xfrm>
        </p:spPr>
        <p:txBody>
          <a:bodyPr anchor="t">
            <a:noAutofit/>
          </a:bodyPr>
          <a:lstStyle/>
          <a:p>
            <a:pPr algn="l"/>
            <a:r>
              <a:rPr lang="en-US" dirty="0"/>
              <a:t>Demo</a:t>
            </a:r>
            <a:endParaRPr lang="en-MY" dirty="0"/>
          </a:p>
        </p:txBody>
      </p:sp>
      <p:sp>
        <p:nvSpPr>
          <p:cNvPr id="3" name="Subtitle 2">
            <a:extLst>
              <a:ext uri="{FF2B5EF4-FFF2-40B4-BE49-F238E27FC236}">
                <a16:creationId xmlns:a16="http://schemas.microsoft.com/office/drawing/2014/main" id="{466CE773-C4A8-BAE0-6AF8-DBDF4B2A003B}"/>
              </a:ext>
            </a:extLst>
          </p:cNvPr>
          <p:cNvSpPr>
            <a:spLocks noGrp="1"/>
          </p:cNvSpPr>
          <p:nvPr>
            <p:ph type="subTitle" idx="1"/>
          </p:nvPr>
        </p:nvSpPr>
        <p:spPr>
          <a:xfrm>
            <a:off x="838200" y="4162425"/>
            <a:ext cx="6858000" cy="762000"/>
          </a:xfrm>
        </p:spPr>
        <p:txBody>
          <a:bodyPr anchor="t">
            <a:noAutofit/>
          </a:bodyPr>
          <a:lstStyle/>
          <a:p>
            <a:pPr algn="l"/>
            <a:r>
              <a:rPr lang="en-US" dirty="0"/>
              <a:t>A usable dashboard, app or interface a non-technical stakeholder could act on.</a:t>
            </a:r>
          </a:p>
        </p:txBody>
      </p:sp>
      <p:cxnSp>
        <p:nvCxnSpPr>
          <p:cNvPr id="4" name="Gerader Verbinder 22">
            <a:extLst>
              <a:ext uri="{FF2B5EF4-FFF2-40B4-BE49-F238E27FC236}">
                <a16:creationId xmlns:a16="http://schemas.microsoft.com/office/drawing/2014/main" id="{0FBC66AF-337C-9EB6-4D19-3A3A5FA19945}"/>
              </a:ext>
            </a:extLst>
          </p:cNvPr>
          <p:cNvCxnSpPr>
            <a:cxnSpLocks/>
          </p:cNvCxnSpPr>
          <p:nvPr/>
        </p:nvCxnSpPr>
        <p:spPr>
          <a:xfrm>
            <a:off x="407987" y="1422400"/>
            <a:ext cx="0" cy="40259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Rectangle 3">
            <a:extLst>
              <a:ext uri="{FF2B5EF4-FFF2-40B4-BE49-F238E27FC236}">
                <a16:creationId xmlns:a16="http://schemas.microsoft.com/office/drawing/2014/main" id="{3BF285DD-8A38-652D-67F9-A57E6A663F2D}"/>
              </a:ext>
            </a:extLst>
          </p:cNvPr>
          <p:cNvSpPr>
            <a:spLocks/>
          </p:cNvSpPr>
          <p:nvPr>
            <p:custDataLst>
              <p:tags r:id="rId2"/>
            </p:custDataLst>
          </p:nvPr>
        </p:nvSpPr>
        <p:spPr bwMode="gray">
          <a:xfrm>
            <a:off x="8128000" y="30988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a:solidFill>
                  <a:schemeClr val="bg2">
                    <a:lumMod val="50000"/>
                  </a:schemeClr>
                </a:solidFill>
              </a:rPr>
              <a:t>Why Databricks</a:t>
            </a:r>
          </a:p>
        </p:txBody>
      </p:sp>
      <p:sp>
        <p:nvSpPr>
          <p:cNvPr id="6" name="Rectangle 3">
            <a:extLst>
              <a:ext uri="{FF2B5EF4-FFF2-40B4-BE49-F238E27FC236}">
                <a16:creationId xmlns:a16="http://schemas.microsoft.com/office/drawing/2014/main" id="{8A1FEAEA-4BCE-6DB3-D0EA-E6A69D8E2CBC}"/>
              </a:ext>
            </a:extLst>
          </p:cNvPr>
          <p:cNvSpPr>
            <a:spLocks/>
          </p:cNvSpPr>
          <p:nvPr>
            <p:custDataLst>
              <p:tags r:id="rId3"/>
            </p:custDataLst>
          </p:nvPr>
        </p:nvSpPr>
        <p:spPr bwMode="gray">
          <a:xfrm>
            <a:off x="8128000" y="14224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a:solidFill>
                  <a:schemeClr val="bg2">
                    <a:lumMod val="50000"/>
                  </a:schemeClr>
                </a:solidFill>
              </a:rPr>
              <a:t>Social Impact</a:t>
            </a:r>
          </a:p>
        </p:txBody>
      </p:sp>
      <p:sp>
        <p:nvSpPr>
          <p:cNvPr id="7" name="Rectangle 3">
            <a:extLst>
              <a:ext uri="{FF2B5EF4-FFF2-40B4-BE49-F238E27FC236}">
                <a16:creationId xmlns:a16="http://schemas.microsoft.com/office/drawing/2014/main" id="{AA60D1E2-A95D-0000-AEA7-E6C0DB502B12}"/>
              </a:ext>
            </a:extLst>
          </p:cNvPr>
          <p:cNvSpPr>
            <a:spLocks/>
          </p:cNvSpPr>
          <p:nvPr>
            <p:custDataLst>
              <p:tags r:id="rId4"/>
            </p:custDataLst>
          </p:nvPr>
        </p:nvSpPr>
        <p:spPr bwMode="gray">
          <a:xfrm>
            <a:off x="8128000" y="39370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a:solidFill>
                  <a:schemeClr val="bg2">
                    <a:lumMod val="50000"/>
                  </a:schemeClr>
                </a:solidFill>
              </a:rPr>
              <a:t>Data Rigour</a:t>
            </a:r>
          </a:p>
        </p:txBody>
      </p:sp>
      <p:sp>
        <p:nvSpPr>
          <p:cNvPr id="8" name="Rectangle 3">
            <a:extLst>
              <a:ext uri="{FF2B5EF4-FFF2-40B4-BE49-F238E27FC236}">
                <a16:creationId xmlns:a16="http://schemas.microsoft.com/office/drawing/2014/main" id="{29B8F756-71B2-7421-9EBC-30C7A05DE9AC}"/>
              </a:ext>
            </a:extLst>
          </p:cNvPr>
          <p:cNvSpPr>
            <a:spLocks/>
          </p:cNvSpPr>
          <p:nvPr>
            <p:custDataLst>
              <p:tags r:id="rId5"/>
            </p:custDataLst>
          </p:nvPr>
        </p:nvSpPr>
        <p:spPr bwMode="gray">
          <a:xfrm>
            <a:off x="8128000" y="22606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b="1" dirty="0"/>
              <a:t>Demo</a:t>
            </a:r>
          </a:p>
        </p:txBody>
      </p:sp>
      <p:sp>
        <p:nvSpPr>
          <p:cNvPr id="9" name="Rectangle 3">
            <a:extLst>
              <a:ext uri="{FF2B5EF4-FFF2-40B4-BE49-F238E27FC236}">
                <a16:creationId xmlns:a16="http://schemas.microsoft.com/office/drawing/2014/main" id="{A0732791-5E99-2748-CCEC-EAFE8B8CF5FA}"/>
              </a:ext>
            </a:extLst>
          </p:cNvPr>
          <p:cNvSpPr>
            <a:spLocks/>
          </p:cNvSpPr>
          <p:nvPr>
            <p:custDataLst>
              <p:tags r:id="rId6"/>
            </p:custDataLst>
          </p:nvPr>
        </p:nvSpPr>
        <p:spPr bwMode="gray">
          <a:xfrm>
            <a:off x="8220075" y="14986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bg2">
                    <a:lumMod val="75000"/>
                  </a:schemeClr>
                </a:solidFill>
              </a:rPr>
              <a:t>01.</a:t>
            </a:r>
          </a:p>
        </p:txBody>
      </p:sp>
      <p:sp>
        <p:nvSpPr>
          <p:cNvPr id="10" name="Rectangle 3">
            <a:extLst>
              <a:ext uri="{FF2B5EF4-FFF2-40B4-BE49-F238E27FC236}">
                <a16:creationId xmlns:a16="http://schemas.microsoft.com/office/drawing/2014/main" id="{9D32B52C-8093-71BA-944A-60474118AC98}"/>
              </a:ext>
            </a:extLst>
          </p:cNvPr>
          <p:cNvSpPr>
            <a:spLocks/>
          </p:cNvSpPr>
          <p:nvPr>
            <p:custDataLst>
              <p:tags r:id="rId7"/>
            </p:custDataLst>
          </p:nvPr>
        </p:nvSpPr>
        <p:spPr bwMode="gray">
          <a:xfrm>
            <a:off x="8220075" y="31750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bg2">
                    <a:lumMod val="75000"/>
                  </a:schemeClr>
                </a:solidFill>
              </a:rPr>
              <a:t>03.</a:t>
            </a:r>
          </a:p>
        </p:txBody>
      </p:sp>
      <p:sp>
        <p:nvSpPr>
          <p:cNvPr id="11" name="Rectangle 3">
            <a:extLst>
              <a:ext uri="{FF2B5EF4-FFF2-40B4-BE49-F238E27FC236}">
                <a16:creationId xmlns:a16="http://schemas.microsoft.com/office/drawing/2014/main" id="{49426486-F4FE-108A-E8E5-91CB63F0010D}"/>
              </a:ext>
            </a:extLst>
          </p:cNvPr>
          <p:cNvSpPr>
            <a:spLocks/>
          </p:cNvSpPr>
          <p:nvPr>
            <p:custDataLst>
              <p:tags r:id="rId8"/>
            </p:custDataLst>
          </p:nvPr>
        </p:nvSpPr>
        <p:spPr bwMode="gray">
          <a:xfrm>
            <a:off x="8220075" y="40132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bg2">
                    <a:lumMod val="75000"/>
                  </a:schemeClr>
                </a:solidFill>
              </a:rPr>
              <a:t>04.</a:t>
            </a:r>
          </a:p>
        </p:txBody>
      </p:sp>
      <p:sp>
        <p:nvSpPr>
          <p:cNvPr id="12" name="Rectangle 3">
            <a:extLst>
              <a:ext uri="{FF2B5EF4-FFF2-40B4-BE49-F238E27FC236}">
                <a16:creationId xmlns:a16="http://schemas.microsoft.com/office/drawing/2014/main" id="{8D257491-CAA4-DDA8-2EE9-1109C33AFBCD}"/>
              </a:ext>
            </a:extLst>
          </p:cNvPr>
          <p:cNvSpPr>
            <a:spLocks/>
          </p:cNvSpPr>
          <p:nvPr>
            <p:custDataLst>
              <p:tags r:id="rId9"/>
            </p:custDataLst>
          </p:nvPr>
        </p:nvSpPr>
        <p:spPr bwMode="gray">
          <a:xfrm>
            <a:off x="8220075" y="23368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accent1"/>
                </a:solidFill>
              </a:rPr>
              <a:t>02.</a:t>
            </a:r>
          </a:p>
        </p:txBody>
      </p:sp>
      <p:sp>
        <p:nvSpPr>
          <p:cNvPr id="13" name="Rectangle 3">
            <a:extLst>
              <a:ext uri="{FF2B5EF4-FFF2-40B4-BE49-F238E27FC236}">
                <a16:creationId xmlns:a16="http://schemas.microsoft.com/office/drawing/2014/main" id="{1470E366-3816-70D8-6E42-676E42AD536C}"/>
              </a:ext>
            </a:extLst>
          </p:cNvPr>
          <p:cNvSpPr>
            <a:spLocks/>
          </p:cNvSpPr>
          <p:nvPr>
            <p:custDataLst>
              <p:tags r:id="rId10"/>
            </p:custDataLst>
          </p:nvPr>
        </p:nvSpPr>
        <p:spPr bwMode="gray">
          <a:xfrm>
            <a:off x="838200" y="1371600"/>
            <a:ext cx="3048000" cy="9144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5400" b="1" dirty="0">
                <a:solidFill>
                  <a:schemeClr val="accent1"/>
                </a:solidFill>
              </a:rPr>
              <a:t>02.</a:t>
            </a:r>
          </a:p>
        </p:txBody>
      </p:sp>
      <p:sp>
        <p:nvSpPr>
          <p:cNvPr id="15" name="Rectangle 3">
            <a:extLst>
              <a:ext uri="{FF2B5EF4-FFF2-40B4-BE49-F238E27FC236}">
                <a16:creationId xmlns:a16="http://schemas.microsoft.com/office/drawing/2014/main" id="{3F7F7263-5F82-307A-08FB-526C23938227}"/>
              </a:ext>
            </a:extLst>
          </p:cNvPr>
          <p:cNvSpPr>
            <a:spLocks/>
          </p:cNvSpPr>
          <p:nvPr>
            <p:custDataLst>
              <p:tags r:id="rId11"/>
            </p:custDataLst>
          </p:nvPr>
        </p:nvSpPr>
        <p:spPr bwMode="gray">
          <a:xfrm>
            <a:off x="8128000" y="47752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a:solidFill>
                  <a:schemeClr val="bg2">
                    <a:lumMod val="50000"/>
                  </a:schemeClr>
                </a:solidFill>
              </a:rPr>
              <a:t>Q&amp;A</a:t>
            </a:r>
          </a:p>
        </p:txBody>
      </p:sp>
      <p:sp>
        <p:nvSpPr>
          <p:cNvPr id="16" name="Rectangle 3">
            <a:extLst>
              <a:ext uri="{FF2B5EF4-FFF2-40B4-BE49-F238E27FC236}">
                <a16:creationId xmlns:a16="http://schemas.microsoft.com/office/drawing/2014/main" id="{5DD7C0F3-BE5A-23CC-EAF5-32ABB8A81F02}"/>
              </a:ext>
            </a:extLst>
          </p:cNvPr>
          <p:cNvSpPr>
            <a:spLocks/>
          </p:cNvSpPr>
          <p:nvPr>
            <p:custDataLst>
              <p:tags r:id="rId12"/>
            </p:custDataLst>
          </p:nvPr>
        </p:nvSpPr>
        <p:spPr bwMode="gray">
          <a:xfrm>
            <a:off x="8220075" y="48514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dirty="0">
                <a:solidFill>
                  <a:schemeClr val="bg2">
                    <a:lumMod val="75000"/>
                  </a:schemeClr>
                </a:solidFill>
              </a:rPr>
              <a:t>05.</a:t>
            </a:r>
          </a:p>
        </p:txBody>
      </p:sp>
    </p:spTree>
    <p:extLst>
      <p:ext uri="{BB962C8B-B14F-4D97-AF65-F5344CB8AC3E}">
        <p14:creationId xmlns:p14="http://schemas.microsoft.com/office/powerpoint/2010/main" val="1008341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hinkcell data - do not delete" hidden="1">
            <a:extLst>
              <a:ext uri="{FF2B5EF4-FFF2-40B4-BE49-F238E27FC236}">
                <a16:creationId xmlns:a16="http://schemas.microsoft.com/office/drawing/2014/main" id="{3E0B0AF3-9B99-FAB9-072F-E369B6836E42}"/>
              </a:ext>
            </a:extLst>
          </p:cNvPr>
          <p:cNvGraphicFramePr>
            <a:graphicFrameLocks/>
          </p:cNvGraphicFramePr>
          <p:nvPr>
            <p:custDataLst>
              <p:tags r:id="rId1"/>
            </p:custDataLst>
            <p:extLst>
              <p:ext uri="{D42A27DB-BD31-4B8C-83A1-F6EECF244321}">
                <p14:modId xmlns:p14="http://schemas.microsoft.com/office/powerpoint/2010/main" val="535969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43" imgH="443" progId="TCLayout.ActiveDocument.1">
                  <p:embed/>
                </p:oleObj>
              </mc:Choice>
              <mc:Fallback>
                <p:oleObj name="thinkcell Slide" r:id="rId4" imgW="443" imgH="443" progId="TCLayout.ActiveDocument.1">
                  <p:embed/>
                  <p:pic>
                    <p:nvPicPr>
                      <p:cNvPr id="20" name="thinkcell data - do not delete" hidden="1">
                        <a:extLst>
                          <a:ext uri="{FF2B5EF4-FFF2-40B4-BE49-F238E27FC236}">
                            <a16:creationId xmlns:a16="http://schemas.microsoft.com/office/drawing/2014/main" id="{3E0B0AF3-9B99-FAB9-072F-E369B6836E4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4F54453-9A81-6FEE-5AAD-F4B4AC58CF36}"/>
              </a:ext>
            </a:extLst>
          </p:cNvPr>
          <p:cNvSpPr>
            <a:spLocks noGrp="1"/>
          </p:cNvSpPr>
          <p:nvPr>
            <p:ph type="title"/>
          </p:nvPr>
        </p:nvSpPr>
        <p:spPr/>
        <p:txBody>
          <a:bodyPr/>
          <a:lstStyle/>
          <a:p>
            <a:r>
              <a:rPr lang="en-MY" dirty="0"/>
              <a:t>Metrics</a:t>
            </a:r>
          </a:p>
        </p:txBody>
      </p:sp>
      <p:sp>
        <p:nvSpPr>
          <p:cNvPr id="25" name="TextBox 24">
            <a:extLst>
              <a:ext uri="{FF2B5EF4-FFF2-40B4-BE49-F238E27FC236}">
                <a16:creationId xmlns:a16="http://schemas.microsoft.com/office/drawing/2014/main" id="{0FD02D04-6D56-E8C1-913D-D9BDEE4A36BA}"/>
              </a:ext>
            </a:extLst>
          </p:cNvPr>
          <p:cNvSpPr txBox="1"/>
          <p:nvPr/>
        </p:nvSpPr>
        <p:spPr>
          <a:xfrm>
            <a:off x="838200" y="5511800"/>
            <a:ext cx="10515600" cy="711200"/>
          </a:xfrm>
          <a:prstGeom prst="rect">
            <a:avLst/>
          </a:prstGeom>
          <a:noFill/>
        </p:spPr>
        <p:txBody>
          <a:bodyPr vert="horz" rtlCol="0">
            <a:noAutofit/>
          </a:bodyPr>
          <a:lstStyle/>
          <a:p>
            <a:r>
              <a:rPr lang="en-MY" sz="1100" dirty="0"/>
              <a:t>1. ROC-AUC is inflated because flash floods are rare</a:t>
            </a:r>
          </a:p>
          <a:p>
            <a:r>
              <a:rPr lang="en-MY" sz="1100" dirty="0"/>
              <a:t>2. Range because a Woodlands flash flood was predicted only as it happened, and a Marine Parade flash flood occurred 1 h 2 min after the initial warning</a:t>
            </a:r>
          </a:p>
          <a:p>
            <a:r>
              <a:rPr lang="en-MY" sz="1100" dirty="0"/>
              <a:t>3. 37.3 min if Woodlands and Marine Parade are excluded</a:t>
            </a:r>
          </a:p>
        </p:txBody>
      </p:sp>
      <p:grpSp>
        <p:nvGrpSpPr>
          <p:cNvPr id="12" name="Group 11">
            <a:extLst>
              <a:ext uri="{FF2B5EF4-FFF2-40B4-BE49-F238E27FC236}">
                <a16:creationId xmlns:a16="http://schemas.microsoft.com/office/drawing/2014/main" id="{0A5F6C8E-012B-4020-8E04-29780E6C69EE}"/>
              </a:ext>
            </a:extLst>
          </p:cNvPr>
          <p:cNvGrpSpPr/>
          <p:nvPr/>
        </p:nvGrpSpPr>
        <p:grpSpPr>
          <a:xfrm>
            <a:off x="838201" y="2286000"/>
            <a:ext cx="2476499" cy="1651000"/>
            <a:chOff x="838201" y="2286000"/>
            <a:chExt cx="1939925" cy="1651000"/>
          </a:xfrm>
        </p:grpSpPr>
        <p:sp>
          <p:nvSpPr>
            <p:cNvPr id="21" name="Rectangle 20">
              <a:extLst>
                <a:ext uri="{FF2B5EF4-FFF2-40B4-BE49-F238E27FC236}">
                  <a16:creationId xmlns:a16="http://schemas.microsoft.com/office/drawing/2014/main" id="{C8731F2A-FEFE-9263-4038-DB637316D1F2}"/>
                </a:ext>
              </a:extLst>
            </p:cNvPr>
            <p:cNvSpPr/>
            <p:nvPr/>
          </p:nvSpPr>
          <p:spPr>
            <a:xfrm>
              <a:off x="838201" y="2286000"/>
              <a:ext cx="1939925" cy="1651000"/>
            </a:xfrm>
            <a:prstGeom prst="rect">
              <a:avLst/>
            </a:prstGeom>
            <a:solidFill>
              <a:schemeClr val="tx1">
                <a:lumMod val="10000"/>
                <a:lumOff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50800" tIns="228600" rIns="50800" rtlCol="0" anchor="t">
              <a:noAutofit/>
            </a:bodyPr>
            <a:lstStyle/>
            <a:p>
              <a:pPr algn="ctr"/>
              <a:r>
                <a:rPr lang="en-MY" sz="3200" b="1" dirty="0">
                  <a:solidFill>
                    <a:schemeClr val="tx1"/>
                  </a:solidFill>
                </a:rPr>
                <a:t>0.930*</a:t>
              </a:r>
            </a:p>
            <a:p>
              <a:pPr algn="ctr"/>
              <a:r>
                <a:rPr lang="en-MY" sz="1600" b="1" dirty="0">
                  <a:solidFill>
                    <a:schemeClr val="tx1"/>
                  </a:solidFill>
                </a:rPr>
                <a:t>ROC-AUC</a:t>
              </a:r>
            </a:p>
            <a:p>
              <a:pPr algn="ctr"/>
              <a:r>
                <a:rPr lang="en-MY" sz="1400" dirty="0">
                  <a:solidFill>
                    <a:schemeClr val="tx1"/>
                  </a:solidFill>
                </a:rPr>
                <a:t>ROC curve area</a:t>
              </a:r>
            </a:p>
            <a:p>
              <a:pPr algn="ctr"/>
              <a:r>
                <a:rPr lang="en-MY" sz="1400" dirty="0">
                  <a:solidFill>
                    <a:schemeClr val="tx1"/>
                  </a:solidFill>
                </a:rPr>
                <a:t>Rainfall-only: 0.85¹</a:t>
              </a:r>
            </a:p>
          </p:txBody>
        </p:sp>
        <p:sp>
          <p:nvSpPr>
            <p:cNvPr id="26" name="Rectangle 25">
              <a:extLst>
                <a:ext uri="{FF2B5EF4-FFF2-40B4-BE49-F238E27FC236}">
                  <a16:creationId xmlns:a16="http://schemas.microsoft.com/office/drawing/2014/main" id="{77A86E6B-117E-C243-025B-DFFB73EBD718}"/>
                </a:ext>
              </a:extLst>
            </p:cNvPr>
            <p:cNvSpPr/>
            <p:nvPr/>
          </p:nvSpPr>
          <p:spPr>
            <a:xfrm>
              <a:off x="838201" y="2286000"/>
              <a:ext cx="1939925"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grpSp>
        <p:nvGrpSpPr>
          <p:cNvPr id="15" name="Group 14">
            <a:extLst>
              <a:ext uri="{FF2B5EF4-FFF2-40B4-BE49-F238E27FC236}">
                <a16:creationId xmlns:a16="http://schemas.microsoft.com/office/drawing/2014/main" id="{6DEFC445-24D6-DDEB-F9FE-0596D6F743FE}"/>
              </a:ext>
            </a:extLst>
          </p:cNvPr>
          <p:cNvGrpSpPr/>
          <p:nvPr/>
        </p:nvGrpSpPr>
        <p:grpSpPr>
          <a:xfrm>
            <a:off x="6197599" y="2286000"/>
            <a:ext cx="2476499" cy="1651000"/>
            <a:chOff x="7269163" y="2286000"/>
            <a:chExt cx="1941513" cy="1651000"/>
          </a:xfrm>
        </p:grpSpPr>
        <p:sp>
          <p:nvSpPr>
            <p:cNvPr id="23" name="Rectangle 22">
              <a:extLst>
                <a:ext uri="{FF2B5EF4-FFF2-40B4-BE49-F238E27FC236}">
                  <a16:creationId xmlns:a16="http://schemas.microsoft.com/office/drawing/2014/main" id="{EB42EE54-4663-79A5-FB0B-FC1990AA9CC4}"/>
                </a:ext>
              </a:extLst>
            </p:cNvPr>
            <p:cNvSpPr/>
            <p:nvPr/>
          </p:nvSpPr>
          <p:spPr>
            <a:xfrm>
              <a:off x="7269163" y="2286000"/>
              <a:ext cx="1941513" cy="1651000"/>
            </a:xfrm>
            <a:prstGeom prst="rect">
              <a:avLst/>
            </a:prstGeom>
            <a:solidFill>
              <a:schemeClr val="tx1">
                <a:lumMod val="10000"/>
                <a:lumOff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50800" tIns="228600" rIns="50800" rtlCol="0" anchor="t">
              <a:noAutofit/>
            </a:bodyPr>
            <a:lstStyle/>
            <a:p>
              <a:pPr algn="ctr"/>
              <a:r>
                <a:rPr lang="en-MY" sz="3200" b="1" dirty="0">
                  <a:solidFill>
                    <a:schemeClr val="tx1"/>
                  </a:solidFill>
                </a:rPr>
                <a:t>4–6 of 8</a:t>
              </a:r>
            </a:p>
            <a:p>
              <a:pPr algn="ctr"/>
              <a:r>
                <a:rPr lang="en-MY" sz="1600" b="1" dirty="0">
                  <a:solidFill>
                    <a:schemeClr val="tx1"/>
                  </a:solidFill>
                </a:rPr>
                <a:t>Floods caught</a:t>
              </a:r>
            </a:p>
            <a:p>
              <a:pPr algn="ctr"/>
              <a:r>
                <a:rPr lang="en-MY" sz="1400" dirty="0">
                  <a:solidFill>
                    <a:schemeClr val="tx1"/>
                  </a:solidFill>
                </a:rPr>
                <a:t>Moderate or elevated²</a:t>
              </a:r>
            </a:p>
          </p:txBody>
        </p:sp>
        <p:sp>
          <p:nvSpPr>
            <p:cNvPr id="28" name="Rectangle 27">
              <a:extLst>
                <a:ext uri="{FF2B5EF4-FFF2-40B4-BE49-F238E27FC236}">
                  <a16:creationId xmlns:a16="http://schemas.microsoft.com/office/drawing/2014/main" id="{07CE307C-C1FF-95CE-B059-E410348225D8}"/>
                </a:ext>
              </a:extLst>
            </p:cNvPr>
            <p:cNvSpPr/>
            <p:nvPr/>
          </p:nvSpPr>
          <p:spPr>
            <a:xfrm>
              <a:off x="7269163" y="2286000"/>
              <a:ext cx="1941513"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grpSp>
        <p:nvGrpSpPr>
          <p:cNvPr id="16" name="Group 15">
            <a:extLst>
              <a:ext uri="{FF2B5EF4-FFF2-40B4-BE49-F238E27FC236}">
                <a16:creationId xmlns:a16="http://schemas.microsoft.com/office/drawing/2014/main" id="{C37A4CDE-2379-DF0D-74E3-E52765F5C06A}"/>
              </a:ext>
            </a:extLst>
          </p:cNvPr>
          <p:cNvGrpSpPr/>
          <p:nvPr/>
        </p:nvGrpSpPr>
        <p:grpSpPr>
          <a:xfrm>
            <a:off x="8877299" y="2286000"/>
            <a:ext cx="2476502" cy="1651000"/>
            <a:chOff x="9413875" y="2286000"/>
            <a:chExt cx="1939925" cy="1651000"/>
          </a:xfrm>
        </p:grpSpPr>
        <p:sp>
          <p:nvSpPr>
            <p:cNvPr id="24" name="Rectangle 23">
              <a:extLst>
                <a:ext uri="{FF2B5EF4-FFF2-40B4-BE49-F238E27FC236}">
                  <a16:creationId xmlns:a16="http://schemas.microsoft.com/office/drawing/2014/main" id="{C1702FA6-0316-80C9-9476-12E0A976D8FD}"/>
                </a:ext>
              </a:extLst>
            </p:cNvPr>
            <p:cNvSpPr/>
            <p:nvPr/>
          </p:nvSpPr>
          <p:spPr>
            <a:xfrm>
              <a:off x="9413875" y="2286000"/>
              <a:ext cx="1939925" cy="1651000"/>
            </a:xfrm>
            <a:prstGeom prst="rect">
              <a:avLst/>
            </a:prstGeom>
            <a:solidFill>
              <a:schemeClr val="tx1">
                <a:lumMod val="10000"/>
                <a:lumOff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50800" tIns="228600" rIns="50800" rtlCol="0" anchor="t">
              <a:noAutofit/>
            </a:bodyPr>
            <a:lstStyle/>
            <a:p>
              <a:pPr algn="ctr"/>
              <a:r>
                <a:rPr lang="en-MY" sz="3200" b="1" dirty="0">
                  <a:solidFill>
                    <a:schemeClr val="tx1"/>
                  </a:solidFill>
                </a:rPr>
                <a:t>35.7 min</a:t>
              </a:r>
            </a:p>
            <a:p>
              <a:pPr algn="ctr"/>
              <a:r>
                <a:rPr lang="en-MY" sz="1600" b="1" dirty="0">
                  <a:solidFill>
                    <a:schemeClr val="tx1"/>
                  </a:solidFill>
                </a:rPr>
                <a:t>Mean lead time</a:t>
              </a:r>
            </a:p>
            <a:p>
              <a:pPr algn="ctr"/>
              <a:r>
                <a:rPr lang="en-MY" sz="1400" dirty="0">
                  <a:solidFill>
                    <a:schemeClr val="tx1"/>
                  </a:solidFill>
                </a:rPr>
                <a:t>Predicted floods only³</a:t>
              </a:r>
            </a:p>
          </p:txBody>
        </p:sp>
        <p:sp>
          <p:nvSpPr>
            <p:cNvPr id="29" name="Rectangle 28">
              <a:extLst>
                <a:ext uri="{FF2B5EF4-FFF2-40B4-BE49-F238E27FC236}">
                  <a16:creationId xmlns:a16="http://schemas.microsoft.com/office/drawing/2014/main" id="{1DCE516D-D1CC-DE23-8420-7372D7F80924}"/>
                </a:ext>
              </a:extLst>
            </p:cNvPr>
            <p:cNvSpPr/>
            <p:nvPr/>
          </p:nvSpPr>
          <p:spPr>
            <a:xfrm>
              <a:off x="9413875" y="2286000"/>
              <a:ext cx="1939925"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grpSp>
        <p:nvGrpSpPr>
          <p:cNvPr id="13" name="Group 12">
            <a:extLst>
              <a:ext uri="{FF2B5EF4-FFF2-40B4-BE49-F238E27FC236}">
                <a16:creationId xmlns:a16="http://schemas.microsoft.com/office/drawing/2014/main" id="{91A6D26D-05CB-9AD6-FBD9-4CBE13C4C213}"/>
              </a:ext>
            </a:extLst>
          </p:cNvPr>
          <p:cNvGrpSpPr/>
          <p:nvPr/>
        </p:nvGrpSpPr>
        <p:grpSpPr>
          <a:xfrm>
            <a:off x="3517900" y="2286000"/>
            <a:ext cx="2476499" cy="1612900"/>
            <a:chOff x="2981325" y="2286000"/>
            <a:chExt cx="1941513" cy="1651000"/>
          </a:xfrm>
        </p:grpSpPr>
        <p:sp>
          <p:nvSpPr>
            <p:cNvPr id="30" name="Rectangle 29">
              <a:extLst>
                <a:ext uri="{FF2B5EF4-FFF2-40B4-BE49-F238E27FC236}">
                  <a16:creationId xmlns:a16="http://schemas.microsoft.com/office/drawing/2014/main" id="{72E9B5C4-3109-8285-86D9-21FA4C6FC47D}"/>
                </a:ext>
              </a:extLst>
            </p:cNvPr>
            <p:cNvSpPr/>
            <p:nvPr/>
          </p:nvSpPr>
          <p:spPr>
            <a:xfrm>
              <a:off x="2981325" y="2286000"/>
              <a:ext cx="1941513" cy="1651000"/>
            </a:xfrm>
            <a:prstGeom prst="rect">
              <a:avLst/>
            </a:prstGeom>
            <a:solidFill>
              <a:schemeClr val="tx1">
                <a:lumMod val="10000"/>
                <a:lumOff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50800" tIns="228600" rIns="50800" rtlCol="0" anchor="t">
              <a:noAutofit/>
            </a:bodyPr>
            <a:lstStyle/>
            <a:p>
              <a:pPr algn="ctr"/>
              <a:r>
                <a:rPr lang="en-MY" sz="3200" b="1" dirty="0">
                  <a:solidFill>
                    <a:schemeClr val="tx1"/>
                  </a:solidFill>
                </a:rPr>
                <a:t>0.018</a:t>
              </a:r>
            </a:p>
            <a:p>
              <a:pPr algn="ctr"/>
              <a:r>
                <a:rPr lang="en-MY" sz="1600" b="1" dirty="0">
                  <a:solidFill>
                    <a:schemeClr val="tx1"/>
                  </a:solidFill>
                </a:rPr>
                <a:t>PR-AUC</a:t>
              </a:r>
            </a:p>
            <a:p>
              <a:pPr algn="ctr"/>
              <a:r>
                <a:rPr lang="en-MY" sz="1400" dirty="0">
                  <a:solidFill>
                    <a:schemeClr val="tx1"/>
                  </a:solidFill>
                </a:rPr>
                <a:t>PR curve area</a:t>
              </a:r>
            </a:p>
            <a:p>
              <a:pPr algn="ctr"/>
              <a:r>
                <a:rPr lang="en-MY" sz="1400" dirty="0">
                  <a:solidFill>
                    <a:schemeClr val="tx1"/>
                  </a:solidFill>
                </a:rPr>
                <a:t>vs 0.020% alert rate</a:t>
              </a:r>
            </a:p>
            <a:p>
              <a:pPr algn="ctr"/>
              <a:r>
                <a:rPr lang="en-MY" sz="1400" dirty="0">
                  <a:solidFill>
                    <a:schemeClr val="tx1"/>
                  </a:solidFill>
                </a:rPr>
                <a:t>~</a:t>
              </a:r>
              <a:r>
                <a:rPr lang="en-MY" sz="1400" dirty="0">
                  <a:solidFill>
                    <a:schemeClr val="accent1"/>
                  </a:solidFill>
                </a:rPr>
                <a:t>90</a:t>
              </a:r>
              <a:r>
                <a:rPr lang="en-MY" sz="1400" dirty="0">
                  <a:solidFill>
                    <a:schemeClr val="tx1"/>
                  </a:solidFill>
                </a:rPr>
                <a:t>× chance level</a:t>
              </a:r>
            </a:p>
          </p:txBody>
        </p:sp>
        <p:sp>
          <p:nvSpPr>
            <p:cNvPr id="31" name="Rectangle 30">
              <a:extLst>
                <a:ext uri="{FF2B5EF4-FFF2-40B4-BE49-F238E27FC236}">
                  <a16:creationId xmlns:a16="http://schemas.microsoft.com/office/drawing/2014/main" id="{52DD5C99-B590-12E3-1A74-AF327B8B9AF9}"/>
                </a:ext>
              </a:extLst>
            </p:cNvPr>
            <p:cNvSpPr/>
            <p:nvPr/>
          </p:nvSpPr>
          <p:spPr>
            <a:xfrm>
              <a:off x="2981325" y="2286000"/>
              <a:ext cx="1941513"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sp>
        <p:nvSpPr>
          <p:cNvPr id="4" name="Rectangle 3">
            <a:extLst>
              <a:ext uri="{FF2B5EF4-FFF2-40B4-BE49-F238E27FC236}">
                <a16:creationId xmlns:a16="http://schemas.microsoft.com/office/drawing/2014/main" id="{70281B6E-7AAC-ABFB-F31E-6DD1F29C3C69}"/>
              </a:ext>
            </a:extLst>
          </p:cNvPr>
          <p:cNvSpPr/>
          <p:nvPr/>
        </p:nvSpPr>
        <p:spPr>
          <a:xfrm>
            <a:off x="838200" y="4089400"/>
            <a:ext cx="2476500" cy="1270000"/>
          </a:xfrm>
          <a:prstGeom prst="rect">
            <a:avLst/>
          </a:prstGeom>
          <a:solidFill>
            <a:schemeClr val="tx1">
              <a:lumMod val="10000"/>
              <a:lumOff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50800" tIns="228600" rIns="50800" rtlCol="0" anchor="t">
            <a:noAutofit/>
          </a:bodyPr>
          <a:lstStyle/>
          <a:p>
            <a:pPr algn="ctr"/>
            <a:r>
              <a:rPr lang="en-MY" sz="3200" b="1">
                <a:solidFill>
                  <a:schemeClr val="tx1"/>
                </a:solidFill>
              </a:rPr>
              <a:t>7.8%</a:t>
            </a:r>
          </a:p>
          <a:p>
            <a:pPr algn="ctr"/>
            <a:r>
              <a:rPr lang="en-MY" sz="1600" b="1">
                <a:solidFill>
                  <a:schemeClr val="tx1"/>
                </a:solidFill>
              </a:rPr>
              <a:t>Alert within 1 h</a:t>
            </a:r>
          </a:p>
          <a:p>
            <a:pPr algn="ctr"/>
            <a:r>
              <a:rPr lang="en-MY" sz="1400">
                <a:solidFill>
                  <a:schemeClr val="tx1"/>
                </a:solidFill>
              </a:rPr>
              <a:t>of moderate/elevated warning</a:t>
            </a:r>
          </a:p>
        </p:txBody>
      </p:sp>
      <p:sp>
        <p:nvSpPr>
          <p:cNvPr id="5" name="Rectangle 4">
            <a:extLst>
              <a:ext uri="{FF2B5EF4-FFF2-40B4-BE49-F238E27FC236}">
                <a16:creationId xmlns:a16="http://schemas.microsoft.com/office/drawing/2014/main" id="{1BC07F8E-BC64-2CBB-AE71-7F81936E22C7}"/>
              </a:ext>
            </a:extLst>
          </p:cNvPr>
          <p:cNvSpPr/>
          <p:nvPr/>
        </p:nvSpPr>
        <p:spPr>
          <a:xfrm>
            <a:off x="838200" y="4089400"/>
            <a:ext cx="2476500"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Rectangle 5">
            <a:extLst>
              <a:ext uri="{FF2B5EF4-FFF2-40B4-BE49-F238E27FC236}">
                <a16:creationId xmlns:a16="http://schemas.microsoft.com/office/drawing/2014/main" id="{27C39A43-7D6B-67A9-1A6D-0F2A58BBC71D}"/>
              </a:ext>
            </a:extLst>
          </p:cNvPr>
          <p:cNvSpPr/>
          <p:nvPr/>
        </p:nvSpPr>
        <p:spPr>
          <a:xfrm>
            <a:off x="3517900" y="4089400"/>
            <a:ext cx="2476500" cy="1270000"/>
          </a:xfrm>
          <a:prstGeom prst="rect">
            <a:avLst/>
          </a:prstGeom>
          <a:solidFill>
            <a:schemeClr val="tx1">
              <a:lumMod val="10000"/>
              <a:lumOff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50800" tIns="228600" rIns="50800" rtlCol="0" anchor="t">
            <a:noAutofit/>
          </a:bodyPr>
          <a:lstStyle/>
          <a:p>
            <a:pPr algn="ctr"/>
            <a:r>
              <a:rPr lang="en-MY" sz="3200" b="1">
                <a:solidFill>
                  <a:schemeClr val="tx1"/>
                </a:solidFill>
              </a:rPr>
              <a:t>0.77%</a:t>
            </a:r>
          </a:p>
          <a:p>
            <a:pPr algn="ctr"/>
            <a:r>
              <a:rPr lang="en-MY" sz="1600" b="1">
                <a:solidFill>
                  <a:schemeClr val="tx1"/>
                </a:solidFill>
              </a:rPr>
              <a:t>Flash flood within 1 h</a:t>
            </a:r>
          </a:p>
          <a:p>
            <a:pPr algn="ctr"/>
            <a:r>
              <a:rPr lang="en-MY" sz="1400">
                <a:solidFill>
                  <a:schemeClr val="tx1"/>
                </a:solidFill>
              </a:rPr>
              <a:t>of moderate/elevated warning</a:t>
            </a:r>
          </a:p>
        </p:txBody>
      </p:sp>
      <p:sp>
        <p:nvSpPr>
          <p:cNvPr id="7" name="Rectangle 6">
            <a:extLst>
              <a:ext uri="{FF2B5EF4-FFF2-40B4-BE49-F238E27FC236}">
                <a16:creationId xmlns:a16="http://schemas.microsoft.com/office/drawing/2014/main" id="{2D5364B9-7E02-4AEA-0A37-44283A7D3B7E}"/>
              </a:ext>
            </a:extLst>
          </p:cNvPr>
          <p:cNvSpPr/>
          <p:nvPr/>
        </p:nvSpPr>
        <p:spPr>
          <a:xfrm>
            <a:off x="3517900" y="4089400"/>
            <a:ext cx="2476500"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 name="Rectangle 7">
            <a:extLst>
              <a:ext uri="{FF2B5EF4-FFF2-40B4-BE49-F238E27FC236}">
                <a16:creationId xmlns:a16="http://schemas.microsoft.com/office/drawing/2014/main" id="{FB041122-F4AF-BAB0-0E89-E39847657EE0}"/>
              </a:ext>
            </a:extLst>
          </p:cNvPr>
          <p:cNvSpPr/>
          <p:nvPr/>
        </p:nvSpPr>
        <p:spPr>
          <a:xfrm>
            <a:off x="6197600" y="4089400"/>
            <a:ext cx="2476500" cy="1270000"/>
          </a:xfrm>
          <a:prstGeom prst="rect">
            <a:avLst/>
          </a:prstGeom>
          <a:solidFill>
            <a:schemeClr val="tx1">
              <a:lumMod val="10000"/>
              <a:lumOff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50800" tIns="228600" rIns="50800" rtlCol="0" anchor="t">
            <a:noAutofit/>
          </a:bodyPr>
          <a:lstStyle/>
          <a:p>
            <a:pPr algn="ctr"/>
            <a:r>
              <a:rPr lang="en-MY" sz="3200" b="1">
                <a:solidFill>
                  <a:schemeClr val="tx1"/>
                </a:solidFill>
              </a:rPr>
              <a:t>9.3%</a:t>
            </a:r>
          </a:p>
          <a:p>
            <a:pPr algn="ctr"/>
            <a:r>
              <a:rPr lang="en-MY" sz="1600" b="1">
                <a:solidFill>
                  <a:schemeClr val="tx1"/>
                </a:solidFill>
              </a:rPr>
              <a:t>Alert within 1 h</a:t>
            </a:r>
          </a:p>
          <a:p>
            <a:pPr algn="ctr"/>
            <a:r>
              <a:rPr lang="en-MY" sz="1400">
                <a:solidFill>
                  <a:schemeClr val="tx1"/>
                </a:solidFill>
              </a:rPr>
              <a:t>of elevated warning</a:t>
            </a:r>
          </a:p>
        </p:txBody>
      </p:sp>
      <p:sp>
        <p:nvSpPr>
          <p:cNvPr id="9" name="Rectangle 8">
            <a:extLst>
              <a:ext uri="{FF2B5EF4-FFF2-40B4-BE49-F238E27FC236}">
                <a16:creationId xmlns:a16="http://schemas.microsoft.com/office/drawing/2014/main" id="{9535AA0B-AF9F-4ACD-8957-6B489ACD0F3E}"/>
              </a:ext>
            </a:extLst>
          </p:cNvPr>
          <p:cNvSpPr/>
          <p:nvPr/>
        </p:nvSpPr>
        <p:spPr>
          <a:xfrm>
            <a:off x="6197600" y="4089400"/>
            <a:ext cx="2476500"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Rectangle 9">
            <a:extLst>
              <a:ext uri="{FF2B5EF4-FFF2-40B4-BE49-F238E27FC236}">
                <a16:creationId xmlns:a16="http://schemas.microsoft.com/office/drawing/2014/main" id="{9B27A549-C4E4-E5AB-5F66-2901D01280D3}"/>
              </a:ext>
            </a:extLst>
          </p:cNvPr>
          <p:cNvSpPr/>
          <p:nvPr/>
        </p:nvSpPr>
        <p:spPr>
          <a:xfrm>
            <a:off x="8877300" y="4089400"/>
            <a:ext cx="2476500" cy="1270000"/>
          </a:xfrm>
          <a:prstGeom prst="rect">
            <a:avLst/>
          </a:prstGeom>
          <a:solidFill>
            <a:schemeClr val="tx1">
              <a:lumMod val="10000"/>
              <a:lumOff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50800" tIns="228600" rIns="50800" rtlCol="0" anchor="t">
            <a:noAutofit/>
          </a:bodyPr>
          <a:lstStyle/>
          <a:p>
            <a:pPr algn="ctr"/>
            <a:r>
              <a:rPr lang="en-MY" sz="3200" b="1">
                <a:solidFill>
                  <a:schemeClr val="tx1"/>
                </a:solidFill>
              </a:rPr>
              <a:t>0.32%</a:t>
            </a:r>
          </a:p>
          <a:p>
            <a:pPr algn="ctr"/>
            <a:r>
              <a:rPr lang="en-MY" sz="1600" b="1">
                <a:solidFill>
                  <a:schemeClr val="tx1"/>
                </a:solidFill>
              </a:rPr>
              <a:t>Flash flood within 1 h</a:t>
            </a:r>
          </a:p>
          <a:p>
            <a:pPr algn="ctr"/>
            <a:r>
              <a:rPr lang="en-MY" sz="1400">
                <a:solidFill>
                  <a:schemeClr val="tx1"/>
                </a:solidFill>
              </a:rPr>
              <a:t>of elevated warning</a:t>
            </a:r>
          </a:p>
        </p:txBody>
      </p:sp>
      <p:sp>
        <p:nvSpPr>
          <p:cNvPr id="11" name="Rectangle 10">
            <a:extLst>
              <a:ext uri="{FF2B5EF4-FFF2-40B4-BE49-F238E27FC236}">
                <a16:creationId xmlns:a16="http://schemas.microsoft.com/office/drawing/2014/main" id="{072E4B0B-AC21-48F9-B077-A8AEE4979321}"/>
              </a:ext>
            </a:extLst>
          </p:cNvPr>
          <p:cNvSpPr/>
          <p:nvPr/>
        </p:nvSpPr>
        <p:spPr>
          <a:xfrm>
            <a:off x="8877300" y="4089400"/>
            <a:ext cx="2476500"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3765591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ppt_x"/>
                                          </p:val>
                                        </p:tav>
                                        <p:tav tm="100000">
                                          <p:val>
                                            <p:strVal val="#ppt_x"/>
                                          </p:val>
                                        </p:tav>
                                      </p:tavLst>
                                    </p:anim>
                                    <p:anim calcmode="lin" valueType="num">
                                      <p:cBhvr additive="base">
                                        <p:cTn id="36" dur="500" fill="hold"/>
                                        <p:tgtEl>
                                          <p:spTgt spid="7"/>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ppt_x</p:attrName>
                                        </p:attrNameLst>
                                      </p:cBhvr>
                                      <p:tavLst>
                                        <p:tav tm="0">
                                          <p:val>
                                            <p:strVal val="#ppt_x"/>
                                          </p:val>
                                        </p:tav>
                                        <p:tav tm="100000">
                                          <p:val>
                                            <p:strVal val="#ppt_x"/>
                                          </p:val>
                                        </p:tav>
                                      </p:tavLst>
                                    </p:anim>
                                    <p:anim calcmode="lin" valueType="num">
                                      <p:cBhvr additive="base">
                                        <p:cTn id="48" dur="500" fill="hold"/>
                                        <p:tgtEl>
                                          <p:spTgt spid="11"/>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additive="base">
                                        <p:cTn id="51" dur="500" fill="hold"/>
                                        <p:tgtEl>
                                          <p:spTgt spid="10"/>
                                        </p:tgtEl>
                                        <p:attrNameLst>
                                          <p:attrName>ppt_x</p:attrName>
                                        </p:attrNameLst>
                                      </p:cBhvr>
                                      <p:tavLst>
                                        <p:tav tm="0">
                                          <p:val>
                                            <p:strVal val="#ppt_x"/>
                                          </p:val>
                                        </p:tav>
                                        <p:tav tm="100000">
                                          <p:val>
                                            <p:strVal val="#ppt_x"/>
                                          </p:val>
                                        </p:tav>
                                      </p:tavLst>
                                    </p:anim>
                                    <p:anim calcmode="lin" valueType="num">
                                      <p:cBhvr additive="base">
                                        <p:cTn id="5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C1D32-F6DE-9E91-92BE-8537E863482E}"/>
            </a:ext>
          </a:extLst>
        </p:cNvPr>
        <p:cNvGrpSpPr/>
        <p:nvPr/>
      </p:nvGrpSpPr>
      <p:grpSpPr>
        <a:xfrm>
          <a:off x="0" y="0"/>
          <a:ext cx="0" cy="0"/>
          <a:chOff x="0" y="0"/>
          <a:chExt cx="0" cy="0"/>
        </a:xfrm>
      </p:grpSpPr>
      <p:graphicFrame>
        <p:nvGraphicFramePr>
          <p:cNvPr id="20" name="thinkcell data - do not delete" hidden="1">
            <a:extLst>
              <a:ext uri="{FF2B5EF4-FFF2-40B4-BE49-F238E27FC236}">
                <a16:creationId xmlns:a16="http://schemas.microsoft.com/office/drawing/2014/main" id="{745796A1-405D-6239-44D5-4B48957D4F69}"/>
              </a:ext>
            </a:extLst>
          </p:cNvPr>
          <p:cNvGraphicFramePr>
            <a:graphicFrameLocks/>
          </p:cNvGraphicFramePr>
          <p:nvPr>
            <p:custDataLst>
              <p:tags r:id="rId1"/>
            </p:custDataLst>
            <p:extLst>
              <p:ext uri="{D42A27DB-BD31-4B8C-83A1-F6EECF244321}">
                <p14:modId xmlns:p14="http://schemas.microsoft.com/office/powerpoint/2010/main" val="3398631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43" imgH="443" progId="TCLayout.ActiveDocument.1">
                  <p:embed/>
                </p:oleObj>
              </mc:Choice>
              <mc:Fallback>
                <p:oleObj name="thinkcell Slide" r:id="rId5" imgW="443" imgH="443" progId="TCLayout.ActiveDocument.1">
                  <p:embed/>
                  <p:pic>
                    <p:nvPicPr>
                      <p:cNvPr id="20" name="thinkcell data - do not delete" hidden="1">
                        <a:extLst>
                          <a:ext uri="{FF2B5EF4-FFF2-40B4-BE49-F238E27FC236}">
                            <a16:creationId xmlns:a16="http://schemas.microsoft.com/office/drawing/2014/main" id="{745796A1-405D-6239-44D5-4B48957D4F6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42" name="Picture 41">
            <a:extLst>
              <a:ext uri="{FF2B5EF4-FFF2-40B4-BE49-F238E27FC236}">
                <a16:creationId xmlns:a16="http://schemas.microsoft.com/office/drawing/2014/main" id="{AA3F1816-AAFD-CC98-2DD3-E6D20B579481}"/>
              </a:ext>
            </a:extLst>
          </p:cNvPr>
          <p:cNvPicPr>
            <a:picLocks noChangeAspect="1"/>
          </p:cNvPicPr>
          <p:nvPr/>
        </p:nvPicPr>
        <p:blipFill>
          <a:blip r:embed="rId7"/>
          <a:stretch>
            <a:fillRect/>
          </a:stretch>
        </p:blipFill>
        <p:spPr>
          <a:xfrm>
            <a:off x="3530600" y="4129088"/>
            <a:ext cx="2657366" cy="1563688"/>
          </a:xfrm>
          <a:prstGeom prst="rect">
            <a:avLst/>
          </a:prstGeom>
        </p:spPr>
      </p:pic>
      <p:sp>
        <p:nvSpPr>
          <p:cNvPr id="2" name="Title 1">
            <a:extLst>
              <a:ext uri="{FF2B5EF4-FFF2-40B4-BE49-F238E27FC236}">
                <a16:creationId xmlns:a16="http://schemas.microsoft.com/office/drawing/2014/main" id="{6A01E6DB-16F5-CCE3-3956-A083BC867564}"/>
              </a:ext>
            </a:extLst>
          </p:cNvPr>
          <p:cNvSpPr>
            <a:spLocks noGrp="1"/>
          </p:cNvSpPr>
          <p:nvPr>
            <p:ph type="title"/>
          </p:nvPr>
        </p:nvSpPr>
        <p:spPr/>
        <p:txBody>
          <a:bodyPr/>
          <a:lstStyle/>
          <a:p>
            <a:r>
              <a:rPr lang="en-MY" dirty="0"/>
              <a:t>Metrics</a:t>
            </a:r>
          </a:p>
        </p:txBody>
      </p:sp>
      <p:pic>
        <p:nvPicPr>
          <p:cNvPr id="7" name="Picture 6">
            <a:extLst>
              <a:ext uri="{FF2B5EF4-FFF2-40B4-BE49-F238E27FC236}">
                <a16:creationId xmlns:a16="http://schemas.microsoft.com/office/drawing/2014/main" id="{86E26DC9-1E9F-D613-EA40-1440FE7CADF5}"/>
              </a:ext>
            </a:extLst>
          </p:cNvPr>
          <p:cNvPicPr>
            <a:picLocks noChangeAspect="1"/>
          </p:cNvPicPr>
          <p:nvPr/>
        </p:nvPicPr>
        <p:blipFill>
          <a:blip r:embed="rId8"/>
          <a:stretch>
            <a:fillRect/>
          </a:stretch>
        </p:blipFill>
        <p:spPr>
          <a:xfrm>
            <a:off x="9150350" y="4129088"/>
            <a:ext cx="2657475" cy="1563688"/>
          </a:xfrm>
          <a:prstGeom prst="rect">
            <a:avLst/>
          </a:prstGeom>
        </p:spPr>
      </p:pic>
      <p:pic>
        <p:nvPicPr>
          <p:cNvPr id="9" name="Picture 8">
            <a:extLst>
              <a:ext uri="{FF2B5EF4-FFF2-40B4-BE49-F238E27FC236}">
                <a16:creationId xmlns:a16="http://schemas.microsoft.com/office/drawing/2014/main" id="{D8746032-F71E-C06E-8F3B-FECCBCE904B8}"/>
              </a:ext>
            </a:extLst>
          </p:cNvPr>
          <p:cNvPicPr>
            <a:picLocks noChangeAspect="1"/>
          </p:cNvPicPr>
          <p:nvPr/>
        </p:nvPicPr>
        <p:blipFill>
          <a:blip r:embed="rId9"/>
          <a:stretch>
            <a:fillRect/>
          </a:stretch>
        </p:blipFill>
        <p:spPr>
          <a:xfrm>
            <a:off x="6340475" y="4129088"/>
            <a:ext cx="2657475" cy="1563688"/>
          </a:xfrm>
          <a:prstGeom prst="rect">
            <a:avLst/>
          </a:prstGeom>
        </p:spPr>
      </p:pic>
      <p:pic>
        <p:nvPicPr>
          <p:cNvPr id="11" name="Picture 10">
            <a:extLst>
              <a:ext uri="{FF2B5EF4-FFF2-40B4-BE49-F238E27FC236}">
                <a16:creationId xmlns:a16="http://schemas.microsoft.com/office/drawing/2014/main" id="{9BE10223-7609-A6D1-F634-198B6E3A5839}"/>
              </a:ext>
            </a:extLst>
          </p:cNvPr>
          <p:cNvPicPr>
            <a:picLocks noChangeAspect="1"/>
          </p:cNvPicPr>
          <p:nvPr/>
        </p:nvPicPr>
        <p:blipFill>
          <a:blip r:embed="rId10"/>
          <a:stretch>
            <a:fillRect/>
          </a:stretch>
        </p:blipFill>
        <p:spPr>
          <a:xfrm>
            <a:off x="6340475" y="2413000"/>
            <a:ext cx="2657475" cy="1563688"/>
          </a:xfrm>
          <a:prstGeom prst="rect">
            <a:avLst/>
          </a:prstGeom>
        </p:spPr>
      </p:pic>
      <p:pic>
        <p:nvPicPr>
          <p:cNvPr id="13" name="Picture 12">
            <a:extLst>
              <a:ext uri="{FF2B5EF4-FFF2-40B4-BE49-F238E27FC236}">
                <a16:creationId xmlns:a16="http://schemas.microsoft.com/office/drawing/2014/main" id="{24825AB4-5D48-AF0F-354C-CB0CC4452A54}"/>
              </a:ext>
            </a:extLst>
          </p:cNvPr>
          <p:cNvPicPr>
            <a:picLocks noChangeAspect="1"/>
          </p:cNvPicPr>
          <p:nvPr/>
        </p:nvPicPr>
        <p:blipFill>
          <a:blip r:embed="rId11"/>
          <a:stretch>
            <a:fillRect/>
          </a:stretch>
        </p:blipFill>
        <p:spPr>
          <a:xfrm>
            <a:off x="3530600" y="2413000"/>
            <a:ext cx="2657475" cy="1563688"/>
          </a:xfrm>
          <a:prstGeom prst="rect">
            <a:avLst/>
          </a:prstGeom>
        </p:spPr>
      </p:pic>
      <p:pic>
        <p:nvPicPr>
          <p:cNvPr id="15" name="Picture 14">
            <a:extLst>
              <a:ext uri="{FF2B5EF4-FFF2-40B4-BE49-F238E27FC236}">
                <a16:creationId xmlns:a16="http://schemas.microsoft.com/office/drawing/2014/main" id="{8C98BAC5-F51B-C2A4-C1FC-47DC427710D6}"/>
              </a:ext>
            </a:extLst>
          </p:cNvPr>
          <p:cNvPicPr>
            <a:picLocks noChangeAspect="1"/>
          </p:cNvPicPr>
          <p:nvPr/>
        </p:nvPicPr>
        <p:blipFill>
          <a:blip r:embed="rId12"/>
          <a:stretch>
            <a:fillRect/>
          </a:stretch>
        </p:blipFill>
        <p:spPr>
          <a:xfrm>
            <a:off x="720725" y="2413000"/>
            <a:ext cx="2657475" cy="1563688"/>
          </a:xfrm>
          <a:prstGeom prst="rect">
            <a:avLst/>
          </a:prstGeom>
        </p:spPr>
      </p:pic>
      <p:pic>
        <p:nvPicPr>
          <p:cNvPr id="17" name="Picture 16">
            <a:extLst>
              <a:ext uri="{FF2B5EF4-FFF2-40B4-BE49-F238E27FC236}">
                <a16:creationId xmlns:a16="http://schemas.microsoft.com/office/drawing/2014/main" id="{678C9B82-A19C-81BB-F53E-472B4AB18D08}"/>
              </a:ext>
            </a:extLst>
          </p:cNvPr>
          <p:cNvPicPr>
            <a:picLocks noChangeAspect="1"/>
          </p:cNvPicPr>
          <p:nvPr/>
        </p:nvPicPr>
        <p:blipFill>
          <a:blip r:embed="rId13"/>
          <a:stretch>
            <a:fillRect/>
          </a:stretch>
        </p:blipFill>
        <p:spPr>
          <a:xfrm>
            <a:off x="9150350" y="2413000"/>
            <a:ext cx="2657475" cy="1563688"/>
          </a:xfrm>
          <a:prstGeom prst="rect">
            <a:avLst/>
          </a:prstGeom>
        </p:spPr>
      </p:pic>
      <p:pic>
        <p:nvPicPr>
          <p:cNvPr id="19" name="Picture 18">
            <a:extLst>
              <a:ext uri="{FF2B5EF4-FFF2-40B4-BE49-F238E27FC236}">
                <a16:creationId xmlns:a16="http://schemas.microsoft.com/office/drawing/2014/main" id="{89AB8522-01AA-9EE4-22E1-FD430596F125}"/>
              </a:ext>
            </a:extLst>
          </p:cNvPr>
          <p:cNvPicPr>
            <a:picLocks noChangeAspect="1"/>
          </p:cNvPicPr>
          <p:nvPr/>
        </p:nvPicPr>
        <p:blipFill>
          <a:blip r:embed="rId14"/>
          <a:stretch>
            <a:fillRect/>
          </a:stretch>
        </p:blipFill>
        <p:spPr>
          <a:xfrm>
            <a:off x="720725" y="4129088"/>
            <a:ext cx="2657475" cy="1563688"/>
          </a:xfrm>
          <a:prstGeom prst="rect">
            <a:avLst/>
          </a:prstGeom>
        </p:spPr>
      </p:pic>
      <p:cxnSp>
        <p:nvCxnSpPr>
          <p:cNvPr id="21" name="Gerader Verbinder 22">
            <a:extLst>
              <a:ext uri="{FF2B5EF4-FFF2-40B4-BE49-F238E27FC236}">
                <a16:creationId xmlns:a16="http://schemas.microsoft.com/office/drawing/2014/main" id="{0C5EAE35-C61E-E2AB-510B-E35A5F9E0CDD}"/>
              </a:ext>
            </a:extLst>
          </p:cNvPr>
          <p:cNvCxnSpPr>
            <a:cxnSpLocks/>
          </p:cNvCxnSpPr>
          <p:nvPr/>
        </p:nvCxnSpPr>
        <p:spPr>
          <a:xfrm>
            <a:off x="407987" y="1557338"/>
            <a:ext cx="0" cy="413556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2" name="Rectangle 3">
            <a:extLst>
              <a:ext uri="{FF2B5EF4-FFF2-40B4-BE49-F238E27FC236}">
                <a16:creationId xmlns:a16="http://schemas.microsoft.com/office/drawing/2014/main" id="{418EF1E4-A1B3-819F-B611-FE7A2FF0E4B2}"/>
              </a:ext>
            </a:extLst>
          </p:cNvPr>
          <p:cNvSpPr>
            <a:spLocks/>
          </p:cNvSpPr>
          <p:nvPr>
            <p:custDataLst>
              <p:tags r:id="rId2"/>
            </p:custDataLst>
          </p:nvPr>
        </p:nvSpPr>
        <p:spPr bwMode="gray">
          <a:xfrm>
            <a:off x="720121" y="1557338"/>
            <a:ext cx="11087100" cy="6858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endParaRPr lang="en-MY"/>
          </a:p>
        </p:txBody>
      </p:sp>
      <p:sp>
        <p:nvSpPr>
          <p:cNvPr id="23" name="Rectangle 3">
            <a:extLst>
              <a:ext uri="{FF2B5EF4-FFF2-40B4-BE49-F238E27FC236}">
                <a16:creationId xmlns:a16="http://schemas.microsoft.com/office/drawing/2014/main" id="{2BE98FFB-F321-E86D-7CDE-84CD712E226A}"/>
              </a:ext>
            </a:extLst>
          </p:cNvPr>
          <p:cNvSpPr>
            <a:spLocks/>
          </p:cNvSpPr>
          <p:nvPr/>
        </p:nvSpPr>
        <p:spPr bwMode="gray">
          <a:xfrm>
            <a:off x="974725" y="1557338"/>
            <a:ext cx="10580688" cy="6858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MY" dirty="0"/>
              <a:t>In 2026, general region predicted is reasonable</a:t>
            </a:r>
            <a:endParaRPr lang="en-US" sz="1600" dirty="0"/>
          </a:p>
        </p:txBody>
      </p:sp>
      <p:sp>
        <p:nvSpPr>
          <p:cNvPr id="26" name="TextBox 25">
            <a:extLst>
              <a:ext uri="{FF2B5EF4-FFF2-40B4-BE49-F238E27FC236}">
                <a16:creationId xmlns:a16="http://schemas.microsoft.com/office/drawing/2014/main" id="{23C51676-07CF-F54C-9006-E35D043889DC}"/>
              </a:ext>
            </a:extLst>
          </p:cNvPr>
          <p:cNvSpPr txBox="1"/>
          <p:nvPr/>
        </p:nvSpPr>
        <p:spPr>
          <a:xfrm>
            <a:off x="4632325" y="5297488"/>
            <a:ext cx="1505462" cy="369332"/>
          </a:xfrm>
          <a:prstGeom prst="rect">
            <a:avLst/>
          </a:prstGeom>
          <a:noFill/>
        </p:spPr>
        <p:txBody>
          <a:bodyPr wrap="square" rtlCol="0">
            <a:spAutoFit/>
          </a:bodyPr>
          <a:lstStyle/>
          <a:p>
            <a:r>
              <a:rPr lang="en-MY" dirty="0"/>
              <a:t>22 Sept 2026</a:t>
            </a:r>
          </a:p>
        </p:txBody>
      </p:sp>
      <p:sp>
        <p:nvSpPr>
          <p:cNvPr id="28" name="TextBox 27">
            <a:extLst>
              <a:ext uri="{FF2B5EF4-FFF2-40B4-BE49-F238E27FC236}">
                <a16:creationId xmlns:a16="http://schemas.microsoft.com/office/drawing/2014/main" id="{FF5BDB49-C914-1AC3-4C86-D686854D64AA}"/>
              </a:ext>
            </a:extLst>
          </p:cNvPr>
          <p:cNvSpPr txBox="1"/>
          <p:nvPr/>
        </p:nvSpPr>
        <p:spPr>
          <a:xfrm>
            <a:off x="10252075" y="3581400"/>
            <a:ext cx="1505462" cy="369332"/>
          </a:xfrm>
          <a:prstGeom prst="rect">
            <a:avLst/>
          </a:prstGeom>
          <a:noFill/>
        </p:spPr>
        <p:txBody>
          <a:bodyPr wrap="square" rtlCol="0">
            <a:spAutoFit/>
          </a:bodyPr>
          <a:lstStyle/>
          <a:p>
            <a:r>
              <a:rPr lang="en-MY" dirty="0"/>
              <a:t>22 July 2026</a:t>
            </a:r>
          </a:p>
        </p:txBody>
      </p:sp>
      <p:sp>
        <p:nvSpPr>
          <p:cNvPr id="30" name="TextBox 29">
            <a:extLst>
              <a:ext uri="{FF2B5EF4-FFF2-40B4-BE49-F238E27FC236}">
                <a16:creationId xmlns:a16="http://schemas.microsoft.com/office/drawing/2014/main" id="{48F94DC9-ADCD-E1D3-E5CC-D7EDF10366F8}"/>
              </a:ext>
            </a:extLst>
          </p:cNvPr>
          <p:cNvSpPr txBox="1"/>
          <p:nvPr/>
        </p:nvSpPr>
        <p:spPr>
          <a:xfrm>
            <a:off x="7442200" y="5297488"/>
            <a:ext cx="1505462" cy="369332"/>
          </a:xfrm>
          <a:prstGeom prst="rect">
            <a:avLst/>
          </a:prstGeom>
          <a:noFill/>
        </p:spPr>
        <p:txBody>
          <a:bodyPr wrap="square" rtlCol="0">
            <a:spAutoFit/>
          </a:bodyPr>
          <a:lstStyle/>
          <a:p>
            <a:r>
              <a:rPr lang="en-MY" dirty="0"/>
              <a:t>27 Sept 2026</a:t>
            </a:r>
          </a:p>
        </p:txBody>
      </p:sp>
      <p:sp>
        <p:nvSpPr>
          <p:cNvPr id="32" name="TextBox 31">
            <a:extLst>
              <a:ext uri="{FF2B5EF4-FFF2-40B4-BE49-F238E27FC236}">
                <a16:creationId xmlns:a16="http://schemas.microsoft.com/office/drawing/2014/main" id="{B8DF2302-2923-A9C6-DD97-6204E1B22874}"/>
              </a:ext>
            </a:extLst>
          </p:cNvPr>
          <p:cNvSpPr txBox="1"/>
          <p:nvPr/>
        </p:nvSpPr>
        <p:spPr>
          <a:xfrm>
            <a:off x="1822450" y="5297488"/>
            <a:ext cx="1505462" cy="369332"/>
          </a:xfrm>
          <a:prstGeom prst="rect">
            <a:avLst/>
          </a:prstGeom>
          <a:noFill/>
        </p:spPr>
        <p:txBody>
          <a:bodyPr wrap="square" rtlCol="0">
            <a:spAutoFit/>
          </a:bodyPr>
          <a:lstStyle/>
          <a:p>
            <a:r>
              <a:rPr lang="en-MY" dirty="0"/>
              <a:t>11 Sept 2026</a:t>
            </a:r>
          </a:p>
        </p:txBody>
      </p:sp>
      <p:sp>
        <p:nvSpPr>
          <p:cNvPr id="34" name="TextBox 33">
            <a:extLst>
              <a:ext uri="{FF2B5EF4-FFF2-40B4-BE49-F238E27FC236}">
                <a16:creationId xmlns:a16="http://schemas.microsoft.com/office/drawing/2014/main" id="{3071248A-E41E-7664-2621-599231261CBE}"/>
              </a:ext>
            </a:extLst>
          </p:cNvPr>
          <p:cNvSpPr txBox="1"/>
          <p:nvPr/>
        </p:nvSpPr>
        <p:spPr>
          <a:xfrm>
            <a:off x="10252075" y="5297488"/>
            <a:ext cx="1505462" cy="369332"/>
          </a:xfrm>
          <a:prstGeom prst="rect">
            <a:avLst/>
          </a:prstGeom>
          <a:noFill/>
        </p:spPr>
        <p:txBody>
          <a:bodyPr wrap="square" rtlCol="0">
            <a:spAutoFit/>
          </a:bodyPr>
          <a:lstStyle/>
          <a:p>
            <a:r>
              <a:rPr lang="en-MY" dirty="0"/>
              <a:t>30 Sept 2026</a:t>
            </a:r>
          </a:p>
        </p:txBody>
      </p:sp>
      <p:sp>
        <p:nvSpPr>
          <p:cNvPr id="36" name="TextBox 35">
            <a:extLst>
              <a:ext uri="{FF2B5EF4-FFF2-40B4-BE49-F238E27FC236}">
                <a16:creationId xmlns:a16="http://schemas.microsoft.com/office/drawing/2014/main" id="{9AD593FD-67C4-7E3B-C17F-D0F4BB3CDD52}"/>
              </a:ext>
            </a:extLst>
          </p:cNvPr>
          <p:cNvSpPr txBox="1"/>
          <p:nvPr/>
        </p:nvSpPr>
        <p:spPr>
          <a:xfrm>
            <a:off x="1822450" y="3581400"/>
            <a:ext cx="1505462" cy="369332"/>
          </a:xfrm>
          <a:prstGeom prst="rect">
            <a:avLst/>
          </a:prstGeom>
          <a:noFill/>
        </p:spPr>
        <p:txBody>
          <a:bodyPr wrap="square" rtlCol="0">
            <a:spAutoFit/>
          </a:bodyPr>
          <a:lstStyle/>
          <a:p>
            <a:r>
              <a:rPr lang="en-MY" dirty="0"/>
              <a:t>18 Feb 2026</a:t>
            </a:r>
          </a:p>
        </p:txBody>
      </p:sp>
      <p:sp>
        <p:nvSpPr>
          <p:cNvPr id="38" name="TextBox 37">
            <a:extLst>
              <a:ext uri="{FF2B5EF4-FFF2-40B4-BE49-F238E27FC236}">
                <a16:creationId xmlns:a16="http://schemas.microsoft.com/office/drawing/2014/main" id="{104D2857-5BDD-5772-4FBE-C0C367C83D3A}"/>
              </a:ext>
            </a:extLst>
          </p:cNvPr>
          <p:cNvSpPr txBox="1"/>
          <p:nvPr/>
        </p:nvSpPr>
        <p:spPr>
          <a:xfrm>
            <a:off x="4632325" y="3581400"/>
            <a:ext cx="1505462" cy="369332"/>
          </a:xfrm>
          <a:prstGeom prst="rect">
            <a:avLst/>
          </a:prstGeom>
          <a:noFill/>
        </p:spPr>
        <p:txBody>
          <a:bodyPr wrap="square" rtlCol="0">
            <a:spAutoFit/>
          </a:bodyPr>
          <a:lstStyle/>
          <a:p>
            <a:r>
              <a:rPr lang="en-MY" dirty="0"/>
              <a:t>5 May 2026</a:t>
            </a:r>
          </a:p>
        </p:txBody>
      </p:sp>
      <p:sp>
        <p:nvSpPr>
          <p:cNvPr id="40" name="TextBox 39">
            <a:extLst>
              <a:ext uri="{FF2B5EF4-FFF2-40B4-BE49-F238E27FC236}">
                <a16:creationId xmlns:a16="http://schemas.microsoft.com/office/drawing/2014/main" id="{0B6BBDE0-56CD-970F-EFD1-63AB77B1517D}"/>
              </a:ext>
            </a:extLst>
          </p:cNvPr>
          <p:cNvSpPr txBox="1"/>
          <p:nvPr/>
        </p:nvSpPr>
        <p:spPr>
          <a:xfrm>
            <a:off x="7442200" y="3581400"/>
            <a:ext cx="1505462" cy="369332"/>
          </a:xfrm>
          <a:prstGeom prst="rect">
            <a:avLst/>
          </a:prstGeom>
          <a:noFill/>
        </p:spPr>
        <p:txBody>
          <a:bodyPr wrap="square" rtlCol="0">
            <a:spAutoFit/>
          </a:bodyPr>
          <a:lstStyle/>
          <a:p>
            <a:r>
              <a:rPr lang="en-MY" dirty="0"/>
              <a:t>15 May 2026</a:t>
            </a:r>
          </a:p>
        </p:txBody>
      </p:sp>
    </p:spTree>
    <p:extLst>
      <p:ext uri="{BB962C8B-B14F-4D97-AF65-F5344CB8AC3E}">
        <p14:creationId xmlns:p14="http://schemas.microsoft.com/office/powerpoint/2010/main" val="3241554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43A9F61D-BE02-6580-6F72-724867B00BC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43" imgH="443" progId="TCLayout.ActiveDocument.1">
                  <p:embed/>
                </p:oleObj>
              </mc:Choice>
              <mc:Fallback>
                <p:oleObj name="thinkcell Slide" r:id="rId15" imgW="443" imgH="443" progId="TCLayout.ActiveDocument.1">
                  <p:embed/>
                  <p:pic>
                    <p:nvPicPr>
                      <p:cNvPr id="14" name="thinkcell data - do not delete" hidden="1">
                        <a:extLst>
                          <a:ext uri="{FF2B5EF4-FFF2-40B4-BE49-F238E27FC236}">
                            <a16:creationId xmlns:a16="http://schemas.microsoft.com/office/drawing/2014/main" id="{43A9F61D-BE02-6580-6F72-724867B00BC7}"/>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4498A0E-23EF-A627-528A-CAC119AB51F2}"/>
              </a:ext>
            </a:extLst>
          </p:cNvPr>
          <p:cNvSpPr>
            <a:spLocks noGrp="1"/>
          </p:cNvSpPr>
          <p:nvPr>
            <p:ph type="ctrTitle"/>
          </p:nvPr>
        </p:nvSpPr>
        <p:spPr>
          <a:xfrm>
            <a:off x="838200" y="2298700"/>
            <a:ext cx="6858000" cy="1737360"/>
          </a:xfrm>
        </p:spPr>
        <p:txBody>
          <a:bodyPr anchor="t">
            <a:noAutofit/>
          </a:bodyPr>
          <a:lstStyle/>
          <a:p>
            <a:pPr algn="l"/>
            <a:r>
              <a:rPr lang="en-MY" dirty="0"/>
              <a:t>Why Databricks</a:t>
            </a:r>
          </a:p>
        </p:txBody>
      </p:sp>
      <p:sp>
        <p:nvSpPr>
          <p:cNvPr id="3" name="Subtitle 2">
            <a:extLst>
              <a:ext uri="{FF2B5EF4-FFF2-40B4-BE49-F238E27FC236}">
                <a16:creationId xmlns:a16="http://schemas.microsoft.com/office/drawing/2014/main" id="{2A9AAB9B-4DFC-F26D-EE01-E909E40DC4E4}"/>
              </a:ext>
            </a:extLst>
          </p:cNvPr>
          <p:cNvSpPr>
            <a:spLocks noGrp="1"/>
          </p:cNvSpPr>
          <p:nvPr>
            <p:ph type="subTitle" idx="1"/>
          </p:nvPr>
        </p:nvSpPr>
        <p:spPr>
          <a:xfrm>
            <a:off x="838200" y="4162425"/>
            <a:ext cx="6858000" cy="762000"/>
          </a:xfrm>
        </p:spPr>
        <p:txBody>
          <a:bodyPr anchor="t">
            <a:noAutofit/>
          </a:bodyPr>
          <a:lstStyle/>
          <a:p>
            <a:pPr algn="l"/>
            <a:r>
              <a:rPr lang="en-MY" sz="2000" dirty="0"/>
              <a:t>Why Databricks is the platform of choice.</a:t>
            </a:r>
            <a:endParaRPr lang="en-US" sz="2000" dirty="0"/>
          </a:p>
        </p:txBody>
      </p:sp>
      <p:cxnSp>
        <p:nvCxnSpPr>
          <p:cNvPr id="4" name="Gerader Verbinder 22">
            <a:extLst>
              <a:ext uri="{FF2B5EF4-FFF2-40B4-BE49-F238E27FC236}">
                <a16:creationId xmlns:a16="http://schemas.microsoft.com/office/drawing/2014/main" id="{7A2B8B3E-4BBE-8A5E-C3E5-0BB20B96BFAD}"/>
              </a:ext>
            </a:extLst>
          </p:cNvPr>
          <p:cNvCxnSpPr>
            <a:cxnSpLocks/>
          </p:cNvCxnSpPr>
          <p:nvPr/>
        </p:nvCxnSpPr>
        <p:spPr>
          <a:xfrm>
            <a:off x="407987" y="1422400"/>
            <a:ext cx="0" cy="40259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Rectangle 3">
            <a:extLst>
              <a:ext uri="{FF2B5EF4-FFF2-40B4-BE49-F238E27FC236}">
                <a16:creationId xmlns:a16="http://schemas.microsoft.com/office/drawing/2014/main" id="{630A04E7-A5C8-87A4-3576-8E344E6F85C8}"/>
              </a:ext>
            </a:extLst>
          </p:cNvPr>
          <p:cNvSpPr>
            <a:spLocks/>
          </p:cNvSpPr>
          <p:nvPr>
            <p:custDataLst>
              <p:tags r:id="rId2"/>
            </p:custDataLst>
          </p:nvPr>
        </p:nvSpPr>
        <p:spPr bwMode="gray">
          <a:xfrm>
            <a:off x="8128000" y="30988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b="1" dirty="0"/>
              <a:t>Why Databricks</a:t>
            </a:r>
          </a:p>
        </p:txBody>
      </p:sp>
      <p:sp>
        <p:nvSpPr>
          <p:cNvPr id="6" name="Rectangle 3">
            <a:extLst>
              <a:ext uri="{FF2B5EF4-FFF2-40B4-BE49-F238E27FC236}">
                <a16:creationId xmlns:a16="http://schemas.microsoft.com/office/drawing/2014/main" id="{CAA879B7-4237-097E-60C2-A74A44142F05}"/>
              </a:ext>
            </a:extLst>
          </p:cNvPr>
          <p:cNvSpPr>
            <a:spLocks/>
          </p:cNvSpPr>
          <p:nvPr>
            <p:custDataLst>
              <p:tags r:id="rId3"/>
            </p:custDataLst>
          </p:nvPr>
        </p:nvSpPr>
        <p:spPr bwMode="gray">
          <a:xfrm>
            <a:off x="8128000" y="14224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a:solidFill>
                  <a:schemeClr val="bg2">
                    <a:lumMod val="50000"/>
                  </a:schemeClr>
                </a:solidFill>
              </a:rPr>
              <a:t>Social Impact</a:t>
            </a:r>
          </a:p>
        </p:txBody>
      </p:sp>
      <p:sp>
        <p:nvSpPr>
          <p:cNvPr id="7" name="Rectangle 3">
            <a:extLst>
              <a:ext uri="{FF2B5EF4-FFF2-40B4-BE49-F238E27FC236}">
                <a16:creationId xmlns:a16="http://schemas.microsoft.com/office/drawing/2014/main" id="{D0D8632C-6E3C-68ED-F0C3-E78D44BCF7FE}"/>
              </a:ext>
            </a:extLst>
          </p:cNvPr>
          <p:cNvSpPr>
            <a:spLocks/>
          </p:cNvSpPr>
          <p:nvPr>
            <p:custDataLst>
              <p:tags r:id="rId4"/>
            </p:custDataLst>
          </p:nvPr>
        </p:nvSpPr>
        <p:spPr bwMode="gray">
          <a:xfrm>
            <a:off x="8128000" y="39370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a:solidFill>
                  <a:schemeClr val="bg2">
                    <a:lumMod val="50000"/>
                  </a:schemeClr>
                </a:solidFill>
              </a:rPr>
              <a:t>Data Rigour</a:t>
            </a:r>
          </a:p>
        </p:txBody>
      </p:sp>
      <p:sp>
        <p:nvSpPr>
          <p:cNvPr id="8" name="Rectangle 3">
            <a:extLst>
              <a:ext uri="{FF2B5EF4-FFF2-40B4-BE49-F238E27FC236}">
                <a16:creationId xmlns:a16="http://schemas.microsoft.com/office/drawing/2014/main" id="{A96742F5-4DFE-965F-270B-FEE98AB8792F}"/>
              </a:ext>
            </a:extLst>
          </p:cNvPr>
          <p:cNvSpPr>
            <a:spLocks/>
          </p:cNvSpPr>
          <p:nvPr>
            <p:custDataLst>
              <p:tags r:id="rId5"/>
            </p:custDataLst>
          </p:nvPr>
        </p:nvSpPr>
        <p:spPr bwMode="gray">
          <a:xfrm>
            <a:off x="8128000" y="22606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a:solidFill>
                  <a:schemeClr val="bg2">
                    <a:lumMod val="50000"/>
                  </a:schemeClr>
                </a:solidFill>
              </a:rPr>
              <a:t>Demo</a:t>
            </a:r>
          </a:p>
        </p:txBody>
      </p:sp>
      <p:sp>
        <p:nvSpPr>
          <p:cNvPr id="9" name="Rectangle 3">
            <a:extLst>
              <a:ext uri="{FF2B5EF4-FFF2-40B4-BE49-F238E27FC236}">
                <a16:creationId xmlns:a16="http://schemas.microsoft.com/office/drawing/2014/main" id="{14D015F0-1FA2-0D54-1E99-8DA5C239577E}"/>
              </a:ext>
            </a:extLst>
          </p:cNvPr>
          <p:cNvSpPr>
            <a:spLocks/>
          </p:cNvSpPr>
          <p:nvPr>
            <p:custDataLst>
              <p:tags r:id="rId6"/>
            </p:custDataLst>
          </p:nvPr>
        </p:nvSpPr>
        <p:spPr bwMode="gray">
          <a:xfrm>
            <a:off x="8220075" y="14986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bg2">
                    <a:lumMod val="75000"/>
                  </a:schemeClr>
                </a:solidFill>
              </a:rPr>
              <a:t>01.</a:t>
            </a:r>
          </a:p>
        </p:txBody>
      </p:sp>
      <p:sp>
        <p:nvSpPr>
          <p:cNvPr id="10" name="Rectangle 3">
            <a:extLst>
              <a:ext uri="{FF2B5EF4-FFF2-40B4-BE49-F238E27FC236}">
                <a16:creationId xmlns:a16="http://schemas.microsoft.com/office/drawing/2014/main" id="{DF3FB588-6DB8-C912-F380-183E47F5B068}"/>
              </a:ext>
            </a:extLst>
          </p:cNvPr>
          <p:cNvSpPr>
            <a:spLocks/>
          </p:cNvSpPr>
          <p:nvPr>
            <p:custDataLst>
              <p:tags r:id="rId7"/>
            </p:custDataLst>
          </p:nvPr>
        </p:nvSpPr>
        <p:spPr bwMode="gray">
          <a:xfrm>
            <a:off x="8220075" y="31750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accent1"/>
                </a:solidFill>
              </a:rPr>
              <a:t>03.</a:t>
            </a:r>
          </a:p>
        </p:txBody>
      </p:sp>
      <p:sp>
        <p:nvSpPr>
          <p:cNvPr id="11" name="Rectangle 3">
            <a:extLst>
              <a:ext uri="{FF2B5EF4-FFF2-40B4-BE49-F238E27FC236}">
                <a16:creationId xmlns:a16="http://schemas.microsoft.com/office/drawing/2014/main" id="{26030186-6C01-2D5D-4D07-70AC524C27AC}"/>
              </a:ext>
            </a:extLst>
          </p:cNvPr>
          <p:cNvSpPr>
            <a:spLocks/>
          </p:cNvSpPr>
          <p:nvPr>
            <p:custDataLst>
              <p:tags r:id="rId8"/>
            </p:custDataLst>
          </p:nvPr>
        </p:nvSpPr>
        <p:spPr bwMode="gray">
          <a:xfrm>
            <a:off x="8220075" y="40132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bg2">
                    <a:lumMod val="75000"/>
                  </a:schemeClr>
                </a:solidFill>
              </a:rPr>
              <a:t>04.</a:t>
            </a:r>
          </a:p>
        </p:txBody>
      </p:sp>
      <p:sp>
        <p:nvSpPr>
          <p:cNvPr id="12" name="Rectangle 3">
            <a:extLst>
              <a:ext uri="{FF2B5EF4-FFF2-40B4-BE49-F238E27FC236}">
                <a16:creationId xmlns:a16="http://schemas.microsoft.com/office/drawing/2014/main" id="{FAA218F4-B69C-FD0E-2A30-D3CF352C03D6}"/>
              </a:ext>
            </a:extLst>
          </p:cNvPr>
          <p:cNvSpPr>
            <a:spLocks/>
          </p:cNvSpPr>
          <p:nvPr>
            <p:custDataLst>
              <p:tags r:id="rId9"/>
            </p:custDataLst>
          </p:nvPr>
        </p:nvSpPr>
        <p:spPr bwMode="gray">
          <a:xfrm>
            <a:off x="8220075" y="23368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bg2">
                    <a:lumMod val="75000"/>
                  </a:schemeClr>
                </a:solidFill>
              </a:rPr>
              <a:t>02.</a:t>
            </a:r>
          </a:p>
        </p:txBody>
      </p:sp>
      <p:sp>
        <p:nvSpPr>
          <p:cNvPr id="13" name="Rectangle 3">
            <a:extLst>
              <a:ext uri="{FF2B5EF4-FFF2-40B4-BE49-F238E27FC236}">
                <a16:creationId xmlns:a16="http://schemas.microsoft.com/office/drawing/2014/main" id="{173003FB-2FDC-3A89-86D0-3F25137F7AFE}"/>
              </a:ext>
            </a:extLst>
          </p:cNvPr>
          <p:cNvSpPr>
            <a:spLocks/>
          </p:cNvSpPr>
          <p:nvPr>
            <p:custDataLst>
              <p:tags r:id="rId10"/>
            </p:custDataLst>
          </p:nvPr>
        </p:nvSpPr>
        <p:spPr bwMode="gray">
          <a:xfrm>
            <a:off x="838200" y="1371600"/>
            <a:ext cx="3048000" cy="9144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5400" b="1" dirty="0">
                <a:solidFill>
                  <a:schemeClr val="accent1"/>
                </a:solidFill>
              </a:rPr>
              <a:t>03.</a:t>
            </a:r>
          </a:p>
        </p:txBody>
      </p:sp>
      <p:sp>
        <p:nvSpPr>
          <p:cNvPr id="15" name="Rectangle 3">
            <a:extLst>
              <a:ext uri="{FF2B5EF4-FFF2-40B4-BE49-F238E27FC236}">
                <a16:creationId xmlns:a16="http://schemas.microsoft.com/office/drawing/2014/main" id="{C9B9A929-8CF9-C216-9384-E3DF567E6D17}"/>
              </a:ext>
            </a:extLst>
          </p:cNvPr>
          <p:cNvSpPr>
            <a:spLocks/>
          </p:cNvSpPr>
          <p:nvPr>
            <p:custDataLst>
              <p:tags r:id="rId11"/>
            </p:custDataLst>
          </p:nvPr>
        </p:nvSpPr>
        <p:spPr bwMode="gray">
          <a:xfrm>
            <a:off x="8128000" y="47752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a:solidFill>
                  <a:schemeClr val="bg2">
                    <a:lumMod val="50000"/>
                  </a:schemeClr>
                </a:solidFill>
              </a:rPr>
              <a:t>Q&amp;A</a:t>
            </a:r>
          </a:p>
        </p:txBody>
      </p:sp>
      <p:sp>
        <p:nvSpPr>
          <p:cNvPr id="16" name="Rectangle 3">
            <a:extLst>
              <a:ext uri="{FF2B5EF4-FFF2-40B4-BE49-F238E27FC236}">
                <a16:creationId xmlns:a16="http://schemas.microsoft.com/office/drawing/2014/main" id="{21EA01BC-6D2E-E0E1-4B06-DCC2501A3601}"/>
              </a:ext>
            </a:extLst>
          </p:cNvPr>
          <p:cNvSpPr>
            <a:spLocks/>
          </p:cNvSpPr>
          <p:nvPr>
            <p:custDataLst>
              <p:tags r:id="rId12"/>
            </p:custDataLst>
          </p:nvPr>
        </p:nvSpPr>
        <p:spPr bwMode="gray">
          <a:xfrm>
            <a:off x="8220075" y="48514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dirty="0">
                <a:solidFill>
                  <a:schemeClr val="bg2">
                    <a:lumMod val="75000"/>
                  </a:schemeClr>
                </a:solidFill>
              </a:rPr>
              <a:t>05.</a:t>
            </a:r>
          </a:p>
        </p:txBody>
      </p:sp>
    </p:spTree>
    <p:extLst>
      <p:ext uri="{BB962C8B-B14F-4D97-AF65-F5344CB8AC3E}">
        <p14:creationId xmlns:p14="http://schemas.microsoft.com/office/powerpoint/2010/main" val="1500988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EF571-069F-E389-6899-5AF4F1C143F7}"/>
              </a:ext>
            </a:extLst>
          </p:cNvPr>
          <p:cNvSpPr>
            <a:spLocks noGrp="1"/>
          </p:cNvSpPr>
          <p:nvPr>
            <p:ph type="title"/>
          </p:nvPr>
        </p:nvSpPr>
        <p:spPr/>
        <p:txBody>
          <a:bodyPr/>
          <a:lstStyle/>
          <a:p>
            <a:r>
              <a:rPr lang="en-MY" dirty="0"/>
              <a:t>Why Databricks</a:t>
            </a:r>
          </a:p>
        </p:txBody>
      </p:sp>
      <p:cxnSp>
        <p:nvCxnSpPr>
          <p:cNvPr id="101" name="Straight Connector 101"/>
          <p:cNvCxnSpPr>
            <a:cxnSpLocks/>
          </p:cNvCxnSpPr>
          <p:nvPr/>
        </p:nvCxnSpPr>
        <p:spPr>
          <a:xfrm>
            <a:off x="407987" y="1557338"/>
            <a:ext cx="0" cy="479266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2" name="Rectangle 102"/>
          <p:cNvSpPr>
            <a:spLocks/>
          </p:cNvSpPr>
          <p:nvPr/>
        </p:nvSpPr>
        <p:spPr bwMode="gray">
          <a:xfrm>
            <a:off x="720121" y="1557338"/>
            <a:ext cx="11087100" cy="762000"/>
          </a:xfrm>
          <a:prstGeom prst="rect">
            <a:avLst/>
          </a:prstGeom>
          <a:solidFill>
            <a:schemeClr val="bg2"/>
          </a:solidFill>
          <a:ln w="9525" algn="ctr">
            <a:noFill/>
            <a:miter lim="800000"/>
            <a:headEnd/>
            <a:tailEnd/>
          </a:ln>
          <a:effectLst/>
        </p:spPr>
        <p:txBody>
          <a:bodyPr wrap="square" lIns="91440" tIns="45720" rIns="91440" bIns="45720" anchor="ctr">
            <a:noAutofit/>
          </a:bodyPr>
          <a:lstStyle/>
          <a:p>
            <a:pPr lvl="0" defTabSz="978998" fontAlgn="base">
              <a:spcBef>
                <a:spcPct val="0"/>
              </a:spcBef>
              <a:spcAft>
                <a:spcPct val="0"/>
              </a:spcAft>
              <a:defRPr/>
            </a:pPr>
            <a:endParaRPr lang="en-MY"/>
          </a:p>
        </p:txBody>
      </p:sp>
      <p:sp>
        <p:nvSpPr>
          <p:cNvPr id="103" name="Rectangle 103"/>
          <p:cNvSpPr>
            <a:spLocks/>
          </p:cNvSpPr>
          <p:nvPr/>
        </p:nvSpPr>
        <p:spPr bwMode="gray">
          <a:xfrm>
            <a:off x="974725" y="1557338"/>
            <a:ext cx="10580688" cy="7620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MY" dirty="0"/>
              <a:t>At its core, it simplifies data engineering.</a:t>
            </a:r>
          </a:p>
        </p:txBody>
      </p:sp>
      <p:sp>
        <p:nvSpPr>
          <p:cNvPr id="104" name="Rectangle 104"/>
          <p:cNvSpPr>
            <a:spLocks/>
          </p:cNvSpPr>
          <p:nvPr/>
        </p:nvSpPr>
        <p:spPr bwMode="gray">
          <a:xfrm>
            <a:off x="720121" y="2616200"/>
            <a:ext cx="5391150" cy="1714500"/>
          </a:xfrm>
          <a:prstGeom prst="rect">
            <a:avLst/>
          </a:prstGeom>
          <a:solidFill>
            <a:schemeClr val="bg2"/>
          </a:solidFill>
          <a:ln w="9525" algn="ctr">
            <a:noFill/>
            <a:miter lim="800000"/>
            <a:headEnd/>
            <a:tailEnd/>
          </a:ln>
          <a:effectLst/>
        </p:spPr>
        <p:txBody>
          <a:bodyPr wrap="square" lIns="91440" tIns="45720" rIns="91440" bIns="45720" anchor="ctr">
            <a:noAutofit/>
          </a:bodyPr>
          <a:lstStyle/>
          <a:p>
            <a:pPr lvl="0" defTabSz="978998" fontAlgn="base">
              <a:spcBef>
                <a:spcPct val="0"/>
              </a:spcBef>
              <a:spcAft>
                <a:spcPct val="0"/>
              </a:spcAft>
              <a:defRPr/>
            </a:pPr>
            <a:endParaRPr lang="en-MY"/>
          </a:p>
        </p:txBody>
      </p:sp>
      <p:sp>
        <p:nvSpPr>
          <p:cNvPr id="105" name="Rectangle 105"/>
          <p:cNvSpPr>
            <a:spLocks/>
          </p:cNvSpPr>
          <p:nvPr/>
        </p:nvSpPr>
        <p:spPr bwMode="gray">
          <a:xfrm>
            <a:off x="1685321" y="2832100"/>
            <a:ext cx="4171950" cy="3810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2400" b="1" dirty="0">
                <a:solidFill>
                  <a:schemeClr val="accent1"/>
                </a:solidFill>
              </a:rPr>
              <a:t>Data and AI in one place</a:t>
            </a:r>
          </a:p>
        </p:txBody>
      </p:sp>
      <p:cxnSp>
        <p:nvCxnSpPr>
          <p:cNvPr id="106" name="Straight Connector 106"/>
          <p:cNvCxnSpPr>
            <a:cxnSpLocks/>
          </p:cNvCxnSpPr>
          <p:nvPr/>
        </p:nvCxnSpPr>
        <p:spPr>
          <a:xfrm>
            <a:off x="1685321" y="3276600"/>
            <a:ext cx="4171950" cy="0"/>
          </a:xfrm>
          <a:prstGeom prst="line">
            <a:avLst/>
          </a:prstGeom>
          <a:ln w="952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07" name="Rectangle 107"/>
          <p:cNvSpPr>
            <a:spLocks/>
          </p:cNvSpPr>
          <p:nvPr/>
        </p:nvSpPr>
        <p:spPr bwMode="gray">
          <a:xfrm>
            <a:off x="1685321" y="3340100"/>
            <a:ext cx="4171950" cy="914400"/>
          </a:xfrm>
          <a:prstGeom prst="rect">
            <a:avLst/>
          </a:prstGeom>
          <a:noFill/>
          <a:ln w="9525" algn="ctr">
            <a:noFill/>
            <a:miter lim="800000"/>
            <a:headEnd/>
            <a:tailEnd/>
          </a:ln>
          <a:effectLst/>
        </p:spPr>
        <p:txBody>
          <a:bodyPr wrap="square" lIns="0" tIns="0" rIns="0" bIns="0" anchor="t">
            <a:noAutofit/>
          </a:bodyPr>
          <a:lstStyle/>
          <a:p>
            <a:pPr lvl="0" defTabSz="978998" fontAlgn="base">
              <a:spcBef>
                <a:spcPct val="0"/>
              </a:spcBef>
              <a:spcAft>
                <a:spcPct val="0"/>
              </a:spcAft>
              <a:defRPr/>
            </a:pPr>
            <a:r>
              <a:rPr lang="en-MY" dirty="0"/>
              <a:t>Pipelines, models, dashboards and the app all work from one copy of the data</a:t>
            </a:r>
          </a:p>
        </p:txBody>
      </p:sp>
      <p:sp>
        <p:nvSpPr>
          <p:cNvPr id="109" name="Rectangle 109"/>
          <p:cNvSpPr>
            <a:spLocks/>
          </p:cNvSpPr>
          <p:nvPr/>
        </p:nvSpPr>
        <p:spPr bwMode="gray">
          <a:xfrm>
            <a:off x="6416071" y="2616200"/>
            <a:ext cx="5391150" cy="1714500"/>
          </a:xfrm>
          <a:prstGeom prst="rect">
            <a:avLst/>
          </a:prstGeom>
          <a:solidFill>
            <a:schemeClr val="bg2"/>
          </a:solidFill>
          <a:ln w="9525" algn="ctr">
            <a:noFill/>
            <a:miter lim="800000"/>
            <a:headEnd/>
            <a:tailEnd/>
          </a:ln>
          <a:effectLst/>
        </p:spPr>
        <p:txBody>
          <a:bodyPr wrap="square" lIns="91440" tIns="45720" rIns="91440" bIns="45720" anchor="ctr">
            <a:noAutofit/>
          </a:bodyPr>
          <a:lstStyle/>
          <a:p>
            <a:pPr lvl="0" defTabSz="978998" fontAlgn="base">
              <a:spcBef>
                <a:spcPct val="0"/>
              </a:spcBef>
              <a:spcAft>
                <a:spcPct val="0"/>
              </a:spcAft>
              <a:defRPr/>
            </a:pPr>
            <a:endParaRPr lang="en-MY"/>
          </a:p>
        </p:txBody>
      </p:sp>
      <p:sp>
        <p:nvSpPr>
          <p:cNvPr id="110" name="Rectangle 110"/>
          <p:cNvSpPr>
            <a:spLocks/>
          </p:cNvSpPr>
          <p:nvPr/>
        </p:nvSpPr>
        <p:spPr bwMode="gray">
          <a:xfrm>
            <a:off x="7381271" y="2832100"/>
            <a:ext cx="4171950" cy="3810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2400" b="1" dirty="0">
                <a:solidFill>
                  <a:schemeClr val="accent1"/>
                </a:solidFill>
              </a:rPr>
              <a:t>Fast from idea to live</a:t>
            </a:r>
          </a:p>
        </p:txBody>
      </p:sp>
      <p:cxnSp>
        <p:nvCxnSpPr>
          <p:cNvPr id="111" name="Straight Connector 111"/>
          <p:cNvCxnSpPr>
            <a:cxnSpLocks/>
          </p:cNvCxnSpPr>
          <p:nvPr/>
        </p:nvCxnSpPr>
        <p:spPr>
          <a:xfrm>
            <a:off x="7381271" y="3276600"/>
            <a:ext cx="4171950" cy="0"/>
          </a:xfrm>
          <a:prstGeom prst="line">
            <a:avLst/>
          </a:prstGeom>
          <a:ln w="952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12" name="Rectangle 112"/>
          <p:cNvSpPr>
            <a:spLocks/>
          </p:cNvSpPr>
          <p:nvPr/>
        </p:nvSpPr>
        <p:spPr bwMode="gray">
          <a:xfrm>
            <a:off x="7381271" y="3340100"/>
            <a:ext cx="4171950" cy="914400"/>
          </a:xfrm>
          <a:prstGeom prst="rect">
            <a:avLst/>
          </a:prstGeom>
          <a:noFill/>
          <a:ln w="9525" algn="ctr">
            <a:noFill/>
            <a:miter lim="800000"/>
            <a:headEnd/>
            <a:tailEnd/>
          </a:ln>
          <a:effectLst/>
        </p:spPr>
        <p:txBody>
          <a:bodyPr wrap="square" lIns="0" tIns="0" rIns="0" bIns="0" anchor="t">
            <a:noAutofit/>
          </a:bodyPr>
          <a:lstStyle/>
          <a:p>
            <a:pPr lvl="0" defTabSz="978998" fontAlgn="base">
              <a:spcBef>
                <a:spcPct val="0"/>
              </a:spcBef>
              <a:spcAft>
                <a:spcPct val="0"/>
              </a:spcAft>
              <a:defRPr/>
            </a:pPr>
            <a:r>
              <a:rPr lang="en-MY" dirty="0"/>
              <a:t>Managed, serverless compute lets a small team ship a live system without running servers</a:t>
            </a:r>
          </a:p>
        </p:txBody>
      </p:sp>
      <p:sp>
        <p:nvSpPr>
          <p:cNvPr id="114" name="Rectangle 114"/>
          <p:cNvSpPr>
            <a:spLocks/>
          </p:cNvSpPr>
          <p:nvPr/>
        </p:nvSpPr>
        <p:spPr bwMode="gray">
          <a:xfrm>
            <a:off x="720121" y="4635500"/>
            <a:ext cx="5391150" cy="1714500"/>
          </a:xfrm>
          <a:prstGeom prst="rect">
            <a:avLst/>
          </a:prstGeom>
          <a:solidFill>
            <a:schemeClr val="bg2"/>
          </a:solidFill>
          <a:ln w="9525" algn="ctr">
            <a:noFill/>
            <a:miter lim="800000"/>
            <a:headEnd/>
            <a:tailEnd/>
          </a:ln>
          <a:effectLst/>
        </p:spPr>
        <p:txBody>
          <a:bodyPr wrap="square" lIns="91440" tIns="45720" rIns="91440" bIns="45720" anchor="ctr">
            <a:noAutofit/>
          </a:bodyPr>
          <a:lstStyle/>
          <a:p>
            <a:pPr lvl="0" defTabSz="978998" fontAlgn="base">
              <a:spcBef>
                <a:spcPct val="0"/>
              </a:spcBef>
              <a:spcAft>
                <a:spcPct val="0"/>
              </a:spcAft>
              <a:defRPr/>
            </a:pPr>
            <a:endParaRPr lang="en-MY"/>
          </a:p>
        </p:txBody>
      </p:sp>
      <p:sp>
        <p:nvSpPr>
          <p:cNvPr id="115" name="Rectangle 115"/>
          <p:cNvSpPr>
            <a:spLocks/>
          </p:cNvSpPr>
          <p:nvPr/>
        </p:nvSpPr>
        <p:spPr bwMode="gray">
          <a:xfrm>
            <a:off x="1685321" y="4851400"/>
            <a:ext cx="4171950" cy="3810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2400" b="1" dirty="0">
                <a:solidFill>
                  <a:schemeClr val="accent1"/>
                </a:solidFill>
              </a:rPr>
              <a:t>Scales with the mission</a:t>
            </a:r>
          </a:p>
        </p:txBody>
      </p:sp>
      <p:cxnSp>
        <p:nvCxnSpPr>
          <p:cNvPr id="116" name="Straight Connector 116"/>
          <p:cNvCxnSpPr>
            <a:cxnSpLocks/>
          </p:cNvCxnSpPr>
          <p:nvPr/>
        </p:nvCxnSpPr>
        <p:spPr>
          <a:xfrm>
            <a:off x="1685321" y="5295900"/>
            <a:ext cx="4171950" cy="0"/>
          </a:xfrm>
          <a:prstGeom prst="line">
            <a:avLst/>
          </a:prstGeom>
          <a:ln w="952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17" name="Rectangle 117"/>
          <p:cNvSpPr>
            <a:spLocks/>
          </p:cNvSpPr>
          <p:nvPr/>
        </p:nvSpPr>
        <p:spPr bwMode="gray">
          <a:xfrm>
            <a:off x="1685321" y="5359400"/>
            <a:ext cx="4171950" cy="914400"/>
          </a:xfrm>
          <a:prstGeom prst="rect">
            <a:avLst/>
          </a:prstGeom>
          <a:noFill/>
          <a:ln w="9525" algn="ctr">
            <a:noFill/>
            <a:miter lim="800000"/>
            <a:headEnd/>
            <a:tailEnd/>
          </a:ln>
          <a:effectLst/>
        </p:spPr>
        <p:txBody>
          <a:bodyPr wrap="square" lIns="0" tIns="0" rIns="0" bIns="0" anchor="t">
            <a:noAutofit/>
          </a:bodyPr>
          <a:lstStyle/>
          <a:p>
            <a:pPr lvl="0" defTabSz="978998" fontAlgn="base">
              <a:spcBef>
                <a:spcPct val="0"/>
              </a:spcBef>
              <a:spcAft>
                <a:spcPct val="0"/>
              </a:spcAft>
              <a:defRPr/>
            </a:pPr>
            <a:r>
              <a:rPr lang="en-MY" dirty="0"/>
              <a:t>The same design can grow to more cities, more sensors or new hazards without a rebuild</a:t>
            </a:r>
          </a:p>
        </p:txBody>
      </p:sp>
      <p:sp>
        <p:nvSpPr>
          <p:cNvPr id="119" name="Rectangle 119"/>
          <p:cNvSpPr>
            <a:spLocks/>
          </p:cNvSpPr>
          <p:nvPr/>
        </p:nvSpPr>
        <p:spPr bwMode="gray">
          <a:xfrm>
            <a:off x="6416071" y="4635500"/>
            <a:ext cx="5391150" cy="1714500"/>
          </a:xfrm>
          <a:prstGeom prst="rect">
            <a:avLst/>
          </a:prstGeom>
          <a:solidFill>
            <a:schemeClr val="bg2"/>
          </a:solidFill>
          <a:ln w="9525" algn="ctr">
            <a:noFill/>
            <a:miter lim="800000"/>
            <a:headEnd/>
            <a:tailEnd/>
          </a:ln>
          <a:effectLst/>
        </p:spPr>
        <p:txBody>
          <a:bodyPr wrap="square" lIns="91440" tIns="45720" rIns="91440" bIns="45720" anchor="ctr">
            <a:noAutofit/>
          </a:bodyPr>
          <a:lstStyle/>
          <a:p>
            <a:pPr lvl="0" defTabSz="978998" fontAlgn="base">
              <a:spcBef>
                <a:spcPct val="0"/>
              </a:spcBef>
              <a:spcAft>
                <a:spcPct val="0"/>
              </a:spcAft>
              <a:defRPr/>
            </a:pPr>
            <a:endParaRPr lang="en-MY"/>
          </a:p>
        </p:txBody>
      </p:sp>
      <p:sp>
        <p:nvSpPr>
          <p:cNvPr id="120" name="Rectangle 120"/>
          <p:cNvSpPr>
            <a:spLocks/>
          </p:cNvSpPr>
          <p:nvPr/>
        </p:nvSpPr>
        <p:spPr bwMode="gray">
          <a:xfrm>
            <a:off x="7381271" y="4851400"/>
            <a:ext cx="4171950" cy="3810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2400" b="1" dirty="0">
                <a:solidFill>
                  <a:schemeClr val="accent1"/>
                </a:solidFill>
              </a:rPr>
              <a:t>Open and trusted</a:t>
            </a:r>
          </a:p>
        </p:txBody>
      </p:sp>
      <p:cxnSp>
        <p:nvCxnSpPr>
          <p:cNvPr id="121" name="Straight Connector 121"/>
          <p:cNvCxnSpPr>
            <a:cxnSpLocks/>
          </p:cNvCxnSpPr>
          <p:nvPr/>
        </p:nvCxnSpPr>
        <p:spPr>
          <a:xfrm>
            <a:off x="7381271" y="5295900"/>
            <a:ext cx="4171950" cy="0"/>
          </a:xfrm>
          <a:prstGeom prst="line">
            <a:avLst/>
          </a:prstGeom>
          <a:ln w="9525">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22" name="Rectangle 122"/>
          <p:cNvSpPr>
            <a:spLocks/>
          </p:cNvSpPr>
          <p:nvPr/>
        </p:nvSpPr>
        <p:spPr bwMode="gray">
          <a:xfrm>
            <a:off x="7381271" y="5359400"/>
            <a:ext cx="4171950" cy="914400"/>
          </a:xfrm>
          <a:prstGeom prst="rect">
            <a:avLst/>
          </a:prstGeom>
          <a:noFill/>
          <a:ln w="9525" algn="ctr">
            <a:noFill/>
            <a:miter lim="800000"/>
            <a:headEnd/>
            <a:tailEnd/>
          </a:ln>
          <a:effectLst/>
        </p:spPr>
        <p:txBody>
          <a:bodyPr wrap="square" lIns="0" tIns="0" rIns="0" bIns="0" anchor="t">
            <a:noAutofit/>
          </a:bodyPr>
          <a:lstStyle/>
          <a:p>
            <a:pPr lvl="0" defTabSz="978998" fontAlgn="base">
              <a:spcBef>
                <a:spcPct val="0"/>
              </a:spcBef>
              <a:spcAft>
                <a:spcPct val="0"/>
              </a:spcAft>
              <a:defRPr/>
            </a:pPr>
            <a:r>
              <a:rPr lang="en-MY" dirty="0"/>
              <a:t>Open data formats avoid lock-in, and built-in governance gives agencies an audit trail</a:t>
            </a:r>
          </a:p>
        </p:txBody>
      </p:sp>
      <p:pic>
        <p:nvPicPr>
          <p:cNvPr id="124" name="Graphic 124" descr="One platform"/>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74090" y="2768600"/>
            <a:ext cx="508000" cy="508000"/>
          </a:xfrm>
          <a:prstGeom prst="rect">
            <a:avLst/>
          </a:prstGeom>
        </p:spPr>
      </p:pic>
      <p:pic>
        <p:nvPicPr>
          <p:cNvPr id="127" name="Graphic 127" descr="Governed and auditabl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70040" y="4787900"/>
            <a:ext cx="508000" cy="508000"/>
          </a:xfrm>
          <a:prstGeom prst="rect">
            <a:avLst/>
          </a:prstGeom>
        </p:spPr>
      </p:pic>
      <p:pic>
        <p:nvPicPr>
          <p:cNvPr id="128" name="Graphic 128" descr="Fast from idea to liv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70040" y="2768600"/>
            <a:ext cx="508000" cy="508000"/>
          </a:xfrm>
          <a:prstGeom prst="rect">
            <a:avLst/>
          </a:prstGeom>
        </p:spPr>
      </p:pic>
      <p:pic>
        <p:nvPicPr>
          <p:cNvPr id="129" name="Graphic 129" descr="Scales with the missi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4090" y="4787900"/>
            <a:ext cx="508000" cy="508000"/>
          </a:xfrm>
          <a:prstGeom prst="rect">
            <a:avLst/>
          </a:prstGeom>
        </p:spPr>
      </p:pic>
    </p:spTree>
    <p:extLst>
      <p:ext uri="{BB962C8B-B14F-4D97-AF65-F5344CB8AC3E}">
        <p14:creationId xmlns:p14="http://schemas.microsoft.com/office/powerpoint/2010/main" val="4018941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BD335-232B-ED5F-87DE-491322031621}"/>
              </a:ext>
            </a:extLst>
          </p:cNvPr>
          <p:cNvSpPr>
            <a:spLocks noGrp="1"/>
          </p:cNvSpPr>
          <p:nvPr>
            <p:ph type="title"/>
          </p:nvPr>
        </p:nvSpPr>
        <p:spPr/>
        <p:txBody>
          <a:bodyPr/>
          <a:lstStyle/>
          <a:p>
            <a:r>
              <a:rPr lang="en-MY" dirty="0"/>
              <a:t>The Data Pipeline</a:t>
            </a:r>
          </a:p>
        </p:txBody>
      </p:sp>
      <p:sp>
        <p:nvSpPr>
          <p:cNvPr id="3" name="Content Placeholder 2">
            <a:extLst>
              <a:ext uri="{FF2B5EF4-FFF2-40B4-BE49-F238E27FC236}">
                <a16:creationId xmlns:a16="http://schemas.microsoft.com/office/drawing/2014/main" id="{67E025B0-8001-74F9-5CD0-49B52023B3E8}"/>
              </a:ext>
            </a:extLst>
          </p:cNvPr>
          <p:cNvSpPr>
            <a:spLocks noGrp="1"/>
          </p:cNvSpPr>
          <p:nvPr>
            <p:ph idx="1"/>
          </p:nvPr>
        </p:nvSpPr>
        <p:spPr/>
        <p:txBody>
          <a:bodyPr/>
          <a:lstStyle/>
          <a:p>
            <a:r>
              <a:rPr lang="en-MY" dirty="0" err="1"/>
              <a:t>Lakeflow</a:t>
            </a:r>
            <a:endParaRPr lang="en-MY" dirty="0"/>
          </a:p>
          <a:p>
            <a:pPr lvl="1"/>
            <a:r>
              <a:rPr lang="en-MY" dirty="0"/>
              <a:t>Jobs</a:t>
            </a:r>
          </a:p>
          <a:p>
            <a:pPr lvl="1"/>
            <a:r>
              <a:rPr lang="en-MY" dirty="0"/>
              <a:t>Spark Declarative Pipeline</a:t>
            </a:r>
          </a:p>
          <a:p>
            <a:r>
              <a:rPr lang="en-MY" dirty="0"/>
              <a:t>Auto-Loader</a:t>
            </a:r>
          </a:p>
          <a:p>
            <a:r>
              <a:rPr lang="en-MY" dirty="0"/>
              <a:t>Unity </a:t>
            </a:r>
            <a:r>
              <a:rPr lang="en-MY" dirty="0" err="1"/>
              <a:t>Catalog</a:t>
            </a:r>
            <a:endParaRPr lang="en-MY" dirty="0"/>
          </a:p>
          <a:p>
            <a:r>
              <a:rPr lang="en-MY" dirty="0"/>
              <a:t>Lakehouse</a:t>
            </a:r>
          </a:p>
          <a:p>
            <a:r>
              <a:rPr lang="en-MY" dirty="0"/>
              <a:t>Delta Tables</a:t>
            </a:r>
          </a:p>
          <a:p>
            <a:r>
              <a:rPr lang="en-MY" dirty="0"/>
              <a:t>Bundles</a:t>
            </a:r>
          </a:p>
          <a:p>
            <a:r>
              <a:rPr lang="en-MY" dirty="0" err="1"/>
              <a:t>Jev</a:t>
            </a:r>
            <a:endParaRPr lang="en-MY" dirty="0"/>
          </a:p>
          <a:p>
            <a:endParaRPr lang="en-MY" dirty="0"/>
          </a:p>
          <a:p>
            <a:endParaRPr lang="en-MY" dirty="0"/>
          </a:p>
          <a:p>
            <a:pPr lvl="1"/>
            <a:endParaRPr lang="en-MY" dirty="0"/>
          </a:p>
        </p:txBody>
      </p:sp>
    </p:spTree>
    <p:extLst>
      <p:ext uri="{BB962C8B-B14F-4D97-AF65-F5344CB8AC3E}">
        <p14:creationId xmlns:p14="http://schemas.microsoft.com/office/powerpoint/2010/main" val="1533516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58B13-F087-CFB5-E228-954527F798A5}"/>
              </a:ext>
            </a:extLst>
          </p:cNvPr>
          <p:cNvSpPr>
            <a:spLocks noGrp="1"/>
          </p:cNvSpPr>
          <p:nvPr>
            <p:ph type="title"/>
          </p:nvPr>
        </p:nvSpPr>
        <p:spPr/>
        <p:txBody>
          <a:bodyPr/>
          <a:lstStyle/>
          <a:p>
            <a:r>
              <a:rPr lang="en-MY" dirty="0"/>
              <a:t>Designing a Model in Databricks</a:t>
            </a:r>
          </a:p>
        </p:txBody>
      </p:sp>
      <p:sp>
        <p:nvSpPr>
          <p:cNvPr id="3" name="Content Placeholder 2">
            <a:extLst>
              <a:ext uri="{FF2B5EF4-FFF2-40B4-BE49-F238E27FC236}">
                <a16:creationId xmlns:a16="http://schemas.microsoft.com/office/drawing/2014/main" id="{9F26837D-7CB1-306E-2621-9B31A03E264F}"/>
              </a:ext>
            </a:extLst>
          </p:cNvPr>
          <p:cNvSpPr>
            <a:spLocks noGrp="1"/>
          </p:cNvSpPr>
          <p:nvPr>
            <p:ph idx="1"/>
          </p:nvPr>
        </p:nvSpPr>
        <p:spPr/>
        <p:txBody>
          <a:bodyPr/>
          <a:lstStyle/>
          <a:p>
            <a:r>
              <a:rPr lang="en-MY" dirty="0" err="1"/>
              <a:t>MLflow</a:t>
            </a:r>
            <a:endParaRPr lang="en-MY" dirty="0"/>
          </a:p>
          <a:p>
            <a:r>
              <a:rPr lang="en-MY" dirty="0"/>
              <a:t>SQL Warehouse</a:t>
            </a:r>
          </a:p>
          <a:p>
            <a:endParaRPr lang="en-MY" dirty="0"/>
          </a:p>
        </p:txBody>
      </p:sp>
    </p:spTree>
    <p:extLst>
      <p:ext uri="{BB962C8B-B14F-4D97-AF65-F5344CB8AC3E}">
        <p14:creationId xmlns:p14="http://schemas.microsoft.com/office/powerpoint/2010/main" val="3422032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8E812-B5F7-E7A2-DF8B-08E0AEC281C8}"/>
              </a:ext>
            </a:extLst>
          </p:cNvPr>
          <p:cNvSpPr>
            <a:spLocks noGrp="1"/>
          </p:cNvSpPr>
          <p:nvPr>
            <p:ph type="title"/>
          </p:nvPr>
        </p:nvSpPr>
        <p:spPr/>
        <p:txBody>
          <a:bodyPr/>
          <a:lstStyle/>
          <a:p>
            <a:r>
              <a:rPr lang="en-MY" dirty="0"/>
              <a:t>Building an App</a:t>
            </a:r>
          </a:p>
        </p:txBody>
      </p:sp>
      <p:sp>
        <p:nvSpPr>
          <p:cNvPr id="3" name="Content Placeholder 2">
            <a:extLst>
              <a:ext uri="{FF2B5EF4-FFF2-40B4-BE49-F238E27FC236}">
                <a16:creationId xmlns:a16="http://schemas.microsoft.com/office/drawing/2014/main" id="{D40BFFDB-8E06-69AB-2146-64218FDE3F89}"/>
              </a:ext>
            </a:extLst>
          </p:cNvPr>
          <p:cNvSpPr>
            <a:spLocks noGrp="1"/>
          </p:cNvSpPr>
          <p:nvPr>
            <p:ph idx="1"/>
          </p:nvPr>
        </p:nvSpPr>
        <p:spPr/>
        <p:txBody>
          <a:bodyPr/>
          <a:lstStyle/>
          <a:p>
            <a:r>
              <a:rPr lang="en-MY" dirty="0"/>
              <a:t>Databricks Apps</a:t>
            </a:r>
          </a:p>
          <a:p>
            <a:r>
              <a:rPr lang="en-MY" dirty="0"/>
              <a:t>AI/BI Dashboard</a:t>
            </a:r>
          </a:p>
          <a:p>
            <a:r>
              <a:rPr lang="en-MY" dirty="0"/>
              <a:t>Genie Agent</a:t>
            </a:r>
          </a:p>
        </p:txBody>
      </p:sp>
    </p:spTree>
    <p:extLst>
      <p:ext uri="{BB962C8B-B14F-4D97-AF65-F5344CB8AC3E}">
        <p14:creationId xmlns:p14="http://schemas.microsoft.com/office/powerpoint/2010/main" val="1222724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B39DB612-5A5E-E658-A502-7522275C694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43" imgH="443" progId="TCLayout.ActiveDocument.1">
                  <p:embed/>
                </p:oleObj>
              </mc:Choice>
              <mc:Fallback>
                <p:oleObj name="thinkcell Slide" r:id="rId14" imgW="443" imgH="443" progId="TCLayout.ActiveDocument.1">
                  <p:embed/>
                  <p:pic>
                    <p:nvPicPr>
                      <p:cNvPr id="14" name="thinkcell data - do not delete" hidden="1">
                        <a:extLst>
                          <a:ext uri="{FF2B5EF4-FFF2-40B4-BE49-F238E27FC236}">
                            <a16:creationId xmlns:a16="http://schemas.microsoft.com/office/drawing/2014/main" id="{B39DB612-5A5E-E658-A502-7522275C694C}"/>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A3058D4-92FF-CA96-2D37-C5F227EF464B}"/>
              </a:ext>
            </a:extLst>
          </p:cNvPr>
          <p:cNvSpPr>
            <a:spLocks noGrp="1"/>
          </p:cNvSpPr>
          <p:nvPr>
            <p:ph type="ctrTitle"/>
          </p:nvPr>
        </p:nvSpPr>
        <p:spPr>
          <a:xfrm>
            <a:off x="838200" y="2298700"/>
            <a:ext cx="6858000" cy="914400"/>
          </a:xfrm>
        </p:spPr>
        <p:txBody>
          <a:bodyPr anchor="t">
            <a:noAutofit/>
          </a:bodyPr>
          <a:lstStyle/>
          <a:p>
            <a:pPr algn="l"/>
            <a:r>
              <a:rPr lang="en-MY" dirty="0"/>
              <a:t>Data Rigour</a:t>
            </a:r>
          </a:p>
        </p:txBody>
      </p:sp>
      <p:sp>
        <p:nvSpPr>
          <p:cNvPr id="3" name="Subtitle 2">
            <a:extLst>
              <a:ext uri="{FF2B5EF4-FFF2-40B4-BE49-F238E27FC236}">
                <a16:creationId xmlns:a16="http://schemas.microsoft.com/office/drawing/2014/main" id="{6DECA808-9BCA-8FEF-2D39-8130620CCCD2}"/>
              </a:ext>
            </a:extLst>
          </p:cNvPr>
          <p:cNvSpPr>
            <a:spLocks noGrp="1"/>
          </p:cNvSpPr>
          <p:nvPr>
            <p:ph type="subTitle" idx="1"/>
          </p:nvPr>
        </p:nvSpPr>
        <p:spPr>
          <a:xfrm>
            <a:off x="838200" y="3340100"/>
            <a:ext cx="6858000" cy="762000"/>
          </a:xfrm>
        </p:spPr>
        <p:txBody>
          <a:bodyPr anchor="t">
            <a:noAutofit/>
          </a:bodyPr>
          <a:lstStyle/>
          <a:p>
            <a:pPr algn="l"/>
            <a:r>
              <a:rPr lang="en-MY" sz="2000"/>
              <a:t>Sound use of Singapore open data, handling of messy data, and honest limitations.</a:t>
            </a:r>
            <a:endParaRPr lang="en-US" sz="2000" dirty="0"/>
          </a:p>
        </p:txBody>
      </p:sp>
      <p:cxnSp>
        <p:nvCxnSpPr>
          <p:cNvPr id="4" name="Gerader Verbinder 22">
            <a:extLst>
              <a:ext uri="{FF2B5EF4-FFF2-40B4-BE49-F238E27FC236}">
                <a16:creationId xmlns:a16="http://schemas.microsoft.com/office/drawing/2014/main" id="{894D4A9D-64B3-D2EF-AE7D-EA155AF640D5}"/>
              </a:ext>
            </a:extLst>
          </p:cNvPr>
          <p:cNvCxnSpPr>
            <a:cxnSpLocks/>
          </p:cNvCxnSpPr>
          <p:nvPr/>
        </p:nvCxnSpPr>
        <p:spPr>
          <a:xfrm>
            <a:off x="407987" y="1422400"/>
            <a:ext cx="0" cy="40259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Rectangle 3">
            <a:extLst>
              <a:ext uri="{FF2B5EF4-FFF2-40B4-BE49-F238E27FC236}">
                <a16:creationId xmlns:a16="http://schemas.microsoft.com/office/drawing/2014/main" id="{374BD101-EA1E-FAC5-CB90-7F4F86E7B0C8}"/>
              </a:ext>
            </a:extLst>
          </p:cNvPr>
          <p:cNvSpPr>
            <a:spLocks/>
          </p:cNvSpPr>
          <p:nvPr>
            <p:custDataLst>
              <p:tags r:id="rId2"/>
            </p:custDataLst>
          </p:nvPr>
        </p:nvSpPr>
        <p:spPr bwMode="gray">
          <a:xfrm>
            <a:off x="8128000" y="30988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a:solidFill>
                  <a:schemeClr val="bg2">
                    <a:lumMod val="50000"/>
                  </a:schemeClr>
                </a:solidFill>
              </a:rPr>
              <a:t>Why Databricks</a:t>
            </a:r>
          </a:p>
        </p:txBody>
      </p:sp>
      <p:sp>
        <p:nvSpPr>
          <p:cNvPr id="6" name="Rectangle 3">
            <a:extLst>
              <a:ext uri="{FF2B5EF4-FFF2-40B4-BE49-F238E27FC236}">
                <a16:creationId xmlns:a16="http://schemas.microsoft.com/office/drawing/2014/main" id="{66DF5CCA-4C2A-6C89-FF36-1FC5AE02DF4D}"/>
              </a:ext>
            </a:extLst>
          </p:cNvPr>
          <p:cNvSpPr>
            <a:spLocks/>
          </p:cNvSpPr>
          <p:nvPr>
            <p:custDataLst>
              <p:tags r:id="rId3"/>
            </p:custDataLst>
          </p:nvPr>
        </p:nvSpPr>
        <p:spPr bwMode="gray">
          <a:xfrm>
            <a:off x="8128000" y="14224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a:solidFill>
                  <a:schemeClr val="bg2">
                    <a:lumMod val="50000"/>
                  </a:schemeClr>
                </a:solidFill>
              </a:rPr>
              <a:t>Social Impact</a:t>
            </a:r>
          </a:p>
        </p:txBody>
      </p:sp>
      <p:sp>
        <p:nvSpPr>
          <p:cNvPr id="7" name="Rectangle 3">
            <a:extLst>
              <a:ext uri="{FF2B5EF4-FFF2-40B4-BE49-F238E27FC236}">
                <a16:creationId xmlns:a16="http://schemas.microsoft.com/office/drawing/2014/main" id="{24005736-6921-9C92-2AB0-7E626164D034}"/>
              </a:ext>
            </a:extLst>
          </p:cNvPr>
          <p:cNvSpPr>
            <a:spLocks/>
          </p:cNvSpPr>
          <p:nvPr>
            <p:custDataLst>
              <p:tags r:id="rId4"/>
            </p:custDataLst>
          </p:nvPr>
        </p:nvSpPr>
        <p:spPr bwMode="gray">
          <a:xfrm>
            <a:off x="8128000" y="39370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b="1"/>
              <a:t>Data Rigour</a:t>
            </a:r>
          </a:p>
        </p:txBody>
      </p:sp>
      <p:sp>
        <p:nvSpPr>
          <p:cNvPr id="8" name="Rectangle 3">
            <a:extLst>
              <a:ext uri="{FF2B5EF4-FFF2-40B4-BE49-F238E27FC236}">
                <a16:creationId xmlns:a16="http://schemas.microsoft.com/office/drawing/2014/main" id="{476F3826-38AE-CD2B-5798-B559970944E8}"/>
              </a:ext>
            </a:extLst>
          </p:cNvPr>
          <p:cNvSpPr>
            <a:spLocks/>
          </p:cNvSpPr>
          <p:nvPr>
            <p:custDataLst>
              <p:tags r:id="rId5"/>
            </p:custDataLst>
          </p:nvPr>
        </p:nvSpPr>
        <p:spPr bwMode="gray">
          <a:xfrm>
            <a:off x="8128000" y="22606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a:solidFill>
                  <a:schemeClr val="bg2">
                    <a:lumMod val="50000"/>
                  </a:schemeClr>
                </a:solidFill>
              </a:rPr>
              <a:t>Demo</a:t>
            </a:r>
          </a:p>
        </p:txBody>
      </p:sp>
      <p:sp>
        <p:nvSpPr>
          <p:cNvPr id="9" name="Rectangle 3">
            <a:extLst>
              <a:ext uri="{FF2B5EF4-FFF2-40B4-BE49-F238E27FC236}">
                <a16:creationId xmlns:a16="http://schemas.microsoft.com/office/drawing/2014/main" id="{7F7D30C2-08D3-84CB-2EE0-F8579C1F4CF2}"/>
              </a:ext>
            </a:extLst>
          </p:cNvPr>
          <p:cNvSpPr>
            <a:spLocks/>
          </p:cNvSpPr>
          <p:nvPr>
            <p:custDataLst>
              <p:tags r:id="rId6"/>
            </p:custDataLst>
          </p:nvPr>
        </p:nvSpPr>
        <p:spPr bwMode="gray">
          <a:xfrm>
            <a:off x="8220075" y="14986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bg2">
                    <a:lumMod val="75000"/>
                  </a:schemeClr>
                </a:solidFill>
              </a:rPr>
              <a:t>01.</a:t>
            </a:r>
          </a:p>
        </p:txBody>
      </p:sp>
      <p:sp>
        <p:nvSpPr>
          <p:cNvPr id="10" name="Rectangle 3">
            <a:extLst>
              <a:ext uri="{FF2B5EF4-FFF2-40B4-BE49-F238E27FC236}">
                <a16:creationId xmlns:a16="http://schemas.microsoft.com/office/drawing/2014/main" id="{6773148B-C900-214B-B005-45F203CE0FD5}"/>
              </a:ext>
            </a:extLst>
          </p:cNvPr>
          <p:cNvSpPr>
            <a:spLocks/>
          </p:cNvSpPr>
          <p:nvPr>
            <p:custDataLst>
              <p:tags r:id="rId7"/>
            </p:custDataLst>
          </p:nvPr>
        </p:nvSpPr>
        <p:spPr bwMode="gray">
          <a:xfrm>
            <a:off x="8220075" y="31750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bg2">
                    <a:lumMod val="75000"/>
                  </a:schemeClr>
                </a:solidFill>
              </a:rPr>
              <a:t>03.</a:t>
            </a:r>
          </a:p>
        </p:txBody>
      </p:sp>
      <p:sp>
        <p:nvSpPr>
          <p:cNvPr id="11" name="Rectangle 3">
            <a:extLst>
              <a:ext uri="{FF2B5EF4-FFF2-40B4-BE49-F238E27FC236}">
                <a16:creationId xmlns:a16="http://schemas.microsoft.com/office/drawing/2014/main" id="{8C7968B5-F355-27D1-521B-C4EDD7BF7136}"/>
              </a:ext>
            </a:extLst>
          </p:cNvPr>
          <p:cNvSpPr>
            <a:spLocks/>
          </p:cNvSpPr>
          <p:nvPr>
            <p:custDataLst>
              <p:tags r:id="rId8"/>
            </p:custDataLst>
          </p:nvPr>
        </p:nvSpPr>
        <p:spPr bwMode="gray">
          <a:xfrm>
            <a:off x="8220075" y="40132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accent1"/>
                </a:solidFill>
              </a:rPr>
              <a:t>04.</a:t>
            </a:r>
          </a:p>
        </p:txBody>
      </p:sp>
      <p:sp>
        <p:nvSpPr>
          <p:cNvPr id="12" name="Rectangle 3">
            <a:extLst>
              <a:ext uri="{FF2B5EF4-FFF2-40B4-BE49-F238E27FC236}">
                <a16:creationId xmlns:a16="http://schemas.microsoft.com/office/drawing/2014/main" id="{E29948EC-1187-7925-53C0-014BA1BD500A}"/>
              </a:ext>
            </a:extLst>
          </p:cNvPr>
          <p:cNvSpPr>
            <a:spLocks/>
          </p:cNvSpPr>
          <p:nvPr>
            <p:custDataLst>
              <p:tags r:id="rId9"/>
            </p:custDataLst>
          </p:nvPr>
        </p:nvSpPr>
        <p:spPr bwMode="gray">
          <a:xfrm>
            <a:off x="8220075" y="23368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bg2">
                    <a:lumMod val="75000"/>
                  </a:schemeClr>
                </a:solidFill>
              </a:rPr>
              <a:t>02.</a:t>
            </a:r>
          </a:p>
        </p:txBody>
      </p:sp>
      <p:sp>
        <p:nvSpPr>
          <p:cNvPr id="13" name="Rectangle 3">
            <a:extLst>
              <a:ext uri="{FF2B5EF4-FFF2-40B4-BE49-F238E27FC236}">
                <a16:creationId xmlns:a16="http://schemas.microsoft.com/office/drawing/2014/main" id="{C32EB650-2CF8-63C6-CA65-750F1ABA65A1}"/>
              </a:ext>
            </a:extLst>
          </p:cNvPr>
          <p:cNvSpPr>
            <a:spLocks/>
          </p:cNvSpPr>
          <p:nvPr>
            <p:custDataLst>
              <p:tags r:id="rId10"/>
            </p:custDataLst>
          </p:nvPr>
        </p:nvSpPr>
        <p:spPr bwMode="gray">
          <a:xfrm>
            <a:off x="838200" y="1371600"/>
            <a:ext cx="3048000" cy="9144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5400" b="1">
                <a:solidFill>
                  <a:schemeClr val="accent1"/>
                </a:solidFill>
              </a:rPr>
              <a:t>04.</a:t>
            </a:r>
          </a:p>
        </p:txBody>
      </p:sp>
      <p:sp>
        <p:nvSpPr>
          <p:cNvPr id="15" name="Rectangle 3">
            <a:extLst>
              <a:ext uri="{FF2B5EF4-FFF2-40B4-BE49-F238E27FC236}">
                <a16:creationId xmlns:a16="http://schemas.microsoft.com/office/drawing/2014/main" id="{17ACAAB0-CFD3-D246-4EEA-D6F10BBF4303}"/>
              </a:ext>
            </a:extLst>
          </p:cNvPr>
          <p:cNvSpPr>
            <a:spLocks/>
          </p:cNvSpPr>
          <p:nvPr>
            <p:custDataLst>
              <p:tags r:id="rId11"/>
            </p:custDataLst>
          </p:nvPr>
        </p:nvSpPr>
        <p:spPr bwMode="gray">
          <a:xfrm>
            <a:off x="8128000" y="47752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a:solidFill>
                  <a:schemeClr val="bg2">
                    <a:lumMod val="50000"/>
                  </a:schemeClr>
                </a:solidFill>
              </a:rPr>
              <a:t>Q&amp;A</a:t>
            </a:r>
          </a:p>
        </p:txBody>
      </p:sp>
      <p:sp>
        <p:nvSpPr>
          <p:cNvPr id="16" name="Rectangle 3">
            <a:extLst>
              <a:ext uri="{FF2B5EF4-FFF2-40B4-BE49-F238E27FC236}">
                <a16:creationId xmlns:a16="http://schemas.microsoft.com/office/drawing/2014/main" id="{5AD0A85D-F12A-D5D1-A60F-D49567AD9C37}"/>
              </a:ext>
            </a:extLst>
          </p:cNvPr>
          <p:cNvSpPr>
            <a:spLocks/>
          </p:cNvSpPr>
          <p:nvPr>
            <p:custDataLst>
              <p:tags r:id="rId12"/>
            </p:custDataLst>
          </p:nvPr>
        </p:nvSpPr>
        <p:spPr bwMode="gray">
          <a:xfrm>
            <a:off x="8220075" y="48514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dirty="0">
                <a:solidFill>
                  <a:schemeClr val="bg2">
                    <a:lumMod val="75000"/>
                  </a:schemeClr>
                </a:solidFill>
              </a:rPr>
              <a:t>05.</a:t>
            </a:r>
          </a:p>
        </p:txBody>
      </p:sp>
    </p:spTree>
    <p:extLst>
      <p:ext uri="{BB962C8B-B14F-4D97-AF65-F5344CB8AC3E}">
        <p14:creationId xmlns:p14="http://schemas.microsoft.com/office/powerpoint/2010/main" val="3862102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B2CB984-1370-08AD-3055-125F9E0FCA2D}"/>
              </a:ext>
            </a:extLst>
          </p:cNvPr>
          <p:cNvGraphicFramePr>
            <a:graphicFrameLocks/>
          </p:cNvGraphicFramePr>
          <p:nvPr>
            <p:custDataLst>
              <p:tags r:id="rId1"/>
            </p:custDataLst>
            <p:extLst>
              <p:ext uri="{D42A27DB-BD31-4B8C-83A1-F6EECF244321}">
                <p14:modId xmlns:p14="http://schemas.microsoft.com/office/powerpoint/2010/main" val="22266369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43" imgH="443" progId="TCLayout.ActiveDocument.1">
                  <p:embed/>
                </p:oleObj>
              </mc:Choice>
              <mc:Fallback>
                <p:oleObj name="thinkcell Slide" r:id="rId4" imgW="443" imgH="443" progId="TCLayout.ActiveDocument.1">
                  <p:embed/>
                  <p:pic>
                    <p:nvPicPr>
                      <p:cNvPr id="6" name="thinkcell data - do not delete" hidden="1">
                        <a:extLst>
                          <a:ext uri="{FF2B5EF4-FFF2-40B4-BE49-F238E27FC236}">
                            <a16:creationId xmlns:a16="http://schemas.microsoft.com/office/drawing/2014/main" id="{7B2CB984-1370-08AD-3055-125F9E0FCA2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E3F85AE-408F-25EA-8BEF-790E5159F2B2}"/>
              </a:ext>
            </a:extLst>
          </p:cNvPr>
          <p:cNvSpPr>
            <a:spLocks noGrp="1"/>
          </p:cNvSpPr>
          <p:nvPr>
            <p:ph type="title"/>
          </p:nvPr>
        </p:nvSpPr>
        <p:spPr/>
        <p:txBody>
          <a:bodyPr/>
          <a:lstStyle/>
          <a:p>
            <a:r>
              <a:rPr lang="en-MY"/>
              <a:t>Data sources: what the model reads</a:t>
            </a:r>
          </a:p>
        </p:txBody>
      </p:sp>
      <p:graphicFrame>
        <p:nvGraphicFramePr>
          <p:cNvPr id="5" name="Table 4">
            <a:extLst>
              <a:ext uri="{FF2B5EF4-FFF2-40B4-BE49-F238E27FC236}">
                <a16:creationId xmlns:a16="http://schemas.microsoft.com/office/drawing/2014/main" id="{7F0A92AC-17D4-C29C-5596-60A8D972381B}"/>
              </a:ext>
            </a:extLst>
          </p:cNvPr>
          <p:cNvGraphicFramePr>
            <a:graphicFrameLocks noGrp="1"/>
          </p:cNvGraphicFramePr>
          <p:nvPr>
            <p:extLst>
              <p:ext uri="{D42A27DB-BD31-4B8C-83A1-F6EECF244321}">
                <p14:modId xmlns:p14="http://schemas.microsoft.com/office/powerpoint/2010/main" val="1465768196"/>
              </p:ext>
            </p:extLst>
          </p:nvPr>
        </p:nvGraphicFramePr>
        <p:xfrm>
          <a:off x="12700000" y="1778000"/>
          <a:ext cx="10515600" cy="2710410"/>
        </p:xfrm>
        <a:graphic>
          <a:graphicData uri="http://schemas.openxmlformats.org/drawingml/2006/table">
            <a:tbl>
              <a:tblPr firstRow="1">
                <a:tableStyleId>{5C22544A-7EE6-4342-B048-85BDC9FD1C3A}</a:tableStyleId>
              </a:tblPr>
              <a:tblGrid>
                <a:gridCol w="2476500">
                  <a:extLst>
                    <a:ext uri="{9D8B030D-6E8A-4147-A177-3AD203B41FA5}">
                      <a16:colId xmlns:a16="http://schemas.microsoft.com/office/drawing/2014/main" val="1557147945"/>
                    </a:ext>
                  </a:extLst>
                </a:gridCol>
                <a:gridCol w="2921000">
                  <a:extLst>
                    <a:ext uri="{9D8B030D-6E8A-4147-A177-3AD203B41FA5}">
                      <a16:colId xmlns:a16="http://schemas.microsoft.com/office/drawing/2014/main" val="1894722809"/>
                    </a:ext>
                  </a:extLst>
                </a:gridCol>
                <a:gridCol w="5118100">
                  <a:extLst>
                    <a:ext uri="{9D8B030D-6E8A-4147-A177-3AD203B41FA5}">
                      <a16:colId xmlns:a16="http://schemas.microsoft.com/office/drawing/2014/main" val="1048597023"/>
                    </a:ext>
                  </a:extLst>
                </a:gridCol>
              </a:tblGrid>
              <a:tr h="334818">
                <a:tc>
                  <a:txBody>
                    <a:bodyPr/>
                    <a:lstStyle/>
                    <a:p>
                      <a:r>
                        <a:rPr lang="en-MY" sz="1400"/>
                        <a:t>Source</a:t>
                      </a:r>
                      <a:endParaRPr lang="en-MY"/>
                    </a:p>
                  </a:txBody>
                  <a:tcPr/>
                </a:tc>
                <a:tc>
                  <a:txBody>
                    <a:bodyPr/>
                    <a:lstStyle/>
                    <a:p>
                      <a:r>
                        <a:rPr lang="en-MY" sz="1400"/>
                        <a:t>Where from</a:t>
                      </a:r>
                      <a:endParaRPr lang="en-MY"/>
                    </a:p>
                  </a:txBody>
                  <a:tcPr/>
                </a:tc>
                <a:tc>
                  <a:txBody>
                    <a:bodyPr/>
                    <a:lstStyle/>
                    <a:p>
                      <a:r>
                        <a:rPr lang="en-MY" sz="1400"/>
                        <a:t>What the model reads</a:t>
                      </a:r>
                      <a:endParaRPr lang="en-MY"/>
                    </a:p>
                  </a:txBody>
                  <a:tcPr/>
                </a:tc>
                <a:extLst>
                  <a:ext uri="{0D108BD9-81ED-4DB2-BD59-A6C34878D82A}">
                    <a16:rowId xmlns:a16="http://schemas.microsoft.com/office/drawing/2014/main" val="1281669301"/>
                  </a:ext>
                </a:extLst>
              </a:tr>
              <a:tr h="334818">
                <a:tc>
                  <a:txBody>
                    <a:bodyPr/>
                    <a:lstStyle/>
                    <a:p>
                      <a:r>
                        <a:rPr lang="en-MY" sz="1400" b="1"/>
                        <a:t>NEA rainfall</a:t>
                      </a:r>
                      <a:endParaRPr lang="en-MY"/>
                    </a:p>
                  </a:txBody>
                  <a:tcPr>
                    <a:solidFill>
                      <a:schemeClr val="tx1">
                        <a:lumMod val="10000"/>
                        <a:lumOff val="90000"/>
                      </a:schemeClr>
                    </a:solidFill>
                  </a:tcPr>
                </a:tc>
                <a:tc>
                  <a:txBody>
                    <a:bodyPr/>
                    <a:lstStyle/>
                    <a:p>
                      <a:r>
                        <a:rPr lang="en-US" sz="1400"/>
                        <a:t>API (2025 on), CSVs (to 2024)</a:t>
                      </a:r>
                      <a:endParaRPr lang="en-MY"/>
                    </a:p>
                  </a:txBody>
                  <a:tcPr>
                    <a:solidFill>
                      <a:schemeClr val="tx1">
                        <a:lumMod val="10000"/>
                        <a:lumOff val="90000"/>
                      </a:schemeClr>
                    </a:solidFill>
                  </a:tcPr>
                </a:tc>
                <a:tc>
                  <a:txBody>
                    <a:bodyPr/>
                    <a:lstStyle/>
                    <a:p>
                      <a:r>
                        <a:rPr lang="en-US" sz="1400"/>
                        <a:t>16 of 25 columns: nearby/upwind rain, gauge count, storm age, rain surplus, drain flow</a:t>
                      </a:r>
                      <a:endParaRPr lang="en-MY"/>
                    </a:p>
                  </a:txBody>
                  <a:tcPr>
                    <a:solidFill>
                      <a:schemeClr val="tx1">
                        <a:lumMod val="10000"/>
                        <a:lumOff val="90000"/>
                      </a:schemeClr>
                    </a:solidFill>
                  </a:tcPr>
                </a:tc>
                <a:extLst>
                  <a:ext uri="{0D108BD9-81ED-4DB2-BD59-A6C34878D82A}">
                    <a16:rowId xmlns:a16="http://schemas.microsoft.com/office/drawing/2014/main" val="3966147629"/>
                  </a:ext>
                </a:extLst>
              </a:tr>
              <a:tr h="334818">
                <a:tc>
                  <a:txBody>
                    <a:bodyPr/>
                    <a:lstStyle/>
                    <a:p>
                      <a:r>
                        <a:rPr lang="en-MY" sz="1400" b="1"/>
                        <a:t>NEA 2-hour forecast</a:t>
                      </a:r>
                      <a:endParaRPr lang="en-MY"/>
                    </a:p>
                  </a:txBody>
                  <a:tcPr>
                    <a:solidFill>
                      <a:schemeClr val="tx1">
                        <a:lumMod val="10000"/>
                        <a:lumOff val="90000"/>
                      </a:schemeClr>
                    </a:solidFill>
                  </a:tcPr>
                </a:tc>
                <a:tc>
                  <a:txBody>
                    <a:bodyPr/>
                    <a:lstStyle/>
                    <a:p>
                      <a:r>
                        <a:rPr lang="en-MY" sz="1400"/>
                        <a:t>API + historical CSVs</a:t>
                      </a:r>
                      <a:endParaRPr lang="en-MY"/>
                    </a:p>
                  </a:txBody>
                  <a:tcPr>
                    <a:solidFill>
                      <a:schemeClr val="tx1">
                        <a:lumMod val="10000"/>
                        <a:lumOff val="90000"/>
                      </a:schemeClr>
                    </a:solidFill>
                  </a:tcPr>
                </a:tc>
                <a:tc>
                  <a:txBody>
                    <a:bodyPr/>
                    <a:lstStyle/>
                    <a:p>
                      <a:r>
                        <a:rPr lang="en-US" sz="1400"/>
                        <a:t>Rain class (#1 input, both models), age; defines 47 areas</a:t>
                      </a:r>
                      <a:endParaRPr lang="en-MY"/>
                    </a:p>
                  </a:txBody>
                  <a:tcPr>
                    <a:solidFill>
                      <a:schemeClr val="tx1">
                        <a:lumMod val="10000"/>
                        <a:lumOff val="90000"/>
                      </a:schemeClr>
                    </a:solidFill>
                  </a:tcPr>
                </a:tc>
                <a:extLst>
                  <a:ext uri="{0D108BD9-81ED-4DB2-BD59-A6C34878D82A}">
                    <a16:rowId xmlns:a16="http://schemas.microsoft.com/office/drawing/2014/main" val="1961073776"/>
                  </a:ext>
                </a:extLst>
              </a:tr>
              <a:tr h="334818">
                <a:tc>
                  <a:txBody>
                    <a:bodyPr/>
                    <a:lstStyle/>
                    <a:p>
                      <a:r>
                        <a:rPr lang="en-MY" sz="1400" b="1"/>
                        <a:t>NEA wind</a:t>
                      </a:r>
                      <a:endParaRPr lang="en-MY"/>
                    </a:p>
                  </a:txBody>
                  <a:tcPr>
                    <a:solidFill>
                      <a:schemeClr val="tx1">
                        <a:lumMod val="10000"/>
                        <a:lumOff val="90000"/>
                      </a:schemeClr>
                    </a:solidFill>
                  </a:tcPr>
                </a:tc>
                <a:tc>
                  <a:txBody>
                    <a:bodyPr/>
                    <a:lstStyle/>
                    <a:p>
                      <a:r>
                        <a:rPr lang="en-US" sz="1400"/>
                        <a:t>API + historical CSVs</a:t>
                      </a:r>
                      <a:endParaRPr lang="en-US"/>
                    </a:p>
                  </a:txBody>
                  <a:tcPr>
                    <a:solidFill>
                      <a:schemeClr val="tx1">
                        <a:lumMod val="10000"/>
                        <a:lumOff val="90000"/>
                      </a:schemeClr>
                    </a:solidFill>
                  </a:tcPr>
                </a:tc>
                <a:tc>
                  <a:txBody>
                    <a:bodyPr/>
                    <a:lstStyle/>
                    <a:p>
                      <a:r>
                        <a:rPr lang="en-MY" sz="1400"/>
                        <a:t>Wind components; which gauges count as upwind</a:t>
                      </a:r>
                      <a:endParaRPr lang="en-MY"/>
                    </a:p>
                  </a:txBody>
                  <a:tcPr>
                    <a:solidFill>
                      <a:schemeClr val="tx1">
                        <a:lumMod val="10000"/>
                        <a:lumOff val="90000"/>
                      </a:schemeClr>
                    </a:solidFill>
                  </a:tcPr>
                </a:tc>
                <a:extLst>
                  <a:ext uri="{0D108BD9-81ED-4DB2-BD59-A6C34878D82A}">
                    <a16:rowId xmlns:a16="http://schemas.microsoft.com/office/drawing/2014/main" val="1348493274"/>
                  </a:ext>
                </a:extLst>
              </a:tr>
              <a:tr h="334818">
                <a:tc>
                  <a:txBody>
                    <a:bodyPr/>
                    <a:lstStyle/>
                    <a:p>
                      <a:r>
                        <a:rPr lang="en-MY" sz="1400" b="1"/>
                        <a:t>NEA temperature, humidity</a:t>
                      </a:r>
                      <a:endParaRPr lang="en-MY"/>
                    </a:p>
                  </a:txBody>
                  <a:tcPr>
                    <a:solidFill>
                      <a:schemeClr val="tx1">
                        <a:lumMod val="10000"/>
                        <a:lumOff val="90000"/>
                      </a:schemeClr>
                    </a:solidFill>
                  </a:tcPr>
                </a:tc>
                <a:tc>
                  <a:txBody>
                    <a:bodyPr/>
                    <a:lstStyle/>
                    <a:p>
                      <a:r>
                        <a:rPr lang="en-US" sz="1400"/>
                        <a:t>API + historical CSVs</a:t>
                      </a:r>
                      <a:endParaRPr lang="en-US"/>
                    </a:p>
                  </a:txBody>
                  <a:tcPr>
                    <a:solidFill>
                      <a:schemeClr val="tx1">
                        <a:lumMod val="10000"/>
                        <a:lumOff val="90000"/>
                      </a:schemeClr>
                    </a:solidFill>
                  </a:tcPr>
                </a:tc>
                <a:tc>
                  <a:txBody>
                    <a:bodyPr/>
                    <a:lstStyle/>
                    <a:p>
                      <a:r>
                        <a:rPr lang="en-MY" sz="1400"/>
                        <a:t>Island-wide averages</a:t>
                      </a:r>
                      <a:endParaRPr lang="en-MY"/>
                    </a:p>
                  </a:txBody>
                  <a:tcPr>
                    <a:solidFill>
                      <a:schemeClr val="tx1">
                        <a:lumMod val="10000"/>
                        <a:lumOff val="90000"/>
                      </a:schemeClr>
                    </a:solidFill>
                  </a:tcPr>
                </a:tc>
                <a:extLst>
                  <a:ext uri="{0D108BD9-81ED-4DB2-BD59-A6C34878D82A}">
                    <a16:rowId xmlns:a16="http://schemas.microsoft.com/office/drawing/2014/main" val="2237953655"/>
                  </a:ext>
                </a:extLst>
              </a:tr>
              <a:tr h="334818">
                <a:tc>
                  <a:txBody>
                    <a:bodyPr/>
                    <a:lstStyle/>
                    <a:p>
                      <a:r>
                        <a:rPr lang="en-MY" sz="1400" b="1"/>
                        <a:t>Tide</a:t>
                      </a:r>
                      <a:endParaRPr lang="en-MY"/>
                    </a:p>
                  </a:txBody>
                  <a:tcPr>
                    <a:solidFill>
                      <a:schemeClr val="tx1">
                        <a:lumMod val="10000"/>
                        <a:lumOff val="90000"/>
                      </a:schemeClr>
                    </a:solidFill>
                  </a:tcPr>
                </a:tc>
                <a:tc>
                  <a:txBody>
                    <a:bodyPr/>
                    <a:lstStyle/>
                    <a:p>
                      <a:r>
                        <a:rPr lang="en-US" sz="1400"/>
                        <a:t>UHSLC Tanjong Pagar, 2005–2023</a:t>
                      </a:r>
                      <a:endParaRPr lang="en-US"/>
                    </a:p>
                  </a:txBody>
                  <a:tcPr>
                    <a:solidFill>
                      <a:schemeClr val="tx1">
                        <a:lumMod val="10000"/>
                        <a:lumOff val="90000"/>
                      </a:schemeClr>
                    </a:solidFill>
                  </a:tcPr>
                </a:tc>
                <a:tc>
                  <a:txBody>
                    <a:bodyPr/>
                    <a:lstStyle/>
                    <a:p>
                      <a:r>
                        <a:rPr lang="en-MY" sz="1400"/>
                        <a:t>Tide height, minutes to high tide (#3 by gain)</a:t>
                      </a:r>
                      <a:endParaRPr lang="en-MY" dirty="0"/>
                    </a:p>
                  </a:txBody>
                  <a:tcPr>
                    <a:solidFill>
                      <a:schemeClr val="tx1">
                        <a:lumMod val="10000"/>
                        <a:lumOff val="90000"/>
                      </a:schemeClr>
                    </a:solidFill>
                  </a:tcPr>
                </a:tc>
                <a:extLst>
                  <a:ext uri="{0D108BD9-81ED-4DB2-BD59-A6C34878D82A}">
                    <a16:rowId xmlns:a16="http://schemas.microsoft.com/office/drawing/2014/main" val="2299953060"/>
                  </a:ext>
                </a:extLst>
              </a:tr>
              <a:tr h="334818">
                <a:tc>
                  <a:txBody>
                    <a:bodyPr/>
                    <a:lstStyle/>
                    <a:p>
                      <a:r>
                        <a:rPr lang="en-MY" sz="1400" b="1"/>
                        <a:t>Time of day</a:t>
                      </a:r>
                      <a:endParaRPr lang="en-MY"/>
                    </a:p>
                  </a:txBody>
                  <a:tcPr>
                    <a:solidFill>
                      <a:schemeClr val="tx1">
                        <a:lumMod val="10000"/>
                        <a:lumOff val="90000"/>
                      </a:schemeClr>
                    </a:solidFill>
                  </a:tcPr>
                </a:tc>
                <a:tc>
                  <a:txBody>
                    <a:bodyPr/>
                    <a:lstStyle/>
                    <a:p>
                      <a:r>
                        <a:rPr lang="en-US" sz="1400"/>
                        <a:t>Derived</a:t>
                      </a:r>
                      <a:endParaRPr lang="en-US"/>
                    </a:p>
                  </a:txBody>
                  <a:tcPr>
                    <a:solidFill>
                      <a:schemeClr val="tx1">
                        <a:lumMod val="10000"/>
                        <a:lumOff val="90000"/>
                      </a:schemeClr>
                    </a:solidFill>
                  </a:tcPr>
                </a:tc>
                <a:tc>
                  <a:txBody>
                    <a:bodyPr/>
                    <a:lstStyle/>
                    <a:p>
                      <a:r>
                        <a:rPr lang="en-MY" sz="1400"/>
                        <a:t>SGT hour</a:t>
                      </a:r>
                      <a:endParaRPr lang="en-MY" dirty="0"/>
                    </a:p>
                  </a:txBody>
                  <a:tcPr>
                    <a:solidFill>
                      <a:schemeClr val="tx1">
                        <a:lumMod val="10000"/>
                        <a:lumOff val="90000"/>
                      </a:schemeClr>
                    </a:solidFill>
                  </a:tcPr>
                </a:tc>
                <a:extLst>
                  <a:ext uri="{0D108BD9-81ED-4DB2-BD59-A6C34878D82A}">
                    <a16:rowId xmlns:a16="http://schemas.microsoft.com/office/drawing/2014/main" val="3840980367"/>
                  </a:ext>
                </a:extLst>
              </a:tr>
            </a:tbl>
          </a:graphicData>
        </a:graphic>
      </p:graphicFrame>
      <p:sp>
        <p:nvSpPr>
          <p:cNvPr id="9" name="Rectangle 8">
            <a:extLst>
              <a:ext uri="{FF2B5EF4-FFF2-40B4-BE49-F238E27FC236}">
                <a16:creationId xmlns:a16="http://schemas.microsoft.com/office/drawing/2014/main" id="{225B9F88-E292-E1B0-0018-3E97E0AB512D}"/>
              </a:ext>
            </a:extLst>
          </p:cNvPr>
          <p:cNvSpPr/>
          <p:nvPr/>
        </p:nvSpPr>
        <p:spPr>
          <a:xfrm>
            <a:off x="838200" y="1905000"/>
            <a:ext cx="3369733" cy="1651000"/>
          </a:xfrm>
          <a:prstGeom prst="rect">
            <a:avLst/>
          </a:prstGeom>
          <a:solidFill>
            <a:schemeClr val="lt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177800" rIns="152400" bIns="127000" rtlCol="0" anchor="t">
            <a:noAutofit/>
          </a:bodyPr>
          <a:lstStyle/>
          <a:p>
            <a:r>
              <a:rPr lang="en-MY" sz="1600" b="1" dirty="0">
                <a:solidFill>
                  <a:schemeClr val="tx1">
                    <a:lumMod val="90000"/>
                    <a:lumOff val="10000"/>
                  </a:schemeClr>
                </a:solidFill>
              </a:rPr>
              <a:t>NEA rainfall</a:t>
            </a:r>
          </a:p>
          <a:p>
            <a:r>
              <a:rPr lang="en-MY" sz="1400" dirty="0">
                <a:solidFill>
                  <a:schemeClr val="tx1"/>
                </a:solidFill>
              </a:rPr>
              <a:t>API (2025 on), CSVs (to 2024)</a:t>
            </a:r>
          </a:p>
          <a:p>
            <a:pPr>
              <a:spcBef>
                <a:spcPts val="600"/>
              </a:spcBef>
            </a:pPr>
            <a:r>
              <a:rPr lang="en-MY" sz="1400" dirty="0">
                <a:solidFill>
                  <a:schemeClr val="tx1"/>
                </a:solidFill>
              </a:rPr>
              <a:t>16 of 25 columns: nearby/upwind rain, gauge count, storm age, rain surplus, drain flow</a:t>
            </a:r>
          </a:p>
        </p:txBody>
      </p:sp>
      <p:sp>
        <p:nvSpPr>
          <p:cNvPr id="10" name="Rectangle 9">
            <a:extLst>
              <a:ext uri="{FF2B5EF4-FFF2-40B4-BE49-F238E27FC236}">
                <a16:creationId xmlns:a16="http://schemas.microsoft.com/office/drawing/2014/main" id="{433876F5-F9A8-1A38-AB44-039D5EDA89F3}"/>
              </a:ext>
            </a:extLst>
          </p:cNvPr>
          <p:cNvSpPr/>
          <p:nvPr/>
        </p:nvSpPr>
        <p:spPr>
          <a:xfrm>
            <a:off x="838200" y="1905000"/>
            <a:ext cx="3369733"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Rectangle 10">
            <a:extLst>
              <a:ext uri="{FF2B5EF4-FFF2-40B4-BE49-F238E27FC236}">
                <a16:creationId xmlns:a16="http://schemas.microsoft.com/office/drawing/2014/main" id="{3B875298-84C8-8571-1F8F-4C05C1C1C05F}"/>
              </a:ext>
            </a:extLst>
          </p:cNvPr>
          <p:cNvSpPr/>
          <p:nvPr/>
        </p:nvSpPr>
        <p:spPr>
          <a:xfrm>
            <a:off x="4411133" y="1905000"/>
            <a:ext cx="3369733" cy="1651000"/>
          </a:xfrm>
          <a:prstGeom prst="rect">
            <a:avLst/>
          </a:prstGeom>
          <a:solidFill>
            <a:schemeClr val="lt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177800" rIns="152400" bIns="127000" rtlCol="0" anchor="t">
            <a:noAutofit/>
          </a:bodyPr>
          <a:lstStyle/>
          <a:p>
            <a:r>
              <a:rPr lang="en-MY" sz="1600" b="1" dirty="0">
                <a:solidFill>
                  <a:schemeClr val="tx1">
                    <a:lumMod val="90000"/>
                    <a:lumOff val="10000"/>
                  </a:schemeClr>
                </a:solidFill>
              </a:rPr>
              <a:t>NEA 2-hour forecast</a:t>
            </a:r>
          </a:p>
          <a:p>
            <a:r>
              <a:rPr lang="en-MY" sz="1400" dirty="0">
                <a:solidFill>
                  <a:schemeClr val="tx1"/>
                </a:solidFill>
              </a:rPr>
              <a:t>API + historical CSVs</a:t>
            </a:r>
          </a:p>
          <a:p>
            <a:pPr>
              <a:spcBef>
                <a:spcPts val="600"/>
              </a:spcBef>
            </a:pPr>
            <a:r>
              <a:rPr lang="en-MY" sz="1400" dirty="0">
                <a:solidFill>
                  <a:schemeClr val="tx1"/>
                </a:solidFill>
              </a:rPr>
              <a:t>Rain class (#1 input, both models), age; defines 47 areas</a:t>
            </a:r>
          </a:p>
        </p:txBody>
      </p:sp>
      <p:sp>
        <p:nvSpPr>
          <p:cNvPr id="12" name="Rectangle 11">
            <a:extLst>
              <a:ext uri="{FF2B5EF4-FFF2-40B4-BE49-F238E27FC236}">
                <a16:creationId xmlns:a16="http://schemas.microsoft.com/office/drawing/2014/main" id="{E0566473-F028-34E4-6E3E-03CAD6890D80}"/>
              </a:ext>
            </a:extLst>
          </p:cNvPr>
          <p:cNvSpPr/>
          <p:nvPr/>
        </p:nvSpPr>
        <p:spPr>
          <a:xfrm>
            <a:off x="4411133" y="1905000"/>
            <a:ext cx="3369733"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Rectangle 12">
            <a:extLst>
              <a:ext uri="{FF2B5EF4-FFF2-40B4-BE49-F238E27FC236}">
                <a16:creationId xmlns:a16="http://schemas.microsoft.com/office/drawing/2014/main" id="{C7C4FEF3-9CFD-B473-89DC-1993D3D3BD06}"/>
              </a:ext>
            </a:extLst>
          </p:cNvPr>
          <p:cNvSpPr/>
          <p:nvPr/>
        </p:nvSpPr>
        <p:spPr>
          <a:xfrm>
            <a:off x="7984066" y="1905000"/>
            <a:ext cx="3369733" cy="1651000"/>
          </a:xfrm>
          <a:prstGeom prst="rect">
            <a:avLst/>
          </a:prstGeom>
          <a:solidFill>
            <a:schemeClr val="lt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177800" rIns="152400" bIns="127000" rtlCol="0" anchor="t">
            <a:noAutofit/>
          </a:bodyPr>
          <a:lstStyle/>
          <a:p>
            <a:r>
              <a:rPr lang="en-MY" sz="1600" b="1" dirty="0">
                <a:solidFill>
                  <a:schemeClr val="tx1">
                    <a:lumMod val="90000"/>
                    <a:lumOff val="10000"/>
                  </a:schemeClr>
                </a:solidFill>
              </a:rPr>
              <a:t>NEA wind</a:t>
            </a:r>
          </a:p>
          <a:p>
            <a:r>
              <a:rPr lang="en-MY" sz="1400" dirty="0">
                <a:solidFill>
                  <a:schemeClr val="tx1"/>
                </a:solidFill>
              </a:rPr>
              <a:t>API + historical CSVs</a:t>
            </a:r>
          </a:p>
          <a:p>
            <a:pPr>
              <a:spcBef>
                <a:spcPts val="600"/>
              </a:spcBef>
            </a:pPr>
            <a:r>
              <a:rPr lang="en-MY" sz="1400" dirty="0">
                <a:solidFill>
                  <a:schemeClr val="tx1"/>
                </a:solidFill>
              </a:rPr>
              <a:t>Wind components; which gauges count as upwind</a:t>
            </a:r>
          </a:p>
        </p:txBody>
      </p:sp>
      <p:sp>
        <p:nvSpPr>
          <p:cNvPr id="14" name="Rectangle 13">
            <a:extLst>
              <a:ext uri="{FF2B5EF4-FFF2-40B4-BE49-F238E27FC236}">
                <a16:creationId xmlns:a16="http://schemas.microsoft.com/office/drawing/2014/main" id="{10B9DCBA-2FFA-BD1D-2462-F740ADC89FB9}"/>
              </a:ext>
            </a:extLst>
          </p:cNvPr>
          <p:cNvSpPr/>
          <p:nvPr/>
        </p:nvSpPr>
        <p:spPr>
          <a:xfrm>
            <a:off x="7984066" y="1905000"/>
            <a:ext cx="3369733"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5" name="Rectangle 14">
            <a:extLst>
              <a:ext uri="{FF2B5EF4-FFF2-40B4-BE49-F238E27FC236}">
                <a16:creationId xmlns:a16="http://schemas.microsoft.com/office/drawing/2014/main" id="{3D5C0F08-A415-558C-E151-4E83856D2D2A}"/>
              </a:ext>
            </a:extLst>
          </p:cNvPr>
          <p:cNvSpPr/>
          <p:nvPr/>
        </p:nvSpPr>
        <p:spPr>
          <a:xfrm>
            <a:off x="838200" y="3759200"/>
            <a:ext cx="3369733" cy="1651000"/>
          </a:xfrm>
          <a:prstGeom prst="rect">
            <a:avLst/>
          </a:prstGeom>
          <a:solidFill>
            <a:schemeClr val="lt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177800" rIns="152400" bIns="127000" rtlCol="0" anchor="t">
            <a:noAutofit/>
          </a:bodyPr>
          <a:lstStyle/>
          <a:p>
            <a:r>
              <a:rPr lang="en-MY" sz="1600" b="1" dirty="0">
                <a:solidFill>
                  <a:schemeClr val="tx1">
                    <a:lumMod val="90000"/>
                    <a:lumOff val="10000"/>
                  </a:schemeClr>
                </a:solidFill>
              </a:rPr>
              <a:t>NEA temperature, humidity</a:t>
            </a:r>
          </a:p>
          <a:p>
            <a:r>
              <a:rPr lang="en-MY" sz="1400" dirty="0">
                <a:solidFill>
                  <a:schemeClr val="tx1"/>
                </a:solidFill>
              </a:rPr>
              <a:t>API + historical CSVs</a:t>
            </a:r>
          </a:p>
          <a:p>
            <a:pPr>
              <a:spcBef>
                <a:spcPts val="600"/>
              </a:spcBef>
            </a:pPr>
            <a:r>
              <a:rPr lang="en-MY" sz="1400" dirty="0">
                <a:solidFill>
                  <a:schemeClr val="tx1"/>
                </a:solidFill>
              </a:rPr>
              <a:t>Island-wide averages</a:t>
            </a:r>
          </a:p>
        </p:txBody>
      </p:sp>
      <p:sp>
        <p:nvSpPr>
          <p:cNvPr id="16" name="Rectangle 15">
            <a:extLst>
              <a:ext uri="{FF2B5EF4-FFF2-40B4-BE49-F238E27FC236}">
                <a16:creationId xmlns:a16="http://schemas.microsoft.com/office/drawing/2014/main" id="{71A00DA1-A943-4785-F0D3-FF9125BCDFC9}"/>
              </a:ext>
            </a:extLst>
          </p:cNvPr>
          <p:cNvSpPr/>
          <p:nvPr/>
        </p:nvSpPr>
        <p:spPr>
          <a:xfrm>
            <a:off x="838200" y="3759200"/>
            <a:ext cx="3369733"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7" name="Rectangle 16">
            <a:extLst>
              <a:ext uri="{FF2B5EF4-FFF2-40B4-BE49-F238E27FC236}">
                <a16:creationId xmlns:a16="http://schemas.microsoft.com/office/drawing/2014/main" id="{A1D45C4D-E98E-72F3-5534-54EBE26444F0}"/>
              </a:ext>
            </a:extLst>
          </p:cNvPr>
          <p:cNvSpPr/>
          <p:nvPr/>
        </p:nvSpPr>
        <p:spPr>
          <a:xfrm>
            <a:off x="4411133" y="3759200"/>
            <a:ext cx="3369733" cy="1651000"/>
          </a:xfrm>
          <a:prstGeom prst="rect">
            <a:avLst/>
          </a:prstGeom>
          <a:solidFill>
            <a:schemeClr val="lt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177800" rIns="152400" bIns="127000" rtlCol="0" anchor="t">
            <a:noAutofit/>
          </a:bodyPr>
          <a:lstStyle/>
          <a:p>
            <a:r>
              <a:rPr lang="en-MY" sz="1600" b="1" dirty="0">
                <a:solidFill>
                  <a:schemeClr val="tx1">
                    <a:lumMod val="90000"/>
                    <a:lumOff val="10000"/>
                  </a:schemeClr>
                </a:solidFill>
              </a:rPr>
              <a:t>Tide</a:t>
            </a:r>
          </a:p>
          <a:p>
            <a:r>
              <a:rPr lang="en-MY" sz="1400" dirty="0">
                <a:solidFill>
                  <a:schemeClr val="tx1"/>
                </a:solidFill>
              </a:rPr>
              <a:t>UHSLC Tanjong Pagar, 2005–2023</a:t>
            </a:r>
          </a:p>
          <a:p>
            <a:pPr>
              <a:spcBef>
                <a:spcPts val="600"/>
              </a:spcBef>
            </a:pPr>
            <a:r>
              <a:rPr lang="en-MY" sz="1400" dirty="0">
                <a:solidFill>
                  <a:schemeClr val="tx1"/>
                </a:solidFill>
              </a:rPr>
              <a:t>Tide height, minutes to high tide (#3 by gain)</a:t>
            </a:r>
          </a:p>
        </p:txBody>
      </p:sp>
      <p:sp>
        <p:nvSpPr>
          <p:cNvPr id="18" name="Rectangle 17">
            <a:extLst>
              <a:ext uri="{FF2B5EF4-FFF2-40B4-BE49-F238E27FC236}">
                <a16:creationId xmlns:a16="http://schemas.microsoft.com/office/drawing/2014/main" id="{0D2EE1D8-0008-C7C3-2EB1-E5D331B7EBF8}"/>
              </a:ext>
            </a:extLst>
          </p:cNvPr>
          <p:cNvSpPr/>
          <p:nvPr/>
        </p:nvSpPr>
        <p:spPr>
          <a:xfrm>
            <a:off x="4411133" y="3759200"/>
            <a:ext cx="3369733"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9" name="Rectangle 18">
            <a:extLst>
              <a:ext uri="{FF2B5EF4-FFF2-40B4-BE49-F238E27FC236}">
                <a16:creationId xmlns:a16="http://schemas.microsoft.com/office/drawing/2014/main" id="{98E76B62-2EC5-C51F-04DD-B35743AD82C8}"/>
              </a:ext>
            </a:extLst>
          </p:cNvPr>
          <p:cNvSpPr/>
          <p:nvPr/>
        </p:nvSpPr>
        <p:spPr>
          <a:xfrm>
            <a:off x="7984066" y="3759200"/>
            <a:ext cx="3369733" cy="1651000"/>
          </a:xfrm>
          <a:prstGeom prst="rect">
            <a:avLst/>
          </a:prstGeom>
          <a:solidFill>
            <a:schemeClr val="lt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177800" rIns="152400" bIns="127000" rtlCol="0" anchor="t">
            <a:noAutofit/>
          </a:bodyPr>
          <a:lstStyle/>
          <a:p>
            <a:r>
              <a:rPr lang="en-MY" sz="1600" b="1" dirty="0">
                <a:solidFill>
                  <a:schemeClr val="tx1">
                    <a:lumMod val="90000"/>
                    <a:lumOff val="10000"/>
                  </a:schemeClr>
                </a:solidFill>
              </a:rPr>
              <a:t>Time of day</a:t>
            </a:r>
          </a:p>
          <a:p>
            <a:r>
              <a:rPr lang="en-MY" sz="1400" dirty="0">
                <a:solidFill>
                  <a:schemeClr val="tx1"/>
                </a:solidFill>
              </a:rPr>
              <a:t>Derived</a:t>
            </a:r>
          </a:p>
          <a:p>
            <a:pPr>
              <a:spcBef>
                <a:spcPts val="600"/>
              </a:spcBef>
            </a:pPr>
            <a:r>
              <a:rPr lang="en-MY" sz="1400" dirty="0">
                <a:solidFill>
                  <a:schemeClr val="tx1"/>
                </a:solidFill>
              </a:rPr>
              <a:t>SGT hour</a:t>
            </a:r>
          </a:p>
        </p:txBody>
      </p:sp>
      <p:sp>
        <p:nvSpPr>
          <p:cNvPr id="20" name="Rectangle 19">
            <a:extLst>
              <a:ext uri="{FF2B5EF4-FFF2-40B4-BE49-F238E27FC236}">
                <a16:creationId xmlns:a16="http://schemas.microsoft.com/office/drawing/2014/main" id="{7609EA1D-590A-6C9A-6322-9F30BB25F38A}"/>
              </a:ext>
            </a:extLst>
          </p:cNvPr>
          <p:cNvSpPr/>
          <p:nvPr/>
        </p:nvSpPr>
        <p:spPr>
          <a:xfrm>
            <a:off x="7984066" y="3759200"/>
            <a:ext cx="3369733"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280479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53C4D940-1902-C46A-E2B1-796DCC3B9BA5}"/>
              </a:ext>
            </a:extLst>
          </p:cNvPr>
          <p:cNvGraphicFramePr>
            <a:graphicFrameLocks/>
          </p:cNvGraphicFramePr>
          <p:nvPr>
            <p:custDataLst>
              <p:tags r:id="rId1"/>
            </p:custDataLst>
            <p:extLst>
              <p:ext uri="{D42A27DB-BD31-4B8C-83A1-F6EECF244321}">
                <p14:modId xmlns:p14="http://schemas.microsoft.com/office/powerpoint/2010/main" val="28508115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43" imgH="443" progId="TCLayout.ActiveDocument.1">
                  <p:embed/>
                </p:oleObj>
              </mc:Choice>
              <mc:Fallback>
                <p:oleObj name="thinkcell Slide" r:id="rId3" imgW="443" imgH="443" progId="TCLayout.ActiveDocument.1">
                  <p:embed/>
                  <p:pic>
                    <p:nvPicPr>
                      <p:cNvPr id="12" name="thinkcell data - do not delete" hidden="1">
                        <a:extLst>
                          <a:ext uri="{FF2B5EF4-FFF2-40B4-BE49-F238E27FC236}">
                            <a16:creationId xmlns:a16="http://schemas.microsoft.com/office/drawing/2014/main" id="{53C4D940-1902-C46A-E2B1-796DCC3B9B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8052135-ABF4-4F49-E4B9-FA2A57BD2B05}"/>
              </a:ext>
            </a:extLst>
          </p:cNvPr>
          <p:cNvSpPr>
            <a:spLocks noGrp="1"/>
          </p:cNvSpPr>
          <p:nvPr>
            <p:ph type="title"/>
          </p:nvPr>
        </p:nvSpPr>
        <p:spPr/>
        <p:txBody>
          <a:bodyPr/>
          <a:lstStyle/>
          <a:p>
            <a:r>
              <a:rPr lang="en-MY" dirty="0"/>
              <a:t>Labels</a:t>
            </a:r>
          </a:p>
        </p:txBody>
      </p:sp>
      <p:sp>
        <p:nvSpPr>
          <p:cNvPr id="25" name="Rectangle 24">
            <a:extLst>
              <a:ext uri="{FF2B5EF4-FFF2-40B4-BE49-F238E27FC236}">
                <a16:creationId xmlns:a16="http://schemas.microsoft.com/office/drawing/2014/main" id="{00AE93A8-1F1D-3011-5166-246D491076DD}"/>
              </a:ext>
            </a:extLst>
          </p:cNvPr>
          <p:cNvSpPr/>
          <p:nvPr/>
        </p:nvSpPr>
        <p:spPr>
          <a:xfrm>
            <a:off x="838200" y="1905000"/>
            <a:ext cx="5156200" cy="1143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27000" rtlCol="0" anchor="t">
            <a:noAutofit/>
          </a:bodyPr>
          <a:lstStyle/>
          <a:p>
            <a:r>
              <a:rPr lang="en-MY" sz="2000" b="1" dirty="0">
                <a:solidFill>
                  <a:schemeClr val="tx1"/>
                </a:solidFill>
              </a:rPr>
              <a:t>PUB Flood Alerts Telegram channel</a:t>
            </a:r>
          </a:p>
          <a:p>
            <a:pPr>
              <a:spcBef>
                <a:spcPts val="600"/>
              </a:spcBef>
            </a:pPr>
            <a:r>
              <a:rPr lang="en-MY" sz="1600" dirty="0" err="1">
                <a:solidFill>
                  <a:schemeClr val="tx1"/>
                </a:solidFill>
              </a:rPr>
              <a:t>pubfloodalerts</a:t>
            </a:r>
            <a:r>
              <a:rPr lang="en-MY" sz="1600" dirty="0">
                <a:solidFill>
                  <a:schemeClr val="tx1"/>
                </a:solidFill>
              </a:rPr>
              <a:t> (formerly </a:t>
            </a:r>
            <a:r>
              <a:rPr lang="en-MY" sz="1600" dirty="0" err="1">
                <a:solidFill>
                  <a:schemeClr val="tx1"/>
                </a:solidFill>
              </a:rPr>
              <a:t>sgflood</a:t>
            </a:r>
            <a:r>
              <a:rPr lang="en-MY" sz="1600" dirty="0">
                <a:solidFill>
                  <a:schemeClr val="tx1"/>
                </a:solidFill>
              </a:rPr>
              <a:t>), from 27 Oct 2021</a:t>
            </a:r>
          </a:p>
        </p:txBody>
      </p:sp>
      <p:sp>
        <p:nvSpPr>
          <p:cNvPr id="26" name="Rectangle 25">
            <a:extLst>
              <a:ext uri="{FF2B5EF4-FFF2-40B4-BE49-F238E27FC236}">
                <a16:creationId xmlns:a16="http://schemas.microsoft.com/office/drawing/2014/main" id="{726FFFA4-A2EA-D470-7751-9E6CB2F2ACBE}"/>
              </a:ext>
            </a:extLst>
          </p:cNvPr>
          <p:cNvSpPr/>
          <p:nvPr/>
        </p:nvSpPr>
        <p:spPr>
          <a:xfrm>
            <a:off x="6197600" y="1905000"/>
            <a:ext cx="5156200" cy="1143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27000" rtlCol="0" anchor="t">
            <a:noAutofit/>
          </a:bodyPr>
          <a:lstStyle/>
          <a:p>
            <a:r>
              <a:rPr lang="en-MY" sz="2000" b="1" dirty="0">
                <a:solidFill>
                  <a:schemeClr val="tx1"/>
                </a:solidFill>
              </a:rPr>
              <a:t>Wayback Machine</a:t>
            </a:r>
          </a:p>
          <a:p>
            <a:pPr>
              <a:spcBef>
                <a:spcPts val="600"/>
              </a:spcBef>
            </a:pPr>
            <a:r>
              <a:rPr lang="en-MY" sz="1600" dirty="0">
                <a:solidFill>
                  <a:schemeClr val="tx1"/>
                </a:solidFill>
              </a:rPr>
              <a:t>Recovers deleted posts</a:t>
            </a:r>
          </a:p>
        </p:txBody>
      </p:sp>
      <p:sp>
        <p:nvSpPr>
          <p:cNvPr id="29" name="Rectangle 28">
            <a:extLst>
              <a:ext uri="{FF2B5EF4-FFF2-40B4-BE49-F238E27FC236}">
                <a16:creationId xmlns:a16="http://schemas.microsoft.com/office/drawing/2014/main" id="{621AEDA7-3803-CC69-5FE1-B761F42E4016}"/>
              </a:ext>
            </a:extLst>
          </p:cNvPr>
          <p:cNvSpPr/>
          <p:nvPr/>
        </p:nvSpPr>
        <p:spPr>
          <a:xfrm>
            <a:off x="6197599" y="3238501"/>
            <a:ext cx="5156200" cy="1143000"/>
          </a:xfrm>
          <a:prstGeom prst="rect">
            <a:avLst/>
          </a:prstGeom>
          <a:solidFill>
            <a:schemeClr val="lt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27000" rtlCol="0" anchor="t">
            <a:noAutofit/>
          </a:bodyPr>
          <a:lstStyle/>
          <a:p>
            <a:r>
              <a:rPr lang="en-MY" sz="1600" b="1">
                <a:solidFill>
                  <a:schemeClr val="tx1"/>
                </a:solidFill>
              </a:rPr>
              <a:t>Hand labels &amp; area prior</a:t>
            </a:r>
          </a:p>
          <a:p>
            <a:pPr>
              <a:spcBef>
                <a:spcPts val="600"/>
              </a:spcBef>
            </a:pPr>
            <a:r>
              <a:rPr lang="en-MY" sz="1400" b="1">
                <a:solidFill>
                  <a:schemeClr val="tx1"/>
                </a:solidFill>
              </a:rPr>
              <a:t>Hand labels: </a:t>
            </a:r>
            <a:r>
              <a:rPr lang="en-MY" sz="1400">
                <a:solidFill>
                  <a:schemeClr val="tx1"/>
                </a:solidFill>
              </a:rPr>
              <a:t>Edge cases</a:t>
            </a:r>
          </a:p>
          <a:p>
            <a:pPr>
              <a:spcBef>
                <a:spcPts val="600"/>
              </a:spcBef>
            </a:pPr>
            <a:r>
              <a:rPr lang="en-MY" sz="1400" b="1">
                <a:solidFill>
                  <a:schemeClr val="tx1"/>
                </a:solidFill>
              </a:rPr>
              <a:t>Area prior: </a:t>
            </a:r>
            <a:r>
              <a:rPr lang="en-MY" sz="1400">
                <a:solidFill>
                  <a:schemeClr val="tx1"/>
                </a:solidFill>
              </a:rPr>
              <a:t>Built from the same alert history</a:t>
            </a:r>
          </a:p>
        </p:txBody>
      </p:sp>
      <p:sp>
        <p:nvSpPr>
          <p:cNvPr id="30" name="Rectangle 29">
            <a:extLst>
              <a:ext uri="{FF2B5EF4-FFF2-40B4-BE49-F238E27FC236}">
                <a16:creationId xmlns:a16="http://schemas.microsoft.com/office/drawing/2014/main" id="{FB23620B-8B0C-6759-9BCF-F97156C8497F}"/>
              </a:ext>
            </a:extLst>
          </p:cNvPr>
          <p:cNvSpPr/>
          <p:nvPr/>
        </p:nvSpPr>
        <p:spPr>
          <a:xfrm>
            <a:off x="6197599" y="3238501"/>
            <a:ext cx="5156200"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1" name="Rectangle 30">
            <a:extLst>
              <a:ext uri="{FF2B5EF4-FFF2-40B4-BE49-F238E27FC236}">
                <a16:creationId xmlns:a16="http://schemas.microsoft.com/office/drawing/2014/main" id="{A6CD0E86-4F87-A9B6-E8A3-949940F770C8}"/>
              </a:ext>
            </a:extLst>
          </p:cNvPr>
          <p:cNvSpPr/>
          <p:nvPr/>
        </p:nvSpPr>
        <p:spPr>
          <a:xfrm>
            <a:off x="838200" y="3238501"/>
            <a:ext cx="5156200" cy="1143000"/>
          </a:xfrm>
          <a:prstGeom prst="rect">
            <a:avLst/>
          </a:prstGeom>
          <a:solidFill>
            <a:schemeClr val="lt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27000" rtlCol="0" anchor="t">
            <a:noAutofit/>
          </a:bodyPr>
          <a:lstStyle/>
          <a:p>
            <a:r>
              <a:rPr lang="en-MY" sz="1600" b="1" dirty="0">
                <a:solidFill>
                  <a:schemeClr val="tx1"/>
                </a:solidFill>
              </a:rPr>
              <a:t>Alert placement</a:t>
            </a:r>
          </a:p>
          <a:p>
            <a:pPr>
              <a:spcBef>
                <a:spcPts val="600"/>
              </a:spcBef>
            </a:pPr>
            <a:r>
              <a:rPr lang="en-MY" sz="1400" dirty="0">
                <a:solidFill>
                  <a:schemeClr val="tx1"/>
                </a:solidFill>
              </a:rPr>
              <a:t>Gazetteer built from OneMap</a:t>
            </a:r>
          </a:p>
        </p:txBody>
      </p:sp>
      <p:sp>
        <p:nvSpPr>
          <p:cNvPr id="32" name="Rectangle 31">
            <a:extLst>
              <a:ext uri="{FF2B5EF4-FFF2-40B4-BE49-F238E27FC236}">
                <a16:creationId xmlns:a16="http://schemas.microsoft.com/office/drawing/2014/main" id="{12F940EC-C599-A5DA-B442-187776193049}"/>
              </a:ext>
            </a:extLst>
          </p:cNvPr>
          <p:cNvSpPr/>
          <p:nvPr/>
        </p:nvSpPr>
        <p:spPr>
          <a:xfrm>
            <a:off x="838200" y="3238501"/>
            <a:ext cx="5156200"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Rectangle 2">
            <a:extLst>
              <a:ext uri="{FF2B5EF4-FFF2-40B4-BE49-F238E27FC236}">
                <a16:creationId xmlns:a16="http://schemas.microsoft.com/office/drawing/2014/main" id="{218EC88F-658E-59E0-72E7-DB5F422B24EE}"/>
              </a:ext>
            </a:extLst>
          </p:cNvPr>
          <p:cNvSpPr/>
          <p:nvPr/>
        </p:nvSpPr>
        <p:spPr>
          <a:xfrm>
            <a:off x="6197599" y="1839459"/>
            <a:ext cx="5156200"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Rectangle 3">
            <a:extLst>
              <a:ext uri="{FF2B5EF4-FFF2-40B4-BE49-F238E27FC236}">
                <a16:creationId xmlns:a16="http://schemas.microsoft.com/office/drawing/2014/main" id="{DE062BD0-EE34-DAA6-4260-47A6F9F1979A}"/>
              </a:ext>
            </a:extLst>
          </p:cNvPr>
          <p:cNvSpPr/>
          <p:nvPr/>
        </p:nvSpPr>
        <p:spPr>
          <a:xfrm>
            <a:off x="838200" y="1843088"/>
            <a:ext cx="5156200"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810786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872002F-6CC9-AA49-160C-8153A4C4BE7F}"/>
              </a:ext>
            </a:extLst>
          </p:cNvPr>
          <p:cNvGraphicFramePr>
            <a:graphicFrameLocks/>
          </p:cNvGraphicFramePr>
          <p:nvPr>
            <p:custDataLst>
              <p:tags r:id="rId1"/>
            </p:custDataLst>
            <p:extLst>
              <p:ext uri="{D42A27DB-BD31-4B8C-83A1-F6EECF244321}">
                <p14:modId xmlns:p14="http://schemas.microsoft.com/office/powerpoint/2010/main" val="952426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43" imgH="443" progId="TCLayout.ActiveDocument.1">
                  <p:embed/>
                </p:oleObj>
              </mc:Choice>
              <mc:Fallback>
                <p:oleObj name="thinkcell Slide" r:id="rId3" imgW="443" imgH="443" progId="TCLayout.ActiveDocument.1">
                  <p:embed/>
                  <p:pic>
                    <p:nvPicPr>
                      <p:cNvPr id="5" name="thinkcell data - do not delete" hidden="1">
                        <a:extLst>
                          <a:ext uri="{FF2B5EF4-FFF2-40B4-BE49-F238E27FC236}">
                            <a16:creationId xmlns:a16="http://schemas.microsoft.com/office/drawing/2014/main" id="{F872002F-6CC9-AA49-160C-8153A4C4BE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1CF812-E4DB-F938-19EC-E44BE01DBD8D}"/>
              </a:ext>
            </a:extLst>
          </p:cNvPr>
          <p:cNvSpPr>
            <a:spLocks noGrp="1"/>
          </p:cNvSpPr>
          <p:nvPr>
            <p:ph type="title"/>
          </p:nvPr>
        </p:nvSpPr>
        <p:spPr/>
        <p:txBody>
          <a:bodyPr/>
          <a:lstStyle/>
          <a:p>
            <a:r>
              <a:rPr lang="en-MY" dirty="0"/>
              <a:t>Handling of Messy Data</a:t>
            </a:r>
          </a:p>
        </p:txBody>
      </p:sp>
      <p:graphicFrame>
        <p:nvGraphicFramePr>
          <p:cNvPr id="4" name="Table 3">
            <a:extLst>
              <a:ext uri="{FF2B5EF4-FFF2-40B4-BE49-F238E27FC236}">
                <a16:creationId xmlns:a16="http://schemas.microsoft.com/office/drawing/2014/main" id="{1B7108F4-820D-8947-F223-4CD0F8DC9D21}"/>
              </a:ext>
            </a:extLst>
          </p:cNvPr>
          <p:cNvGraphicFramePr>
            <a:graphicFrameLocks noGrp="1"/>
          </p:cNvGraphicFramePr>
          <p:nvPr>
            <p:extLst>
              <p:ext uri="{D42A27DB-BD31-4B8C-83A1-F6EECF244321}">
                <p14:modId xmlns:p14="http://schemas.microsoft.com/office/powerpoint/2010/main" val="1366143821"/>
              </p:ext>
            </p:extLst>
          </p:nvPr>
        </p:nvGraphicFramePr>
        <p:xfrm>
          <a:off x="12700000" y="1778000"/>
          <a:ext cx="10515600" cy="3505200"/>
        </p:xfrm>
        <a:graphic>
          <a:graphicData uri="http://schemas.openxmlformats.org/drawingml/2006/table">
            <a:tbl>
              <a:tblPr firstRow="1">
                <a:tableStyleId>{5C22544A-7EE6-4342-B048-85BDC9FD1C3A}</a:tableStyleId>
              </a:tblPr>
              <a:tblGrid>
                <a:gridCol w="1905000">
                  <a:extLst>
                    <a:ext uri="{9D8B030D-6E8A-4147-A177-3AD203B41FA5}">
                      <a16:colId xmlns:a16="http://schemas.microsoft.com/office/drawing/2014/main" val="1557147945"/>
                    </a:ext>
                  </a:extLst>
                </a:gridCol>
                <a:gridCol w="4000500">
                  <a:extLst>
                    <a:ext uri="{9D8B030D-6E8A-4147-A177-3AD203B41FA5}">
                      <a16:colId xmlns:a16="http://schemas.microsoft.com/office/drawing/2014/main" val="1894722809"/>
                    </a:ext>
                  </a:extLst>
                </a:gridCol>
                <a:gridCol w="4610100">
                  <a:extLst>
                    <a:ext uri="{9D8B030D-6E8A-4147-A177-3AD203B41FA5}">
                      <a16:colId xmlns:a16="http://schemas.microsoft.com/office/drawing/2014/main" val="1048597023"/>
                    </a:ext>
                  </a:extLst>
                </a:gridCol>
              </a:tblGrid>
              <a:tr h="335039">
                <a:tc>
                  <a:txBody>
                    <a:bodyPr/>
                    <a:lstStyle/>
                    <a:p>
                      <a:r>
                        <a:rPr lang="en-MY" sz="1400"/>
                        <a:t>Problem</a:t>
                      </a:r>
                      <a:endParaRPr lang="en-MY"/>
                    </a:p>
                  </a:txBody>
                  <a:tcPr/>
                </a:tc>
                <a:tc>
                  <a:txBody>
                    <a:bodyPr/>
                    <a:lstStyle/>
                    <a:p>
                      <a:r>
                        <a:rPr lang="en-MY" sz="1400"/>
                        <a:t>What happens</a:t>
                      </a:r>
                      <a:endParaRPr lang="en-MY"/>
                    </a:p>
                  </a:txBody>
                  <a:tcPr/>
                </a:tc>
                <a:tc>
                  <a:txBody>
                    <a:bodyPr/>
                    <a:lstStyle/>
                    <a:p>
                      <a:r>
                        <a:rPr lang="en-MY" sz="1400"/>
                        <a:t>How we handle it</a:t>
                      </a:r>
                      <a:endParaRPr lang="en-MY"/>
                    </a:p>
                  </a:txBody>
                  <a:tcPr/>
                </a:tc>
                <a:extLst>
                  <a:ext uri="{0D108BD9-81ED-4DB2-BD59-A6C34878D82A}">
                    <a16:rowId xmlns:a16="http://schemas.microsoft.com/office/drawing/2014/main" val="1281669301"/>
                  </a:ext>
                </a:extLst>
              </a:tr>
              <a:tr h="335039">
                <a:tc>
                  <a:txBody>
                    <a:bodyPr/>
                    <a:lstStyle/>
                    <a:p>
                      <a:r>
                        <a:rPr lang="en-MY" sz="1400" b="1"/>
                        <a:t>Wiped channel</a:t>
                      </a:r>
                      <a:endParaRPr lang="en-MY"/>
                    </a:p>
                  </a:txBody>
                  <a:tcPr>
                    <a:solidFill>
                      <a:schemeClr val="tx1">
                        <a:lumMod val="10000"/>
                        <a:lumOff val="90000"/>
                      </a:schemeClr>
                    </a:solidFill>
                  </a:tcPr>
                </a:tc>
                <a:tc>
                  <a:txBody>
                    <a:bodyPr/>
                    <a:lstStyle/>
                    <a:p>
                      <a:r>
                        <a:rPr lang="en-MY" sz="1400"/>
                        <a:t>PUB wiped Telegram 4+ times</a:t>
                      </a:r>
                      <a:endParaRPr lang="en-MY"/>
                    </a:p>
                  </a:txBody>
                  <a:tcPr>
                    <a:solidFill>
                      <a:schemeClr val="tx1">
                        <a:lumMod val="10000"/>
                        <a:lumOff val="90000"/>
                      </a:schemeClr>
                    </a:solidFill>
                  </a:tcPr>
                </a:tc>
                <a:tc>
                  <a:txBody>
                    <a:bodyPr/>
                    <a:lstStyle/>
                    <a:p>
                      <a:r>
                        <a:rPr lang="en-US" sz="1400"/>
                        <a:t>832 of 1,092 lost posts recovered (Internet Archive)</a:t>
                      </a:r>
                      <a:endParaRPr lang="en-MY"/>
                    </a:p>
                  </a:txBody>
                  <a:tcPr>
                    <a:solidFill>
                      <a:schemeClr val="tx1">
                        <a:lumMod val="10000"/>
                        <a:lumOff val="90000"/>
                      </a:schemeClr>
                    </a:solidFill>
                  </a:tcPr>
                </a:tc>
                <a:extLst>
                  <a:ext uri="{0D108BD9-81ED-4DB2-BD59-A6C34878D82A}">
                    <a16:rowId xmlns:a16="http://schemas.microsoft.com/office/drawing/2014/main" val="3966147629"/>
                  </a:ext>
                </a:extLst>
              </a:tr>
              <a:tr h="366001">
                <a:tc>
                  <a:txBody>
                    <a:bodyPr/>
                    <a:lstStyle/>
                    <a:p>
                      <a:endParaRPr lang="en-MY"/>
                    </a:p>
                  </a:txBody>
                  <a:tcPr>
                    <a:solidFill>
                      <a:schemeClr val="tx1">
                        <a:lumMod val="10000"/>
                        <a:lumOff val="90000"/>
                      </a:schemeClr>
                    </a:solidFill>
                  </a:tcPr>
                </a:tc>
                <a:tc>
                  <a:txBody>
                    <a:bodyPr/>
                    <a:lstStyle/>
                    <a:p>
                      <a:r>
                        <a:rPr lang="en-MY" sz="1400"/>
                        <a:t>Hours we still can't see</a:t>
                      </a:r>
                      <a:endParaRPr lang="en-MY"/>
                    </a:p>
                  </a:txBody>
                  <a:tcPr>
                    <a:solidFill>
                      <a:schemeClr val="tx1">
                        <a:lumMod val="10000"/>
                        <a:lumOff val="90000"/>
                      </a:schemeClr>
                    </a:solidFill>
                  </a:tcPr>
                </a:tc>
                <a:tc>
                  <a:txBody>
                    <a:bodyPr/>
                    <a:lstStyle/>
                    <a:p>
                      <a:r>
                        <a:rPr lang="en-MY" sz="1400"/>
                        <a:t>Counted as missing, never as quiet</a:t>
                      </a:r>
                      <a:endParaRPr lang="en-MY"/>
                    </a:p>
                  </a:txBody>
                  <a:tcPr>
                    <a:solidFill>
                      <a:schemeClr val="tx1">
                        <a:lumMod val="10000"/>
                        <a:lumOff val="90000"/>
                      </a:schemeClr>
                    </a:solidFill>
                  </a:tcPr>
                </a:tc>
                <a:extLst>
                  <a:ext uri="{0D108BD9-81ED-4DB2-BD59-A6C34878D82A}">
                    <a16:rowId xmlns:a16="http://schemas.microsoft.com/office/drawing/2014/main" val="1961073776"/>
                  </a:ext>
                </a:extLst>
              </a:tr>
              <a:tr h="335039">
                <a:tc>
                  <a:txBody>
                    <a:bodyPr/>
                    <a:lstStyle/>
                    <a:p>
                      <a:r>
                        <a:rPr lang="en-MY" sz="1400" b="1"/>
                        <a:t>Changing formats</a:t>
                      </a:r>
                      <a:endParaRPr lang="en-MY"/>
                    </a:p>
                  </a:txBody>
                  <a:tcPr>
                    <a:solidFill>
                      <a:schemeClr val="tx1">
                        <a:lumMod val="10000"/>
                        <a:lumOff val="90000"/>
                      </a:schemeClr>
                    </a:solidFill>
                  </a:tcPr>
                </a:tc>
                <a:tc>
                  <a:txBody>
                    <a:bodyPr/>
                    <a:lstStyle/>
                    <a:p>
                      <a:r>
                        <a:rPr lang="en-US" sz="1400"/>
                        <a:t>10 post formats since 2021</a:t>
                      </a:r>
                      <a:endParaRPr lang="en-US"/>
                    </a:p>
                  </a:txBody>
                  <a:tcPr>
                    <a:solidFill>
                      <a:schemeClr val="tx1">
                        <a:lumMod val="10000"/>
                        <a:lumOff val="90000"/>
                      </a:schemeClr>
                    </a:solidFill>
                  </a:tcPr>
                </a:tc>
                <a:tc>
                  <a:txBody>
                    <a:bodyPr/>
                    <a:lstStyle/>
                    <a:p>
                      <a:r>
                        <a:rPr lang="en-MY" sz="1400"/>
                        <a:t>Unreadable posts go to Jev (Databricks)</a:t>
                      </a:r>
                      <a:endParaRPr lang="en-MY"/>
                    </a:p>
                  </a:txBody>
                  <a:tcPr>
                    <a:solidFill>
                      <a:schemeClr val="tx1">
                        <a:lumMod val="10000"/>
                        <a:lumOff val="90000"/>
                      </a:schemeClr>
                    </a:solidFill>
                  </a:tcPr>
                </a:tc>
                <a:extLst>
                  <a:ext uri="{0D108BD9-81ED-4DB2-BD59-A6C34878D82A}">
                    <a16:rowId xmlns:a16="http://schemas.microsoft.com/office/drawing/2014/main" val="1348493274"/>
                  </a:ext>
                </a:extLst>
              </a:tr>
              <a:tr h="366001">
                <a:tc>
                  <a:txBody>
                    <a:bodyPr/>
                    <a:lstStyle/>
                    <a:p>
                      <a:endParaRPr lang="en-MY"/>
                    </a:p>
                  </a:txBody>
                  <a:tcPr>
                    <a:solidFill>
                      <a:schemeClr val="tx1">
                        <a:lumMod val="10000"/>
                        <a:lumOff val="90000"/>
                      </a:schemeClr>
                    </a:solidFill>
                  </a:tcPr>
                </a:tc>
                <a:tc>
                  <a:txBody>
                    <a:bodyPr/>
                    <a:lstStyle/>
                    <a:p>
                      <a:r>
                        <a:rPr lang="en-US" sz="1400"/>
                        <a:t>Jev reads the post</a:t>
                      </a:r>
                      <a:endParaRPr lang="en-US"/>
                    </a:p>
                  </a:txBody>
                  <a:tcPr>
                    <a:solidFill>
                      <a:schemeClr val="tx1">
                        <a:lumMod val="10000"/>
                        <a:lumOff val="90000"/>
                      </a:schemeClr>
                    </a:solidFill>
                  </a:tcPr>
                </a:tc>
                <a:tc>
                  <a:txBody>
                    <a:bodyPr/>
                    <a:lstStyle/>
                    <a:p>
                      <a:r>
                        <a:rPr lang="en-MY" sz="1400"/>
                        <a:t>Kept, marked as Jev's</a:t>
                      </a:r>
                      <a:endParaRPr lang="en-MY"/>
                    </a:p>
                  </a:txBody>
                  <a:tcPr>
                    <a:solidFill>
                      <a:schemeClr val="tx1">
                        <a:lumMod val="10000"/>
                        <a:lumOff val="90000"/>
                      </a:schemeClr>
                    </a:solidFill>
                  </a:tcPr>
                </a:tc>
                <a:extLst>
                  <a:ext uri="{0D108BD9-81ED-4DB2-BD59-A6C34878D82A}">
                    <a16:rowId xmlns:a16="http://schemas.microsoft.com/office/drawing/2014/main" val="2237953655"/>
                  </a:ext>
                </a:extLst>
              </a:tr>
              <a:tr h="366001">
                <a:tc>
                  <a:txBody>
                    <a:bodyPr/>
                    <a:lstStyle/>
                    <a:p>
                      <a:endParaRPr lang="en-MY"/>
                    </a:p>
                  </a:txBody>
                  <a:tcPr>
                    <a:solidFill>
                      <a:schemeClr val="tx1">
                        <a:lumMod val="10000"/>
                        <a:lumOff val="90000"/>
                      </a:schemeClr>
                    </a:solidFill>
                  </a:tcPr>
                </a:tc>
                <a:tc>
                  <a:txBody>
                    <a:bodyPr/>
                    <a:lstStyle/>
                    <a:p>
                      <a:r>
                        <a:rPr lang="en-US" sz="1400"/>
                        <a:t>Jev fails too</a:t>
                      </a:r>
                      <a:endParaRPr lang="en-US"/>
                    </a:p>
                  </a:txBody>
                  <a:tcPr>
                    <a:solidFill>
                      <a:schemeClr val="tx1">
                        <a:lumMod val="10000"/>
                        <a:lumOff val="90000"/>
                      </a:schemeClr>
                    </a:solidFill>
                  </a:tcPr>
                </a:tc>
                <a:tc>
                  <a:txBody>
                    <a:bodyPr/>
                    <a:lstStyle/>
                    <a:p>
                      <a:r>
                        <a:rPr lang="en-MY" sz="1400"/>
                        <a:t>Hour counted as missing</a:t>
                      </a:r>
                      <a:endParaRPr lang="en-MY" dirty="0"/>
                    </a:p>
                  </a:txBody>
                  <a:tcPr>
                    <a:solidFill>
                      <a:schemeClr val="tx1">
                        <a:lumMod val="10000"/>
                        <a:lumOff val="90000"/>
                      </a:schemeClr>
                    </a:solidFill>
                  </a:tcPr>
                </a:tc>
                <a:extLst>
                  <a:ext uri="{0D108BD9-81ED-4DB2-BD59-A6C34878D82A}">
                    <a16:rowId xmlns:a16="http://schemas.microsoft.com/office/drawing/2014/main" val="2299953060"/>
                  </a:ext>
                </a:extLst>
              </a:tr>
              <a:tr h="366001">
                <a:tc>
                  <a:txBody>
                    <a:bodyPr/>
                    <a:lstStyle/>
                    <a:p>
                      <a:endParaRPr lang="en-MY"/>
                    </a:p>
                  </a:txBody>
                  <a:tcPr>
                    <a:solidFill>
                      <a:schemeClr val="tx1">
                        <a:lumMod val="10000"/>
                        <a:lumOff val="90000"/>
                      </a:schemeClr>
                    </a:solidFill>
                  </a:tcPr>
                </a:tc>
                <a:tc>
                  <a:txBody>
                    <a:bodyPr/>
                    <a:lstStyle/>
                    <a:p>
                      <a:r>
                        <a:rPr lang="en-US" sz="1400"/>
                        <a:t>Either case</a:t>
                      </a:r>
                      <a:endParaRPr lang="en-US"/>
                    </a:p>
                  </a:txBody>
                  <a:tcPr>
                    <a:solidFill>
                      <a:schemeClr val="tx1">
                        <a:lumMod val="10000"/>
                        <a:lumOff val="90000"/>
                      </a:schemeClr>
                    </a:solidFill>
                  </a:tcPr>
                </a:tc>
                <a:tc>
                  <a:txBody>
                    <a:bodyPr/>
                    <a:lstStyle/>
                    <a:p>
                      <a:r>
                        <a:rPr lang="en-MY" sz="1400"/>
                        <a:t>Developers get an email</a:t>
                      </a:r>
                      <a:endParaRPr lang="en-MY" dirty="0"/>
                    </a:p>
                  </a:txBody>
                  <a:tcPr>
                    <a:solidFill>
                      <a:schemeClr val="tx1">
                        <a:lumMod val="10000"/>
                        <a:lumOff val="90000"/>
                      </a:schemeClr>
                    </a:solidFill>
                  </a:tcPr>
                </a:tc>
                <a:extLst>
                  <a:ext uri="{0D108BD9-81ED-4DB2-BD59-A6C34878D82A}">
                    <a16:rowId xmlns:a16="http://schemas.microsoft.com/office/drawing/2014/main" val="3840980367"/>
                  </a:ext>
                </a:extLst>
              </a:tr>
              <a:tr h="335039">
                <a:tc>
                  <a:txBody>
                    <a:bodyPr/>
                    <a:lstStyle/>
                    <a:p>
                      <a:r>
                        <a:rPr lang="en-MY" sz="1400" b="1"/>
                        <a:t>Two fixes</a:t>
                      </a:r>
                      <a:endParaRPr lang="en-MY" dirty="0"/>
                    </a:p>
                  </a:txBody>
                  <a:tcPr>
                    <a:solidFill>
                      <a:schemeClr val="tx1">
                        <a:lumMod val="10000"/>
                        <a:lumOff val="90000"/>
                      </a:schemeClr>
                    </a:solidFill>
                  </a:tcPr>
                </a:tc>
                <a:tc>
                  <a:txBody>
                    <a:bodyPr/>
                    <a:lstStyle/>
                    <a:p>
                      <a:r>
                        <a:rPr lang="en-MY" sz="1400"/>
                        <a:t>50 alerts no map search could place</a:t>
                      </a:r>
                      <a:endParaRPr lang="en-MY" dirty="0"/>
                    </a:p>
                  </a:txBody>
                  <a:tcPr>
                    <a:solidFill>
                      <a:schemeClr val="tx1">
                        <a:lumMod val="10000"/>
                        <a:lumOff val="90000"/>
                      </a:schemeClr>
                    </a:solidFill>
                  </a:tcPr>
                </a:tc>
                <a:tc>
                  <a:txBody>
                    <a:bodyPr/>
                    <a:lstStyle/>
                    <a:p>
                      <a:r>
                        <a:rPr lang="en-MY" sz="1400"/>
                        <a:t>Placed by hand</a:t>
                      </a:r>
                      <a:endParaRPr lang="en-MY"/>
                    </a:p>
                  </a:txBody>
                  <a:tcPr>
                    <a:solidFill>
                      <a:schemeClr val="tx1">
                        <a:lumMod val="10000"/>
                        <a:lumOff val="90000"/>
                      </a:schemeClr>
                    </a:solidFill>
                  </a:tcPr>
                </a:tc>
                <a:extLst>
                  <a:ext uri="{0D108BD9-81ED-4DB2-BD59-A6C34878D82A}">
                    <a16:rowId xmlns:a16="http://schemas.microsoft.com/office/drawing/2014/main" val="429711828"/>
                  </a:ext>
                </a:extLst>
              </a:tr>
              <a:tr h="366001">
                <a:tc>
                  <a:txBody>
                    <a:bodyPr/>
                    <a:lstStyle/>
                    <a:p>
                      <a:endParaRPr lang="en-MY"/>
                    </a:p>
                  </a:txBody>
                  <a:tcPr>
                    <a:solidFill>
                      <a:schemeClr val="tx1">
                        <a:lumMod val="10000"/>
                        <a:lumOff val="90000"/>
                      </a:schemeClr>
                    </a:solidFill>
                  </a:tcPr>
                </a:tc>
                <a:tc>
                  <a:txBody>
                    <a:bodyPr/>
                    <a:lstStyle/>
                    <a:p>
                      <a:r>
                        <a:rPr lang="en-US" sz="1400"/>
                        <a:t>4 months of 2025 forecasts re-published at once</a:t>
                      </a:r>
                      <a:endParaRPr lang="en-US" dirty="0"/>
                    </a:p>
                  </a:txBody>
                  <a:tcPr>
                    <a:solidFill>
                      <a:schemeClr val="tx1">
                        <a:lumMod val="10000"/>
                        <a:lumOff val="90000"/>
                      </a:schemeClr>
                    </a:solidFill>
                  </a:tcPr>
                </a:tc>
                <a:tc>
                  <a:txBody>
                    <a:bodyPr/>
                    <a:lstStyle/>
                    <a:p>
                      <a:r>
                        <a:rPr lang="en-MY" sz="1400"/>
                        <a:t>Timed from when NEA issued them</a:t>
                      </a:r>
                      <a:endParaRPr lang="en-MY"/>
                    </a:p>
                  </a:txBody>
                  <a:tcPr>
                    <a:solidFill>
                      <a:schemeClr val="tx1">
                        <a:lumMod val="10000"/>
                        <a:lumOff val="90000"/>
                      </a:schemeClr>
                    </a:solidFill>
                  </a:tcPr>
                </a:tc>
                <a:extLst>
                  <a:ext uri="{0D108BD9-81ED-4DB2-BD59-A6C34878D82A}">
                    <a16:rowId xmlns:a16="http://schemas.microsoft.com/office/drawing/2014/main" val="1134451079"/>
                  </a:ext>
                </a:extLst>
              </a:tr>
              <a:tr h="335039">
                <a:tc>
                  <a:txBody>
                    <a:bodyPr/>
                    <a:lstStyle/>
                    <a:p>
                      <a:r>
                        <a:rPr lang="en-MY" sz="1400" b="1"/>
                        <a:t>Result</a:t>
                      </a:r>
                      <a:endParaRPr lang="en-MY"/>
                    </a:p>
                  </a:txBody>
                  <a:tcPr>
                    <a:solidFill>
                      <a:schemeClr val="tx1">
                        <a:lumMod val="10000"/>
                        <a:lumOff val="90000"/>
                      </a:schemeClr>
                    </a:solidFill>
                  </a:tcPr>
                </a:tc>
                <a:tc>
                  <a:txBody>
                    <a:bodyPr/>
                    <a:lstStyle/>
                    <a:p>
                      <a:r>
                        <a:rPr lang="en-US" sz="1400"/>
                        <a:t>Rows before a flash flood</a:t>
                      </a:r>
                      <a:endParaRPr lang="en-US" dirty="0"/>
                    </a:p>
                  </a:txBody>
                  <a:tcPr>
                    <a:solidFill>
                      <a:schemeClr val="tx1">
                        <a:lumMod val="10000"/>
                        <a:lumOff val="90000"/>
                      </a:schemeClr>
                    </a:solidFill>
                  </a:tcPr>
                </a:tc>
                <a:tc>
                  <a:txBody>
                    <a:bodyPr/>
                    <a:lstStyle/>
                    <a:p>
                      <a:r>
                        <a:rPr lang="en-MY" sz="1400"/>
                        <a:t>16 → 179, before any model change</a:t>
                      </a:r>
                      <a:endParaRPr lang="en-MY"/>
                    </a:p>
                  </a:txBody>
                  <a:tcPr>
                    <a:solidFill>
                      <a:schemeClr val="tx1">
                        <a:lumMod val="10000"/>
                        <a:lumOff val="90000"/>
                      </a:schemeClr>
                    </a:solidFill>
                  </a:tcPr>
                </a:tc>
                <a:extLst>
                  <a:ext uri="{0D108BD9-81ED-4DB2-BD59-A6C34878D82A}">
                    <a16:rowId xmlns:a16="http://schemas.microsoft.com/office/drawing/2014/main" val="1077922638"/>
                  </a:ext>
                </a:extLst>
              </a:tr>
            </a:tbl>
          </a:graphicData>
        </a:graphic>
      </p:graphicFrame>
      <p:sp>
        <p:nvSpPr>
          <p:cNvPr id="8" name="Rectangle 7">
            <a:extLst>
              <a:ext uri="{FF2B5EF4-FFF2-40B4-BE49-F238E27FC236}">
                <a16:creationId xmlns:a16="http://schemas.microsoft.com/office/drawing/2014/main" id="{0DB92EA2-32E8-BDCE-2285-253C01B11F7B}"/>
              </a:ext>
            </a:extLst>
          </p:cNvPr>
          <p:cNvSpPr/>
          <p:nvPr/>
        </p:nvSpPr>
        <p:spPr>
          <a:xfrm>
            <a:off x="838200" y="1905000"/>
            <a:ext cx="3369733" cy="3175000"/>
          </a:xfrm>
          <a:prstGeom prst="rect">
            <a:avLst/>
          </a:prstGeom>
          <a:solidFill>
            <a:schemeClr val="lt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177800" rIns="152400" bIns="127000" rtlCol="0" anchor="t">
            <a:noAutofit/>
          </a:bodyPr>
          <a:lstStyle/>
          <a:p>
            <a:r>
              <a:rPr lang="en-MY" sz="1600" b="1">
                <a:solidFill>
                  <a:schemeClr val="tx1"/>
                </a:solidFill>
              </a:rPr>
              <a:t>Wiped channel</a:t>
            </a:r>
          </a:p>
          <a:p>
            <a:pPr>
              <a:spcBef>
                <a:spcPts val="800"/>
              </a:spcBef>
            </a:pPr>
            <a:r>
              <a:rPr lang="en-MY" sz="1400" b="1">
                <a:solidFill>
                  <a:schemeClr val="tx1"/>
                </a:solidFill>
              </a:rPr>
              <a:t>PUB wiped Telegram 4+ times</a:t>
            </a:r>
          </a:p>
          <a:p>
            <a:r>
              <a:rPr lang="en-MY" sz="1400">
                <a:solidFill>
                  <a:schemeClr val="tx1"/>
                </a:solidFill>
              </a:rPr>
              <a:t>832 of 1,092 lost posts recovered (Internet Archive)</a:t>
            </a:r>
          </a:p>
          <a:p>
            <a:pPr>
              <a:spcBef>
                <a:spcPts val="800"/>
              </a:spcBef>
            </a:pPr>
            <a:r>
              <a:rPr lang="en-MY" sz="1400" b="1">
                <a:solidFill>
                  <a:schemeClr val="tx1"/>
                </a:solidFill>
              </a:rPr>
              <a:t>Hours we still can't see</a:t>
            </a:r>
          </a:p>
          <a:p>
            <a:r>
              <a:rPr lang="en-MY" sz="1400">
                <a:solidFill>
                  <a:schemeClr val="tx1"/>
                </a:solidFill>
              </a:rPr>
              <a:t>Counted as missing, never as quiet</a:t>
            </a:r>
          </a:p>
        </p:txBody>
      </p:sp>
      <p:sp>
        <p:nvSpPr>
          <p:cNvPr id="9" name="Rectangle 8">
            <a:extLst>
              <a:ext uri="{FF2B5EF4-FFF2-40B4-BE49-F238E27FC236}">
                <a16:creationId xmlns:a16="http://schemas.microsoft.com/office/drawing/2014/main" id="{78A37856-1536-C604-F277-CC0DF57B6DC2}"/>
              </a:ext>
            </a:extLst>
          </p:cNvPr>
          <p:cNvSpPr/>
          <p:nvPr/>
        </p:nvSpPr>
        <p:spPr>
          <a:xfrm>
            <a:off x="838200" y="1905000"/>
            <a:ext cx="3369733"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Rectangle 9">
            <a:extLst>
              <a:ext uri="{FF2B5EF4-FFF2-40B4-BE49-F238E27FC236}">
                <a16:creationId xmlns:a16="http://schemas.microsoft.com/office/drawing/2014/main" id="{985A7AD8-8319-D603-ACB6-2EF37EF96DBF}"/>
              </a:ext>
            </a:extLst>
          </p:cNvPr>
          <p:cNvSpPr/>
          <p:nvPr/>
        </p:nvSpPr>
        <p:spPr>
          <a:xfrm>
            <a:off x="4411133" y="1905000"/>
            <a:ext cx="3369733" cy="3175000"/>
          </a:xfrm>
          <a:prstGeom prst="rect">
            <a:avLst/>
          </a:prstGeom>
          <a:solidFill>
            <a:schemeClr val="lt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177800" rIns="152400" bIns="127000" rtlCol="0" anchor="t">
            <a:noAutofit/>
          </a:bodyPr>
          <a:lstStyle/>
          <a:p>
            <a:r>
              <a:rPr lang="en-MY" sz="1600" b="1" dirty="0">
                <a:solidFill>
                  <a:schemeClr val="tx1"/>
                </a:solidFill>
              </a:rPr>
              <a:t>Changing formats</a:t>
            </a:r>
          </a:p>
          <a:p>
            <a:pPr>
              <a:spcBef>
                <a:spcPts val="800"/>
              </a:spcBef>
            </a:pPr>
            <a:r>
              <a:rPr lang="en-MY" sz="1400" b="1" dirty="0">
                <a:solidFill>
                  <a:schemeClr val="tx1"/>
                </a:solidFill>
              </a:rPr>
              <a:t>10 post formats since 2021</a:t>
            </a:r>
          </a:p>
          <a:p>
            <a:r>
              <a:rPr lang="en-MY" sz="1400" dirty="0">
                <a:solidFill>
                  <a:schemeClr val="tx1"/>
                </a:solidFill>
              </a:rPr>
              <a:t>Unreadable posts go to </a:t>
            </a:r>
            <a:r>
              <a:rPr lang="en-MY" sz="1400" dirty="0" err="1">
                <a:solidFill>
                  <a:schemeClr val="tx1"/>
                </a:solidFill>
              </a:rPr>
              <a:t>Jev</a:t>
            </a:r>
            <a:r>
              <a:rPr lang="en-MY" sz="1400" dirty="0">
                <a:solidFill>
                  <a:schemeClr val="tx1"/>
                </a:solidFill>
              </a:rPr>
              <a:t> (Databricks)</a:t>
            </a:r>
          </a:p>
          <a:p>
            <a:pPr>
              <a:spcBef>
                <a:spcPts val="800"/>
              </a:spcBef>
            </a:pPr>
            <a:r>
              <a:rPr lang="en-MY" sz="1400" b="1" dirty="0" err="1">
                <a:solidFill>
                  <a:srgbClr val="FF0000"/>
                </a:solidFill>
              </a:rPr>
              <a:t>Jev</a:t>
            </a:r>
            <a:r>
              <a:rPr lang="en-MY" sz="1400" b="1" dirty="0">
                <a:solidFill>
                  <a:schemeClr val="tx1"/>
                </a:solidFill>
              </a:rPr>
              <a:t> reads the post</a:t>
            </a:r>
          </a:p>
          <a:p>
            <a:r>
              <a:rPr lang="en-MY" sz="1400" dirty="0">
                <a:solidFill>
                  <a:schemeClr val="tx1"/>
                </a:solidFill>
              </a:rPr>
              <a:t>Kept, marked as </a:t>
            </a:r>
            <a:r>
              <a:rPr lang="en-MY" sz="1400" dirty="0" err="1">
                <a:solidFill>
                  <a:schemeClr val="tx1"/>
                </a:solidFill>
              </a:rPr>
              <a:t>Jev's</a:t>
            </a:r>
            <a:endParaRPr lang="en-MY" sz="1400" dirty="0">
              <a:solidFill>
                <a:schemeClr val="tx1"/>
              </a:solidFill>
            </a:endParaRPr>
          </a:p>
          <a:p>
            <a:pPr>
              <a:spcBef>
                <a:spcPts val="800"/>
              </a:spcBef>
            </a:pPr>
            <a:r>
              <a:rPr lang="en-MY" sz="1400" b="1" dirty="0" err="1">
                <a:solidFill>
                  <a:srgbClr val="FF0000"/>
                </a:solidFill>
              </a:rPr>
              <a:t>Jev</a:t>
            </a:r>
            <a:r>
              <a:rPr lang="en-MY" sz="1400" b="1" dirty="0">
                <a:solidFill>
                  <a:schemeClr val="tx1"/>
                </a:solidFill>
              </a:rPr>
              <a:t> fails too</a:t>
            </a:r>
          </a:p>
          <a:p>
            <a:r>
              <a:rPr lang="en-MY" sz="1400" dirty="0">
                <a:solidFill>
                  <a:schemeClr val="tx1"/>
                </a:solidFill>
              </a:rPr>
              <a:t>Hour counted as missing</a:t>
            </a:r>
          </a:p>
          <a:p>
            <a:pPr>
              <a:spcBef>
                <a:spcPts val="800"/>
              </a:spcBef>
            </a:pPr>
            <a:r>
              <a:rPr lang="en-MY" sz="1400" b="1" dirty="0">
                <a:solidFill>
                  <a:schemeClr val="tx1"/>
                </a:solidFill>
              </a:rPr>
              <a:t>Either case</a:t>
            </a:r>
          </a:p>
          <a:p>
            <a:r>
              <a:rPr lang="en-MY" sz="1400" dirty="0">
                <a:solidFill>
                  <a:schemeClr val="tx1"/>
                </a:solidFill>
              </a:rPr>
              <a:t>Developers get an email</a:t>
            </a:r>
          </a:p>
        </p:txBody>
      </p:sp>
      <p:sp>
        <p:nvSpPr>
          <p:cNvPr id="11" name="Rectangle 10">
            <a:extLst>
              <a:ext uri="{FF2B5EF4-FFF2-40B4-BE49-F238E27FC236}">
                <a16:creationId xmlns:a16="http://schemas.microsoft.com/office/drawing/2014/main" id="{64ED3FB6-02DD-99E1-8029-613043316BBB}"/>
              </a:ext>
            </a:extLst>
          </p:cNvPr>
          <p:cNvSpPr/>
          <p:nvPr/>
        </p:nvSpPr>
        <p:spPr>
          <a:xfrm>
            <a:off x="4411133" y="1905000"/>
            <a:ext cx="3369733"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2" name="Rectangle 11">
            <a:extLst>
              <a:ext uri="{FF2B5EF4-FFF2-40B4-BE49-F238E27FC236}">
                <a16:creationId xmlns:a16="http://schemas.microsoft.com/office/drawing/2014/main" id="{E9F0CB3D-490C-175D-CB47-8FF43C73DCB0}"/>
              </a:ext>
            </a:extLst>
          </p:cNvPr>
          <p:cNvSpPr/>
          <p:nvPr/>
        </p:nvSpPr>
        <p:spPr>
          <a:xfrm>
            <a:off x="7984066" y="1905000"/>
            <a:ext cx="3369733" cy="3175000"/>
          </a:xfrm>
          <a:prstGeom prst="rect">
            <a:avLst/>
          </a:prstGeom>
          <a:solidFill>
            <a:schemeClr val="lt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177800" rIns="152400" bIns="127000" rtlCol="0" anchor="t">
            <a:noAutofit/>
          </a:bodyPr>
          <a:lstStyle/>
          <a:p>
            <a:r>
              <a:rPr lang="en-MY" sz="1600" b="1">
                <a:solidFill>
                  <a:schemeClr val="tx1"/>
                </a:solidFill>
              </a:rPr>
              <a:t>Two fixes</a:t>
            </a:r>
          </a:p>
          <a:p>
            <a:pPr>
              <a:spcBef>
                <a:spcPts val="800"/>
              </a:spcBef>
            </a:pPr>
            <a:r>
              <a:rPr lang="en-MY" sz="1400" b="1">
                <a:solidFill>
                  <a:schemeClr val="tx1"/>
                </a:solidFill>
              </a:rPr>
              <a:t>50 alerts no map search could place</a:t>
            </a:r>
          </a:p>
          <a:p>
            <a:r>
              <a:rPr lang="en-MY" sz="1400">
                <a:solidFill>
                  <a:schemeClr val="tx1"/>
                </a:solidFill>
              </a:rPr>
              <a:t>Placed by hand</a:t>
            </a:r>
          </a:p>
          <a:p>
            <a:pPr>
              <a:spcBef>
                <a:spcPts val="800"/>
              </a:spcBef>
            </a:pPr>
            <a:r>
              <a:rPr lang="en-MY" sz="1400" b="1">
                <a:solidFill>
                  <a:schemeClr val="tx1"/>
                </a:solidFill>
              </a:rPr>
              <a:t>4 months of 2025 forecasts republished at once</a:t>
            </a:r>
          </a:p>
          <a:p>
            <a:r>
              <a:rPr lang="en-MY" sz="1400">
                <a:solidFill>
                  <a:schemeClr val="tx1"/>
                </a:solidFill>
              </a:rPr>
              <a:t>Timed from when NEA issued them</a:t>
            </a:r>
          </a:p>
        </p:txBody>
      </p:sp>
      <p:sp>
        <p:nvSpPr>
          <p:cNvPr id="13" name="Rectangle 12">
            <a:extLst>
              <a:ext uri="{FF2B5EF4-FFF2-40B4-BE49-F238E27FC236}">
                <a16:creationId xmlns:a16="http://schemas.microsoft.com/office/drawing/2014/main" id="{E7129318-8FB8-C4D2-EC64-5DDE8672CEFA}"/>
              </a:ext>
            </a:extLst>
          </p:cNvPr>
          <p:cNvSpPr/>
          <p:nvPr/>
        </p:nvSpPr>
        <p:spPr>
          <a:xfrm>
            <a:off x="7984066" y="1905000"/>
            <a:ext cx="3369733"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Rectangle 13">
            <a:extLst>
              <a:ext uri="{FF2B5EF4-FFF2-40B4-BE49-F238E27FC236}">
                <a16:creationId xmlns:a16="http://schemas.microsoft.com/office/drawing/2014/main" id="{613EF523-B9E3-A6D9-9B58-71D2794BBB55}"/>
              </a:ext>
            </a:extLst>
          </p:cNvPr>
          <p:cNvSpPr/>
          <p:nvPr/>
        </p:nvSpPr>
        <p:spPr>
          <a:xfrm>
            <a:off x="838200" y="5283200"/>
            <a:ext cx="10515600" cy="558800"/>
          </a:xfrm>
          <a:prstGeom prst="rect">
            <a:avLst/>
          </a:prstGeom>
          <a:solidFill>
            <a:schemeClr val="accent1">
              <a:lumMod val="15000"/>
              <a:lumOff val="8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52400" tIns="76200" rIns="152400" bIns="76200" rtlCol="0" anchor="ctr">
            <a:noAutofit/>
          </a:bodyPr>
          <a:lstStyle/>
          <a:p>
            <a:r>
              <a:rPr lang="en-MY" sz="1600" b="1">
                <a:solidFill>
                  <a:schemeClr val="accent1">
                    <a:lumMod val="75000"/>
                  </a:schemeClr>
                </a:solidFill>
              </a:rPr>
              <a:t>Result: </a:t>
            </a:r>
            <a:r>
              <a:rPr lang="en-MY" sz="1600">
                <a:solidFill>
                  <a:schemeClr val="tx1"/>
                </a:solidFill>
              </a:rPr>
              <a:t>Rows before a flash flood </a:t>
            </a:r>
            <a:r>
              <a:rPr lang="en-MY" sz="1600" b="1">
                <a:solidFill>
                  <a:schemeClr val="accent1">
                    <a:lumMod val="75000"/>
                  </a:schemeClr>
                </a:solidFill>
              </a:rPr>
              <a:t>16 → 179</a:t>
            </a:r>
            <a:r>
              <a:rPr lang="en-MY" sz="1600">
                <a:solidFill>
                  <a:schemeClr val="tx1"/>
                </a:solidFill>
              </a:rPr>
              <a:t>, before any model change</a:t>
            </a:r>
          </a:p>
        </p:txBody>
      </p:sp>
    </p:spTree>
    <p:extLst>
      <p:ext uri="{BB962C8B-B14F-4D97-AF65-F5344CB8AC3E}">
        <p14:creationId xmlns:p14="http://schemas.microsoft.com/office/powerpoint/2010/main" val="3460228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1706A838-236C-F0D9-DFE4-31A644B95AB6}"/>
              </a:ext>
            </a:extLst>
          </p:cNvPr>
          <p:cNvGraphicFramePr>
            <a:graphicFrameLocks/>
          </p:cNvGraphicFramePr>
          <p:nvPr>
            <p:custDataLst>
              <p:tags r:id="rId1"/>
            </p:custDataLst>
            <p:extLst>
              <p:ext uri="{D42A27DB-BD31-4B8C-83A1-F6EECF244321}">
                <p14:modId xmlns:p14="http://schemas.microsoft.com/office/powerpoint/2010/main" val="8326117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43" imgH="443" progId="TCLayout.ActiveDocument.1">
                  <p:embed/>
                </p:oleObj>
              </mc:Choice>
              <mc:Fallback>
                <p:oleObj name="thinkcell Slide" r:id="rId4" imgW="443" imgH="443" progId="TCLayout.ActiveDocument.1">
                  <p:embed/>
                  <p:pic>
                    <p:nvPicPr>
                      <p:cNvPr id="15" name="thinkcell data - do not delete" hidden="1">
                        <a:extLst>
                          <a:ext uri="{FF2B5EF4-FFF2-40B4-BE49-F238E27FC236}">
                            <a16:creationId xmlns:a16="http://schemas.microsoft.com/office/drawing/2014/main" id="{1706A838-236C-F0D9-DFE4-31A644B95A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4CC2607-0F74-86B7-7A50-254C32D1DD00}"/>
              </a:ext>
            </a:extLst>
          </p:cNvPr>
          <p:cNvSpPr>
            <a:spLocks noGrp="1"/>
          </p:cNvSpPr>
          <p:nvPr>
            <p:ph type="title"/>
          </p:nvPr>
        </p:nvSpPr>
        <p:spPr/>
        <p:txBody>
          <a:bodyPr/>
          <a:lstStyle/>
          <a:p>
            <a:r>
              <a:rPr lang="en-MY" dirty="0"/>
              <a:t>Limitations</a:t>
            </a:r>
          </a:p>
        </p:txBody>
      </p:sp>
      <p:sp>
        <p:nvSpPr>
          <p:cNvPr id="5" name="Rectangle 4">
            <a:extLst>
              <a:ext uri="{FF2B5EF4-FFF2-40B4-BE49-F238E27FC236}">
                <a16:creationId xmlns:a16="http://schemas.microsoft.com/office/drawing/2014/main" id="{DB813AE2-9037-EAEF-A7EB-6819A847924B}"/>
              </a:ext>
            </a:extLst>
          </p:cNvPr>
          <p:cNvSpPr/>
          <p:nvPr/>
        </p:nvSpPr>
        <p:spPr>
          <a:xfrm>
            <a:off x="838200" y="1778000"/>
            <a:ext cx="5181600" cy="2540000"/>
          </a:xfrm>
          <a:prstGeom prst="rect">
            <a:avLst/>
          </a:prstGeom>
          <a:solidFill>
            <a:schemeClr val="bg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03200" tIns="127000" rIns="152400" bIns="101600" rtlCol="0" anchor="t">
            <a:noAutofit/>
          </a:bodyPr>
          <a:lstStyle/>
          <a:p>
            <a:r>
              <a:rPr lang="en-MY" b="1" dirty="0">
                <a:solidFill>
                  <a:schemeClr val="tx1"/>
                </a:solidFill>
              </a:rPr>
              <a:t>Data we have is not granular enough</a:t>
            </a:r>
          </a:p>
          <a:p>
            <a:r>
              <a:rPr lang="en-MY" sz="800" dirty="0">
                <a:solidFill>
                  <a:schemeClr val="tx1"/>
                </a:solidFill>
              </a:rPr>
              <a:t> </a:t>
            </a:r>
          </a:p>
          <a:p>
            <a:pPr marL="285750" indent="-285750">
              <a:buFont typeface="Arial" panose="020B0604020202020204" pitchFamily="34" charset="0"/>
              <a:buChar char="•"/>
            </a:pPr>
            <a:r>
              <a:rPr lang="en-MY" sz="1400" dirty="0">
                <a:solidFill>
                  <a:schemeClr val="tx1"/>
                </a:solidFill>
              </a:rPr>
              <a:t>No access to soil compaction/type, drainage dimensions, granular-enough radar and elevation data, or numerical weather forecasts</a:t>
            </a:r>
          </a:p>
          <a:p>
            <a:pPr marL="285750" indent="-285750">
              <a:buFont typeface="Arial" panose="020B0604020202020204" pitchFamily="34" charset="0"/>
              <a:buChar char="•"/>
            </a:pPr>
            <a:r>
              <a:rPr lang="en-MY" sz="1400" dirty="0">
                <a:solidFill>
                  <a:schemeClr val="tx1"/>
                </a:solidFill>
              </a:rPr>
              <a:t>(Inferred) PUB water levels show only when a drain is 90% full</a:t>
            </a:r>
          </a:p>
          <a:p>
            <a:pPr marL="285750" indent="-285750">
              <a:buFont typeface="Arial" panose="020B0604020202020204" pitchFamily="34" charset="0"/>
              <a:buChar char="•"/>
            </a:pPr>
            <a:r>
              <a:rPr lang="en-MY" sz="1400" dirty="0">
                <a:solidFill>
                  <a:schemeClr val="tx1"/>
                </a:solidFill>
              </a:rPr>
              <a:t>Lightning data starts Feb 2025, too late to train on</a:t>
            </a:r>
          </a:p>
        </p:txBody>
      </p:sp>
      <p:sp>
        <p:nvSpPr>
          <p:cNvPr id="6" name="Rectangle 5">
            <a:extLst>
              <a:ext uri="{FF2B5EF4-FFF2-40B4-BE49-F238E27FC236}">
                <a16:creationId xmlns:a16="http://schemas.microsoft.com/office/drawing/2014/main" id="{41262CD3-789E-F360-C424-16A1917893F2}"/>
              </a:ext>
            </a:extLst>
          </p:cNvPr>
          <p:cNvSpPr/>
          <p:nvPr/>
        </p:nvSpPr>
        <p:spPr>
          <a:xfrm>
            <a:off x="838200" y="1778000"/>
            <a:ext cx="50800" cy="25400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Rectangle 8">
            <a:extLst>
              <a:ext uri="{FF2B5EF4-FFF2-40B4-BE49-F238E27FC236}">
                <a16:creationId xmlns:a16="http://schemas.microsoft.com/office/drawing/2014/main" id="{911686F2-C62C-1C11-7B64-FB0D3B6DAEDA}"/>
              </a:ext>
            </a:extLst>
          </p:cNvPr>
          <p:cNvSpPr/>
          <p:nvPr/>
        </p:nvSpPr>
        <p:spPr>
          <a:xfrm>
            <a:off x="838200" y="4749800"/>
            <a:ext cx="5181600" cy="1663700"/>
          </a:xfrm>
          <a:prstGeom prst="rect">
            <a:avLst/>
          </a:prstGeom>
          <a:solidFill>
            <a:schemeClr val="bg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03200" tIns="127000" rIns="152400" bIns="101600" rtlCol="0" anchor="t">
            <a:noAutofit/>
          </a:bodyPr>
          <a:lstStyle/>
          <a:p>
            <a:r>
              <a:rPr lang="en-US" b="1" dirty="0">
                <a:solidFill>
                  <a:schemeClr val="tx1"/>
                </a:solidFill>
              </a:rPr>
              <a:t>Warnings cover an entire area</a:t>
            </a:r>
          </a:p>
          <a:p>
            <a:pPr marL="285750" indent="-285750">
              <a:buFont typeface="Arial" panose="020B0604020202020204" pitchFamily="34" charset="0"/>
              <a:buChar char="•"/>
            </a:pPr>
            <a:r>
              <a:rPr lang="en-US" sz="1400" dirty="0">
                <a:solidFill>
                  <a:schemeClr val="tx1"/>
                </a:solidFill>
              </a:rPr>
              <a:t>A warning covers one of 47 areas, not a street, and often lands one area over</a:t>
            </a:r>
          </a:p>
        </p:txBody>
      </p:sp>
      <p:sp>
        <p:nvSpPr>
          <p:cNvPr id="10" name="Rectangle 9">
            <a:extLst>
              <a:ext uri="{FF2B5EF4-FFF2-40B4-BE49-F238E27FC236}">
                <a16:creationId xmlns:a16="http://schemas.microsoft.com/office/drawing/2014/main" id="{523EACAD-7EA9-2DB4-7BB6-F8CAB4CFB181}"/>
              </a:ext>
            </a:extLst>
          </p:cNvPr>
          <p:cNvSpPr/>
          <p:nvPr/>
        </p:nvSpPr>
        <p:spPr>
          <a:xfrm>
            <a:off x="838200" y="4749800"/>
            <a:ext cx="50800" cy="16637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7" name="Rectangle 16">
            <a:extLst>
              <a:ext uri="{FF2B5EF4-FFF2-40B4-BE49-F238E27FC236}">
                <a16:creationId xmlns:a16="http://schemas.microsoft.com/office/drawing/2014/main" id="{BFB5C4C1-16CB-3DAB-80CD-E93E51907B2B}"/>
              </a:ext>
            </a:extLst>
          </p:cNvPr>
          <p:cNvSpPr/>
          <p:nvPr/>
        </p:nvSpPr>
        <p:spPr>
          <a:xfrm>
            <a:off x="6172200" y="1778000"/>
            <a:ext cx="5181600" cy="2540000"/>
          </a:xfrm>
          <a:prstGeom prst="rect">
            <a:avLst/>
          </a:prstGeom>
          <a:solidFill>
            <a:schemeClr val="bg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03200" tIns="127000" rIns="152400" bIns="101600" rtlCol="0" anchor="t">
            <a:noAutofit/>
          </a:bodyPr>
          <a:lstStyle/>
          <a:p>
            <a:r>
              <a:rPr lang="en-MY" b="1" dirty="0">
                <a:solidFill>
                  <a:schemeClr val="tx1"/>
                </a:solidFill>
              </a:rPr>
              <a:t>Useful existing data is not openly accessible</a:t>
            </a:r>
          </a:p>
          <a:p>
            <a:r>
              <a:rPr lang="en-MY" sz="800" dirty="0">
                <a:solidFill>
                  <a:schemeClr val="tx1"/>
                </a:solidFill>
              </a:rPr>
              <a:t> </a:t>
            </a:r>
          </a:p>
          <a:p>
            <a:pPr marL="285750" indent="-285750">
              <a:buFont typeface="Arial" panose="020B0604020202020204" pitchFamily="34" charset="0"/>
              <a:buChar char="•"/>
            </a:pPr>
            <a:r>
              <a:rPr lang="en-MY" sz="1400" b="1" dirty="0">
                <a:solidFill>
                  <a:schemeClr val="tx1"/>
                </a:solidFill>
              </a:rPr>
              <a:t>Soil compaction/type: </a:t>
            </a:r>
            <a:r>
              <a:rPr lang="en-MY" sz="1400" dirty="0">
                <a:solidFill>
                  <a:schemeClr val="tx1"/>
                </a:solidFill>
              </a:rPr>
              <a:t>British Geological Survey, 3D Geology of Singapore</a:t>
            </a:r>
            <a:br>
              <a:rPr lang="en-MY" dirty="0"/>
            </a:br>
            <a:r>
              <a:rPr lang="en-MY" sz="1000" i="1" dirty="0">
                <a:solidFill>
                  <a:schemeClr val="tx1"/>
                </a:solidFill>
              </a:rPr>
              <a:t>bgs.ac.uk/geology-projects/3d-geology-of-singapore/</a:t>
            </a:r>
          </a:p>
          <a:p>
            <a:pPr marL="285750" indent="-285750">
              <a:buFont typeface="Arial" panose="020B0604020202020204" pitchFamily="34" charset="0"/>
              <a:buChar char="•"/>
            </a:pPr>
            <a:r>
              <a:rPr lang="en-MY" sz="1400" b="1" dirty="0">
                <a:solidFill>
                  <a:schemeClr val="tx1"/>
                </a:solidFill>
              </a:rPr>
              <a:t>Radar: </a:t>
            </a:r>
            <a:r>
              <a:rPr lang="en-MY" sz="1400" dirty="0">
                <a:solidFill>
                  <a:schemeClr val="tx1"/>
                </a:solidFill>
              </a:rPr>
              <a:t>NUS, Convective Rainfall Prediction</a:t>
            </a:r>
            <a:br>
              <a:rPr lang="en-MY" dirty="0"/>
            </a:br>
            <a:r>
              <a:rPr lang="en-MY" sz="1000" i="1" dirty="0">
                <a:solidFill>
                  <a:schemeClr val="tx1"/>
                </a:solidFill>
              </a:rPr>
              <a:t>cfi.nus.edu.sg/research/enhancements-of-</a:t>
            </a:r>
            <a:r>
              <a:rPr lang="en-MY" sz="1000" i="1" dirty="0" err="1">
                <a:solidFill>
                  <a:schemeClr val="tx1"/>
                </a:solidFill>
              </a:rPr>
              <a:t>singapores</a:t>
            </a:r>
            <a:r>
              <a:rPr lang="en-MY" sz="1000" i="1" dirty="0">
                <a:solidFill>
                  <a:schemeClr val="tx1"/>
                </a:solidFill>
              </a:rPr>
              <a:t>-convective-rainfall-prediction/</a:t>
            </a:r>
          </a:p>
          <a:p>
            <a:pPr marL="285750" indent="-285750">
              <a:buFont typeface="Arial" panose="020B0604020202020204" pitchFamily="34" charset="0"/>
              <a:buChar char="•"/>
            </a:pPr>
            <a:r>
              <a:rPr lang="en-MY" sz="1400" b="1" dirty="0">
                <a:solidFill>
                  <a:schemeClr val="tx1"/>
                </a:solidFill>
              </a:rPr>
              <a:t>Elevation: </a:t>
            </a:r>
            <a:r>
              <a:rPr lang="en-MY" sz="1400" dirty="0">
                <a:solidFill>
                  <a:schemeClr val="tx1"/>
                </a:solidFill>
              </a:rPr>
              <a:t>AAM Group, Singapore Smart City case</a:t>
            </a:r>
            <a:br>
              <a:rPr lang="en-MY" dirty="0"/>
            </a:br>
            <a:r>
              <a:rPr lang="en-MY" sz="1000" i="1" dirty="0">
                <a:solidFill>
                  <a:schemeClr val="tx1"/>
                </a:solidFill>
              </a:rPr>
              <a:t>aamgroup.com/case-study/</a:t>
            </a:r>
            <a:r>
              <a:rPr lang="en-MY" sz="1000" i="1" dirty="0" err="1">
                <a:solidFill>
                  <a:schemeClr val="tx1"/>
                </a:solidFill>
              </a:rPr>
              <a:t>singapore</a:t>
            </a:r>
            <a:r>
              <a:rPr lang="en-MY" sz="1000" i="1" dirty="0">
                <a:solidFill>
                  <a:schemeClr val="tx1"/>
                </a:solidFill>
              </a:rPr>
              <a:t>-smart-city/</a:t>
            </a:r>
          </a:p>
        </p:txBody>
      </p:sp>
      <p:sp>
        <p:nvSpPr>
          <p:cNvPr id="18" name="Rectangle 17">
            <a:extLst>
              <a:ext uri="{FF2B5EF4-FFF2-40B4-BE49-F238E27FC236}">
                <a16:creationId xmlns:a16="http://schemas.microsoft.com/office/drawing/2014/main" id="{68EA5985-EA0E-7AFB-135B-3D471FF19CCE}"/>
              </a:ext>
            </a:extLst>
          </p:cNvPr>
          <p:cNvSpPr/>
          <p:nvPr/>
        </p:nvSpPr>
        <p:spPr>
          <a:xfrm>
            <a:off x="6172200" y="1778000"/>
            <a:ext cx="50800" cy="25400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9" name="Rectangle 18">
            <a:extLst>
              <a:ext uri="{FF2B5EF4-FFF2-40B4-BE49-F238E27FC236}">
                <a16:creationId xmlns:a16="http://schemas.microsoft.com/office/drawing/2014/main" id="{6C72D09D-BF3E-B29F-9885-25ADBEEC7BDB}"/>
              </a:ext>
            </a:extLst>
          </p:cNvPr>
          <p:cNvSpPr/>
          <p:nvPr/>
        </p:nvSpPr>
        <p:spPr>
          <a:xfrm>
            <a:off x="6172200" y="4749800"/>
            <a:ext cx="5181600" cy="1663700"/>
          </a:xfrm>
          <a:prstGeom prst="rect">
            <a:avLst/>
          </a:prstGeom>
          <a:solidFill>
            <a:schemeClr val="bg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03200" tIns="127000" rIns="152400" bIns="101600" rtlCol="0" anchor="t">
            <a:noAutofit/>
          </a:bodyPr>
          <a:lstStyle/>
          <a:p>
            <a:r>
              <a:rPr lang="en-US" b="1" dirty="0">
                <a:solidFill>
                  <a:schemeClr val="tx1"/>
                </a:solidFill>
              </a:rPr>
              <a:t>High false-positive rate.</a:t>
            </a:r>
          </a:p>
        </p:txBody>
      </p:sp>
      <p:sp>
        <p:nvSpPr>
          <p:cNvPr id="20" name="Rectangle 19">
            <a:extLst>
              <a:ext uri="{FF2B5EF4-FFF2-40B4-BE49-F238E27FC236}">
                <a16:creationId xmlns:a16="http://schemas.microsoft.com/office/drawing/2014/main" id="{14CE1136-FFB7-B345-03CF-760290A30275}"/>
              </a:ext>
            </a:extLst>
          </p:cNvPr>
          <p:cNvSpPr/>
          <p:nvPr/>
        </p:nvSpPr>
        <p:spPr>
          <a:xfrm>
            <a:off x="6172200" y="4749800"/>
            <a:ext cx="50800" cy="16637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1" name="Arrow: Down 20">
            <a:extLst>
              <a:ext uri="{FF2B5EF4-FFF2-40B4-BE49-F238E27FC236}">
                <a16:creationId xmlns:a16="http://schemas.microsoft.com/office/drawing/2014/main" id="{46D2E428-7ABE-849F-1179-C11E2BD3B6C0}"/>
              </a:ext>
            </a:extLst>
          </p:cNvPr>
          <p:cNvSpPr/>
          <p:nvPr/>
        </p:nvSpPr>
        <p:spPr>
          <a:xfrm>
            <a:off x="5715000" y="4381500"/>
            <a:ext cx="762000" cy="304800"/>
          </a:xfrm>
          <a:prstGeom prst="downArrow">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40545867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33650-5BBA-332E-BD2E-5A0A83A2B737}"/>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D6E6EA84-64C4-BB4D-26DC-A41A9179F2A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43" imgH="443" progId="TCLayout.ActiveDocument.1">
                  <p:embed/>
                </p:oleObj>
              </mc:Choice>
              <mc:Fallback>
                <p:oleObj name="thinkcell Slide" r:id="rId14" imgW="443" imgH="443" progId="TCLayout.ActiveDocument.1">
                  <p:embed/>
                  <p:pic>
                    <p:nvPicPr>
                      <p:cNvPr id="13" name="thinkcell data - do not delete" hidden="1">
                        <a:extLst>
                          <a:ext uri="{FF2B5EF4-FFF2-40B4-BE49-F238E27FC236}">
                            <a16:creationId xmlns:a16="http://schemas.microsoft.com/office/drawing/2014/main" id="{D6E6EA84-64C4-BB4D-26DC-A41A9179F2A1}"/>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4FE4A63-05D9-5B0C-2677-A67B56D15DB1}"/>
              </a:ext>
            </a:extLst>
          </p:cNvPr>
          <p:cNvSpPr>
            <a:spLocks noGrp="1"/>
          </p:cNvSpPr>
          <p:nvPr>
            <p:ph type="ctrTitle"/>
          </p:nvPr>
        </p:nvSpPr>
        <p:spPr>
          <a:xfrm>
            <a:off x="838200" y="2298700"/>
            <a:ext cx="6858000" cy="914400"/>
          </a:xfrm>
        </p:spPr>
        <p:txBody>
          <a:bodyPr anchor="t">
            <a:noAutofit/>
          </a:bodyPr>
          <a:lstStyle/>
          <a:p>
            <a:pPr algn="l"/>
            <a:r>
              <a:rPr lang="en-US" dirty="0"/>
              <a:t>Q&amp;A</a:t>
            </a:r>
            <a:endParaRPr lang="en-MY" dirty="0"/>
          </a:p>
        </p:txBody>
      </p:sp>
      <p:cxnSp>
        <p:nvCxnSpPr>
          <p:cNvPr id="4" name="Gerader Verbinder 22">
            <a:extLst>
              <a:ext uri="{FF2B5EF4-FFF2-40B4-BE49-F238E27FC236}">
                <a16:creationId xmlns:a16="http://schemas.microsoft.com/office/drawing/2014/main" id="{2DF858E3-755F-E8E9-F06D-C582E20BAD34}"/>
              </a:ext>
            </a:extLst>
          </p:cNvPr>
          <p:cNvCxnSpPr>
            <a:cxnSpLocks/>
          </p:cNvCxnSpPr>
          <p:nvPr/>
        </p:nvCxnSpPr>
        <p:spPr>
          <a:xfrm>
            <a:off x="407987" y="1422400"/>
            <a:ext cx="0" cy="40259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Rectangle 3">
            <a:extLst>
              <a:ext uri="{FF2B5EF4-FFF2-40B4-BE49-F238E27FC236}">
                <a16:creationId xmlns:a16="http://schemas.microsoft.com/office/drawing/2014/main" id="{F7262ECD-5FFA-3F1B-4F68-2D01523DBD4A}"/>
              </a:ext>
            </a:extLst>
          </p:cNvPr>
          <p:cNvSpPr>
            <a:spLocks/>
          </p:cNvSpPr>
          <p:nvPr>
            <p:custDataLst>
              <p:tags r:id="rId2"/>
            </p:custDataLst>
          </p:nvPr>
        </p:nvSpPr>
        <p:spPr bwMode="gray">
          <a:xfrm>
            <a:off x="8128000" y="30988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a:solidFill>
                  <a:schemeClr val="bg2">
                    <a:lumMod val="50000"/>
                  </a:schemeClr>
                </a:solidFill>
              </a:rPr>
              <a:t>Why Databricks</a:t>
            </a:r>
          </a:p>
        </p:txBody>
      </p:sp>
      <p:sp>
        <p:nvSpPr>
          <p:cNvPr id="6" name="Rectangle 3">
            <a:extLst>
              <a:ext uri="{FF2B5EF4-FFF2-40B4-BE49-F238E27FC236}">
                <a16:creationId xmlns:a16="http://schemas.microsoft.com/office/drawing/2014/main" id="{CE458F44-EF8D-D260-E76E-7FE59FB89F5E}"/>
              </a:ext>
            </a:extLst>
          </p:cNvPr>
          <p:cNvSpPr>
            <a:spLocks/>
          </p:cNvSpPr>
          <p:nvPr>
            <p:custDataLst>
              <p:tags r:id="rId3"/>
            </p:custDataLst>
          </p:nvPr>
        </p:nvSpPr>
        <p:spPr bwMode="gray">
          <a:xfrm>
            <a:off x="8128000" y="14224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a:solidFill>
                  <a:schemeClr val="bg2">
                    <a:lumMod val="50000"/>
                  </a:schemeClr>
                </a:solidFill>
              </a:rPr>
              <a:t>Social Impact</a:t>
            </a:r>
          </a:p>
        </p:txBody>
      </p:sp>
      <p:sp>
        <p:nvSpPr>
          <p:cNvPr id="7" name="Rectangle 3">
            <a:extLst>
              <a:ext uri="{FF2B5EF4-FFF2-40B4-BE49-F238E27FC236}">
                <a16:creationId xmlns:a16="http://schemas.microsoft.com/office/drawing/2014/main" id="{1445611D-9A6F-0BC0-ECBF-3123D1DA4D7E}"/>
              </a:ext>
            </a:extLst>
          </p:cNvPr>
          <p:cNvSpPr>
            <a:spLocks/>
          </p:cNvSpPr>
          <p:nvPr>
            <p:custDataLst>
              <p:tags r:id="rId4"/>
            </p:custDataLst>
          </p:nvPr>
        </p:nvSpPr>
        <p:spPr bwMode="gray">
          <a:xfrm>
            <a:off x="8128000" y="39370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err="1">
                <a:solidFill>
                  <a:schemeClr val="bg2">
                    <a:lumMod val="50000"/>
                  </a:schemeClr>
                </a:solidFill>
              </a:rPr>
              <a:t>Rigour</a:t>
            </a:r>
            <a:endParaRPr lang="en-US" dirty="0">
              <a:solidFill>
                <a:schemeClr val="bg2">
                  <a:lumMod val="50000"/>
                </a:schemeClr>
              </a:solidFill>
            </a:endParaRPr>
          </a:p>
        </p:txBody>
      </p:sp>
      <p:sp>
        <p:nvSpPr>
          <p:cNvPr id="8" name="Rectangle 3">
            <a:extLst>
              <a:ext uri="{FF2B5EF4-FFF2-40B4-BE49-F238E27FC236}">
                <a16:creationId xmlns:a16="http://schemas.microsoft.com/office/drawing/2014/main" id="{9BBDB177-79D6-5E7F-3EB2-A4757543E11E}"/>
              </a:ext>
            </a:extLst>
          </p:cNvPr>
          <p:cNvSpPr>
            <a:spLocks/>
          </p:cNvSpPr>
          <p:nvPr>
            <p:custDataLst>
              <p:tags r:id="rId5"/>
            </p:custDataLst>
          </p:nvPr>
        </p:nvSpPr>
        <p:spPr bwMode="gray">
          <a:xfrm>
            <a:off x="8128000" y="22606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dirty="0">
                <a:solidFill>
                  <a:schemeClr val="bg2">
                    <a:lumMod val="50000"/>
                  </a:schemeClr>
                </a:solidFill>
              </a:rPr>
              <a:t>Demo</a:t>
            </a:r>
          </a:p>
        </p:txBody>
      </p:sp>
      <p:sp>
        <p:nvSpPr>
          <p:cNvPr id="9" name="Rectangle 3">
            <a:extLst>
              <a:ext uri="{FF2B5EF4-FFF2-40B4-BE49-F238E27FC236}">
                <a16:creationId xmlns:a16="http://schemas.microsoft.com/office/drawing/2014/main" id="{4323D476-D901-100A-F2E5-AE56D0D5A45D}"/>
              </a:ext>
            </a:extLst>
          </p:cNvPr>
          <p:cNvSpPr>
            <a:spLocks/>
          </p:cNvSpPr>
          <p:nvPr>
            <p:custDataLst>
              <p:tags r:id="rId6"/>
            </p:custDataLst>
          </p:nvPr>
        </p:nvSpPr>
        <p:spPr bwMode="gray">
          <a:xfrm>
            <a:off x="8220075" y="14986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bg2">
                    <a:lumMod val="75000"/>
                  </a:schemeClr>
                </a:solidFill>
              </a:rPr>
              <a:t>01.</a:t>
            </a:r>
          </a:p>
        </p:txBody>
      </p:sp>
      <p:sp>
        <p:nvSpPr>
          <p:cNvPr id="10" name="Rectangle 3">
            <a:extLst>
              <a:ext uri="{FF2B5EF4-FFF2-40B4-BE49-F238E27FC236}">
                <a16:creationId xmlns:a16="http://schemas.microsoft.com/office/drawing/2014/main" id="{659B267A-369F-7537-861D-B5EE02A31432}"/>
              </a:ext>
            </a:extLst>
          </p:cNvPr>
          <p:cNvSpPr>
            <a:spLocks/>
          </p:cNvSpPr>
          <p:nvPr>
            <p:custDataLst>
              <p:tags r:id="rId7"/>
            </p:custDataLst>
          </p:nvPr>
        </p:nvSpPr>
        <p:spPr bwMode="gray">
          <a:xfrm>
            <a:off x="8220075" y="31750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bg2">
                    <a:lumMod val="75000"/>
                  </a:schemeClr>
                </a:solidFill>
              </a:rPr>
              <a:t>03.</a:t>
            </a:r>
          </a:p>
        </p:txBody>
      </p:sp>
      <p:sp>
        <p:nvSpPr>
          <p:cNvPr id="11" name="Rectangle 3">
            <a:extLst>
              <a:ext uri="{FF2B5EF4-FFF2-40B4-BE49-F238E27FC236}">
                <a16:creationId xmlns:a16="http://schemas.microsoft.com/office/drawing/2014/main" id="{555E1338-21ED-512B-6BC7-950EB16AACE2}"/>
              </a:ext>
            </a:extLst>
          </p:cNvPr>
          <p:cNvSpPr>
            <a:spLocks/>
          </p:cNvSpPr>
          <p:nvPr>
            <p:custDataLst>
              <p:tags r:id="rId8"/>
            </p:custDataLst>
          </p:nvPr>
        </p:nvSpPr>
        <p:spPr bwMode="gray">
          <a:xfrm>
            <a:off x="8220075" y="40132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bg2">
                    <a:lumMod val="75000"/>
                  </a:schemeClr>
                </a:solidFill>
              </a:rPr>
              <a:t>04.</a:t>
            </a:r>
          </a:p>
        </p:txBody>
      </p:sp>
      <p:sp>
        <p:nvSpPr>
          <p:cNvPr id="12" name="Rectangle 3">
            <a:extLst>
              <a:ext uri="{FF2B5EF4-FFF2-40B4-BE49-F238E27FC236}">
                <a16:creationId xmlns:a16="http://schemas.microsoft.com/office/drawing/2014/main" id="{90D88A79-A403-5A61-C59C-88507C3ABBF3}"/>
              </a:ext>
            </a:extLst>
          </p:cNvPr>
          <p:cNvSpPr>
            <a:spLocks/>
          </p:cNvSpPr>
          <p:nvPr>
            <p:custDataLst>
              <p:tags r:id="rId9"/>
            </p:custDataLst>
          </p:nvPr>
        </p:nvSpPr>
        <p:spPr bwMode="gray">
          <a:xfrm>
            <a:off x="8220075" y="23368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bg2">
                    <a:lumMod val="75000"/>
                  </a:schemeClr>
                </a:solidFill>
              </a:rPr>
              <a:t>02.</a:t>
            </a:r>
          </a:p>
        </p:txBody>
      </p:sp>
      <p:sp>
        <p:nvSpPr>
          <p:cNvPr id="14" name="Rectangle 3">
            <a:extLst>
              <a:ext uri="{FF2B5EF4-FFF2-40B4-BE49-F238E27FC236}">
                <a16:creationId xmlns:a16="http://schemas.microsoft.com/office/drawing/2014/main" id="{96077EEA-DDBC-D497-1256-0E492FBBAA3E}"/>
              </a:ext>
            </a:extLst>
          </p:cNvPr>
          <p:cNvSpPr>
            <a:spLocks/>
          </p:cNvSpPr>
          <p:nvPr>
            <p:custDataLst>
              <p:tags r:id="rId10"/>
            </p:custDataLst>
          </p:nvPr>
        </p:nvSpPr>
        <p:spPr bwMode="gray">
          <a:xfrm>
            <a:off x="838200" y="1371600"/>
            <a:ext cx="3048000" cy="91440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5400" b="1" dirty="0">
                <a:solidFill>
                  <a:schemeClr val="accent1"/>
                </a:solidFill>
              </a:rPr>
              <a:t>05.</a:t>
            </a:r>
          </a:p>
        </p:txBody>
      </p:sp>
      <p:sp>
        <p:nvSpPr>
          <p:cNvPr id="18" name="Rectangle 3">
            <a:extLst>
              <a:ext uri="{FF2B5EF4-FFF2-40B4-BE49-F238E27FC236}">
                <a16:creationId xmlns:a16="http://schemas.microsoft.com/office/drawing/2014/main" id="{136B300D-4E16-9A78-47F9-F74371A1984D}"/>
              </a:ext>
            </a:extLst>
          </p:cNvPr>
          <p:cNvSpPr>
            <a:spLocks/>
          </p:cNvSpPr>
          <p:nvPr>
            <p:custDataLst>
              <p:tags r:id="rId11"/>
            </p:custDataLst>
          </p:nvPr>
        </p:nvSpPr>
        <p:spPr bwMode="gray">
          <a:xfrm>
            <a:off x="8128000" y="4775200"/>
            <a:ext cx="3683000" cy="673100"/>
          </a:xfrm>
          <a:prstGeom prst="rect">
            <a:avLst/>
          </a:prstGeom>
          <a:solidFill>
            <a:schemeClr val="bg2"/>
          </a:solidFill>
          <a:ln w="6350" algn="ctr">
            <a:noFill/>
            <a:miter lim="800000"/>
            <a:headEnd/>
            <a:tailEnd/>
          </a:ln>
          <a:effectLst/>
        </p:spPr>
        <p:txBody>
          <a:bodyPr wrap="square" lIns="900000" tIns="72000" rIns="216000" bIns="72000" anchor="ctr">
            <a:noAutofit/>
          </a:bodyPr>
          <a:lstStyle/>
          <a:p>
            <a:pPr lvl="0" defTabSz="978998" fontAlgn="base">
              <a:spcBef>
                <a:spcPct val="0"/>
              </a:spcBef>
              <a:spcAft>
                <a:spcPct val="0"/>
              </a:spcAft>
              <a:defRPr/>
            </a:pPr>
            <a:r>
              <a:rPr lang="en-US" b="1"/>
              <a:t>Q&amp;A</a:t>
            </a:r>
          </a:p>
        </p:txBody>
      </p:sp>
      <p:sp>
        <p:nvSpPr>
          <p:cNvPr id="20" name="Rectangle 3">
            <a:extLst>
              <a:ext uri="{FF2B5EF4-FFF2-40B4-BE49-F238E27FC236}">
                <a16:creationId xmlns:a16="http://schemas.microsoft.com/office/drawing/2014/main" id="{7D12FE3A-6E5A-2787-C237-BCEF1366C7FE}"/>
              </a:ext>
            </a:extLst>
          </p:cNvPr>
          <p:cNvSpPr>
            <a:spLocks/>
          </p:cNvSpPr>
          <p:nvPr>
            <p:custDataLst>
              <p:tags r:id="rId12"/>
            </p:custDataLst>
          </p:nvPr>
        </p:nvSpPr>
        <p:spPr bwMode="gray">
          <a:xfrm>
            <a:off x="8220075" y="4851400"/>
            <a:ext cx="594443" cy="520790"/>
          </a:xfrm>
          <a:prstGeom prst="rect">
            <a:avLst/>
          </a:prstGeom>
          <a:noFill/>
          <a:ln w="9525" algn="ctr">
            <a:noFill/>
            <a:miter lim="800000"/>
            <a:headEnd/>
            <a:tailEnd/>
          </a:ln>
          <a:effectLst/>
        </p:spPr>
        <p:txBody>
          <a:bodyPr wrap="square" lIns="0" tIns="0" rIns="0" bIns="0" anchor="ctr">
            <a:noAutofit/>
          </a:bodyPr>
          <a:lstStyle/>
          <a:p>
            <a:pPr lvl="0" defTabSz="978998" fontAlgn="base">
              <a:spcBef>
                <a:spcPct val="0"/>
              </a:spcBef>
              <a:spcAft>
                <a:spcPct val="0"/>
              </a:spcAft>
              <a:defRPr/>
            </a:pPr>
            <a:r>
              <a:rPr lang="en-US" sz="3200" b="1">
                <a:solidFill>
                  <a:schemeClr val="accent1"/>
                </a:solidFill>
              </a:rPr>
              <a:t>05.</a:t>
            </a:r>
          </a:p>
        </p:txBody>
      </p:sp>
      <p:sp>
        <p:nvSpPr>
          <p:cNvPr id="21" name="Subtitle 2">
            <a:extLst>
              <a:ext uri="{FF2B5EF4-FFF2-40B4-BE49-F238E27FC236}">
                <a16:creationId xmlns:a16="http://schemas.microsoft.com/office/drawing/2014/main" id="{0DCFB3A3-D9BC-F28A-156A-906B47D7902B}"/>
              </a:ext>
            </a:extLst>
          </p:cNvPr>
          <p:cNvSpPr>
            <a:spLocks noGrp="1"/>
          </p:cNvSpPr>
          <p:nvPr>
            <p:ph type="subTitle" idx="1"/>
          </p:nvPr>
        </p:nvSpPr>
        <p:spPr>
          <a:xfrm>
            <a:off x="838200" y="3340100"/>
            <a:ext cx="6858000" cy="762000"/>
          </a:xfrm>
        </p:spPr>
        <p:txBody>
          <a:bodyPr anchor="t">
            <a:noAutofit/>
          </a:bodyPr>
          <a:lstStyle/>
          <a:p>
            <a:pPr algn="l"/>
            <a:r>
              <a:rPr lang="en-MY" sz="2000"/>
              <a:t>Questions, feedback and discussion.</a:t>
            </a:r>
            <a:endParaRPr lang="en-US" sz="2000" dirty="0"/>
          </a:p>
        </p:txBody>
      </p:sp>
    </p:spTree>
    <p:extLst>
      <p:ext uri="{BB962C8B-B14F-4D97-AF65-F5344CB8AC3E}">
        <p14:creationId xmlns:p14="http://schemas.microsoft.com/office/powerpoint/2010/main" val="3727349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704CC437-1ED5-79C9-8375-7ADDA4C1CCA6}"/>
              </a:ext>
            </a:extLst>
          </p:cNvPr>
          <p:cNvGraphicFramePr>
            <a:graphicFrameLocks/>
          </p:cNvGraphicFramePr>
          <p:nvPr>
            <p:custDataLst>
              <p:tags r:id="rId1"/>
            </p:custDataLst>
            <p:extLst>
              <p:ext uri="{D42A27DB-BD31-4B8C-83A1-F6EECF244321}">
                <p14:modId xmlns:p14="http://schemas.microsoft.com/office/powerpoint/2010/main" val="34805246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43" imgH="443" progId="TCLayout.ActiveDocument.1">
                  <p:embed/>
                </p:oleObj>
              </mc:Choice>
              <mc:Fallback>
                <p:oleObj name="thinkcell Slide" r:id="rId4" imgW="443" imgH="443" progId="TCLayout.ActiveDocument.1">
                  <p:embed/>
                  <p:pic>
                    <p:nvPicPr>
                      <p:cNvPr id="14" name="thinkcell data - do not delete" hidden="1">
                        <a:extLst>
                          <a:ext uri="{FF2B5EF4-FFF2-40B4-BE49-F238E27FC236}">
                            <a16:creationId xmlns:a16="http://schemas.microsoft.com/office/drawing/2014/main" id="{704CC437-1ED5-79C9-8375-7ADDA4C1CCA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CB95F85-00B9-7B0C-0521-3356F5CC65A6}"/>
              </a:ext>
            </a:extLst>
          </p:cNvPr>
          <p:cNvSpPr>
            <a:spLocks noGrp="1"/>
          </p:cNvSpPr>
          <p:nvPr>
            <p:ph type="title"/>
          </p:nvPr>
        </p:nvSpPr>
        <p:spPr/>
        <p:txBody>
          <a:bodyPr/>
          <a:lstStyle/>
          <a:p>
            <a:r>
              <a:rPr lang="en-MY" dirty="0"/>
              <a:t>Physics-based Feature</a:t>
            </a:r>
          </a:p>
        </p:txBody>
      </p:sp>
      <p:pic>
        <p:nvPicPr>
          <p:cNvPr id="9" name="Picture 8">
            <a:extLst>
              <a:ext uri="{FF2B5EF4-FFF2-40B4-BE49-F238E27FC236}">
                <a16:creationId xmlns:a16="http://schemas.microsoft.com/office/drawing/2014/main" id="{72DE61BF-282C-7E87-C0AB-266C6CC8D7C6}"/>
              </a:ext>
            </a:extLst>
          </p:cNvPr>
          <p:cNvPicPr>
            <a:picLocks noChangeAspect="1"/>
          </p:cNvPicPr>
          <p:nvPr/>
        </p:nvPicPr>
        <p:blipFill>
          <a:blip r:embed="rId6"/>
          <a:stretch>
            <a:fillRect/>
          </a:stretch>
        </p:blipFill>
        <p:spPr>
          <a:xfrm>
            <a:off x="838200" y="1905000"/>
            <a:ext cx="6181725" cy="1893888"/>
          </a:xfrm>
          <a:prstGeom prst="rect">
            <a:avLst/>
          </a:prstGeom>
        </p:spPr>
      </p:pic>
      <p:pic>
        <p:nvPicPr>
          <p:cNvPr id="11" name="Picture 10">
            <a:extLst>
              <a:ext uri="{FF2B5EF4-FFF2-40B4-BE49-F238E27FC236}">
                <a16:creationId xmlns:a16="http://schemas.microsoft.com/office/drawing/2014/main" id="{6DFC6D12-B573-023A-5E97-CFE2753867D3}"/>
              </a:ext>
            </a:extLst>
          </p:cNvPr>
          <p:cNvPicPr>
            <a:picLocks noChangeAspect="1"/>
          </p:cNvPicPr>
          <p:nvPr/>
        </p:nvPicPr>
        <p:blipFill>
          <a:blip r:embed="rId7"/>
          <a:stretch>
            <a:fillRect/>
          </a:stretch>
        </p:blipFill>
        <p:spPr>
          <a:xfrm>
            <a:off x="838200" y="4002088"/>
            <a:ext cx="5334000" cy="1984375"/>
          </a:xfrm>
          <a:prstGeom prst="rect">
            <a:avLst/>
          </a:prstGeom>
        </p:spPr>
      </p:pic>
      <p:pic>
        <p:nvPicPr>
          <p:cNvPr id="13" name="Picture 12">
            <a:extLst>
              <a:ext uri="{FF2B5EF4-FFF2-40B4-BE49-F238E27FC236}">
                <a16:creationId xmlns:a16="http://schemas.microsoft.com/office/drawing/2014/main" id="{62976DED-D9F4-F011-81A6-612F5EB72409}"/>
              </a:ext>
            </a:extLst>
          </p:cNvPr>
          <p:cNvPicPr>
            <a:picLocks noChangeAspect="1"/>
          </p:cNvPicPr>
          <p:nvPr/>
        </p:nvPicPr>
        <p:blipFill>
          <a:blip r:embed="rId8"/>
          <a:stretch>
            <a:fillRect/>
          </a:stretch>
        </p:blipFill>
        <p:spPr>
          <a:xfrm>
            <a:off x="6465888" y="4564063"/>
            <a:ext cx="4887913" cy="862013"/>
          </a:xfrm>
          <a:prstGeom prst="rect">
            <a:avLst/>
          </a:prstGeom>
        </p:spPr>
      </p:pic>
    </p:spTree>
    <p:extLst>
      <p:ext uri="{BB962C8B-B14F-4D97-AF65-F5344CB8AC3E}">
        <p14:creationId xmlns:p14="http://schemas.microsoft.com/office/powerpoint/2010/main" val="2456625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9744B0C-9F90-249E-7B10-21F43EDF56BE}"/>
              </a:ext>
            </a:extLst>
          </p:cNvPr>
          <p:cNvGraphicFramePr>
            <a:graphicFrameLocks/>
          </p:cNvGraphicFramePr>
          <p:nvPr>
            <p:custDataLst>
              <p:tags r:id="rId1"/>
            </p:custDataLst>
            <p:extLst>
              <p:ext uri="{D42A27DB-BD31-4B8C-83A1-F6EECF244321}">
                <p14:modId xmlns:p14="http://schemas.microsoft.com/office/powerpoint/2010/main" val="17529406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43" imgH="443" progId="TCLayout.ActiveDocument.1">
                  <p:embed/>
                </p:oleObj>
              </mc:Choice>
              <mc:Fallback>
                <p:oleObj name="thinkcell Slide" r:id="rId4" imgW="443" imgH="443" progId="TCLayout.ActiveDocument.1">
                  <p:embed/>
                  <p:pic>
                    <p:nvPicPr>
                      <p:cNvPr id="6" name="thinkcell data - do not delete" hidden="1">
                        <a:extLst>
                          <a:ext uri="{FF2B5EF4-FFF2-40B4-BE49-F238E27FC236}">
                            <a16:creationId xmlns:a16="http://schemas.microsoft.com/office/drawing/2014/main" id="{59744B0C-9F90-249E-7B10-21F43EDF56B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1700ADE-8C77-D45C-506D-30063EAD3DF0}"/>
              </a:ext>
            </a:extLst>
          </p:cNvPr>
          <p:cNvSpPr>
            <a:spLocks noGrp="1"/>
          </p:cNvSpPr>
          <p:nvPr>
            <p:ph type="title"/>
          </p:nvPr>
        </p:nvSpPr>
        <p:spPr>
          <a:xfrm>
            <a:off x="838200" y="365125"/>
            <a:ext cx="10515600" cy="1143000"/>
          </a:xfrm>
        </p:spPr>
        <p:txBody>
          <a:bodyPr>
            <a:normAutofit fontScale="90000"/>
          </a:bodyPr>
          <a:lstStyle/>
          <a:p>
            <a:r>
              <a:rPr lang="en-MY"/>
              <a:t>Did PUB fix flood hotspots over time, inflating rates in older data?</a:t>
            </a:r>
          </a:p>
        </p:txBody>
      </p:sp>
      <p:pic>
        <p:nvPicPr>
          <p:cNvPr id="8" name="Picture 7">
            <a:extLst>
              <a:ext uri="{FF2B5EF4-FFF2-40B4-BE49-F238E27FC236}">
                <a16:creationId xmlns:a16="http://schemas.microsoft.com/office/drawing/2014/main" id="{1094C42C-1CCD-3C3D-A458-EA759AAE2B1B}"/>
              </a:ext>
            </a:extLst>
          </p:cNvPr>
          <p:cNvPicPr>
            <a:picLocks noChangeAspect="1"/>
          </p:cNvPicPr>
          <p:nvPr/>
        </p:nvPicPr>
        <p:blipFill>
          <a:blip r:embed="rId6"/>
          <a:stretch>
            <a:fillRect/>
          </a:stretch>
        </p:blipFill>
        <p:spPr>
          <a:xfrm>
            <a:off x="2480467" y="1508125"/>
            <a:ext cx="7231066" cy="5342303"/>
          </a:xfrm>
          <a:prstGeom prst="rect">
            <a:avLst/>
          </a:prstGeom>
        </p:spPr>
      </p:pic>
    </p:spTree>
    <p:extLst>
      <p:ext uri="{BB962C8B-B14F-4D97-AF65-F5344CB8AC3E}">
        <p14:creationId xmlns:p14="http://schemas.microsoft.com/office/powerpoint/2010/main" val="1718176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5E58C79-BC97-95FD-1E34-46BC0789131F}"/>
              </a:ext>
            </a:extLst>
          </p:cNvPr>
          <p:cNvGraphicFramePr>
            <a:graphicFrameLocks/>
          </p:cNvGraphicFramePr>
          <p:nvPr>
            <p:custDataLst>
              <p:tags r:id="rId1"/>
            </p:custDataLst>
            <p:extLst>
              <p:ext uri="{D42A27DB-BD31-4B8C-83A1-F6EECF244321}">
                <p14:modId xmlns:p14="http://schemas.microsoft.com/office/powerpoint/2010/main" val="24414435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443" imgH="443" progId="TCLayout.ActiveDocument.1">
                  <p:embed/>
                </p:oleObj>
              </mc:Choice>
              <mc:Fallback>
                <p:oleObj name="thinkcell Slide" r:id="rId19" imgW="443" imgH="443" progId="TCLayout.ActiveDocument.1">
                  <p:embed/>
                  <p:pic>
                    <p:nvPicPr>
                      <p:cNvPr id="3" name="thinkcell data - do not delete" hidden="1">
                        <a:extLst>
                          <a:ext uri="{FF2B5EF4-FFF2-40B4-BE49-F238E27FC236}">
                            <a16:creationId xmlns:a16="http://schemas.microsoft.com/office/drawing/2014/main" id="{A5E58C79-BC97-95FD-1E34-46BC0789131F}"/>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8435BBF-C07A-520E-998E-D2339A49E69D}"/>
              </a:ext>
            </a:extLst>
          </p:cNvPr>
          <p:cNvSpPr>
            <a:spLocks noGrp="1"/>
          </p:cNvSpPr>
          <p:nvPr>
            <p:ph type="title"/>
          </p:nvPr>
        </p:nvSpPr>
        <p:spPr>
          <a:xfrm>
            <a:off x="254000" y="177800"/>
            <a:ext cx="11684000" cy="787400"/>
          </a:xfrm>
        </p:spPr>
        <p:txBody>
          <a:bodyPr/>
          <a:lstStyle/>
          <a:p>
            <a:r>
              <a:rPr lang="en-US" dirty="0"/>
              <a:t>One governed platform, from post to phone</a:t>
            </a:r>
          </a:p>
        </p:txBody>
      </p:sp>
      <p:sp>
        <p:nvSpPr>
          <p:cNvPr id="4" name="Rectangle: Rounded Corners 3">
            <a:extLst>
              <a:ext uri="{FF2B5EF4-FFF2-40B4-BE49-F238E27FC236}">
                <a16:creationId xmlns:a16="http://schemas.microsoft.com/office/drawing/2014/main" id="{8D1EC984-B276-CE65-95F4-DE99DC055269}"/>
              </a:ext>
            </a:extLst>
          </p:cNvPr>
          <p:cNvSpPr/>
          <p:nvPr/>
        </p:nvSpPr>
        <p:spPr>
          <a:xfrm>
            <a:off x="2108200" y="1016000"/>
            <a:ext cx="9880600" cy="5613400"/>
          </a:xfrm>
          <a:prstGeom prst="roundRect">
            <a:avLst>
              <a:gd name="adj" fmla="val 3000"/>
            </a:avLst>
          </a:prstGeom>
          <a:noFill/>
          <a:ln w="9525" cap="flat" cmpd="sng" algn="ctr">
            <a:solidFill>
              <a:schemeClr val="bg2">
                <a:lumMod val="85000"/>
              </a:schemeClr>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88900" tIns="76200" rIns="88900" bIns="76200" rtlCol="0" anchor="t">
            <a:noAutofit/>
          </a:bodyPr>
          <a:lstStyle/>
          <a:p>
            <a:r>
              <a:rPr lang="en-MY"/>
              <a:t> </a:t>
            </a:r>
          </a:p>
        </p:txBody>
      </p:sp>
      <p:sp>
        <p:nvSpPr>
          <p:cNvPr id="5" name="Rectangle 4">
            <a:extLst>
              <a:ext uri="{FF2B5EF4-FFF2-40B4-BE49-F238E27FC236}">
                <a16:creationId xmlns:a16="http://schemas.microsoft.com/office/drawing/2014/main" id="{81B4CDBE-7445-83A8-60AC-B596303636BF}"/>
              </a:ext>
            </a:extLst>
          </p:cNvPr>
          <p:cNvSpPr/>
          <p:nvPr/>
        </p:nvSpPr>
        <p:spPr>
          <a:xfrm>
            <a:off x="2235200" y="1066800"/>
            <a:ext cx="53340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r>
              <a:rPr lang="en-MY" sz="1400" b="1" dirty="0">
                <a:solidFill>
                  <a:schemeClr val="tx1"/>
                </a:solidFill>
              </a:rPr>
              <a:t>Databricks  Data Intelligence Platform</a:t>
            </a:r>
          </a:p>
        </p:txBody>
      </p:sp>
      <p:sp>
        <p:nvSpPr>
          <p:cNvPr id="6" name="Rectangle 5">
            <a:extLst>
              <a:ext uri="{FF2B5EF4-FFF2-40B4-BE49-F238E27FC236}">
                <a16:creationId xmlns:a16="http://schemas.microsoft.com/office/drawing/2014/main" id="{FE5222B2-B57D-4335-0FB4-D1A443C1B7EA}"/>
              </a:ext>
            </a:extLst>
          </p:cNvPr>
          <p:cNvSpPr/>
          <p:nvPr/>
        </p:nvSpPr>
        <p:spPr>
          <a:xfrm>
            <a:off x="8890000" y="1066800"/>
            <a:ext cx="29718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MY" sz="1000" b="1" dirty="0">
                <a:solidFill>
                  <a:schemeClr val="bg1">
                    <a:lumMod val="50000"/>
                  </a:schemeClr>
                </a:solidFill>
              </a:rPr>
              <a:t>ARCHITECTURE</a:t>
            </a:r>
          </a:p>
        </p:txBody>
      </p:sp>
      <p:sp>
        <p:nvSpPr>
          <p:cNvPr id="7" name="Rectangle: Rounded Corners 6">
            <a:extLst>
              <a:ext uri="{FF2B5EF4-FFF2-40B4-BE49-F238E27FC236}">
                <a16:creationId xmlns:a16="http://schemas.microsoft.com/office/drawing/2014/main" id="{0B827C75-D990-89F9-C68A-79F8D5D48759}"/>
              </a:ext>
            </a:extLst>
          </p:cNvPr>
          <p:cNvSpPr/>
          <p:nvPr/>
        </p:nvSpPr>
        <p:spPr>
          <a:xfrm>
            <a:off x="1016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Public data sources</a:t>
            </a:r>
          </a:p>
        </p:txBody>
      </p:sp>
      <p:sp>
        <p:nvSpPr>
          <p:cNvPr id="8" name="Rectangle: Rounded Corners 7">
            <a:extLst>
              <a:ext uri="{FF2B5EF4-FFF2-40B4-BE49-F238E27FC236}">
                <a16:creationId xmlns:a16="http://schemas.microsoft.com/office/drawing/2014/main" id="{CE93C996-2A44-7EF6-10E2-1D29F756C8F2}"/>
              </a:ext>
            </a:extLst>
          </p:cNvPr>
          <p:cNvSpPr/>
          <p:nvPr/>
        </p:nvSpPr>
        <p:spPr>
          <a:xfrm>
            <a:off x="2235200" y="1371600"/>
            <a:ext cx="16256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Data ingestion</a:t>
            </a:r>
          </a:p>
        </p:txBody>
      </p:sp>
      <p:sp>
        <p:nvSpPr>
          <p:cNvPr id="9" name="Rectangle: Rounded Corners 8">
            <a:extLst>
              <a:ext uri="{FF2B5EF4-FFF2-40B4-BE49-F238E27FC236}">
                <a16:creationId xmlns:a16="http://schemas.microsoft.com/office/drawing/2014/main" id="{7B051582-31FE-B75A-B019-0EF538CD83F3}"/>
              </a:ext>
            </a:extLst>
          </p:cNvPr>
          <p:cNvSpPr/>
          <p:nvPr/>
        </p:nvSpPr>
        <p:spPr>
          <a:xfrm>
            <a:off x="3962400" y="1371600"/>
            <a:ext cx="37084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Lakehouse · Medallion architecture</a:t>
            </a:r>
          </a:p>
        </p:txBody>
      </p:sp>
      <p:sp>
        <p:nvSpPr>
          <p:cNvPr id="10" name="Rectangle: Rounded Corners 9">
            <a:extLst>
              <a:ext uri="{FF2B5EF4-FFF2-40B4-BE49-F238E27FC236}">
                <a16:creationId xmlns:a16="http://schemas.microsoft.com/office/drawing/2014/main" id="{D0004267-87E0-2804-39DF-98DD92766D2C}"/>
              </a:ext>
            </a:extLst>
          </p:cNvPr>
          <p:cNvSpPr/>
          <p:nvPr/>
        </p:nvSpPr>
        <p:spPr>
          <a:xfrm>
            <a:off x="77724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Intelligence · Serving</a:t>
            </a:r>
          </a:p>
        </p:txBody>
      </p:sp>
      <p:sp>
        <p:nvSpPr>
          <p:cNvPr id="11" name="Rectangle: Rounded Corners 10">
            <a:extLst>
              <a:ext uri="{FF2B5EF4-FFF2-40B4-BE49-F238E27FC236}">
                <a16:creationId xmlns:a16="http://schemas.microsoft.com/office/drawing/2014/main" id="{FBFF78F0-3023-81E4-42AD-90B2C53B001C}"/>
              </a:ext>
            </a:extLst>
          </p:cNvPr>
          <p:cNvSpPr/>
          <p:nvPr/>
        </p:nvSpPr>
        <p:spPr>
          <a:xfrm>
            <a:off x="9779000" y="1371600"/>
            <a:ext cx="2082800" cy="4572000"/>
          </a:xfrm>
          <a:prstGeom prst="roundRect">
            <a:avLst>
              <a:gd name="adj" fmla="val 3500"/>
            </a:avLst>
          </a:prstGeom>
          <a:solidFill>
            <a:schemeClr val="accent1">
              <a:lumMod val="8000"/>
              <a:lumOff val="92000"/>
            </a:schemeClr>
          </a:solidFill>
          <a:ln w="9525" cap="flat" cmpd="sng" algn="ctr">
            <a:solidFill>
              <a:schemeClr val="accent1">
                <a:lumMod val="40000"/>
                <a:lumOff val="6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Residents and agencies · AI agents</a:t>
            </a:r>
          </a:p>
        </p:txBody>
      </p:sp>
      <p:sp>
        <p:nvSpPr>
          <p:cNvPr id="12" name="Rectangle: Rounded Corners 11">
            <a:extLst>
              <a:ext uri="{FF2B5EF4-FFF2-40B4-BE49-F238E27FC236}">
                <a16:creationId xmlns:a16="http://schemas.microsoft.com/office/drawing/2014/main" id="{C21B023C-9F24-09B3-33B4-EBF834F2847C}"/>
              </a:ext>
            </a:extLst>
          </p:cNvPr>
          <p:cNvSpPr/>
          <p:nvPr/>
        </p:nvSpPr>
        <p:spPr>
          <a:xfrm>
            <a:off x="177800" y="1752600"/>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PUB Flood Alerts</a:t>
            </a:r>
          </a:p>
          <a:p>
            <a:r>
              <a:rPr lang="en-US" sz="1100">
                <a:solidFill>
                  <a:schemeClr val="tx1"/>
                </a:solidFill>
              </a:rPr>
              <a:t>Drains 90% full, flash floods; Telegram posts since 2021</a:t>
            </a:r>
            <a:endParaRPr lang="en-MY"/>
          </a:p>
        </p:txBody>
      </p:sp>
      <p:sp>
        <p:nvSpPr>
          <p:cNvPr id="13" name="Rectangle: Rounded Corners 12">
            <a:extLst>
              <a:ext uri="{FF2B5EF4-FFF2-40B4-BE49-F238E27FC236}">
                <a16:creationId xmlns:a16="http://schemas.microsoft.com/office/drawing/2014/main" id="{9490E5E7-8563-25D4-48C1-3223915F82C6}"/>
              </a:ext>
            </a:extLst>
          </p:cNvPr>
          <p:cNvSpPr/>
          <p:nvPr/>
        </p:nvSpPr>
        <p:spPr>
          <a:xfrm>
            <a:off x="177800" y="2586038"/>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Internet Archive</a:t>
            </a:r>
          </a:p>
          <a:p>
            <a:r>
              <a:rPr lang="en-US" sz="1100">
                <a:solidFill>
                  <a:schemeClr val="tx1"/>
                </a:solidFill>
              </a:rPr>
              <a:t>832 deleted PUB posts, recovered from web captures</a:t>
            </a:r>
            <a:endParaRPr lang="en-MY"/>
          </a:p>
        </p:txBody>
      </p:sp>
      <p:sp>
        <p:nvSpPr>
          <p:cNvPr id="14" name="Rectangle: Rounded Corners 13">
            <a:extLst>
              <a:ext uri="{FF2B5EF4-FFF2-40B4-BE49-F238E27FC236}">
                <a16:creationId xmlns:a16="http://schemas.microsoft.com/office/drawing/2014/main" id="{D0C25522-4489-4025-2EEF-800006CED268}"/>
              </a:ext>
            </a:extLst>
          </p:cNvPr>
          <p:cNvSpPr/>
          <p:nvPr/>
        </p:nvSpPr>
        <p:spPr>
          <a:xfrm>
            <a:off x="177800" y="3419475"/>
            <a:ext cx="1752600" cy="80645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NEA weather</a:t>
            </a:r>
          </a:p>
          <a:p>
            <a:r>
              <a:rPr lang="en-US" sz="1100">
                <a:solidFill>
                  <a:schemeClr val="tx1"/>
                </a:solidFill>
              </a:rPr>
              <a:t>5-min rain, 2-h forecast, wind, humidity (data.gov.sg)</a:t>
            </a:r>
            <a:endParaRPr lang="en-MY"/>
          </a:p>
        </p:txBody>
      </p:sp>
      <p:sp>
        <p:nvSpPr>
          <p:cNvPr id="15" name="Rectangle: Rounded Corners 14">
            <a:extLst>
              <a:ext uri="{FF2B5EF4-FFF2-40B4-BE49-F238E27FC236}">
                <a16:creationId xmlns:a16="http://schemas.microsoft.com/office/drawing/2014/main" id="{5E4FF1F1-5E3B-C720-2FEA-FF33AE0C4175}"/>
              </a:ext>
            </a:extLst>
          </p:cNvPr>
          <p:cNvSpPr/>
          <p:nvPr/>
        </p:nvSpPr>
        <p:spPr>
          <a:xfrm>
            <a:off x="177800" y="4251325"/>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Tides</a:t>
            </a:r>
          </a:p>
          <a:p>
            <a:r>
              <a:rPr lang="en-MY" sz="1100">
                <a:solidFill>
                  <a:schemeClr val="tx1"/>
                </a:solidFill>
              </a:rPr>
              <a:t>NEA tide table; UHSLC hourly sea level at Tanjong Pagar</a:t>
            </a:r>
          </a:p>
        </p:txBody>
      </p:sp>
      <p:sp>
        <p:nvSpPr>
          <p:cNvPr id="16" name="Rectangle: Rounded Corners 15">
            <a:extLst>
              <a:ext uri="{FF2B5EF4-FFF2-40B4-BE49-F238E27FC236}">
                <a16:creationId xmlns:a16="http://schemas.microsoft.com/office/drawing/2014/main" id="{448F923C-95A2-2302-86DF-EAF29682A9F5}"/>
              </a:ext>
            </a:extLst>
          </p:cNvPr>
          <p:cNvSpPr/>
          <p:nvPr/>
        </p:nvSpPr>
        <p:spPr>
          <a:xfrm>
            <a:off x="177800" y="5084763"/>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Maps, sensors</a:t>
            </a:r>
          </a:p>
          <a:p>
            <a:r>
              <a:rPr lang="en-MY" sz="1100">
                <a:solidFill>
                  <a:schemeClr val="tx1"/>
                </a:solidFill>
              </a:rPr>
              <a:t>328 PUB water-level sensors, URA land use, SLA, OneMap</a:t>
            </a:r>
          </a:p>
        </p:txBody>
      </p:sp>
      <p:sp>
        <p:nvSpPr>
          <p:cNvPr id="17" name="Rectangle: Rounded Corners 16">
            <a:extLst>
              <a:ext uri="{FF2B5EF4-FFF2-40B4-BE49-F238E27FC236}">
                <a16:creationId xmlns:a16="http://schemas.microsoft.com/office/drawing/2014/main" id="{3FB806E8-41B2-B556-E5DF-54ABA277FA90}"/>
              </a:ext>
            </a:extLst>
          </p:cNvPr>
          <p:cNvSpPr/>
          <p:nvPr/>
        </p:nvSpPr>
        <p:spPr>
          <a:xfrm>
            <a:off x="2336800" y="1752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Jobs</a:t>
            </a:r>
          </a:p>
          <a:p>
            <a:r>
              <a:rPr lang="en-US" sz="1100">
                <a:solidFill>
                  <a:schemeClr val="tx1"/>
                </a:solidFill>
              </a:rPr>
              <a:t>Python fetchers on serverless: new data every 5 min, a nightly repair, one-off backfills</a:t>
            </a:r>
            <a:endParaRPr lang="en-MY"/>
          </a:p>
        </p:txBody>
      </p:sp>
      <p:sp>
        <p:nvSpPr>
          <p:cNvPr id="18" name="Rectangle: Rounded Corners 17">
            <a:extLst>
              <a:ext uri="{FF2B5EF4-FFF2-40B4-BE49-F238E27FC236}">
                <a16:creationId xmlns:a16="http://schemas.microsoft.com/office/drawing/2014/main" id="{9391F554-DD23-3FF8-0BDA-F08097475345}"/>
              </a:ext>
            </a:extLst>
          </p:cNvPr>
          <p:cNvSpPr/>
          <p:nvPr/>
        </p:nvSpPr>
        <p:spPr>
          <a:xfrm>
            <a:off x="2336800" y="3911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Auto Loader</a:t>
            </a:r>
          </a:p>
          <a:p>
            <a:r>
              <a:rPr lang="en-US" sz="1100">
                <a:solidFill>
                  <a:schemeClr val="tx1"/>
                </a:solidFill>
              </a:rPr>
              <a:t>Each fetch lands as a new file in a UC Volume and streams into bronze once</a:t>
            </a:r>
            <a:endParaRPr lang="en-MY"/>
          </a:p>
        </p:txBody>
      </p:sp>
      <p:sp>
        <p:nvSpPr>
          <p:cNvPr id="19" name="Rectangle: Rounded Corners 18">
            <a:extLst>
              <a:ext uri="{FF2B5EF4-FFF2-40B4-BE49-F238E27FC236}">
                <a16:creationId xmlns:a16="http://schemas.microsoft.com/office/drawing/2014/main" id="{11128033-C49F-A2F4-97C5-A054B06FC9A1}"/>
              </a:ext>
            </a:extLst>
          </p:cNvPr>
          <p:cNvSpPr/>
          <p:nvPr/>
        </p:nvSpPr>
        <p:spPr>
          <a:xfrm>
            <a:off x="4064000" y="1752600"/>
            <a:ext cx="1066800" cy="2540000"/>
          </a:xfrm>
          <a:prstGeom prst="roundRect">
            <a:avLst>
              <a:gd name="adj" fmla="val 8000"/>
            </a:avLst>
          </a:prstGeom>
          <a:solidFill>
            <a:schemeClr val="accent1">
              <a:lumMod val="20000"/>
              <a:lumOff val="80000"/>
            </a:schemeClr>
          </a:solidFill>
          <a:ln w="12700" cap="flat" cmpd="sng" algn="ctr">
            <a:solidFill>
              <a:schemeClr val="accent1">
                <a:lumMod val="60000"/>
                <a:lumOff val="4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Bronze</a:t>
            </a:r>
          </a:p>
          <a:p>
            <a:pPr algn="ctr"/>
            <a:r>
              <a:rPr lang="en-US" sz="1100">
                <a:solidFill>
                  <a:schemeClr val="tx1"/>
                </a:solidFill>
              </a:rPr>
              <a:t>Every API page, post and file as received; full history</a:t>
            </a:r>
            <a:endParaRPr lang="en-MY"/>
          </a:p>
        </p:txBody>
      </p:sp>
      <p:sp>
        <p:nvSpPr>
          <p:cNvPr id="20" name="Rectangle: Rounded Corners 19">
            <a:extLst>
              <a:ext uri="{FF2B5EF4-FFF2-40B4-BE49-F238E27FC236}">
                <a16:creationId xmlns:a16="http://schemas.microsoft.com/office/drawing/2014/main" id="{ED82040F-6859-3C91-8DAA-EF3CDF8B416C}"/>
              </a:ext>
            </a:extLst>
          </p:cNvPr>
          <p:cNvSpPr/>
          <p:nvPr/>
        </p:nvSpPr>
        <p:spPr>
          <a:xfrm>
            <a:off x="5283200" y="1752600"/>
            <a:ext cx="1066800" cy="2540000"/>
          </a:xfrm>
          <a:prstGeom prst="roundRect">
            <a:avLst>
              <a:gd name="adj" fmla="val 8000"/>
            </a:avLst>
          </a:prstGeom>
          <a:solidFill>
            <a:schemeClr val="bg2">
              <a:lumMod val="90000"/>
            </a:schemeClr>
          </a:solidFill>
          <a:ln w="12700" cap="flat" cmpd="sng" algn="ctr">
            <a:solidFill>
              <a:schemeClr val="bg2">
                <a:lumMod val="6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Silver</a:t>
            </a:r>
          </a:p>
          <a:p>
            <a:pPr algn="ctr"/>
            <a:r>
              <a:rPr lang="en-US" sz="1100">
                <a:solidFill>
                  <a:schemeClr val="tx1"/>
                </a:solidFill>
              </a:rPr>
              <a:t>Readings cleaned, posts parsed, alerts placed in NEA's 47 areas</a:t>
            </a:r>
            <a:endParaRPr lang="en-MY" dirty="0"/>
          </a:p>
        </p:txBody>
      </p:sp>
      <p:sp>
        <p:nvSpPr>
          <p:cNvPr id="21" name="Rectangle: Rounded Corners 20">
            <a:extLst>
              <a:ext uri="{FF2B5EF4-FFF2-40B4-BE49-F238E27FC236}">
                <a16:creationId xmlns:a16="http://schemas.microsoft.com/office/drawing/2014/main" id="{37482B22-2352-EDE3-5403-FD13FDA11F15}"/>
              </a:ext>
            </a:extLst>
          </p:cNvPr>
          <p:cNvSpPr/>
          <p:nvPr/>
        </p:nvSpPr>
        <p:spPr>
          <a:xfrm>
            <a:off x="6502400" y="1752600"/>
            <a:ext cx="1066800" cy="2540000"/>
          </a:xfrm>
          <a:prstGeom prst="roundRect">
            <a:avLst>
              <a:gd name="adj" fmla="val 8000"/>
            </a:avLst>
          </a:prstGeom>
          <a:solidFill>
            <a:schemeClr val="accent2">
              <a:lumMod val="20000"/>
              <a:lumOff val="80000"/>
            </a:schemeClr>
          </a:solidFill>
          <a:ln w="12700" cap="flat" cmpd="sng" algn="ctr">
            <a:solidFill>
              <a:schemeClr val="accent2">
                <a:lumMod val="70000"/>
                <a:lumOff val="3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Gold</a:t>
            </a:r>
          </a:p>
          <a:p>
            <a:pPr algn="ctr"/>
            <a:r>
              <a:rPr lang="en-US" sz="1100">
                <a:solidFill>
                  <a:schemeClr val="tx1"/>
                </a:solidFill>
              </a:rPr>
              <a:t>Each area, every 5 min: rain, forecast, tide, label</a:t>
            </a:r>
            <a:endParaRPr lang="en-MY"/>
          </a:p>
        </p:txBody>
      </p:sp>
      <p:sp>
        <p:nvSpPr>
          <p:cNvPr id="22" name="Rectangle: Rounded Corners 21">
            <a:extLst>
              <a:ext uri="{FF2B5EF4-FFF2-40B4-BE49-F238E27FC236}">
                <a16:creationId xmlns:a16="http://schemas.microsoft.com/office/drawing/2014/main" id="{DFAF069C-D676-EB2B-6C7E-236C19280CB7}"/>
              </a:ext>
            </a:extLst>
          </p:cNvPr>
          <p:cNvSpPr/>
          <p:nvPr/>
        </p:nvSpPr>
        <p:spPr>
          <a:xfrm>
            <a:off x="4064000" y="4521200"/>
            <a:ext cx="35052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Spark Declarative Pipelines</a:t>
            </a:r>
          </a:p>
          <a:p>
            <a:r>
              <a:rPr lang="en-US" sz="1100">
                <a:solidFill>
                  <a:schemeClr val="tx1"/>
                </a:solidFill>
              </a:rPr>
              <a:t>Two serverless pipelines. Expectations drop bad readings; unplaceable alerts are quarantined. Hours with lost posts or feed outages count as missing, never as quiet.</a:t>
            </a:r>
            <a:endParaRPr lang="en-MY"/>
          </a:p>
        </p:txBody>
      </p:sp>
      <p:sp>
        <p:nvSpPr>
          <p:cNvPr id="23" name="Rectangle: Rounded Corners 22">
            <a:extLst>
              <a:ext uri="{FF2B5EF4-FFF2-40B4-BE49-F238E27FC236}">
                <a16:creationId xmlns:a16="http://schemas.microsoft.com/office/drawing/2014/main" id="{0FBD6E84-504F-EE0B-5B09-FF59296DE839}"/>
              </a:ext>
            </a:extLst>
          </p:cNvPr>
          <p:cNvSpPr/>
          <p:nvPr/>
        </p:nvSpPr>
        <p:spPr>
          <a:xfrm>
            <a:off x="7874000" y="1752600"/>
            <a:ext cx="1701800" cy="1422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a:solidFill>
                  <a:schemeClr val="tx1"/>
                </a:solidFill>
              </a:rPr>
              <a:t>MLflow · Unity Catalog</a:t>
            </a:r>
          </a:p>
          <a:p>
            <a:r>
              <a:rPr lang="en-US" sz="1100">
                <a:solidFill>
                  <a:schemeClr val="tx1"/>
                </a:solidFill>
              </a:rPr>
              <a:t>Gated LightGBM pair: each area's chance of a PUB alert within 1 h. 7 checks before @champion moves.</a:t>
            </a:r>
            <a:endParaRPr lang="en-MY" dirty="0"/>
          </a:p>
        </p:txBody>
      </p:sp>
      <p:sp>
        <p:nvSpPr>
          <p:cNvPr id="24" name="Rectangle: Rounded Corners 23">
            <a:extLst>
              <a:ext uri="{FF2B5EF4-FFF2-40B4-BE49-F238E27FC236}">
                <a16:creationId xmlns:a16="http://schemas.microsoft.com/office/drawing/2014/main" id="{1782AC9B-FA58-A458-1AFF-D4BBF9B80029}"/>
              </a:ext>
            </a:extLst>
          </p:cNvPr>
          <p:cNvSpPr/>
          <p:nvPr/>
        </p:nvSpPr>
        <p:spPr>
          <a:xfrm>
            <a:off x="7874000" y="3276600"/>
            <a:ext cx="17018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a:solidFill>
                  <a:schemeClr val="tx1"/>
                </a:solidFill>
              </a:rPr>
              <a:t>Live scoring</a:t>
            </a:r>
          </a:p>
          <a:p>
            <a:r>
              <a:rPr lang="en-US" sz="1100">
                <a:solidFill>
                  <a:schemeClr val="tx1"/>
                </a:solidFill>
              </a:rPr>
              <a:t>Every 5 min, @champion rates all 47 areas into a Delta table. New warnings go out by Telegram, email.</a:t>
            </a:r>
            <a:endParaRPr lang="en-MY"/>
          </a:p>
        </p:txBody>
      </p:sp>
      <p:sp>
        <p:nvSpPr>
          <p:cNvPr id="25" name="Rectangle: Rounded Corners 24">
            <a:extLst>
              <a:ext uri="{FF2B5EF4-FFF2-40B4-BE49-F238E27FC236}">
                <a16:creationId xmlns:a16="http://schemas.microsoft.com/office/drawing/2014/main" id="{08FEB9AD-AC13-7B6E-E46B-1ED6E4D5CC7E}"/>
              </a:ext>
            </a:extLst>
          </p:cNvPr>
          <p:cNvSpPr/>
          <p:nvPr/>
        </p:nvSpPr>
        <p:spPr>
          <a:xfrm>
            <a:off x="7874000" y="4699000"/>
            <a:ext cx="1701800" cy="11430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MY" sz="1300" b="1">
                <a:solidFill>
                  <a:schemeClr val="tx1"/>
                </a:solidFill>
              </a:rPr>
              <a:t>Databricks SQL · AI/BI</a:t>
            </a:r>
          </a:p>
          <a:p>
            <a:r>
              <a:rPr lang="en-MY" sz="1100">
                <a:solidFill>
                  <a:schemeClr val="tx1"/>
                </a:solidFill>
              </a:rPr>
              <a:t>Serverless warehouse for the app, Genie, agencies' scoreboard</a:t>
            </a:r>
          </a:p>
        </p:txBody>
      </p:sp>
      <p:sp>
        <p:nvSpPr>
          <p:cNvPr id="26" name="Rectangle: Rounded Corners 25">
            <a:extLst>
              <a:ext uri="{FF2B5EF4-FFF2-40B4-BE49-F238E27FC236}">
                <a16:creationId xmlns:a16="http://schemas.microsoft.com/office/drawing/2014/main" id="{D69507C1-0FD5-43FC-2002-EBA0BD8ED58D}"/>
              </a:ext>
            </a:extLst>
          </p:cNvPr>
          <p:cNvSpPr/>
          <p:nvPr/>
        </p:nvSpPr>
        <p:spPr>
          <a:xfrm>
            <a:off x="9880600" y="1879600"/>
            <a:ext cx="1879600" cy="1727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Databricks App</a:t>
            </a:r>
          </a:p>
          <a:p>
            <a:r>
              <a:rPr lang="en-US" sz="1100">
                <a:solidFill>
                  <a:schemeClr val="tx1"/>
                </a:solidFill>
              </a:rPr>
              <a:t>Live map of 47 areas: what to do on foot, driving or at home. Storm replays, warning sign-ups.</a:t>
            </a:r>
            <a:endParaRPr lang="en-MY" dirty="0"/>
          </a:p>
        </p:txBody>
      </p:sp>
      <p:sp>
        <p:nvSpPr>
          <p:cNvPr id="27" name="Rectangle: Rounded Corners 26">
            <a:extLst>
              <a:ext uri="{FF2B5EF4-FFF2-40B4-BE49-F238E27FC236}">
                <a16:creationId xmlns:a16="http://schemas.microsoft.com/office/drawing/2014/main" id="{D71DEE19-E496-4ECF-4145-F9147ECBFB35}"/>
              </a:ext>
            </a:extLst>
          </p:cNvPr>
          <p:cNvSpPr/>
          <p:nvPr/>
        </p:nvSpPr>
        <p:spPr>
          <a:xfrm>
            <a:off x="9880600" y="3733800"/>
            <a:ext cx="1879600" cy="2108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Genie Agent</a:t>
            </a:r>
          </a:p>
          <a:p>
            <a:r>
              <a:rPr lang="en-US" sz="1100">
                <a:solidFill>
                  <a:schemeClr val="tx1"/>
                </a:solidFill>
              </a:rPr>
              <a:t>"FloodSense for agencies": ask in plain English how it did against PUB, flood by flood. Also in the app.</a:t>
            </a:r>
            <a:endParaRPr lang="en-MY"/>
          </a:p>
        </p:txBody>
      </p:sp>
      <p:sp>
        <p:nvSpPr>
          <p:cNvPr id="28" name="Rectangle: Rounded Corners 27">
            <a:extLst>
              <a:ext uri="{FF2B5EF4-FFF2-40B4-BE49-F238E27FC236}">
                <a16:creationId xmlns:a16="http://schemas.microsoft.com/office/drawing/2014/main" id="{2685C9A5-C1A3-4E4D-48B1-C58788D97AF3}"/>
              </a:ext>
            </a:extLst>
          </p:cNvPr>
          <p:cNvSpPr/>
          <p:nvPr/>
        </p:nvSpPr>
        <p:spPr>
          <a:xfrm>
            <a:off x="9982200" y="2946400"/>
            <a:ext cx="7366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Residents</a:t>
            </a:r>
          </a:p>
        </p:txBody>
      </p:sp>
      <p:sp>
        <p:nvSpPr>
          <p:cNvPr id="29" name="Rectangle: Rounded Corners 28">
            <a:extLst>
              <a:ext uri="{FF2B5EF4-FFF2-40B4-BE49-F238E27FC236}">
                <a16:creationId xmlns:a16="http://schemas.microsoft.com/office/drawing/2014/main" id="{16AF14CB-9B05-FF53-21DF-E11F649202F1}"/>
              </a:ext>
            </a:extLst>
          </p:cNvPr>
          <p:cNvSpPr/>
          <p:nvPr/>
        </p:nvSpPr>
        <p:spPr>
          <a:xfrm>
            <a:off x="10795000" y="2946400"/>
            <a:ext cx="7874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Commuters</a:t>
            </a:r>
          </a:p>
        </p:txBody>
      </p:sp>
      <p:sp>
        <p:nvSpPr>
          <p:cNvPr id="30" name="Rectangle: Rounded Corners 29">
            <a:extLst>
              <a:ext uri="{FF2B5EF4-FFF2-40B4-BE49-F238E27FC236}">
                <a16:creationId xmlns:a16="http://schemas.microsoft.com/office/drawing/2014/main" id="{CB481807-9ECB-A3F8-FBFA-A0445EA2FA62}"/>
              </a:ext>
            </a:extLst>
          </p:cNvPr>
          <p:cNvSpPr/>
          <p:nvPr/>
        </p:nvSpPr>
        <p:spPr>
          <a:xfrm>
            <a:off x="9982200" y="3251200"/>
            <a:ext cx="9652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Town councils</a:t>
            </a:r>
          </a:p>
        </p:txBody>
      </p:sp>
      <p:sp>
        <p:nvSpPr>
          <p:cNvPr id="31" name="Rectangle: Rounded Corners 30">
            <a:extLst>
              <a:ext uri="{FF2B5EF4-FFF2-40B4-BE49-F238E27FC236}">
                <a16:creationId xmlns:a16="http://schemas.microsoft.com/office/drawing/2014/main" id="{42832933-1F2C-D046-DDB8-728C46F379F9}"/>
              </a:ext>
            </a:extLst>
          </p:cNvPr>
          <p:cNvSpPr/>
          <p:nvPr/>
        </p:nvSpPr>
        <p:spPr>
          <a:xfrm>
            <a:off x="11023600" y="3251200"/>
            <a:ext cx="6350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Agencies</a:t>
            </a:r>
          </a:p>
        </p:txBody>
      </p:sp>
      <p:sp>
        <p:nvSpPr>
          <p:cNvPr id="33" name="Rectangle: Rounded Corners 32">
            <a:extLst>
              <a:ext uri="{FF2B5EF4-FFF2-40B4-BE49-F238E27FC236}">
                <a16:creationId xmlns:a16="http://schemas.microsoft.com/office/drawing/2014/main" id="{9CC98C21-535B-6FC9-541F-8A0328C87863}"/>
              </a:ext>
            </a:extLst>
          </p:cNvPr>
          <p:cNvSpPr/>
          <p:nvPr>
            <p:custDataLst>
              <p:tags r:id="rId2"/>
            </p:custDataLst>
          </p:nvPr>
        </p:nvSpPr>
        <p:spPr>
          <a:xfrm>
            <a:off x="2235200" y="6070600"/>
            <a:ext cx="9626600" cy="355600"/>
          </a:xfrm>
          <a:prstGeom prst="roundRect">
            <a:avLst>
              <a:gd name="adj" fmla="val 12000"/>
            </a:avLst>
          </a:prstGeom>
          <a:solidFill>
            <a:schemeClr val="bg1"/>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66700" tIns="12700" rIns="50800" bIns="12700" rtlCol="0" anchor="ctr">
            <a:noAutofit/>
          </a:bodyPr>
          <a:lstStyle/>
          <a:p>
            <a:pPr algn="ctr"/>
            <a:r>
              <a:rPr lang="en-MY" sz="1100" b="1" dirty="0">
                <a:solidFill>
                  <a:schemeClr val="tx1"/>
                </a:solidFill>
              </a:rPr>
              <a:t>Unity </a:t>
            </a:r>
            <a:r>
              <a:rPr lang="en-MY" sz="1100" b="1" dirty="0" err="1">
                <a:solidFill>
                  <a:schemeClr val="tx1"/>
                </a:solidFill>
              </a:rPr>
              <a:t>Catalog</a:t>
            </a:r>
            <a:endParaRPr lang="en-MY" sz="1100" b="1" dirty="0">
              <a:solidFill>
                <a:schemeClr val="tx1"/>
              </a:solidFill>
            </a:endParaRPr>
          </a:p>
        </p:txBody>
      </p:sp>
      <p:cxnSp>
        <p:nvCxnSpPr>
          <p:cNvPr id="42" name="Connector: Elbow 41">
            <a:extLst>
              <a:ext uri="{FF2B5EF4-FFF2-40B4-BE49-F238E27FC236}">
                <a16:creationId xmlns:a16="http://schemas.microsoft.com/office/drawing/2014/main" id="{927D17B5-2A7F-D5D0-1FF2-999CDAD25744}"/>
              </a:ext>
            </a:extLst>
          </p:cNvPr>
          <p:cNvCxnSpPr>
            <a:cxnSpLocks/>
          </p:cNvCxnSpPr>
          <p:nvPr/>
        </p:nvCxnSpPr>
        <p:spPr>
          <a:xfrm>
            <a:off x="51308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06F29B14-0B91-937B-1184-56FEA0C48FFD}"/>
              </a:ext>
            </a:extLst>
          </p:cNvPr>
          <p:cNvCxnSpPr>
            <a:cxnSpLocks/>
          </p:cNvCxnSpPr>
          <p:nvPr/>
        </p:nvCxnSpPr>
        <p:spPr>
          <a:xfrm>
            <a:off x="63500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54" name="IconTile_12">
            <a:extLst>
              <a:ext uri="{FF2B5EF4-FFF2-40B4-BE49-F238E27FC236}">
                <a16:creationId xmlns:a16="http://schemas.microsoft.com/office/drawing/2014/main" id="{781B9201-E4A2-3C3B-2F36-C310383B6002}"/>
              </a:ext>
            </a:extLst>
          </p:cNvPr>
          <p:cNvSpPr/>
          <p:nvPr/>
        </p:nvSpPr>
        <p:spPr>
          <a:xfrm>
            <a:off x="241300" y="17907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5" name="IconTile_13">
            <a:extLst>
              <a:ext uri="{FF2B5EF4-FFF2-40B4-BE49-F238E27FC236}">
                <a16:creationId xmlns:a16="http://schemas.microsoft.com/office/drawing/2014/main" id="{432213DE-48F2-46A0-D4F7-B2E67B5D9898}"/>
              </a:ext>
            </a:extLst>
          </p:cNvPr>
          <p:cNvSpPr/>
          <p:nvPr/>
        </p:nvSpPr>
        <p:spPr>
          <a:xfrm>
            <a:off x="241300" y="2624138"/>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6" name="IconTile_14">
            <a:extLst>
              <a:ext uri="{FF2B5EF4-FFF2-40B4-BE49-F238E27FC236}">
                <a16:creationId xmlns:a16="http://schemas.microsoft.com/office/drawing/2014/main" id="{98C8DAEF-02D1-78EF-02E6-954988CE639A}"/>
              </a:ext>
            </a:extLst>
          </p:cNvPr>
          <p:cNvSpPr/>
          <p:nvPr/>
        </p:nvSpPr>
        <p:spPr>
          <a:xfrm>
            <a:off x="241300" y="345757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7" name="IconTile_15">
            <a:extLst>
              <a:ext uri="{FF2B5EF4-FFF2-40B4-BE49-F238E27FC236}">
                <a16:creationId xmlns:a16="http://schemas.microsoft.com/office/drawing/2014/main" id="{3CB1DA9C-B187-1696-F339-8CFBB4A14A5D}"/>
              </a:ext>
            </a:extLst>
          </p:cNvPr>
          <p:cNvSpPr/>
          <p:nvPr/>
        </p:nvSpPr>
        <p:spPr>
          <a:xfrm>
            <a:off x="241300" y="428942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8" name="IconTile_16">
            <a:extLst>
              <a:ext uri="{FF2B5EF4-FFF2-40B4-BE49-F238E27FC236}">
                <a16:creationId xmlns:a16="http://schemas.microsoft.com/office/drawing/2014/main" id="{AB13595D-E096-FA9D-A84C-AAA42E8D2857}"/>
              </a:ext>
            </a:extLst>
          </p:cNvPr>
          <p:cNvSpPr/>
          <p:nvPr/>
        </p:nvSpPr>
        <p:spPr>
          <a:xfrm>
            <a:off x="241300" y="5122863"/>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9" name="IconTile_17">
            <a:extLst>
              <a:ext uri="{FF2B5EF4-FFF2-40B4-BE49-F238E27FC236}">
                <a16:creationId xmlns:a16="http://schemas.microsoft.com/office/drawing/2014/main" id="{A5A9AC8D-34EE-2A9E-7643-E7B099119641}"/>
              </a:ext>
            </a:extLst>
          </p:cNvPr>
          <p:cNvSpPr/>
          <p:nvPr/>
        </p:nvSpPr>
        <p:spPr>
          <a:xfrm>
            <a:off x="2400300" y="1835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0" name="IconTile_18">
            <a:extLst>
              <a:ext uri="{FF2B5EF4-FFF2-40B4-BE49-F238E27FC236}">
                <a16:creationId xmlns:a16="http://schemas.microsoft.com/office/drawing/2014/main" id="{18D14F9D-8D55-A5E6-40E9-3012A871008F}"/>
              </a:ext>
            </a:extLst>
          </p:cNvPr>
          <p:cNvSpPr/>
          <p:nvPr/>
        </p:nvSpPr>
        <p:spPr>
          <a:xfrm>
            <a:off x="2400300" y="3994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1" name="IconTile_22">
            <a:extLst>
              <a:ext uri="{FF2B5EF4-FFF2-40B4-BE49-F238E27FC236}">
                <a16:creationId xmlns:a16="http://schemas.microsoft.com/office/drawing/2014/main" id="{5E80A4B8-57ED-81C4-C8A9-041F5B658F5C}"/>
              </a:ext>
            </a:extLst>
          </p:cNvPr>
          <p:cNvSpPr/>
          <p:nvPr/>
        </p:nvSpPr>
        <p:spPr>
          <a:xfrm>
            <a:off x="4127500" y="460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2" name="IconTile_23">
            <a:extLst>
              <a:ext uri="{FF2B5EF4-FFF2-40B4-BE49-F238E27FC236}">
                <a16:creationId xmlns:a16="http://schemas.microsoft.com/office/drawing/2014/main" id="{2E155290-F870-FAC4-927C-7250B4C66EAF}"/>
              </a:ext>
            </a:extLst>
          </p:cNvPr>
          <p:cNvSpPr/>
          <p:nvPr/>
        </p:nvSpPr>
        <p:spPr>
          <a:xfrm>
            <a:off x="7937500" y="1809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3" name="IconTile_24">
            <a:extLst>
              <a:ext uri="{FF2B5EF4-FFF2-40B4-BE49-F238E27FC236}">
                <a16:creationId xmlns:a16="http://schemas.microsoft.com/office/drawing/2014/main" id="{EA987438-96A4-FCF4-8B54-93611F1AD20C}"/>
              </a:ext>
            </a:extLst>
          </p:cNvPr>
          <p:cNvSpPr/>
          <p:nvPr/>
        </p:nvSpPr>
        <p:spPr>
          <a:xfrm>
            <a:off x="7937500" y="333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4" name="IconTile_25">
            <a:extLst>
              <a:ext uri="{FF2B5EF4-FFF2-40B4-BE49-F238E27FC236}">
                <a16:creationId xmlns:a16="http://schemas.microsoft.com/office/drawing/2014/main" id="{3B6E53A4-2ED5-BE51-6CD8-1C10459A4D99}"/>
              </a:ext>
            </a:extLst>
          </p:cNvPr>
          <p:cNvSpPr/>
          <p:nvPr/>
        </p:nvSpPr>
        <p:spPr>
          <a:xfrm>
            <a:off x="7937500" y="4756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5" name="IconTile_26">
            <a:extLst>
              <a:ext uri="{FF2B5EF4-FFF2-40B4-BE49-F238E27FC236}">
                <a16:creationId xmlns:a16="http://schemas.microsoft.com/office/drawing/2014/main" id="{3FABF62A-7E14-5353-1B4C-FB7895AB7D16}"/>
              </a:ext>
            </a:extLst>
          </p:cNvPr>
          <p:cNvSpPr/>
          <p:nvPr/>
        </p:nvSpPr>
        <p:spPr>
          <a:xfrm>
            <a:off x="9944100" y="1962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6" name="IconTile_27">
            <a:extLst>
              <a:ext uri="{FF2B5EF4-FFF2-40B4-BE49-F238E27FC236}">
                <a16:creationId xmlns:a16="http://schemas.microsoft.com/office/drawing/2014/main" id="{BC3BEAD1-0FA3-3FF3-DAEB-53DB1F16D3FA}"/>
              </a:ext>
            </a:extLst>
          </p:cNvPr>
          <p:cNvSpPr/>
          <p:nvPr/>
        </p:nvSpPr>
        <p:spPr>
          <a:xfrm>
            <a:off x="9944100" y="38163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72" name="Pic">
            <a:extLst>
              <a:ext uri="{FF2B5EF4-FFF2-40B4-BE49-F238E27FC236}">
                <a16:creationId xmlns:a16="http://schemas.microsoft.com/office/drawing/2014/main" id="{293E63D3-07A7-E4E6-D2CE-488364F99EC9}"/>
              </a:ext>
            </a:extLst>
          </p:cNvPr>
          <p:cNvPicPr>
            <a:picLocks/>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 uri="{6F801314-5768-4EAC-8CED-0F2297F94238}"/>
            </a:extLst>
          </a:blip>
          <a:stretch>
            <a:fillRect/>
          </a:stretch>
        </p:blipFill>
        <p:spPr bwMode="auto">
          <a:xfrm>
            <a:off x="7975600" y="1854200"/>
            <a:ext cx="152400" cy="152400"/>
          </a:xfrm>
          <a:prstGeom prst="rect">
            <a:avLst/>
          </a:prstGeom>
          <a:noFill/>
          <a:effectLst/>
        </p:spPr>
      </p:pic>
      <p:pic>
        <p:nvPicPr>
          <p:cNvPr id="71" name="Pic">
            <a:extLst>
              <a:ext uri="{FF2B5EF4-FFF2-40B4-BE49-F238E27FC236}">
                <a16:creationId xmlns:a16="http://schemas.microsoft.com/office/drawing/2014/main" id="{FF9ABB1B-354F-F8CA-E12C-024C280144F4}"/>
              </a:ext>
            </a:extLst>
          </p:cNvPr>
          <p:cNvPicPr>
            <a:picLocks/>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 uri="{6F801314-5768-4EAC-8CED-0F2297F94238}"/>
            </a:extLst>
          </a:blip>
          <a:stretch>
            <a:fillRect/>
          </a:stretch>
        </p:blipFill>
        <p:spPr bwMode="auto">
          <a:xfrm>
            <a:off x="9982200" y="3860800"/>
            <a:ext cx="152400" cy="152400"/>
          </a:xfrm>
          <a:prstGeom prst="rect">
            <a:avLst/>
          </a:prstGeom>
          <a:noFill/>
          <a:effectLst/>
        </p:spPr>
      </p:pic>
      <p:pic>
        <p:nvPicPr>
          <p:cNvPr id="79" name="Pic">
            <a:extLst>
              <a:ext uri="{FF2B5EF4-FFF2-40B4-BE49-F238E27FC236}">
                <a16:creationId xmlns:a16="http://schemas.microsoft.com/office/drawing/2014/main" id="{244B0196-6D16-F56E-450B-0699ECE37574}"/>
              </a:ext>
            </a:extLst>
          </p:cNvPr>
          <p:cNvPicPr>
            <a:picLocks/>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3"/>
              </a:ext>
              <a:ext uri="{6F801314-5768-4EAC-8CED-0F2297F94238}"/>
            </a:extLst>
          </a:blip>
          <a:stretch>
            <a:fillRect/>
          </a:stretch>
        </p:blipFill>
        <p:spPr bwMode="auto">
          <a:xfrm>
            <a:off x="4165600" y="4648200"/>
            <a:ext cx="152400" cy="152400"/>
          </a:xfrm>
          <a:prstGeom prst="rect">
            <a:avLst/>
          </a:prstGeom>
          <a:noFill/>
          <a:effectLst/>
        </p:spPr>
      </p:pic>
      <p:pic>
        <p:nvPicPr>
          <p:cNvPr id="80" name="Pic">
            <a:extLst>
              <a:ext uri="{FF2B5EF4-FFF2-40B4-BE49-F238E27FC236}">
                <a16:creationId xmlns:a16="http://schemas.microsoft.com/office/drawing/2014/main" id="{776E9CE6-887C-F88F-A3B9-EE5CF650897C}"/>
              </a:ext>
            </a:extLst>
          </p:cNvPr>
          <p:cNvPicPr>
            <a:picLocks/>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 uri="{6F801314-5768-4EAC-8CED-0F2297F94238}"/>
            </a:extLst>
          </a:blip>
          <a:stretch>
            <a:fillRect/>
          </a:stretch>
        </p:blipFill>
        <p:spPr bwMode="auto">
          <a:xfrm>
            <a:off x="7975600" y="4800600"/>
            <a:ext cx="152400" cy="152400"/>
          </a:xfrm>
          <a:prstGeom prst="rect">
            <a:avLst/>
          </a:prstGeom>
          <a:noFill/>
          <a:effectLst/>
        </p:spPr>
      </p:pic>
      <p:pic>
        <p:nvPicPr>
          <p:cNvPr id="86" name="Pic">
            <a:extLst>
              <a:ext uri="{FF2B5EF4-FFF2-40B4-BE49-F238E27FC236}">
                <a16:creationId xmlns:a16="http://schemas.microsoft.com/office/drawing/2014/main" id="{BE629F8D-CDA6-7EA0-7A85-E6572783C9D2}"/>
              </a:ext>
            </a:extLst>
          </p:cNvPr>
          <p:cNvPicPr>
            <a:picLocks/>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5"/>
              </a:ext>
              <a:ext uri="{6F801314-5768-4EAC-8CED-0F2297F94238}"/>
            </a:extLst>
          </a:blip>
          <a:stretch>
            <a:fillRect/>
          </a:stretch>
        </p:blipFill>
        <p:spPr bwMode="auto">
          <a:xfrm>
            <a:off x="2438400" y="4038600"/>
            <a:ext cx="152400" cy="152400"/>
          </a:xfrm>
          <a:prstGeom prst="rect">
            <a:avLst/>
          </a:prstGeom>
          <a:noFill/>
          <a:effectLst/>
        </p:spPr>
      </p:pic>
      <p:pic>
        <p:nvPicPr>
          <p:cNvPr id="87" name="Pic">
            <a:extLst>
              <a:ext uri="{FF2B5EF4-FFF2-40B4-BE49-F238E27FC236}">
                <a16:creationId xmlns:a16="http://schemas.microsoft.com/office/drawing/2014/main" id="{018AF66D-D475-2682-7DD7-434386BA9757}"/>
              </a:ext>
            </a:extLst>
          </p:cNvPr>
          <p:cNvPicPr>
            <a:picLocks/>
          </p:cNvPicPr>
          <p:nvPr>
            <p:custDataLst>
              <p:tags r:id="rId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 uri="{6F801314-5768-4EAC-8CED-0F2297F94238}"/>
            </a:extLst>
          </a:blip>
          <a:stretch>
            <a:fillRect/>
          </a:stretch>
        </p:blipFill>
        <p:spPr bwMode="auto">
          <a:xfrm>
            <a:off x="9982200" y="2006600"/>
            <a:ext cx="152400" cy="152400"/>
          </a:xfrm>
          <a:prstGeom prst="rect">
            <a:avLst/>
          </a:prstGeom>
          <a:noFill/>
          <a:effectLst/>
        </p:spPr>
      </p:pic>
      <p:cxnSp>
        <p:nvCxnSpPr>
          <p:cNvPr id="41" name="Connector: Elbow 40">
            <a:extLst>
              <a:ext uri="{FF2B5EF4-FFF2-40B4-BE49-F238E27FC236}">
                <a16:creationId xmlns:a16="http://schemas.microsoft.com/office/drawing/2014/main" id="{FEFC0EA1-DD83-3C99-A7CA-C504CAD27882}"/>
              </a:ext>
            </a:extLst>
          </p:cNvPr>
          <p:cNvCxnSpPr>
            <a:cxnSpLocks/>
            <a:stCxn id="12" idx="3"/>
            <a:endCxn id="17" idx="1"/>
          </p:cNvCxnSpPr>
          <p:nvPr/>
        </p:nvCxnSpPr>
        <p:spPr>
          <a:xfrm>
            <a:off x="1930400" y="2156619"/>
            <a:ext cx="406400" cy="56118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C5391E23-08BF-1BD5-0398-21B0D2DE47F8}"/>
              </a:ext>
            </a:extLst>
          </p:cNvPr>
          <p:cNvCxnSpPr>
            <a:cxnSpLocks/>
            <a:stCxn id="12" idx="3"/>
            <a:endCxn id="17" idx="1"/>
          </p:cNvCxnSpPr>
          <p:nvPr/>
        </p:nvCxnSpPr>
        <p:spPr>
          <a:xfrm>
            <a:off x="1930400" y="2156619"/>
            <a:ext cx="406400" cy="561181"/>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Elbow 73">
            <a:extLst>
              <a:ext uri="{FF2B5EF4-FFF2-40B4-BE49-F238E27FC236}">
                <a16:creationId xmlns:a16="http://schemas.microsoft.com/office/drawing/2014/main" id="{C2C2C9CF-F047-AFE9-EF95-3954F586F2F1}"/>
              </a:ext>
            </a:extLst>
          </p:cNvPr>
          <p:cNvCxnSpPr>
            <a:cxnSpLocks/>
            <a:stCxn id="13" idx="3"/>
            <a:endCxn id="17" idx="1"/>
          </p:cNvCxnSpPr>
          <p:nvPr/>
        </p:nvCxnSpPr>
        <p:spPr>
          <a:xfrm flipV="1">
            <a:off x="1930400" y="2717800"/>
            <a:ext cx="406400" cy="272257"/>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Elbow 74">
            <a:extLst>
              <a:ext uri="{FF2B5EF4-FFF2-40B4-BE49-F238E27FC236}">
                <a16:creationId xmlns:a16="http://schemas.microsoft.com/office/drawing/2014/main" id="{9A7B52A2-ED5A-BC91-28B4-B37A39A9676C}"/>
              </a:ext>
            </a:extLst>
          </p:cNvPr>
          <p:cNvCxnSpPr>
            <a:cxnSpLocks/>
            <a:stCxn id="14" idx="3"/>
            <a:endCxn id="17" idx="1"/>
          </p:cNvCxnSpPr>
          <p:nvPr/>
        </p:nvCxnSpPr>
        <p:spPr>
          <a:xfrm flipV="1">
            <a:off x="1930400" y="2717800"/>
            <a:ext cx="406400" cy="11049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Elbow 75">
            <a:extLst>
              <a:ext uri="{FF2B5EF4-FFF2-40B4-BE49-F238E27FC236}">
                <a16:creationId xmlns:a16="http://schemas.microsoft.com/office/drawing/2014/main" id="{43D93B36-BEE1-DC00-1219-A76FCBEA0690}"/>
              </a:ext>
            </a:extLst>
          </p:cNvPr>
          <p:cNvCxnSpPr>
            <a:cxnSpLocks/>
            <a:stCxn id="15" idx="3"/>
            <a:endCxn id="17" idx="1"/>
          </p:cNvCxnSpPr>
          <p:nvPr/>
        </p:nvCxnSpPr>
        <p:spPr>
          <a:xfrm flipV="1">
            <a:off x="1930400" y="2717800"/>
            <a:ext cx="406400" cy="1937544"/>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Elbow 76">
            <a:extLst>
              <a:ext uri="{FF2B5EF4-FFF2-40B4-BE49-F238E27FC236}">
                <a16:creationId xmlns:a16="http://schemas.microsoft.com/office/drawing/2014/main" id="{479067BC-1C85-6E7E-0BE1-412CAA3313D5}"/>
              </a:ext>
            </a:extLst>
          </p:cNvPr>
          <p:cNvCxnSpPr>
            <a:cxnSpLocks/>
            <a:stCxn id="16" idx="3"/>
            <a:endCxn id="17" idx="1"/>
          </p:cNvCxnSpPr>
          <p:nvPr/>
        </p:nvCxnSpPr>
        <p:spPr>
          <a:xfrm flipV="1">
            <a:off x="1930400" y="2717800"/>
            <a:ext cx="406400" cy="2770982"/>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87831F96-9E8C-F564-4838-043B0DA53F5C}"/>
              </a:ext>
            </a:extLst>
          </p:cNvPr>
          <p:cNvCxnSpPr>
            <a:cxnSpLocks/>
            <a:stCxn id="17" idx="2"/>
            <a:endCxn id="18" idx="0"/>
          </p:cNvCxnSpPr>
          <p:nvPr/>
        </p:nvCxnSpPr>
        <p:spPr>
          <a:xfrm>
            <a:off x="3048000" y="3683000"/>
            <a:ext cx="0" cy="228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Elbow 81">
            <a:extLst>
              <a:ext uri="{FF2B5EF4-FFF2-40B4-BE49-F238E27FC236}">
                <a16:creationId xmlns:a16="http://schemas.microsoft.com/office/drawing/2014/main" id="{0D32A412-AAEE-CBCF-B8BF-3E5C017A0FE1}"/>
              </a:ext>
            </a:extLst>
          </p:cNvPr>
          <p:cNvCxnSpPr>
            <a:cxnSpLocks/>
            <a:stCxn id="18" idx="3"/>
            <a:endCxn id="19" idx="1"/>
          </p:cNvCxnSpPr>
          <p:nvPr/>
        </p:nvCxnSpPr>
        <p:spPr>
          <a:xfrm flipV="1">
            <a:off x="3759200" y="3022600"/>
            <a:ext cx="304800" cy="18542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Elbow 82">
            <a:extLst>
              <a:ext uri="{FF2B5EF4-FFF2-40B4-BE49-F238E27FC236}">
                <a16:creationId xmlns:a16="http://schemas.microsoft.com/office/drawing/2014/main" id="{C5149B8F-65E6-85A9-D0B7-0327290D2B80}"/>
              </a:ext>
            </a:extLst>
          </p:cNvPr>
          <p:cNvCxnSpPr>
            <a:cxnSpLocks/>
            <a:stCxn id="21" idx="3"/>
            <a:endCxn id="23" idx="1"/>
          </p:cNvCxnSpPr>
          <p:nvPr/>
        </p:nvCxnSpPr>
        <p:spPr>
          <a:xfrm flipV="1">
            <a:off x="7569200" y="2463800"/>
            <a:ext cx="304800" cy="5588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7CFC5B19-B34B-F16D-D187-EFD5122599C9}"/>
              </a:ext>
            </a:extLst>
          </p:cNvPr>
          <p:cNvCxnSpPr>
            <a:cxnSpLocks/>
            <a:stCxn id="23" idx="2"/>
            <a:endCxn id="24" idx="0"/>
          </p:cNvCxnSpPr>
          <p:nvPr/>
        </p:nvCxnSpPr>
        <p:spPr>
          <a:xfrm>
            <a:off x="8724900" y="3175000"/>
            <a:ext cx="0" cy="101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Elbow 89">
            <a:extLst>
              <a:ext uri="{FF2B5EF4-FFF2-40B4-BE49-F238E27FC236}">
                <a16:creationId xmlns:a16="http://schemas.microsoft.com/office/drawing/2014/main" id="{78A45F1C-657E-9F1E-DA3A-19F8BFFCBCC9}"/>
              </a:ext>
            </a:extLst>
          </p:cNvPr>
          <p:cNvCxnSpPr>
            <a:cxnSpLocks/>
            <a:stCxn id="25" idx="3"/>
            <a:endCxn id="26" idx="1"/>
          </p:cNvCxnSpPr>
          <p:nvPr/>
        </p:nvCxnSpPr>
        <p:spPr>
          <a:xfrm flipV="1">
            <a:off x="9575800" y="2743200"/>
            <a:ext cx="304800" cy="25273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Elbow 90">
            <a:extLst>
              <a:ext uri="{FF2B5EF4-FFF2-40B4-BE49-F238E27FC236}">
                <a16:creationId xmlns:a16="http://schemas.microsoft.com/office/drawing/2014/main" id="{55599926-4F9F-7E0A-6057-2A268244E762}"/>
              </a:ext>
            </a:extLst>
          </p:cNvPr>
          <p:cNvCxnSpPr>
            <a:cxnSpLocks/>
            <a:stCxn id="25" idx="3"/>
            <a:endCxn id="27" idx="1"/>
          </p:cNvCxnSpPr>
          <p:nvPr/>
        </p:nvCxnSpPr>
        <p:spPr>
          <a:xfrm flipV="1">
            <a:off x="9575800" y="4787900"/>
            <a:ext cx="304800" cy="4826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Freeform: Shape 91">
            <a:extLst>
              <a:ext uri="{FF2B5EF4-FFF2-40B4-BE49-F238E27FC236}">
                <a16:creationId xmlns:a16="http://schemas.microsoft.com/office/drawing/2014/main" id="{C75CA043-99FD-94B1-2815-C8756DED7658}"/>
              </a:ext>
            </a:extLst>
          </p:cNvPr>
          <p:cNvSpPr/>
          <p:nvPr/>
        </p:nvSpPr>
        <p:spPr>
          <a:xfrm>
            <a:off x="7366000" y="4292600"/>
            <a:ext cx="508001" cy="114301"/>
          </a:xfrm>
          <a:custGeom>
            <a:avLst/>
            <a:gdLst/>
            <a:ahLst/>
            <a:cxnLst/>
            <a:rect l="0" t="0" r="0" b="0"/>
            <a:pathLst>
              <a:path w="508001" h="114301">
                <a:moveTo>
                  <a:pt x="0" y="0"/>
                </a:moveTo>
                <a:lnTo>
                  <a:pt x="0" y="114300"/>
                </a:lnTo>
                <a:lnTo>
                  <a:pt x="508000" y="114300"/>
                </a:ln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pic>
        <p:nvPicPr>
          <p:cNvPr id="94" name="Pic">
            <a:extLst>
              <a:ext uri="{FF2B5EF4-FFF2-40B4-BE49-F238E27FC236}">
                <a16:creationId xmlns:a16="http://schemas.microsoft.com/office/drawing/2014/main" id="{5E0590BA-6FB5-054D-4AC9-94E345A356C9}"/>
              </a:ext>
            </a:extLst>
          </p:cNvPr>
          <p:cNvPicPr>
            <a:picLocks/>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7"/>
              </a:ext>
              <a:ext uri="{6F801314-5768-4EAC-8CED-0F2297F94238}"/>
            </a:extLst>
          </a:blip>
          <a:stretch>
            <a:fillRect/>
          </a:stretch>
        </p:blipFill>
        <p:spPr bwMode="auto">
          <a:xfrm>
            <a:off x="279400" y="1828800"/>
            <a:ext cx="152400" cy="152400"/>
          </a:xfrm>
          <a:prstGeom prst="rect">
            <a:avLst/>
          </a:prstGeom>
          <a:noFill/>
          <a:effectLst/>
        </p:spPr>
      </p:pic>
      <p:pic>
        <p:nvPicPr>
          <p:cNvPr id="95" name="Pic">
            <a:extLst>
              <a:ext uri="{FF2B5EF4-FFF2-40B4-BE49-F238E27FC236}">
                <a16:creationId xmlns:a16="http://schemas.microsoft.com/office/drawing/2014/main" id="{E8DE6B62-0823-CEEA-FA3F-1002AA701D06}"/>
              </a:ext>
            </a:extLst>
          </p:cNvPr>
          <p:cNvPicPr>
            <a:picLocks/>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 uri="{6F801314-5768-4EAC-8CED-0F2297F94238}"/>
            </a:extLst>
          </a:blip>
          <a:stretch>
            <a:fillRect/>
          </a:stretch>
        </p:blipFill>
        <p:spPr bwMode="auto">
          <a:xfrm>
            <a:off x="279400" y="2667000"/>
            <a:ext cx="152400" cy="152400"/>
          </a:xfrm>
          <a:prstGeom prst="rect">
            <a:avLst/>
          </a:prstGeom>
          <a:noFill/>
          <a:effectLst/>
        </p:spPr>
      </p:pic>
      <p:pic>
        <p:nvPicPr>
          <p:cNvPr id="97" name="Pic">
            <a:extLst>
              <a:ext uri="{FF2B5EF4-FFF2-40B4-BE49-F238E27FC236}">
                <a16:creationId xmlns:a16="http://schemas.microsoft.com/office/drawing/2014/main" id="{73B66722-7F79-2C71-8CF9-7229753692A4}"/>
              </a:ext>
            </a:extLst>
          </p:cNvPr>
          <p:cNvPicPr>
            <a:picLocks/>
          </p:cNvPicPr>
          <p:nvPr>
            <p:custDataLst>
              <p:tags r:id="rId1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9"/>
              </a:ext>
              <a:ext uri="{6F801314-5768-4EAC-8CED-0F2297F94238}"/>
            </a:extLst>
          </a:blip>
          <a:stretch>
            <a:fillRect/>
          </a:stretch>
        </p:blipFill>
        <p:spPr bwMode="auto">
          <a:xfrm>
            <a:off x="279400" y="3505200"/>
            <a:ext cx="152400" cy="152400"/>
          </a:xfrm>
          <a:prstGeom prst="rect">
            <a:avLst/>
          </a:prstGeom>
          <a:noFill/>
          <a:effectLst/>
        </p:spPr>
      </p:pic>
      <p:pic>
        <p:nvPicPr>
          <p:cNvPr id="98" name="Pic">
            <a:extLst>
              <a:ext uri="{FF2B5EF4-FFF2-40B4-BE49-F238E27FC236}">
                <a16:creationId xmlns:a16="http://schemas.microsoft.com/office/drawing/2014/main" id="{68ED1A6F-F9B2-FC2C-542C-1ED045AB4785}"/>
              </a:ext>
            </a:extLst>
          </p:cNvPr>
          <p:cNvPicPr>
            <a:picLocks/>
          </p:cNvPicPr>
          <p:nvPr>
            <p:custDataLst>
              <p:tags r:id="rId1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 uri="{6F801314-5768-4EAC-8CED-0F2297F94238}"/>
            </a:extLst>
          </a:blip>
          <a:stretch>
            <a:fillRect/>
          </a:stretch>
        </p:blipFill>
        <p:spPr bwMode="auto">
          <a:xfrm>
            <a:off x="279400" y="5168900"/>
            <a:ext cx="152400" cy="152400"/>
          </a:xfrm>
          <a:prstGeom prst="rect">
            <a:avLst/>
          </a:prstGeom>
          <a:noFill/>
          <a:effectLst/>
        </p:spPr>
      </p:pic>
      <p:pic>
        <p:nvPicPr>
          <p:cNvPr id="96" name="Pic">
            <a:extLst>
              <a:ext uri="{FF2B5EF4-FFF2-40B4-BE49-F238E27FC236}">
                <a16:creationId xmlns:a16="http://schemas.microsoft.com/office/drawing/2014/main" id="{CD2A3B00-32E7-855C-9690-EE0707AFB7F6}"/>
              </a:ext>
            </a:extLst>
          </p:cNvPr>
          <p:cNvPicPr>
            <a:picLocks/>
          </p:cNvPicPr>
          <p:nvPr>
            <p:custDataLst>
              <p:tags r:id="rId1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1"/>
              </a:ext>
              <a:ext uri="{6F801314-5768-4EAC-8CED-0F2297F94238}"/>
            </a:extLst>
          </a:blip>
          <a:stretch>
            <a:fillRect/>
          </a:stretch>
        </p:blipFill>
        <p:spPr bwMode="auto">
          <a:xfrm>
            <a:off x="2438400" y="1879600"/>
            <a:ext cx="152400" cy="152400"/>
          </a:xfrm>
          <a:prstGeom prst="rect">
            <a:avLst/>
          </a:prstGeom>
          <a:noFill/>
          <a:effectLst/>
        </p:spPr>
      </p:pic>
      <p:pic>
        <p:nvPicPr>
          <p:cNvPr id="99" name="Pic">
            <a:extLst>
              <a:ext uri="{FF2B5EF4-FFF2-40B4-BE49-F238E27FC236}">
                <a16:creationId xmlns:a16="http://schemas.microsoft.com/office/drawing/2014/main" id="{45638277-AD4F-7C2D-B925-A6641CF6F4BC}"/>
              </a:ext>
            </a:extLst>
          </p:cNvPr>
          <p:cNvPicPr>
            <a:picLocks/>
          </p:cNvPicPr>
          <p:nvPr>
            <p:custDataLst>
              <p:tags r:id="rId1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 uri="{6F801314-5768-4EAC-8CED-0F2297F94238}"/>
            </a:extLst>
          </a:blip>
          <a:stretch>
            <a:fillRect/>
          </a:stretch>
        </p:blipFill>
        <p:spPr bwMode="auto">
          <a:xfrm>
            <a:off x="7975600" y="3378200"/>
            <a:ext cx="152400" cy="152400"/>
          </a:xfrm>
          <a:prstGeom prst="rect">
            <a:avLst/>
          </a:prstGeom>
          <a:noFill/>
          <a:effectLst/>
        </p:spPr>
      </p:pic>
      <p:pic>
        <p:nvPicPr>
          <p:cNvPr id="101" name="Pic">
            <a:extLst>
              <a:ext uri="{FF2B5EF4-FFF2-40B4-BE49-F238E27FC236}">
                <a16:creationId xmlns:a16="http://schemas.microsoft.com/office/drawing/2014/main" id="{03C08591-5496-7F40-7ABC-8B4616770B8C}"/>
              </a:ext>
            </a:extLst>
          </p:cNvPr>
          <p:cNvPicPr>
            <a:picLocks/>
          </p:cNvPicPr>
          <p:nvPr>
            <p:custDataLst>
              <p:tags r:id="rId1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3"/>
              </a:ext>
              <a:ext uri="{6F801314-5768-4EAC-8CED-0F2297F94238}"/>
            </a:extLst>
          </a:blip>
          <a:stretch>
            <a:fillRect/>
          </a:stretch>
        </p:blipFill>
        <p:spPr bwMode="auto">
          <a:xfrm>
            <a:off x="279400" y="4330700"/>
            <a:ext cx="152400" cy="152400"/>
          </a:xfrm>
          <a:prstGeom prst="rect">
            <a:avLst/>
          </a:prstGeom>
          <a:noFill/>
          <a:effectLst/>
        </p:spPr>
      </p:pic>
      <p:cxnSp>
        <p:nvCxnSpPr>
          <p:cNvPr id="105" name="Straight Arrow Connector 104">
            <a:extLst>
              <a:ext uri="{FF2B5EF4-FFF2-40B4-BE49-F238E27FC236}">
                <a16:creationId xmlns:a16="http://schemas.microsoft.com/office/drawing/2014/main" id="{FAA6DE6F-54E7-C333-7FE2-117DE737A33C}"/>
              </a:ext>
            </a:extLst>
          </p:cNvPr>
          <p:cNvCxnSpPr>
            <a:cxnSpLocks/>
            <a:stCxn id="24" idx="2"/>
            <a:endCxn id="25" idx="0"/>
          </p:cNvCxnSpPr>
          <p:nvPr/>
        </p:nvCxnSpPr>
        <p:spPr>
          <a:xfrm>
            <a:off x="8724900" y="4597400"/>
            <a:ext cx="0" cy="101600"/>
          </a:xfrm>
          <a:prstGeom prst="straightConnector1">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pic>
        <p:nvPicPr>
          <p:cNvPr id="32" name="Pic">
            <a:extLst>
              <a:ext uri="{FF2B5EF4-FFF2-40B4-BE49-F238E27FC236}">
                <a16:creationId xmlns:a16="http://schemas.microsoft.com/office/drawing/2014/main" id="{6F174009-1E41-AFD8-97EE-1FA3D62BB6F3}"/>
              </a:ext>
            </a:extLst>
          </p:cNvPr>
          <p:cNvPicPr>
            <a:picLocks/>
          </p:cNvPicPr>
          <p:nvPr>
            <p:custDataLst>
              <p:tags r:id="rId1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4"/>
              </a:ext>
              <a:ext uri="{6F801314-5768-4EAC-8CED-0F2297F94238}"/>
            </a:extLst>
          </a:blip>
          <a:stretch>
            <a:fillRect/>
          </a:stretch>
        </p:blipFill>
        <p:spPr bwMode="auto">
          <a:xfrm>
            <a:off x="6502400" y="6183313"/>
            <a:ext cx="152400" cy="152400"/>
          </a:xfrm>
          <a:prstGeom prst="rect">
            <a:avLst/>
          </a:prstGeom>
          <a:noFill/>
          <a:effectLst/>
        </p:spPr>
      </p:pic>
    </p:spTree>
    <p:extLst>
      <p:ext uri="{BB962C8B-B14F-4D97-AF65-F5344CB8AC3E}">
        <p14:creationId xmlns:p14="http://schemas.microsoft.com/office/powerpoint/2010/main" val="7778028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EFD313-1955-6809-8FA4-50C6808F22A5}"/>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CD5A014-60B3-7D61-8693-FF4F8569845C}"/>
              </a:ext>
            </a:extLst>
          </p:cNvPr>
          <p:cNvGraphicFramePr>
            <a:graphicFrameLocks/>
          </p:cNvGraphicFramePr>
          <p:nvPr>
            <p:custDataLst>
              <p:tags r:id="rId1"/>
            </p:custDataLst>
            <p:extLst>
              <p:ext uri="{D42A27DB-BD31-4B8C-83A1-F6EECF244321}">
                <p14:modId xmlns:p14="http://schemas.microsoft.com/office/powerpoint/2010/main" val="10521559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443" imgH="443" progId="TCLayout.ActiveDocument.1">
                  <p:embed/>
                </p:oleObj>
              </mc:Choice>
              <mc:Fallback>
                <p:oleObj name="thinkcell Slide" r:id="rId19" imgW="443" imgH="443" progId="TCLayout.ActiveDocument.1">
                  <p:embed/>
                  <p:pic>
                    <p:nvPicPr>
                      <p:cNvPr id="3" name="thinkcell data - do not delete" hidden="1">
                        <a:extLst>
                          <a:ext uri="{FF2B5EF4-FFF2-40B4-BE49-F238E27FC236}">
                            <a16:creationId xmlns:a16="http://schemas.microsoft.com/office/drawing/2014/main" id="{2CD5A014-60B3-7D61-8693-FF4F8569845C}"/>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ABE7D08-9283-4530-DF2B-6045DE3ACA3D}"/>
              </a:ext>
            </a:extLst>
          </p:cNvPr>
          <p:cNvSpPr>
            <a:spLocks noGrp="1"/>
          </p:cNvSpPr>
          <p:nvPr>
            <p:ph type="title"/>
          </p:nvPr>
        </p:nvSpPr>
        <p:spPr>
          <a:xfrm>
            <a:off x="254000" y="177800"/>
            <a:ext cx="11684000" cy="787400"/>
          </a:xfrm>
        </p:spPr>
        <p:txBody>
          <a:bodyPr/>
          <a:lstStyle/>
          <a:p>
            <a:r>
              <a:rPr lang="en-US" dirty="0"/>
              <a:t>Data Sources</a:t>
            </a:r>
          </a:p>
        </p:txBody>
      </p:sp>
      <p:sp>
        <p:nvSpPr>
          <p:cNvPr id="4" name="Rectangle: Rounded Corners 3">
            <a:extLst>
              <a:ext uri="{FF2B5EF4-FFF2-40B4-BE49-F238E27FC236}">
                <a16:creationId xmlns:a16="http://schemas.microsoft.com/office/drawing/2014/main" id="{88732FE2-CE84-1455-3198-8B24E5052410}"/>
              </a:ext>
            </a:extLst>
          </p:cNvPr>
          <p:cNvSpPr/>
          <p:nvPr/>
        </p:nvSpPr>
        <p:spPr>
          <a:xfrm>
            <a:off x="2108200" y="1016000"/>
            <a:ext cx="9880600" cy="5613400"/>
          </a:xfrm>
          <a:prstGeom prst="roundRect">
            <a:avLst>
              <a:gd name="adj" fmla="val 3000"/>
            </a:avLst>
          </a:prstGeom>
          <a:noFill/>
          <a:ln w="9525" cap="flat" cmpd="sng" algn="ctr">
            <a:solidFill>
              <a:schemeClr val="bg2">
                <a:lumMod val="85000"/>
              </a:schemeClr>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88900" tIns="76200" rIns="88900" bIns="76200" rtlCol="0" anchor="t">
            <a:noAutofit/>
          </a:bodyPr>
          <a:lstStyle/>
          <a:p>
            <a:r>
              <a:rPr lang="en-MY"/>
              <a:t> </a:t>
            </a:r>
          </a:p>
        </p:txBody>
      </p:sp>
      <p:sp>
        <p:nvSpPr>
          <p:cNvPr id="5" name="Rectangle 4">
            <a:extLst>
              <a:ext uri="{FF2B5EF4-FFF2-40B4-BE49-F238E27FC236}">
                <a16:creationId xmlns:a16="http://schemas.microsoft.com/office/drawing/2014/main" id="{2287B9D8-6582-2CF1-6C71-AB58458C3A37}"/>
              </a:ext>
            </a:extLst>
          </p:cNvPr>
          <p:cNvSpPr/>
          <p:nvPr/>
        </p:nvSpPr>
        <p:spPr>
          <a:xfrm>
            <a:off x="2235200" y="1066800"/>
            <a:ext cx="53340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r>
              <a:rPr lang="en-MY" sz="1400" b="1" dirty="0">
                <a:solidFill>
                  <a:schemeClr val="tx1"/>
                </a:solidFill>
              </a:rPr>
              <a:t>Databricks  Data Intelligence Platform</a:t>
            </a:r>
          </a:p>
        </p:txBody>
      </p:sp>
      <p:sp>
        <p:nvSpPr>
          <p:cNvPr id="6" name="Rectangle 5">
            <a:extLst>
              <a:ext uri="{FF2B5EF4-FFF2-40B4-BE49-F238E27FC236}">
                <a16:creationId xmlns:a16="http://schemas.microsoft.com/office/drawing/2014/main" id="{5F816967-2A15-F6BE-28AE-89164429536F}"/>
              </a:ext>
            </a:extLst>
          </p:cNvPr>
          <p:cNvSpPr/>
          <p:nvPr/>
        </p:nvSpPr>
        <p:spPr>
          <a:xfrm>
            <a:off x="8890000" y="1066800"/>
            <a:ext cx="29718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MY" sz="1000" b="1" dirty="0">
                <a:solidFill>
                  <a:schemeClr val="bg1">
                    <a:lumMod val="50000"/>
                  </a:schemeClr>
                </a:solidFill>
              </a:rPr>
              <a:t>ARCHITECTURE</a:t>
            </a:r>
          </a:p>
        </p:txBody>
      </p:sp>
      <p:sp>
        <p:nvSpPr>
          <p:cNvPr id="7" name="Rectangle: Rounded Corners 6">
            <a:extLst>
              <a:ext uri="{FF2B5EF4-FFF2-40B4-BE49-F238E27FC236}">
                <a16:creationId xmlns:a16="http://schemas.microsoft.com/office/drawing/2014/main" id="{BCE32663-1DE9-FDE3-08ED-AAEA512BC41A}"/>
              </a:ext>
            </a:extLst>
          </p:cNvPr>
          <p:cNvSpPr/>
          <p:nvPr/>
        </p:nvSpPr>
        <p:spPr>
          <a:xfrm>
            <a:off x="1016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dirty="0">
                <a:solidFill>
                  <a:schemeClr val="tx1">
                    <a:lumMod val="75000"/>
                    <a:lumOff val="25000"/>
                  </a:schemeClr>
                </a:solidFill>
              </a:rPr>
              <a:t>Public data sources</a:t>
            </a:r>
          </a:p>
        </p:txBody>
      </p:sp>
      <p:sp>
        <p:nvSpPr>
          <p:cNvPr id="8" name="Rectangle: Rounded Corners 7">
            <a:extLst>
              <a:ext uri="{FF2B5EF4-FFF2-40B4-BE49-F238E27FC236}">
                <a16:creationId xmlns:a16="http://schemas.microsoft.com/office/drawing/2014/main" id="{6AB649A1-7D0E-2E33-A78E-A6D502A37AA8}"/>
              </a:ext>
            </a:extLst>
          </p:cNvPr>
          <p:cNvSpPr/>
          <p:nvPr/>
        </p:nvSpPr>
        <p:spPr>
          <a:xfrm>
            <a:off x="2235200" y="1371600"/>
            <a:ext cx="16256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Data ingestion</a:t>
            </a:r>
          </a:p>
        </p:txBody>
      </p:sp>
      <p:sp>
        <p:nvSpPr>
          <p:cNvPr id="9" name="Rectangle: Rounded Corners 8">
            <a:extLst>
              <a:ext uri="{FF2B5EF4-FFF2-40B4-BE49-F238E27FC236}">
                <a16:creationId xmlns:a16="http://schemas.microsoft.com/office/drawing/2014/main" id="{FFC24086-0E6B-DB12-A0A0-F76306158917}"/>
              </a:ext>
            </a:extLst>
          </p:cNvPr>
          <p:cNvSpPr/>
          <p:nvPr/>
        </p:nvSpPr>
        <p:spPr>
          <a:xfrm>
            <a:off x="3962400" y="1371600"/>
            <a:ext cx="37084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Lakehouse · Medallion architecture</a:t>
            </a:r>
          </a:p>
        </p:txBody>
      </p:sp>
      <p:sp>
        <p:nvSpPr>
          <p:cNvPr id="10" name="Rectangle: Rounded Corners 9">
            <a:extLst>
              <a:ext uri="{FF2B5EF4-FFF2-40B4-BE49-F238E27FC236}">
                <a16:creationId xmlns:a16="http://schemas.microsoft.com/office/drawing/2014/main" id="{5B35CE02-3298-3CC1-A6BA-DF30A1011474}"/>
              </a:ext>
            </a:extLst>
          </p:cNvPr>
          <p:cNvSpPr/>
          <p:nvPr/>
        </p:nvSpPr>
        <p:spPr>
          <a:xfrm>
            <a:off x="77724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Intelligence · Serving</a:t>
            </a:r>
          </a:p>
        </p:txBody>
      </p:sp>
      <p:sp>
        <p:nvSpPr>
          <p:cNvPr id="11" name="Rectangle: Rounded Corners 10">
            <a:extLst>
              <a:ext uri="{FF2B5EF4-FFF2-40B4-BE49-F238E27FC236}">
                <a16:creationId xmlns:a16="http://schemas.microsoft.com/office/drawing/2014/main" id="{9A11181C-3A55-B54D-686D-C4DF5B90A706}"/>
              </a:ext>
            </a:extLst>
          </p:cNvPr>
          <p:cNvSpPr/>
          <p:nvPr/>
        </p:nvSpPr>
        <p:spPr>
          <a:xfrm>
            <a:off x="9779000" y="1371600"/>
            <a:ext cx="2082800" cy="4572000"/>
          </a:xfrm>
          <a:prstGeom prst="roundRect">
            <a:avLst>
              <a:gd name="adj" fmla="val 3500"/>
            </a:avLst>
          </a:prstGeom>
          <a:solidFill>
            <a:schemeClr val="accent1">
              <a:lumMod val="8000"/>
              <a:lumOff val="92000"/>
            </a:schemeClr>
          </a:solidFill>
          <a:ln w="9525" cap="flat" cmpd="sng" algn="ctr">
            <a:solidFill>
              <a:schemeClr val="accent1">
                <a:lumMod val="40000"/>
                <a:lumOff val="6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Residents and agencies · AI agents</a:t>
            </a:r>
          </a:p>
        </p:txBody>
      </p:sp>
      <p:sp>
        <p:nvSpPr>
          <p:cNvPr id="12" name="Rectangle: Rounded Corners 11">
            <a:extLst>
              <a:ext uri="{FF2B5EF4-FFF2-40B4-BE49-F238E27FC236}">
                <a16:creationId xmlns:a16="http://schemas.microsoft.com/office/drawing/2014/main" id="{71C30B7E-20CE-C2C1-BAD2-EDB757992EFF}"/>
              </a:ext>
            </a:extLst>
          </p:cNvPr>
          <p:cNvSpPr/>
          <p:nvPr/>
        </p:nvSpPr>
        <p:spPr>
          <a:xfrm>
            <a:off x="177800" y="1752600"/>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PUB Flood Alerts</a:t>
            </a:r>
          </a:p>
          <a:p>
            <a:r>
              <a:rPr lang="en-US" sz="1100">
                <a:solidFill>
                  <a:schemeClr val="tx1"/>
                </a:solidFill>
              </a:rPr>
              <a:t>Drains 90% full, flash floods; Telegram posts since 2021</a:t>
            </a:r>
            <a:endParaRPr lang="en-MY"/>
          </a:p>
        </p:txBody>
      </p:sp>
      <p:sp>
        <p:nvSpPr>
          <p:cNvPr id="13" name="Rectangle: Rounded Corners 12">
            <a:extLst>
              <a:ext uri="{FF2B5EF4-FFF2-40B4-BE49-F238E27FC236}">
                <a16:creationId xmlns:a16="http://schemas.microsoft.com/office/drawing/2014/main" id="{0BB090EF-1176-3D54-EDF0-0F92CA9F79B0}"/>
              </a:ext>
            </a:extLst>
          </p:cNvPr>
          <p:cNvSpPr/>
          <p:nvPr/>
        </p:nvSpPr>
        <p:spPr>
          <a:xfrm>
            <a:off x="177800" y="2586038"/>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Internet Archive</a:t>
            </a:r>
          </a:p>
          <a:p>
            <a:r>
              <a:rPr lang="en-US" sz="1100">
                <a:solidFill>
                  <a:schemeClr val="tx1"/>
                </a:solidFill>
              </a:rPr>
              <a:t>832 deleted PUB posts, recovered from web captures</a:t>
            </a:r>
            <a:endParaRPr lang="en-MY"/>
          </a:p>
        </p:txBody>
      </p:sp>
      <p:sp>
        <p:nvSpPr>
          <p:cNvPr id="14" name="Rectangle: Rounded Corners 13">
            <a:extLst>
              <a:ext uri="{FF2B5EF4-FFF2-40B4-BE49-F238E27FC236}">
                <a16:creationId xmlns:a16="http://schemas.microsoft.com/office/drawing/2014/main" id="{EE6E1252-4A80-EB2D-9DEA-65F9060B48BE}"/>
              </a:ext>
            </a:extLst>
          </p:cNvPr>
          <p:cNvSpPr/>
          <p:nvPr/>
        </p:nvSpPr>
        <p:spPr>
          <a:xfrm>
            <a:off x="177800" y="3419475"/>
            <a:ext cx="1752600" cy="80645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NEA weather</a:t>
            </a:r>
          </a:p>
          <a:p>
            <a:r>
              <a:rPr lang="en-US" sz="1100">
                <a:solidFill>
                  <a:schemeClr val="tx1"/>
                </a:solidFill>
              </a:rPr>
              <a:t>5-min rain, 2-h forecast, wind, humidity (data.gov.sg)</a:t>
            </a:r>
            <a:endParaRPr lang="en-MY"/>
          </a:p>
        </p:txBody>
      </p:sp>
      <p:sp>
        <p:nvSpPr>
          <p:cNvPr id="15" name="Rectangle: Rounded Corners 14">
            <a:extLst>
              <a:ext uri="{FF2B5EF4-FFF2-40B4-BE49-F238E27FC236}">
                <a16:creationId xmlns:a16="http://schemas.microsoft.com/office/drawing/2014/main" id="{A58D289A-C9D2-10CC-0869-9930CE1DEC61}"/>
              </a:ext>
            </a:extLst>
          </p:cNvPr>
          <p:cNvSpPr/>
          <p:nvPr/>
        </p:nvSpPr>
        <p:spPr>
          <a:xfrm>
            <a:off x="177800" y="4251325"/>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Tides</a:t>
            </a:r>
          </a:p>
          <a:p>
            <a:r>
              <a:rPr lang="en-MY" sz="1100">
                <a:solidFill>
                  <a:schemeClr val="tx1"/>
                </a:solidFill>
              </a:rPr>
              <a:t>NEA tide table; UHSLC hourly sea level at Tanjong Pagar</a:t>
            </a:r>
          </a:p>
        </p:txBody>
      </p:sp>
      <p:sp>
        <p:nvSpPr>
          <p:cNvPr id="16" name="Rectangle: Rounded Corners 15">
            <a:extLst>
              <a:ext uri="{FF2B5EF4-FFF2-40B4-BE49-F238E27FC236}">
                <a16:creationId xmlns:a16="http://schemas.microsoft.com/office/drawing/2014/main" id="{CBE607A2-A733-049D-EE80-6E972A3B8003}"/>
              </a:ext>
            </a:extLst>
          </p:cNvPr>
          <p:cNvSpPr/>
          <p:nvPr/>
        </p:nvSpPr>
        <p:spPr>
          <a:xfrm>
            <a:off x="177800" y="5084763"/>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Maps, sensors</a:t>
            </a:r>
          </a:p>
          <a:p>
            <a:r>
              <a:rPr lang="en-MY" sz="1100">
                <a:solidFill>
                  <a:schemeClr val="tx1"/>
                </a:solidFill>
              </a:rPr>
              <a:t>328 PUB water-level sensors, URA land use, SLA, OneMap</a:t>
            </a:r>
          </a:p>
        </p:txBody>
      </p:sp>
      <p:sp>
        <p:nvSpPr>
          <p:cNvPr id="17" name="Rectangle: Rounded Corners 16">
            <a:extLst>
              <a:ext uri="{FF2B5EF4-FFF2-40B4-BE49-F238E27FC236}">
                <a16:creationId xmlns:a16="http://schemas.microsoft.com/office/drawing/2014/main" id="{8D437BEA-C5F3-4BAE-CBED-4A1B802AAA11}"/>
              </a:ext>
            </a:extLst>
          </p:cNvPr>
          <p:cNvSpPr/>
          <p:nvPr/>
        </p:nvSpPr>
        <p:spPr>
          <a:xfrm>
            <a:off x="2336800" y="1752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Jobs</a:t>
            </a:r>
          </a:p>
          <a:p>
            <a:r>
              <a:rPr lang="en-US" sz="1100">
                <a:solidFill>
                  <a:schemeClr val="tx1"/>
                </a:solidFill>
              </a:rPr>
              <a:t>Python fetchers on serverless: new data every 5 min, a nightly repair, one-off backfills</a:t>
            </a:r>
            <a:endParaRPr lang="en-MY"/>
          </a:p>
        </p:txBody>
      </p:sp>
      <p:sp>
        <p:nvSpPr>
          <p:cNvPr id="18" name="Rectangle: Rounded Corners 17">
            <a:extLst>
              <a:ext uri="{FF2B5EF4-FFF2-40B4-BE49-F238E27FC236}">
                <a16:creationId xmlns:a16="http://schemas.microsoft.com/office/drawing/2014/main" id="{31446E20-ECEC-36C0-362B-0BCAAE196AFE}"/>
              </a:ext>
            </a:extLst>
          </p:cNvPr>
          <p:cNvSpPr/>
          <p:nvPr/>
        </p:nvSpPr>
        <p:spPr>
          <a:xfrm>
            <a:off x="2336800" y="3911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Auto Loader</a:t>
            </a:r>
          </a:p>
          <a:p>
            <a:r>
              <a:rPr lang="en-US" sz="1100">
                <a:solidFill>
                  <a:schemeClr val="tx1"/>
                </a:solidFill>
              </a:rPr>
              <a:t>Each fetch lands as a new file in a UC Volume and streams into bronze once</a:t>
            </a:r>
            <a:endParaRPr lang="en-MY"/>
          </a:p>
        </p:txBody>
      </p:sp>
      <p:sp>
        <p:nvSpPr>
          <p:cNvPr id="19" name="Rectangle: Rounded Corners 18">
            <a:extLst>
              <a:ext uri="{FF2B5EF4-FFF2-40B4-BE49-F238E27FC236}">
                <a16:creationId xmlns:a16="http://schemas.microsoft.com/office/drawing/2014/main" id="{3AC09EC4-AFA3-CC76-3330-F50DDE2F28E9}"/>
              </a:ext>
            </a:extLst>
          </p:cNvPr>
          <p:cNvSpPr/>
          <p:nvPr/>
        </p:nvSpPr>
        <p:spPr>
          <a:xfrm>
            <a:off x="4064000" y="1752600"/>
            <a:ext cx="1066800" cy="2540000"/>
          </a:xfrm>
          <a:prstGeom prst="roundRect">
            <a:avLst>
              <a:gd name="adj" fmla="val 8000"/>
            </a:avLst>
          </a:prstGeom>
          <a:solidFill>
            <a:schemeClr val="accent1">
              <a:lumMod val="20000"/>
              <a:lumOff val="80000"/>
            </a:schemeClr>
          </a:solidFill>
          <a:ln w="12700" cap="flat" cmpd="sng" algn="ctr">
            <a:solidFill>
              <a:schemeClr val="accent1">
                <a:lumMod val="60000"/>
                <a:lumOff val="4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Bronze</a:t>
            </a:r>
          </a:p>
          <a:p>
            <a:pPr algn="ctr"/>
            <a:r>
              <a:rPr lang="en-US" sz="1100">
                <a:solidFill>
                  <a:schemeClr val="tx1"/>
                </a:solidFill>
              </a:rPr>
              <a:t>Every API page, post and file as received; full history</a:t>
            </a:r>
            <a:endParaRPr lang="en-MY"/>
          </a:p>
        </p:txBody>
      </p:sp>
      <p:sp>
        <p:nvSpPr>
          <p:cNvPr id="20" name="Rectangle: Rounded Corners 19">
            <a:extLst>
              <a:ext uri="{FF2B5EF4-FFF2-40B4-BE49-F238E27FC236}">
                <a16:creationId xmlns:a16="http://schemas.microsoft.com/office/drawing/2014/main" id="{F6A137E7-5BCB-9B6A-48F8-6840D0603EE3}"/>
              </a:ext>
            </a:extLst>
          </p:cNvPr>
          <p:cNvSpPr/>
          <p:nvPr/>
        </p:nvSpPr>
        <p:spPr>
          <a:xfrm>
            <a:off x="5283200" y="1752600"/>
            <a:ext cx="1066800" cy="2540000"/>
          </a:xfrm>
          <a:prstGeom prst="roundRect">
            <a:avLst>
              <a:gd name="adj" fmla="val 8000"/>
            </a:avLst>
          </a:prstGeom>
          <a:solidFill>
            <a:schemeClr val="bg2">
              <a:lumMod val="90000"/>
            </a:schemeClr>
          </a:solidFill>
          <a:ln w="12700" cap="flat" cmpd="sng" algn="ctr">
            <a:solidFill>
              <a:schemeClr val="bg2">
                <a:lumMod val="6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Silver</a:t>
            </a:r>
          </a:p>
          <a:p>
            <a:pPr algn="ctr"/>
            <a:r>
              <a:rPr lang="en-US" sz="1100">
                <a:solidFill>
                  <a:schemeClr val="tx1"/>
                </a:solidFill>
              </a:rPr>
              <a:t>Readings cleaned, posts parsed, alerts placed in NEA's 47 areas</a:t>
            </a:r>
            <a:endParaRPr lang="en-MY" dirty="0"/>
          </a:p>
        </p:txBody>
      </p:sp>
      <p:sp>
        <p:nvSpPr>
          <p:cNvPr id="21" name="Rectangle: Rounded Corners 20">
            <a:extLst>
              <a:ext uri="{FF2B5EF4-FFF2-40B4-BE49-F238E27FC236}">
                <a16:creationId xmlns:a16="http://schemas.microsoft.com/office/drawing/2014/main" id="{47D0C5C8-DFE3-FC25-1165-90CFA6A37175}"/>
              </a:ext>
            </a:extLst>
          </p:cNvPr>
          <p:cNvSpPr/>
          <p:nvPr/>
        </p:nvSpPr>
        <p:spPr>
          <a:xfrm>
            <a:off x="6502400" y="1752600"/>
            <a:ext cx="1066800" cy="2540000"/>
          </a:xfrm>
          <a:prstGeom prst="roundRect">
            <a:avLst>
              <a:gd name="adj" fmla="val 8000"/>
            </a:avLst>
          </a:prstGeom>
          <a:solidFill>
            <a:schemeClr val="accent2">
              <a:lumMod val="20000"/>
              <a:lumOff val="80000"/>
            </a:schemeClr>
          </a:solidFill>
          <a:ln w="12700" cap="flat" cmpd="sng" algn="ctr">
            <a:solidFill>
              <a:schemeClr val="accent2">
                <a:lumMod val="70000"/>
                <a:lumOff val="3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Gold</a:t>
            </a:r>
          </a:p>
          <a:p>
            <a:pPr algn="ctr"/>
            <a:r>
              <a:rPr lang="en-US" sz="1100">
                <a:solidFill>
                  <a:schemeClr val="tx1"/>
                </a:solidFill>
              </a:rPr>
              <a:t>Each area, every 5 min: rain, forecast, tide, label</a:t>
            </a:r>
            <a:endParaRPr lang="en-MY"/>
          </a:p>
        </p:txBody>
      </p:sp>
      <p:sp>
        <p:nvSpPr>
          <p:cNvPr id="22" name="Rectangle: Rounded Corners 21">
            <a:extLst>
              <a:ext uri="{FF2B5EF4-FFF2-40B4-BE49-F238E27FC236}">
                <a16:creationId xmlns:a16="http://schemas.microsoft.com/office/drawing/2014/main" id="{5508E2F2-52BF-887F-FF48-74E124472983}"/>
              </a:ext>
            </a:extLst>
          </p:cNvPr>
          <p:cNvSpPr/>
          <p:nvPr/>
        </p:nvSpPr>
        <p:spPr>
          <a:xfrm>
            <a:off x="4064000" y="4521200"/>
            <a:ext cx="35052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Spark Declarative Pipelines</a:t>
            </a:r>
          </a:p>
          <a:p>
            <a:r>
              <a:rPr lang="en-US" sz="1100">
                <a:solidFill>
                  <a:schemeClr val="tx1"/>
                </a:solidFill>
              </a:rPr>
              <a:t>Two serverless pipelines. Expectations drop bad readings; unplaceable alerts are quarantined. Hours with lost posts or feed outages count as missing, never as quiet.</a:t>
            </a:r>
            <a:endParaRPr lang="en-MY"/>
          </a:p>
        </p:txBody>
      </p:sp>
      <p:sp>
        <p:nvSpPr>
          <p:cNvPr id="23" name="Rectangle: Rounded Corners 22">
            <a:extLst>
              <a:ext uri="{FF2B5EF4-FFF2-40B4-BE49-F238E27FC236}">
                <a16:creationId xmlns:a16="http://schemas.microsoft.com/office/drawing/2014/main" id="{72844555-2296-C102-A92B-A21CB6A58DC6}"/>
              </a:ext>
            </a:extLst>
          </p:cNvPr>
          <p:cNvSpPr/>
          <p:nvPr/>
        </p:nvSpPr>
        <p:spPr>
          <a:xfrm>
            <a:off x="7874000" y="1752600"/>
            <a:ext cx="1701800" cy="1422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a:solidFill>
                  <a:schemeClr val="tx1"/>
                </a:solidFill>
              </a:rPr>
              <a:t>MLflow · Unity Catalog</a:t>
            </a:r>
          </a:p>
          <a:p>
            <a:r>
              <a:rPr lang="en-US" sz="1100">
                <a:solidFill>
                  <a:schemeClr val="tx1"/>
                </a:solidFill>
              </a:rPr>
              <a:t>Gated LightGBM pair: each area's chance of a PUB alert within 1 h. 7 checks before @champion moves.</a:t>
            </a:r>
            <a:endParaRPr lang="en-MY" dirty="0"/>
          </a:p>
        </p:txBody>
      </p:sp>
      <p:sp>
        <p:nvSpPr>
          <p:cNvPr id="24" name="Rectangle: Rounded Corners 23">
            <a:extLst>
              <a:ext uri="{FF2B5EF4-FFF2-40B4-BE49-F238E27FC236}">
                <a16:creationId xmlns:a16="http://schemas.microsoft.com/office/drawing/2014/main" id="{7FFA3BB2-5404-5855-9E80-508034C63B42}"/>
              </a:ext>
            </a:extLst>
          </p:cNvPr>
          <p:cNvSpPr/>
          <p:nvPr/>
        </p:nvSpPr>
        <p:spPr>
          <a:xfrm>
            <a:off x="7874000" y="3276600"/>
            <a:ext cx="17018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a:solidFill>
                  <a:schemeClr val="tx1"/>
                </a:solidFill>
              </a:rPr>
              <a:t>Live scoring</a:t>
            </a:r>
          </a:p>
          <a:p>
            <a:r>
              <a:rPr lang="en-US" sz="1100">
                <a:solidFill>
                  <a:schemeClr val="tx1"/>
                </a:solidFill>
              </a:rPr>
              <a:t>Every 5 min, @champion rates all 47 areas into a Delta table. New warnings go out by Telegram, email.</a:t>
            </a:r>
            <a:endParaRPr lang="en-MY"/>
          </a:p>
        </p:txBody>
      </p:sp>
      <p:sp>
        <p:nvSpPr>
          <p:cNvPr id="25" name="Rectangle: Rounded Corners 24">
            <a:extLst>
              <a:ext uri="{FF2B5EF4-FFF2-40B4-BE49-F238E27FC236}">
                <a16:creationId xmlns:a16="http://schemas.microsoft.com/office/drawing/2014/main" id="{2A2CBB68-3AB8-C062-69C1-5E0AA8F684A8}"/>
              </a:ext>
            </a:extLst>
          </p:cNvPr>
          <p:cNvSpPr/>
          <p:nvPr/>
        </p:nvSpPr>
        <p:spPr>
          <a:xfrm>
            <a:off x="7874000" y="4699000"/>
            <a:ext cx="1701800" cy="11430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MY" sz="1300" b="1">
                <a:solidFill>
                  <a:schemeClr val="tx1"/>
                </a:solidFill>
              </a:rPr>
              <a:t>Databricks SQL · AI/BI</a:t>
            </a:r>
          </a:p>
          <a:p>
            <a:r>
              <a:rPr lang="en-MY" sz="1100">
                <a:solidFill>
                  <a:schemeClr val="tx1"/>
                </a:solidFill>
              </a:rPr>
              <a:t>Serverless warehouse for the app, Genie, agencies' scoreboard</a:t>
            </a:r>
          </a:p>
        </p:txBody>
      </p:sp>
      <p:sp>
        <p:nvSpPr>
          <p:cNvPr id="26" name="Rectangle: Rounded Corners 25">
            <a:extLst>
              <a:ext uri="{FF2B5EF4-FFF2-40B4-BE49-F238E27FC236}">
                <a16:creationId xmlns:a16="http://schemas.microsoft.com/office/drawing/2014/main" id="{2EF31A56-76F9-3351-8505-3FE21C52B771}"/>
              </a:ext>
            </a:extLst>
          </p:cNvPr>
          <p:cNvSpPr/>
          <p:nvPr/>
        </p:nvSpPr>
        <p:spPr>
          <a:xfrm>
            <a:off x="9880600" y="1879600"/>
            <a:ext cx="1879600" cy="1727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Databricks App</a:t>
            </a:r>
          </a:p>
          <a:p>
            <a:r>
              <a:rPr lang="en-US" sz="1100">
                <a:solidFill>
                  <a:schemeClr val="tx1"/>
                </a:solidFill>
              </a:rPr>
              <a:t>Live map of 47 areas: what to do on foot, driving or at home. Storm replays, warning sign-ups.</a:t>
            </a:r>
            <a:endParaRPr lang="en-MY" dirty="0"/>
          </a:p>
        </p:txBody>
      </p:sp>
      <p:sp>
        <p:nvSpPr>
          <p:cNvPr id="27" name="Rectangle: Rounded Corners 26">
            <a:extLst>
              <a:ext uri="{FF2B5EF4-FFF2-40B4-BE49-F238E27FC236}">
                <a16:creationId xmlns:a16="http://schemas.microsoft.com/office/drawing/2014/main" id="{336E8289-C8CE-1A14-4077-40E4124BB2D5}"/>
              </a:ext>
            </a:extLst>
          </p:cNvPr>
          <p:cNvSpPr/>
          <p:nvPr/>
        </p:nvSpPr>
        <p:spPr>
          <a:xfrm>
            <a:off x="9880600" y="3733800"/>
            <a:ext cx="1879600" cy="2108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Genie Agent</a:t>
            </a:r>
          </a:p>
          <a:p>
            <a:r>
              <a:rPr lang="en-US" sz="1100">
                <a:solidFill>
                  <a:schemeClr val="tx1"/>
                </a:solidFill>
              </a:rPr>
              <a:t>"FloodSense for agencies": ask in plain English how it did against PUB, flood by flood. Also in the app.</a:t>
            </a:r>
            <a:endParaRPr lang="en-MY"/>
          </a:p>
        </p:txBody>
      </p:sp>
      <p:sp>
        <p:nvSpPr>
          <p:cNvPr id="28" name="Rectangle: Rounded Corners 27">
            <a:extLst>
              <a:ext uri="{FF2B5EF4-FFF2-40B4-BE49-F238E27FC236}">
                <a16:creationId xmlns:a16="http://schemas.microsoft.com/office/drawing/2014/main" id="{65613ABB-C657-56AE-EF0C-9E02E1CECC43}"/>
              </a:ext>
            </a:extLst>
          </p:cNvPr>
          <p:cNvSpPr/>
          <p:nvPr/>
        </p:nvSpPr>
        <p:spPr>
          <a:xfrm>
            <a:off x="9982200" y="2946400"/>
            <a:ext cx="7366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Residents</a:t>
            </a:r>
          </a:p>
        </p:txBody>
      </p:sp>
      <p:sp>
        <p:nvSpPr>
          <p:cNvPr id="29" name="Rectangle: Rounded Corners 28">
            <a:extLst>
              <a:ext uri="{FF2B5EF4-FFF2-40B4-BE49-F238E27FC236}">
                <a16:creationId xmlns:a16="http://schemas.microsoft.com/office/drawing/2014/main" id="{D11F0EE2-EC71-CE58-C616-CA31A5303B61}"/>
              </a:ext>
            </a:extLst>
          </p:cNvPr>
          <p:cNvSpPr/>
          <p:nvPr/>
        </p:nvSpPr>
        <p:spPr>
          <a:xfrm>
            <a:off x="10795000" y="2946400"/>
            <a:ext cx="7874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Commuters</a:t>
            </a:r>
          </a:p>
        </p:txBody>
      </p:sp>
      <p:sp>
        <p:nvSpPr>
          <p:cNvPr id="30" name="Rectangle: Rounded Corners 29">
            <a:extLst>
              <a:ext uri="{FF2B5EF4-FFF2-40B4-BE49-F238E27FC236}">
                <a16:creationId xmlns:a16="http://schemas.microsoft.com/office/drawing/2014/main" id="{3CD07BF0-9359-0B3B-CAB5-7ED7C22EF984}"/>
              </a:ext>
            </a:extLst>
          </p:cNvPr>
          <p:cNvSpPr/>
          <p:nvPr/>
        </p:nvSpPr>
        <p:spPr>
          <a:xfrm>
            <a:off x="9982200" y="3251200"/>
            <a:ext cx="9652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Town councils</a:t>
            </a:r>
          </a:p>
        </p:txBody>
      </p:sp>
      <p:sp>
        <p:nvSpPr>
          <p:cNvPr id="31" name="Rectangle: Rounded Corners 30">
            <a:extLst>
              <a:ext uri="{FF2B5EF4-FFF2-40B4-BE49-F238E27FC236}">
                <a16:creationId xmlns:a16="http://schemas.microsoft.com/office/drawing/2014/main" id="{354CF8CF-8D57-A615-46C3-4D3711593256}"/>
              </a:ext>
            </a:extLst>
          </p:cNvPr>
          <p:cNvSpPr/>
          <p:nvPr/>
        </p:nvSpPr>
        <p:spPr>
          <a:xfrm>
            <a:off x="11023600" y="3251200"/>
            <a:ext cx="6350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Agencies</a:t>
            </a:r>
          </a:p>
        </p:txBody>
      </p:sp>
      <p:sp>
        <p:nvSpPr>
          <p:cNvPr id="33" name="Rectangle: Rounded Corners 32">
            <a:extLst>
              <a:ext uri="{FF2B5EF4-FFF2-40B4-BE49-F238E27FC236}">
                <a16:creationId xmlns:a16="http://schemas.microsoft.com/office/drawing/2014/main" id="{F9D8829A-9E51-BA99-3DCD-1CC5C95C5722}"/>
              </a:ext>
            </a:extLst>
          </p:cNvPr>
          <p:cNvSpPr/>
          <p:nvPr>
            <p:custDataLst>
              <p:tags r:id="rId2"/>
            </p:custDataLst>
          </p:nvPr>
        </p:nvSpPr>
        <p:spPr>
          <a:xfrm>
            <a:off x="2235200" y="6070600"/>
            <a:ext cx="9626600" cy="355600"/>
          </a:xfrm>
          <a:prstGeom prst="roundRect">
            <a:avLst>
              <a:gd name="adj" fmla="val 12000"/>
            </a:avLst>
          </a:prstGeom>
          <a:solidFill>
            <a:schemeClr val="bg1"/>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66700" tIns="12700" rIns="50800" bIns="12700" rtlCol="0" anchor="ctr">
            <a:noAutofit/>
          </a:bodyPr>
          <a:lstStyle/>
          <a:p>
            <a:pPr algn="ctr"/>
            <a:r>
              <a:rPr lang="en-MY" sz="1100" b="1" dirty="0">
                <a:solidFill>
                  <a:schemeClr val="tx1"/>
                </a:solidFill>
              </a:rPr>
              <a:t>Unity </a:t>
            </a:r>
            <a:r>
              <a:rPr lang="en-MY" sz="1100" b="1" dirty="0" err="1">
                <a:solidFill>
                  <a:schemeClr val="tx1"/>
                </a:solidFill>
              </a:rPr>
              <a:t>Catalog</a:t>
            </a:r>
            <a:endParaRPr lang="en-MY" sz="1100" b="1" dirty="0">
              <a:solidFill>
                <a:schemeClr val="tx1"/>
              </a:solidFill>
            </a:endParaRPr>
          </a:p>
        </p:txBody>
      </p:sp>
      <p:cxnSp>
        <p:nvCxnSpPr>
          <p:cNvPr id="42" name="Connector: Elbow 41">
            <a:extLst>
              <a:ext uri="{FF2B5EF4-FFF2-40B4-BE49-F238E27FC236}">
                <a16:creationId xmlns:a16="http://schemas.microsoft.com/office/drawing/2014/main" id="{0618E119-832B-A3E3-B0C5-A83DCFD97D33}"/>
              </a:ext>
            </a:extLst>
          </p:cNvPr>
          <p:cNvCxnSpPr>
            <a:cxnSpLocks/>
          </p:cNvCxnSpPr>
          <p:nvPr/>
        </p:nvCxnSpPr>
        <p:spPr>
          <a:xfrm>
            <a:off x="51308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B0C32D48-1B1B-5177-8053-F1E5D7650A2F}"/>
              </a:ext>
            </a:extLst>
          </p:cNvPr>
          <p:cNvCxnSpPr>
            <a:cxnSpLocks/>
          </p:cNvCxnSpPr>
          <p:nvPr/>
        </p:nvCxnSpPr>
        <p:spPr>
          <a:xfrm>
            <a:off x="63500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54" name="IconTile_12">
            <a:extLst>
              <a:ext uri="{FF2B5EF4-FFF2-40B4-BE49-F238E27FC236}">
                <a16:creationId xmlns:a16="http://schemas.microsoft.com/office/drawing/2014/main" id="{F75F2D90-2E9F-F26E-3F8D-74073701E341}"/>
              </a:ext>
            </a:extLst>
          </p:cNvPr>
          <p:cNvSpPr/>
          <p:nvPr/>
        </p:nvSpPr>
        <p:spPr>
          <a:xfrm>
            <a:off x="241300" y="17907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5" name="IconTile_13">
            <a:extLst>
              <a:ext uri="{FF2B5EF4-FFF2-40B4-BE49-F238E27FC236}">
                <a16:creationId xmlns:a16="http://schemas.microsoft.com/office/drawing/2014/main" id="{ED69EF30-F701-F7F6-1A54-358E736E0049}"/>
              </a:ext>
            </a:extLst>
          </p:cNvPr>
          <p:cNvSpPr/>
          <p:nvPr/>
        </p:nvSpPr>
        <p:spPr>
          <a:xfrm>
            <a:off x="241300" y="2624138"/>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6" name="IconTile_14">
            <a:extLst>
              <a:ext uri="{FF2B5EF4-FFF2-40B4-BE49-F238E27FC236}">
                <a16:creationId xmlns:a16="http://schemas.microsoft.com/office/drawing/2014/main" id="{43A51207-F60B-D501-BDD3-9483CEC16FEA}"/>
              </a:ext>
            </a:extLst>
          </p:cNvPr>
          <p:cNvSpPr/>
          <p:nvPr/>
        </p:nvSpPr>
        <p:spPr>
          <a:xfrm>
            <a:off x="241300" y="345757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7" name="IconTile_15">
            <a:extLst>
              <a:ext uri="{FF2B5EF4-FFF2-40B4-BE49-F238E27FC236}">
                <a16:creationId xmlns:a16="http://schemas.microsoft.com/office/drawing/2014/main" id="{6D5D7FF6-7444-CC27-06A2-99F59358BEF0}"/>
              </a:ext>
            </a:extLst>
          </p:cNvPr>
          <p:cNvSpPr/>
          <p:nvPr/>
        </p:nvSpPr>
        <p:spPr>
          <a:xfrm>
            <a:off x="241300" y="428942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8" name="IconTile_16">
            <a:extLst>
              <a:ext uri="{FF2B5EF4-FFF2-40B4-BE49-F238E27FC236}">
                <a16:creationId xmlns:a16="http://schemas.microsoft.com/office/drawing/2014/main" id="{C5D54A59-9AD8-A774-48C9-2AFDC2180C30}"/>
              </a:ext>
            </a:extLst>
          </p:cNvPr>
          <p:cNvSpPr/>
          <p:nvPr/>
        </p:nvSpPr>
        <p:spPr>
          <a:xfrm>
            <a:off x="241300" y="5122863"/>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9" name="IconTile_17">
            <a:extLst>
              <a:ext uri="{FF2B5EF4-FFF2-40B4-BE49-F238E27FC236}">
                <a16:creationId xmlns:a16="http://schemas.microsoft.com/office/drawing/2014/main" id="{8A30C76E-B636-12C2-71EB-272FBC621D58}"/>
              </a:ext>
            </a:extLst>
          </p:cNvPr>
          <p:cNvSpPr/>
          <p:nvPr/>
        </p:nvSpPr>
        <p:spPr>
          <a:xfrm>
            <a:off x="2400300" y="1835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0" name="IconTile_18">
            <a:extLst>
              <a:ext uri="{FF2B5EF4-FFF2-40B4-BE49-F238E27FC236}">
                <a16:creationId xmlns:a16="http://schemas.microsoft.com/office/drawing/2014/main" id="{A297F02F-E3B8-0A53-DCDF-389BDA7A47A0}"/>
              </a:ext>
            </a:extLst>
          </p:cNvPr>
          <p:cNvSpPr/>
          <p:nvPr/>
        </p:nvSpPr>
        <p:spPr>
          <a:xfrm>
            <a:off x="2400300" y="3994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1" name="IconTile_22">
            <a:extLst>
              <a:ext uri="{FF2B5EF4-FFF2-40B4-BE49-F238E27FC236}">
                <a16:creationId xmlns:a16="http://schemas.microsoft.com/office/drawing/2014/main" id="{28313A1B-92B8-913B-AEED-944A97312C62}"/>
              </a:ext>
            </a:extLst>
          </p:cNvPr>
          <p:cNvSpPr/>
          <p:nvPr/>
        </p:nvSpPr>
        <p:spPr>
          <a:xfrm>
            <a:off x="4127500" y="460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2" name="IconTile_23">
            <a:extLst>
              <a:ext uri="{FF2B5EF4-FFF2-40B4-BE49-F238E27FC236}">
                <a16:creationId xmlns:a16="http://schemas.microsoft.com/office/drawing/2014/main" id="{FF4279B0-8832-917A-3BC9-4B6761225EEB}"/>
              </a:ext>
            </a:extLst>
          </p:cNvPr>
          <p:cNvSpPr/>
          <p:nvPr/>
        </p:nvSpPr>
        <p:spPr>
          <a:xfrm>
            <a:off x="7937500" y="1809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3" name="IconTile_24">
            <a:extLst>
              <a:ext uri="{FF2B5EF4-FFF2-40B4-BE49-F238E27FC236}">
                <a16:creationId xmlns:a16="http://schemas.microsoft.com/office/drawing/2014/main" id="{727CB509-1581-690D-D5C3-261E05B5E3A7}"/>
              </a:ext>
            </a:extLst>
          </p:cNvPr>
          <p:cNvSpPr/>
          <p:nvPr/>
        </p:nvSpPr>
        <p:spPr>
          <a:xfrm>
            <a:off x="7937500" y="333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4" name="IconTile_25">
            <a:extLst>
              <a:ext uri="{FF2B5EF4-FFF2-40B4-BE49-F238E27FC236}">
                <a16:creationId xmlns:a16="http://schemas.microsoft.com/office/drawing/2014/main" id="{AD6A08BC-59DE-740C-1F64-4F7DC383D343}"/>
              </a:ext>
            </a:extLst>
          </p:cNvPr>
          <p:cNvSpPr/>
          <p:nvPr/>
        </p:nvSpPr>
        <p:spPr>
          <a:xfrm>
            <a:off x="7937500" y="4756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5" name="IconTile_26">
            <a:extLst>
              <a:ext uri="{FF2B5EF4-FFF2-40B4-BE49-F238E27FC236}">
                <a16:creationId xmlns:a16="http://schemas.microsoft.com/office/drawing/2014/main" id="{828D70E0-8968-CAA5-5164-F07E900E7ABA}"/>
              </a:ext>
            </a:extLst>
          </p:cNvPr>
          <p:cNvSpPr/>
          <p:nvPr/>
        </p:nvSpPr>
        <p:spPr>
          <a:xfrm>
            <a:off x="9944100" y="1962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6" name="IconTile_27">
            <a:extLst>
              <a:ext uri="{FF2B5EF4-FFF2-40B4-BE49-F238E27FC236}">
                <a16:creationId xmlns:a16="http://schemas.microsoft.com/office/drawing/2014/main" id="{45FDA192-5E78-9BB8-38F7-45E4EA2E08CF}"/>
              </a:ext>
            </a:extLst>
          </p:cNvPr>
          <p:cNvSpPr/>
          <p:nvPr/>
        </p:nvSpPr>
        <p:spPr>
          <a:xfrm>
            <a:off x="9944100" y="38163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72" name="Pic">
            <a:extLst>
              <a:ext uri="{FF2B5EF4-FFF2-40B4-BE49-F238E27FC236}">
                <a16:creationId xmlns:a16="http://schemas.microsoft.com/office/drawing/2014/main" id="{4FBF923A-CAF1-B604-D317-E7BE2138E57F}"/>
              </a:ext>
            </a:extLst>
          </p:cNvPr>
          <p:cNvPicPr>
            <a:picLocks/>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 uri="{6F801314-5768-4EAC-8CED-0F2297F94238}"/>
            </a:extLst>
          </a:blip>
          <a:stretch>
            <a:fillRect/>
          </a:stretch>
        </p:blipFill>
        <p:spPr bwMode="auto">
          <a:xfrm>
            <a:off x="7975600" y="1854200"/>
            <a:ext cx="152400" cy="152400"/>
          </a:xfrm>
          <a:prstGeom prst="rect">
            <a:avLst/>
          </a:prstGeom>
          <a:noFill/>
          <a:effectLst/>
        </p:spPr>
      </p:pic>
      <p:pic>
        <p:nvPicPr>
          <p:cNvPr id="71" name="Pic">
            <a:extLst>
              <a:ext uri="{FF2B5EF4-FFF2-40B4-BE49-F238E27FC236}">
                <a16:creationId xmlns:a16="http://schemas.microsoft.com/office/drawing/2014/main" id="{981B695D-5F0B-19E1-3F28-9FC013C733AB}"/>
              </a:ext>
            </a:extLst>
          </p:cNvPr>
          <p:cNvPicPr>
            <a:picLocks/>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 uri="{6F801314-5768-4EAC-8CED-0F2297F94238}"/>
            </a:extLst>
          </a:blip>
          <a:stretch>
            <a:fillRect/>
          </a:stretch>
        </p:blipFill>
        <p:spPr bwMode="auto">
          <a:xfrm>
            <a:off x="9982200" y="3860800"/>
            <a:ext cx="152400" cy="152400"/>
          </a:xfrm>
          <a:prstGeom prst="rect">
            <a:avLst/>
          </a:prstGeom>
          <a:noFill/>
          <a:effectLst/>
        </p:spPr>
      </p:pic>
      <p:pic>
        <p:nvPicPr>
          <p:cNvPr id="79" name="Pic">
            <a:extLst>
              <a:ext uri="{FF2B5EF4-FFF2-40B4-BE49-F238E27FC236}">
                <a16:creationId xmlns:a16="http://schemas.microsoft.com/office/drawing/2014/main" id="{F8FF3177-56F1-7C83-8535-15F1F171E117}"/>
              </a:ext>
            </a:extLst>
          </p:cNvPr>
          <p:cNvPicPr>
            <a:picLocks/>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3"/>
              </a:ext>
              <a:ext uri="{6F801314-5768-4EAC-8CED-0F2297F94238}"/>
            </a:extLst>
          </a:blip>
          <a:stretch>
            <a:fillRect/>
          </a:stretch>
        </p:blipFill>
        <p:spPr bwMode="auto">
          <a:xfrm>
            <a:off x="4165600" y="4648200"/>
            <a:ext cx="152400" cy="152400"/>
          </a:xfrm>
          <a:prstGeom prst="rect">
            <a:avLst/>
          </a:prstGeom>
          <a:noFill/>
          <a:effectLst/>
        </p:spPr>
      </p:pic>
      <p:pic>
        <p:nvPicPr>
          <p:cNvPr id="80" name="Pic">
            <a:extLst>
              <a:ext uri="{FF2B5EF4-FFF2-40B4-BE49-F238E27FC236}">
                <a16:creationId xmlns:a16="http://schemas.microsoft.com/office/drawing/2014/main" id="{724311B2-BDEC-B9BC-2FD1-68B2EA8F19DD}"/>
              </a:ext>
            </a:extLst>
          </p:cNvPr>
          <p:cNvPicPr>
            <a:picLocks/>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 uri="{6F801314-5768-4EAC-8CED-0F2297F94238}"/>
            </a:extLst>
          </a:blip>
          <a:stretch>
            <a:fillRect/>
          </a:stretch>
        </p:blipFill>
        <p:spPr bwMode="auto">
          <a:xfrm>
            <a:off x="7975600" y="4800600"/>
            <a:ext cx="152400" cy="152400"/>
          </a:xfrm>
          <a:prstGeom prst="rect">
            <a:avLst/>
          </a:prstGeom>
          <a:noFill/>
          <a:effectLst/>
        </p:spPr>
      </p:pic>
      <p:pic>
        <p:nvPicPr>
          <p:cNvPr id="81" name="Pic">
            <a:extLst>
              <a:ext uri="{FF2B5EF4-FFF2-40B4-BE49-F238E27FC236}">
                <a16:creationId xmlns:a16="http://schemas.microsoft.com/office/drawing/2014/main" id="{ABC62977-3543-5585-5349-20A630D744D8}"/>
              </a:ext>
            </a:extLst>
          </p:cNvPr>
          <p:cNvPicPr>
            <a:picLocks/>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5"/>
              </a:ext>
              <a:ext uri="{6F801314-5768-4EAC-8CED-0F2297F94238}"/>
            </a:extLst>
          </a:blip>
          <a:stretch>
            <a:fillRect/>
          </a:stretch>
        </p:blipFill>
        <p:spPr bwMode="auto">
          <a:xfrm>
            <a:off x="6502400" y="6210300"/>
            <a:ext cx="152400" cy="152400"/>
          </a:xfrm>
          <a:prstGeom prst="rect">
            <a:avLst/>
          </a:prstGeom>
          <a:noFill/>
          <a:effectLst/>
        </p:spPr>
      </p:pic>
      <p:pic>
        <p:nvPicPr>
          <p:cNvPr id="86" name="Pic">
            <a:extLst>
              <a:ext uri="{FF2B5EF4-FFF2-40B4-BE49-F238E27FC236}">
                <a16:creationId xmlns:a16="http://schemas.microsoft.com/office/drawing/2014/main" id="{BF7AC68B-47FB-995E-3B24-2050EF2AD13B}"/>
              </a:ext>
            </a:extLst>
          </p:cNvPr>
          <p:cNvPicPr>
            <a:picLocks/>
          </p:cNvPicPr>
          <p:nvPr>
            <p:custDataLst>
              <p:tags r:id="rId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 uri="{6F801314-5768-4EAC-8CED-0F2297F94238}"/>
            </a:extLst>
          </a:blip>
          <a:stretch>
            <a:fillRect/>
          </a:stretch>
        </p:blipFill>
        <p:spPr bwMode="auto">
          <a:xfrm>
            <a:off x="2438400" y="4038600"/>
            <a:ext cx="152400" cy="152400"/>
          </a:xfrm>
          <a:prstGeom prst="rect">
            <a:avLst/>
          </a:prstGeom>
          <a:noFill/>
          <a:effectLst/>
        </p:spPr>
      </p:pic>
      <p:pic>
        <p:nvPicPr>
          <p:cNvPr id="87" name="Pic">
            <a:extLst>
              <a:ext uri="{FF2B5EF4-FFF2-40B4-BE49-F238E27FC236}">
                <a16:creationId xmlns:a16="http://schemas.microsoft.com/office/drawing/2014/main" id="{594B5D5D-2C88-39A7-BBD6-7DC49F1AD0DB}"/>
              </a:ext>
            </a:extLst>
          </p:cNvPr>
          <p:cNvPicPr>
            <a:picLocks/>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7"/>
              </a:ext>
              <a:ext uri="{6F801314-5768-4EAC-8CED-0F2297F94238}"/>
            </a:extLst>
          </a:blip>
          <a:stretch>
            <a:fillRect/>
          </a:stretch>
        </p:blipFill>
        <p:spPr bwMode="auto">
          <a:xfrm>
            <a:off x="9982200" y="2006600"/>
            <a:ext cx="152400" cy="152400"/>
          </a:xfrm>
          <a:prstGeom prst="rect">
            <a:avLst/>
          </a:prstGeom>
          <a:noFill/>
          <a:effectLst/>
        </p:spPr>
      </p:pic>
      <p:cxnSp>
        <p:nvCxnSpPr>
          <p:cNvPr id="41" name="Connector: Elbow 40">
            <a:extLst>
              <a:ext uri="{FF2B5EF4-FFF2-40B4-BE49-F238E27FC236}">
                <a16:creationId xmlns:a16="http://schemas.microsoft.com/office/drawing/2014/main" id="{7B85ED9D-2FDB-0CF5-F4C1-6AAB87BE4B97}"/>
              </a:ext>
            </a:extLst>
          </p:cNvPr>
          <p:cNvCxnSpPr>
            <a:cxnSpLocks/>
            <a:stCxn id="12" idx="3"/>
            <a:endCxn id="17" idx="1"/>
          </p:cNvCxnSpPr>
          <p:nvPr/>
        </p:nvCxnSpPr>
        <p:spPr>
          <a:xfrm>
            <a:off x="1930400" y="2156619"/>
            <a:ext cx="406400" cy="56118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01618A36-AB01-B2B0-B3F2-120D27E530EB}"/>
              </a:ext>
            </a:extLst>
          </p:cNvPr>
          <p:cNvCxnSpPr>
            <a:cxnSpLocks/>
            <a:stCxn id="12" idx="3"/>
            <a:endCxn id="17" idx="1"/>
          </p:cNvCxnSpPr>
          <p:nvPr/>
        </p:nvCxnSpPr>
        <p:spPr>
          <a:xfrm>
            <a:off x="1930400" y="2156619"/>
            <a:ext cx="406400" cy="561181"/>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Elbow 73">
            <a:extLst>
              <a:ext uri="{FF2B5EF4-FFF2-40B4-BE49-F238E27FC236}">
                <a16:creationId xmlns:a16="http://schemas.microsoft.com/office/drawing/2014/main" id="{3619C0F5-ABF2-DC07-73C7-F8C7F92FA4DF}"/>
              </a:ext>
            </a:extLst>
          </p:cNvPr>
          <p:cNvCxnSpPr>
            <a:cxnSpLocks/>
            <a:stCxn id="13" idx="3"/>
            <a:endCxn id="17" idx="1"/>
          </p:cNvCxnSpPr>
          <p:nvPr/>
        </p:nvCxnSpPr>
        <p:spPr>
          <a:xfrm flipV="1">
            <a:off x="1930400" y="2717800"/>
            <a:ext cx="406400" cy="272257"/>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Elbow 74">
            <a:extLst>
              <a:ext uri="{FF2B5EF4-FFF2-40B4-BE49-F238E27FC236}">
                <a16:creationId xmlns:a16="http://schemas.microsoft.com/office/drawing/2014/main" id="{A2519189-605F-4893-95B2-1F418D96003D}"/>
              </a:ext>
            </a:extLst>
          </p:cNvPr>
          <p:cNvCxnSpPr>
            <a:cxnSpLocks/>
            <a:stCxn id="14" idx="3"/>
            <a:endCxn id="17" idx="1"/>
          </p:cNvCxnSpPr>
          <p:nvPr/>
        </p:nvCxnSpPr>
        <p:spPr>
          <a:xfrm flipV="1">
            <a:off x="1930400" y="2717800"/>
            <a:ext cx="406400" cy="11049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Elbow 75">
            <a:extLst>
              <a:ext uri="{FF2B5EF4-FFF2-40B4-BE49-F238E27FC236}">
                <a16:creationId xmlns:a16="http://schemas.microsoft.com/office/drawing/2014/main" id="{8F8510E9-EA7A-E6E8-802D-1614362677F9}"/>
              </a:ext>
            </a:extLst>
          </p:cNvPr>
          <p:cNvCxnSpPr>
            <a:cxnSpLocks/>
            <a:stCxn id="15" idx="3"/>
            <a:endCxn id="17" idx="1"/>
          </p:cNvCxnSpPr>
          <p:nvPr/>
        </p:nvCxnSpPr>
        <p:spPr>
          <a:xfrm flipV="1">
            <a:off x="1930400" y="2717800"/>
            <a:ext cx="406400" cy="1937544"/>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Elbow 76">
            <a:extLst>
              <a:ext uri="{FF2B5EF4-FFF2-40B4-BE49-F238E27FC236}">
                <a16:creationId xmlns:a16="http://schemas.microsoft.com/office/drawing/2014/main" id="{C51FDDDC-92AD-5C5A-48CB-6A44862E6C1B}"/>
              </a:ext>
            </a:extLst>
          </p:cNvPr>
          <p:cNvCxnSpPr>
            <a:cxnSpLocks/>
            <a:stCxn id="16" idx="3"/>
            <a:endCxn id="17" idx="1"/>
          </p:cNvCxnSpPr>
          <p:nvPr/>
        </p:nvCxnSpPr>
        <p:spPr>
          <a:xfrm flipV="1">
            <a:off x="1930400" y="2717800"/>
            <a:ext cx="406400" cy="2770982"/>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E55F2FA7-991E-B915-DDC9-2CCCB2F8FB69}"/>
              </a:ext>
            </a:extLst>
          </p:cNvPr>
          <p:cNvCxnSpPr>
            <a:cxnSpLocks/>
            <a:stCxn id="17" idx="2"/>
            <a:endCxn id="18" idx="0"/>
          </p:cNvCxnSpPr>
          <p:nvPr/>
        </p:nvCxnSpPr>
        <p:spPr>
          <a:xfrm>
            <a:off x="3048000" y="3683000"/>
            <a:ext cx="0" cy="228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Elbow 81">
            <a:extLst>
              <a:ext uri="{FF2B5EF4-FFF2-40B4-BE49-F238E27FC236}">
                <a16:creationId xmlns:a16="http://schemas.microsoft.com/office/drawing/2014/main" id="{83A50950-04E5-FF24-69A8-64ABE15D4013}"/>
              </a:ext>
            </a:extLst>
          </p:cNvPr>
          <p:cNvCxnSpPr>
            <a:cxnSpLocks/>
            <a:stCxn id="18" idx="3"/>
            <a:endCxn id="19" idx="1"/>
          </p:cNvCxnSpPr>
          <p:nvPr/>
        </p:nvCxnSpPr>
        <p:spPr>
          <a:xfrm flipV="1">
            <a:off x="3759200" y="3022600"/>
            <a:ext cx="304800" cy="18542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Elbow 82">
            <a:extLst>
              <a:ext uri="{FF2B5EF4-FFF2-40B4-BE49-F238E27FC236}">
                <a16:creationId xmlns:a16="http://schemas.microsoft.com/office/drawing/2014/main" id="{EA79AF7C-D844-A8E9-8DE4-ADD5E6542570}"/>
              </a:ext>
            </a:extLst>
          </p:cNvPr>
          <p:cNvCxnSpPr>
            <a:cxnSpLocks/>
            <a:stCxn id="21" idx="3"/>
            <a:endCxn id="23" idx="1"/>
          </p:cNvCxnSpPr>
          <p:nvPr/>
        </p:nvCxnSpPr>
        <p:spPr>
          <a:xfrm flipV="1">
            <a:off x="7569200" y="2463800"/>
            <a:ext cx="304800" cy="5588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6F028ED4-FCE4-3039-0A05-A8C7E8E6DE2C}"/>
              </a:ext>
            </a:extLst>
          </p:cNvPr>
          <p:cNvCxnSpPr>
            <a:cxnSpLocks/>
            <a:stCxn id="23" idx="2"/>
            <a:endCxn id="24" idx="0"/>
          </p:cNvCxnSpPr>
          <p:nvPr/>
        </p:nvCxnSpPr>
        <p:spPr>
          <a:xfrm>
            <a:off x="8724900" y="3175000"/>
            <a:ext cx="0" cy="101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Elbow 89">
            <a:extLst>
              <a:ext uri="{FF2B5EF4-FFF2-40B4-BE49-F238E27FC236}">
                <a16:creationId xmlns:a16="http://schemas.microsoft.com/office/drawing/2014/main" id="{F8EC7DAE-5272-7D86-841F-21F488D87F20}"/>
              </a:ext>
            </a:extLst>
          </p:cNvPr>
          <p:cNvCxnSpPr>
            <a:cxnSpLocks/>
            <a:stCxn id="25" idx="3"/>
            <a:endCxn id="26" idx="1"/>
          </p:cNvCxnSpPr>
          <p:nvPr/>
        </p:nvCxnSpPr>
        <p:spPr>
          <a:xfrm flipV="1">
            <a:off x="9575800" y="2743200"/>
            <a:ext cx="304800" cy="25273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Elbow 90">
            <a:extLst>
              <a:ext uri="{FF2B5EF4-FFF2-40B4-BE49-F238E27FC236}">
                <a16:creationId xmlns:a16="http://schemas.microsoft.com/office/drawing/2014/main" id="{34206129-E9BD-28B3-346E-A9E736B94828}"/>
              </a:ext>
            </a:extLst>
          </p:cNvPr>
          <p:cNvCxnSpPr>
            <a:cxnSpLocks/>
            <a:stCxn id="25" idx="3"/>
            <a:endCxn id="27" idx="1"/>
          </p:cNvCxnSpPr>
          <p:nvPr/>
        </p:nvCxnSpPr>
        <p:spPr>
          <a:xfrm flipV="1">
            <a:off x="9575800" y="4787900"/>
            <a:ext cx="304800" cy="4826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Freeform: Shape 91">
            <a:extLst>
              <a:ext uri="{FF2B5EF4-FFF2-40B4-BE49-F238E27FC236}">
                <a16:creationId xmlns:a16="http://schemas.microsoft.com/office/drawing/2014/main" id="{3A0C63A1-C729-54F8-EA64-7A9D97A4BEB9}"/>
              </a:ext>
            </a:extLst>
          </p:cNvPr>
          <p:cNvSpPr/>
          <p:nvPr/>
        </p:nvSpPr>
        <p:spPr>
          <a:xfrm>
            <a:off x="7366000" y="4292600"/>
            <a:ext cx="508001" cy="114301"/>
          </a:xfrm>
          <a:custGeom>
            <a:avLst/>
            <a:gdLst/>
            <a:ahLst/>
            <a:cxnLst/>
            <a:rect l="0" t="0" r="0" b="0"/>
            <a:pathLst>
              <a:path w="508001" h="114301">
                <a:moveTo>
                  <a:pt x="0" y="0"/>
                </a:moveTo>
                <a:lnTo>
                  <a:pt x="0" y="114300"/>
                </a:lnTo>
                <a:lnTo>
                  <a:pt x="508000" y="114300"/>
                </a:ln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pic>
        <p:nvPicPr>
          <p:cNvPr id="94" name="Pic">
            <a:extLst>
              <a:ext uri="{FF2B5EF4-FFF2-40B4-BE49-F238E27FC236}">
                <a16:creationId xmlns:a16="http://schemas.microsoft.com/office/drawing/2014/main" id="{45456ED2-A676-BA7B-8B10-D93B5B58C6EF}"/>
              </a:ext>
            </a:extLst>
          </p:cNvPr>
          <p:cNvPicPr>
            <a:picLocks/>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 uri="{6F801314-5768-4EAC-8CED-0F2297F94238}"/>
            </a:extLst>
          </a:blip>
          <a:stretch>
            <a:fillRect/>
          </a:stretch>
        </p:blipFill>
        <p:spPr bwMode="auto">
          <a:xfrm>
            <a:off x="279400" y="1828800"/>
            <a:ext cx="152400" cy="152400"/>
          </a:xfrm>
          <a:prstGeom prst="rect">
            <a:avLst/>
          </a:prstGeom>
          <a:noFill/>
          <a:effectLst/>
        </p:spPr>
      </p:pic>
      <p:pic>
        <p:nvPicPr>
          <p:cNvPr id="95" name="Pic">
            <a:extLst>
              <a:ext uri="{FF2B5EF4-FFF2-40B4-BE49-F238E27FC236}">
                <a16:creationId xmlns:a16="http://schemas.microsoft.com/office/drawing/2014/main" id="{0B7C4413-9B15-DF87-0514-77F34DD3C6B8}"/>
              </a:ext>
            </a:extLst>
          </p:cNvPr>
          <p:cNvPicPr>
            <a:picLocks/>
          </p:cNvPicPr>
          <p:nvPr>
            <p:custDataLst>
              <p:tags r:id="rId1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9"/>
              </a:ext>
              <a:ext uri="{6F801314-5768-4EAC-8CED-0F2297F94238}"/>
            </a:extLst>
          </a:blip>
          <a:stretch>
            <a:fillRect/>
          </a:stretch>
        </p:blipFill>
        <p:spPr bwMode="auto">
          <a:xfrm>
            <a:off x="279400" y="2667000"/>
            <a:ext cx="152400" cy="152400"/>
          </a:xfrm>
          <a:prstGeom prst="rect">
            <a:avLst/>
          </a:prstGeom>
          <a:noFill/>
          <a:effectLst/>
        </p:spPr>
      </p:pic>
      <p:pic>
        <p:nvPicPr>
          <p:cNvPr id="97" name="Pic">
            <a:extLst>
              <a:ext uri="{FF2B5EF4-FFF2-40B4-BE49-F238E27FC236}">
                <a16:creationId xmlns:a16="http://schemas.microsoft.com/office/drawing/2014/main" id="{9AE56F10-F658-75B8-C459-44CAC366DBD6}"/>
              </a:ext>
            </a:extLst>
          </p:cNvPr>
          <p:cNvPicPr>
            <a:picLocks/>
          </p:cNvPicPr>
          <p:nvPr>
            <p:custDataLst>
              <p:tags r:id="rId1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 uri="{6F801314-5768-4EAC-8CED-0F2297F94238}"/>
            </a:extLst>
          </a:blip>
          <a:stretch>
            <a:fillRect/>
          </a:stretch>
        </p:blipFill>
        <p:spPr bwMode="auto">
          <a:xfrm>
            <a:off x="279400" y="3505200"/>
            <a:ext cx="152400" cy="152400"/>
          </a:xfrm>
          <a:prstGeom prst="rect">
            <a:avLst/>
          </a:prstGeom>
          <a:noFill/>
          <a:effectLst/>
        </p:spPr>
      </p:pic>
      <p:pic>
        <p:nvPicPr>
          <p:cNvPr id="98" name="Pic">
            <a:extLst>
              <a:ext uri="{FF2B5EF4-FFF2-40B4-BE49-F238E27FC236}">
                <a16:creationId xmlns:a16="http://schemas.microsoft.com/office/drawing/2014/main" id="{C34FFA8A-41BD-9E50-F6AB-C1C5E0A29098}"/>
              </a:ext>
            </a:extLst>
          </p:cNvPr>
          <p:cNvPicPr>
            <a:picLocks/>
          </p:cNvPicPr>
          <p:nvPr>
            <p:custDataLst>
              <p:tags r:id="rId1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1"/>
              </a:ext>
              <a:ext uri="{6F801314-5768-4EAC-8CED-0F2297F94238}"/>
            </a:extLst>
          </a:blip>
          <a:stretch>
            <a:fillRect/>
          </a:stretch>
        </p:blipFill>
        <p:spPr bwMode="auto">
          <a:xfrm>
            <a:off x="279400" y="5168900"/>
            <a:ext cx="152400" cy="152400"/>
          </a:xfrm>
          <a:prstGeom prst="rect">
            <a:avLst/>
          </a:prstGeom>
          <a:noFill/>
          <a:effectLst/>
        </p:spPr>
      </p:pic>
      <p:pic>
        <p:nvPicPr>
          <p:cNvPr id="96" name="Pic">
            <a:extLst>
              <a:ext uri="{FF2B5EF4-FFF2-40B4-BE49-F238E27FC236}">
                <a16:creationId xmlns:a16="http://schemas.microsoft.com/office/drawing/2014/main" id="{C26DF1E7-C3A7-45DB-DC20-A6FE96BBF9C9}"/>
              </a:ext>
            </a:extLst>
          </p:cNvPr>
          <p:cNvPicPr>
            <a:picLocks/>
          </p:cNvPicPr>
          <p:nvPr>
            <p:custDataLst>
              <p:tags r:id="rId1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 uri="{6F801314-5768-4EAC-8CED-0F2297F94238}"/>
            </a:extLst>
          </a:blip>
          <a:stretch>
            <a:fillRect/>
          </a:stretch>
        </p:blipFill>
        <p:spPr bwMode="auto">
          <a:xfrm>
            <a:off x="2438400" y="1879600"/>
            <a:ext cx="152400" cy="152400"/>
          </a:xfrm>
          <a:prstGeom prst="rect">
            <a:avLst/>
          </a:prstGeom>
          <a:noFill/>
          <a:effectLst/>
        </p:spPr>
      </p:pic>
      <p:pic>
        <p:nvPicPr>
          <p:cNvPr id="99" name="Pic">
            <a:extLst>
              <a:ext uri="{FF2B5EF4-FFF2-40B4-BE49-F238E27FC236}">
                <a16:creationId xmlns:a16="http://schemas.microsoft.com/office/drawing/2014/main" id="{342487B3-D7DC-E99B-B04E-46B97159D96A}"/>
              </a:ext>
            </a:extLst>
          </p:cNvPr>
          <p:cNvPicPr>
            <a:picLocks/>
          </p:cNvPicPr>
          <p:nvPr>
            <p:custDataLst>
              <p:tags r:id="rId1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3"/>
              </a:ext>
              <a:ext uri="{6F801314-5768-4EAC-8CED-0F2297F94238}"/>
            </a:extLst>
          </a:blip>
          <a:stretch>
            <a:fillRect/>
          </a:stretch>
        </p:blipFill>
        <p:spPr bwMode="auto">
          <a:xfrm>
            <a:off x="7975600" y="3378200"/>
            <a:ext cx="152400" cy="152400"/>
          </a:xfrm>
          <a:prstGeom prst="rect">
            <a:avLst/>
          </a:prstGeom>
          <a:noFill/>
          <a:effectLst/>
        </p:spPr>
      </p:pic>
      <p:pic>
        <p:nvPicPr>
          <p:cNvPr id="101" name="Pic">
            <a:extLst>
              <a:ext uri="{FF2B5EF4-FFF2-40B4-BE49-F238E27FC236}">
                <a16:creationId xmlns:a16="http://schemas.microsoft.com/office/drawing/2014/main" id="{AE9494E0-2FF0-0A85-BCFF-55FDDFC15239}"/>
              </a:ext>
            </a:extLst>
          </p:cNvPr>
          <p:cNvPicPr>
            <a:picLocks/>
          </p:cNvPicPr>
          <p:nvPr>
            <p:custDataLst>
              <p:tags r:id="rId1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4"/>
              </a:ext>
              <a:ext uri="{6F801314-5768-4EAC-8CED-0F2297F94238}"/>
            </a:extLst>
          </a:blip>
          <a:stretch>
            <a:fillRect/>
          </a:stretch>
        </p:blipFill>
        <p:spPr bwMode="auto">
          <a:xfrm>
            <a:off x="279400" y="4330700"/>
            <a:ext cx="152400" cy="152400"/>
          </a:xfrm>
          <a:prstGeom prst="rect">
            <a:avLst/>
          </a:prstGeom>
          <a:noFill/>
          <a:effectLst/>
        </p:spPr>
      </p:pic>
      <p:cxnSp>
        <p:nvCxnSpPr>
          <p:cNvPr id="105" name="Straight Arrow Connector 104">
            <a:extLst>
              <a:ext uri="{FF2B5EF4-FFF2-40B4-BE49-F238E27FC236}">
                <a16:creationId xmlns:a16="http://schemas.microsoft.com/office/drawing/2014/main" id="{CD538E4E-8D84-9E70-5C18-F6D7C62FDBA7}"/>
              </a:ext>
            </a:extLst>
          </p:cNvPr>
          <p:cNvCxnSpPr>
            <a:cxnSpLocks/>
            <a:stCxn id="24" idx="2"/>
            <a:endCxn id="25" idx="0"/>
          </p:cNvCxnSpPr>
          <p:nvPr/>
        </p:nvCxnSpPr>
        <p:spPr>
          <a:xfrm>
            <a:off x="8724900" y="4597400"/>
            <a:ext cx="0" cy="101600"/>
          </a:xfrm>
          <a:prstGeom prst="straightConnector1">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70CD6FFF-2C15-C579-137E-3F07B3FD2443}"/>
              </a:ext>
            </a:extLst>
          </p:cNvPr>
          <p:cNvSpPr/>
          <p:nvPr/>
        </p:nvSpPr>
        <p:spPr>
          <a:xfrm>
            <a:off x="2019300" y="965200"/>
            <a:ext cx="10020300" cy="571500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11571173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A7C7C1A-41D3-A092-4EBD-8402C2529556}"/>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D18BC85-6F4F-4125-AD02-4AC22E29212E}"/>
              </a:ext>
            </a:extLst>
          </p:cNvPr>
          <p:cNvGraphicFramePr>
            <a:graphicFrameLocks/>
          </p:cNvGraphicFramePr>
          <p:nvPr>
            <p:custDataLst>
              <p:tags r:id="rId1"/>
            </p:custDataLst>
            <p:extLst>
              <p:ext uri="{D42A27DB-BD31-4B8C-83A1-F6EECF244321}">
                <p14:modId xmlns:p14="http://schemas.microsoft.com/office/powerpoint/2010/main" val="25210413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443" imgH="443" progId="TCLayout.ActiveDocument.1">
                  <p:embed/>
                </p:oleObj>
              </mc:Choice>
              <mc:Fallback>
                <p:oleObj name="thinkcell Slide" r:id="rId22" imgW="443" imgH="443" progId="TCLayout.ActiveDocument.1">
                  <p:embed/>
                  <p:pic>
                    <p:nvPicPr>
                      <p:cNvPr id="3" name="thinkcell data - do not delete" hidden="1">
                        <a:extLst>
                          <a:ext uri="{FF2B5EF4-FFF2-40B4-BE49-F238E27FC236}">
                            <a16:creationId xmlns:a16="http://schemas.microsoft.com/office/drawing/2014/main" id="{6D18BC85-6F4F-4125-AD02-4AC22E29212E}"/>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4ACD400-D9B3-ABFE-86D2-9BE859E0907C}"/>
              </a:ext>
            </a:extLst>
          </p:cNvPr>
          <p:cNvSpPr>
            <a:spLocks noGrp="1"/>
          </p:cNvSpPr>
          <p:nvPr>
            <p:ph type="title"/>
          </p:nvPr>
        </p:nvSpPr>
        <p:spPr>
          <a:xfrm>
            <a:off x="254000" y="177800"/>
            <a:ext cx="11684000" cy="787400"/>
          </a:xfrm>
        </p:spPr>
        <p:txBody>
          <a:bodyPr/>
          <a:lstStyle/>
          <a:p>
            <a:r>
              <a:rPr lang="en-US" dirty="0" err="1"/>
              <a:t>Lakeflow</a:t>
            </a:r>
            <a:r>
              <a:rPr lang="en-US" dirty="0"/>
              <a:t> Jobs || Serverless Compute</a:t>
            </a:r>
          </a:p>
        </p:txBody>
      </p:sp>
      <p:sp>
        <p:nvSpPr>
          <p:cNvPr id="4" name="Rectangle: Rounded Corners 3">
            <a:extLst>
              <a:ext uri="{FF2B5EF4-FFF2-40B4-BE49-F238E27FC236}">
                <a16:creationId xmlns:a16="http://schemas.microsoft.com/office/drawing/2014/main" id="{766EB574-7C3E-FA02-48B3-E3734E5B8F6C}"/>
              </a:ext>
            </a:extLst>
          </p:cNvPr>
          <p:cNvSpPr/>
          <p:nvPr/>
        </p:nvSpPr>
        <p:spPr>
          <a:xfrm>
            <a:off x="2108200" y="1016000"/>
            <a:ext cx="9880600" cy="5613400"/>
          </a:xfrm>
          <a:prstGeom prst="roundRect">
            <a:avLst>
              <a:gd name="adj" fmla="val 3000"/>
            </a:avLst>
          </a:prstGeom>
          <a:noFill/>
          <a:ln w="9525" cap="flat" cmpd="sng" algn="ctr">
            <a:solidFill>
              <a:schemeClr val="bg2">
                <a:lumMod val="85000"/>
              </a:schemeClr>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88900" tIns="76200" rIns="88900" bIns="76200" rtlCol="0" anchor="t">
            <a:noAutofit/>
          </a:bodyPr>
          <a:lstStyle/>
          <a:p>
            <a:r>
              <a:rPr lang="en-MY"/>
              <a:t> </a:t>
            </a:r>
          </a:p>
        </p:txBody>
      </p:sp>
      <p:sp>
        <p:nvSpPr>
          <p:cNvPr id="5" name="Rectangle 4">
            <a:extLst>
              <a:ext uri="{FF2B5EF4-FFF2-40B4-BE49-F238E27FC236}">
                <a16:creationId xmlns:a16="http://schemas.microsoft.com/office/drawing/2014/main" id="{0F684CDE-30E2-BD40-EC78-59500865EB47}"/>
              </a:ext>
            </a:extLst>
          </p:cNvPr>
          <p:cNvSpPr/>
          <p:nvPr/>
        </p:nvSpPr>
        <p:spPr>
          <a:xfrm>
            <a:off x="2235200" y="1066800"/>
            <a:ext cx="53340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r>
              <a:rPr lang="en-MY" sz="1400" b="1" dirty="0">
                <a:solidFill>
                  <a:schemeClr val="tx1"/>
                </a:solidFill>
              </a:rPr>
              <a:t>Databricks  Data Intelligence Platform</a:t>
            </a:r>
          </a:p>
        </p:txBody>
      </p:sp>
      <p:sp>
        <p:nvSpPr>
          <p:cNvPr id="6" name="Rectangle 5">
            <a:extLst>
              <a:ext uri="{FF2B5EF4-FFF2-40B4-BE49-F238E27FC236}">
                <a16:creationId xmlns:a16="http://schemas.microsoft.com/office/drawing/2014/main" id="{8EF32524-64FE-4084-8993-53BE3122DCCF}"/>
              </a:ext>
            </a:extLst>
          </p:cNvPr>
          <p:cNvSpPr/>
          <p:nvPr/>
        </p:nvSpPr>
        <p:spPr>
          <a:xfrm>
            <a:off x="8890000" y="1066800"/>
            <a:ext cx="29718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MY" sz="1000" b="1" dirty="0">
                <a:solidFill>
                  <a:schemeClr val="bg1">
                    <a:lumMod val="50000"/>
                  </a:schemeClr>
                </a:solidFill>
              </a:rPr>
              <a:t>ARCHITECTURE</a:t>
            </a:r>
          </a:p>
        </p:txBody>
      </p:sp>
      <p:sp>
        <p:nvSpPr>
          <p:cNvPr id="7" name="Rectangle: Rounded Corners 6">
            <a:extLst>
              <a:ext uri="{FF2B5EF4-FFF2-40B4-BE49-F238E27FC236}">
                <a16:creationId xmlns:a16="http://schemas.microsoft.com/office/drawing/2014/main" id="{289AB654-538E-C56C-AC35-FC923D9ADDC9}"/>
              </a:ext>
            </a:extLst>
          </p:cNvPr>
          <p:cNvSpPr/>
          <p:nvPr/>
        </p:nvSpPr>
        <p:spPr>
          <a:xfrm>
            <a:off x="1016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Public data sources</a:t>
            </a:r>
          </a:p>
        </p:txBody>
      </p:sp>
      <p:sp>
        <p:nvSpPr>
          <p:cNvPr id="8" name="Rectangle: Rounded Corners 7">
            <a:extLst>
              <a:ext uri="{FF2B5EF4-FFF2-40B4-BE49-F238E27FC236}">
                <a16:creationId xmlns:a16="http://schemas.microsoft.com/office/drawing/2014/main" id="{C480A46D-A9F5-58C1-7400-F521BA8C2E36}"/>
              </a:ext>
            </a:extLst>
          </p:cNvPr>
          <p:cNvSpPr/>
          <p:nvPr/>
        </p:nvSpPr>
        <p:spPr>
          <a:xfrm>
            <a:off x="2235200" y="1371600"/>
            <a:ext cx="16256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dirty="0">
                <a:solidFill>
                  <a:schemeClr val="tx1"/>
                </a:solidFill>
              </a:rPr>
              <a:t>Data ingestion</a:t>
            </a:r>
          </a:p>
        </p:txBody>
      </p:sp>
      <p:sp>
        <p:nvSpPr>
          <p:cNvPr id="9" name="Rectangle: Rounded Corners 8">
            <a:extLst>
              <a:ext uri="{FF2B5EF4-FFF2-40B4-BE49-F238E27FC236}">
                <a16:creationId xmlns:a16="http://schemas.microsoft.com/office/drawing/2014/main" id="{B001D3ED-673A-178D-4A03-53E990152DC7}"/>
              </a:ext>
            </a:extLst>
          </p:cNvPr>
          <p:cNvSpPr/>
          <p:nvPr/>
        </p:nvSpPr>
        <p:spPr>
          <a:xfrm>
            <a:off x="3962400" y="1371600"/>
            <a:ext cx="37084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Lakehouse · Medallion architecture</a:t>
            </a:r>
          </a:p>
        </p:txBody>
      </p:sp>
      <p:sp>
        <p:nvSpPr>
          <p:cNvPr id="10" name="Rectangle: Rounded Corners 9">
            <a:extLst>
              <a:ext uri="{FF2B5EF4-FFF2-40B4-BE49-F238E27FC236}">
                <a16:creationId xmlns:a16="http://schemas.microsoft.com/office/drawing/2014/main" id="{A272FDBF-2F47-24BB-2E05-F0F4F6DB6D9C}"/>
              </a:ext>
            </a:extLst>
          </p:cNvPr>
          <p:cNvSpPr/>
          <p:nvPr/>
        </p:nvSpPr>
        <p:spPr>
          <a:xfrm>
            <a:off x="77724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Intelligence · Serving</a:t>
            </a:r>
          </a:p>
        </p:txBody>
      </p:sp>
      <p:sp>
        <p:nvSpPr>
          <p:cNvPr id="11" name="Rectangle: Rounded Corners 10">
            <a:extLst>
              <a:ext uri="{FF2B5EF4-FFF2-40B4-BE49-F238E27FC236}">
                <a16:creationId xmlns:a16="http://schemas.microsoft.com/office/drawing/2014/main" id="{D5B1A72C-9714-835D-D51D-31794461B7F3}"/>
              </a:ext>
            </a:extLst>
          </p:cNvPr>
          <p:cNvSpPr/>
          <p:nvPr/>
        </p:nvSpPr>
        <p:spPr>
          <a:xfrm>
            <a:off x="9779000" y="1371600"/>
            <a:ext cx="2082800" cy="4572000"/>
          </a:xfrm>
          <a:prstGeom prst="roundRect">
            <a:avLst>
              <a:gd name="adj" fmla="val 3500"/>
            </a:avLst>
          </a:prstGeom>
          <a:solidFill>
            <a:schemeClr val="accent1">
              <a:lumMod val="8000"/>
              <a:lumOff val="92000"/>
            </a:schemeClr>
          </a:solidFill>
          <a:ln w="9525" cap="flat" cmpd="sng" algn="ctr">
            <a:solidFill>
              <a:schemeClr val="accent1">
                <a:lumMod val="40000"/>
                <a:lumOff val="6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Residents and agencies · AI agents</a:t>
            </a:r>
          </a:p>
        </p:txBody>
      </p:sp>
      <p:sp>
        <p:nvSpPr>
          <p:cNvPr id="12" name="Rectangle: Rounded Corners 11">
            <a:extLst>
              <a:ext uri="{FF2B5EF4-FFF2-40B4-BE49-F238E27FC236}">
                <a16:creationId xmlns:a16="http://schemas.microsoft.com/office/drawing/2014/main" id="{2FA5E510-56AF-5561-8938-5B560CE0B9AA}"/>
              </a:ext>
            </a:extLst>
          </p:cNvPr>
          <p:cNvSpPr/>
          <p:nvPr/>
        </p:nvSpPr>
        <p:spPr>
          <a:xfrm>
            <a:off x="177800" y="1752600"/>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PUB Flood Alerts</a:t>
            </a:r>
          </a:p>
          <a:p>
            <a:r>
              <a:rPr lang="en-US" sz="1100">
                <a:solidFill>
                  <a:schemeClr val="tx1"/>
                </a:solidFill>
              </a:rPr>
              <a:t>Drains 90% full, flash floods; Telegram posts since 2021</a:t>
            </a:r>
            <a:endParaRPr lang="en-MY"/>
          </a:p>
        </p:txBody>
      </p:sp>
      <p:sp>
        <p:nvSpPr>
          <p:cNvPr id="13" name="Rectangle: Rounded Corners 12">
            <a:extLst>
              <a:ext uri="{FF2B5EF4-FFF2-40B4-BE49-F238E27FC236}">
                <a16:creationId xmlns:a16="http://schemas.microsoft.com/office/drawing/2014/main" id="{0C01D3C6-3E20-02A5-B575-5B19150FFDBB}"/>
              </a:ext>
            </a:extLst>
          </p:cNvPr>
          <p:cNvSpPr/>
          <p:nvPr/>
        </p:nvSpPr>
        <p:spPr>
          <a:xfrm>
            <a:off x="177800" y="2586038"/>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Internet Archive</a:t>
            </a:r>
          </a:p>
          <a:p>
            <a:r>
              <a:rPr lang="en-US" sz="1100">
                <a:solidFill>
                  <a:schemeClr val="tx1"/>
                </a:solidFill>
              </a:rPr>
              <a:t>832 deleted PUB posts, recovered from web captures</a:t>
            </a:r>
            <a:endParaRPr lang="en-MY"/>
          </a:p>
        </p:txBody>
      </p:sp>
      <p:sp>
        <p:nvSpPr>
          <p:cNvPr id="14" name="Rectangle: Rounded Corners 13">
            <a:extLst>
              <a:ext uri="{FF2B5EF4-FFF2-40B4-BE49-F238E27FC236}">
                <a16:creationId xmlns:a16="http://schemas.microsoft.com/office/drawing/2014/main" id="{B8B87864-2DC4-0BBA-2795-B28B4441A838}"/>
              </a:ext>
            </a:extLst>
          </p:cNvPr>
          <p:cNvSpPr/>
          <p:nvPr/>
        </p:nvSpPr>
        <p:spPr>
          <a:xfrm>
            <a:off x="177800" y="3419475"/>
            <a:ext cx="1752600" cy="80645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NEA weather</a:t>
            </a:r>
          </a:p>
          <a:p>
            <a:r>
              <a:rPr lang="en-US" sz="1100">
                <a:solidFill>
                  <a:schemeClr val="tx1"/>
                </a:solidFill>
              </a:rPr>
              <a:t>5-min rain, 2-h forecast, wind, humidity (data.gov.sg)</a:t>
            </a:r>
            <a:endParaRPr lang="en-MY"/>
          </a:p>
        </p:txBody>
      </p:sp>
      <p:sp>
        <p:nvSpPr>
          <p:cNvPr id="15" name="Rectangle: Rounded Corners 14">
            <a:extLst>
              <a:ext uri="{FF2B5EF4-FFF2-40B4-BE49-F238E27FC236}">
                <a16:creationId xmlns:a16="http://schemas.microsoft.com/office/drawing/2014/main" id="{84A31A07-7EFB-228F-47DE-2C7A8CD9884B}"/>
              </a:ext>
            </a:extLst>
          </p:cNvPr>
          <p:cNvSpPr/>
          <p:nvPr/>
        </p:nvSpPr>
        <p:spPr>
          <a:xfrm>
            <a:off x="177800" y="4251325"/>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Tides</a:t>
            </a:r>
          </a:p>
          <a:p>
            <a:r>
              <a:rPr lang="en-MY" sz="1100">
                <a:solidFill>
                  <a:schemeClr val="tx1"/>
                </a:solidFill>
              </a:rPr>
              <a:t>NEA tide table; UHSLC hourly sea level at Tanjong Pagar</a:t>
            </a:r>
          </a:p>
        </p:txBody>
      </p:sp>
      <p:sp>
        <p:nvSpPr>
          <p:cNvPr id="16" name="Rectangle: Rounded Corners 15">
            <a:extLst>
              <a:ext uri="{FF2B5EF4-FFF2-40B4-BE49-F238E27FC236}">
                <a16:creationId xmlns:a16="http://schemas.microsoft.com/office/drawing/2014/main" id="{BB48DCE0-ACF9-46B9-0CBD-E36794A69892}"/>
              </a:ext>
            </a:extLst>
          </p:cNvPr>
          <p:cNvSpPr/>
          <p:nvPr/>
        </p:nvSpPr>
        <p:spPr>
          <a:xfrm>
            <a:off x="177800" y="5084763"/>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Maps, sensors</a:t>
            </a:r>
          </a:p>
          <a:p>
            <a:r>
              <a:rPr lang="en-MY" sz="1100">
                <a:solidFill>
                  <a:schemeClr val="tx1"/>
                </a:solidFill>
              </a:rPr>
              <a:t>328 PUB water-level sensors, URA land use, SLA, OneMap</a:t>
            </a:r>
          </a:p>
        </p:txBody>
      </p:sp>
      <p:sp>
        <p:nvSpPr>
          <p:cNvPr id="17" name="Rectangle: Rounded Corners 16">
            <a:extLst>
              <a:ext uri="{FF2B5EF4-FFF2-40B4-BE49-F238E27FC236}">
                <a16:creationId xmlns:a16="http://schemas.microsoft.com/office/drawing/2014/main" id="{E6243AEA-2E88-EED3-DF7F-1C1B7FF489AC}"/>
              </a:ext>
            </a:extLst>
          </p:cNvPr>
          <p:cNvSpPr/>
          <p:nvPr/>
        </p:nvSpPr>
        <p:spPr>
          <a:xfrm>
            <a:off x="2336800" y="1752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dirty="0" err="1">
                <a:solidFill>
                  <a:schemeClr val="tx1">
                    <a:lumMod val="75000"/>
                    <a:lumOff val="25000"/>
                  </a:schemeClr>
                </a:solidFill>
              </a:rPr>
              <a:t>Lakeflow</a:t>
            </a:r>
            <a:r>
              <a:rPr lang="en-US" sz="1300" b="1" dirty="0">
                <a:solidFill>
                  <a:schemeClr val="tx1">
                    <a:lumMod val="75000"/>
                    <a:lumOff val="25000"/>
                  </a:schemeClr>
                </a:solidFill>
              </a:rPr>
              <a:t> Jobs</a:t>
            </a:r>
          </a:p>
          <a:p>
            <a:r>
              <a:rPr lang="en-US" sz="1100" dirty="0">
                <a:solidFill>
                  <a:schemeClr val="tx1"/>
                </a:solidFill>
              </a:rPr>
              <a:t>Python fetchers on serverless: new data every 5 min, a nightly repair, one-off backfills</a:t>
            </a:r>
            <a:endParaRPr lang="en-MY" dirty="0"/>
          </a:p>
        </p:txBody>
      </p:sp>
      <p:sp>
        <p:nvSpPr>
          <p:cNvPr id="18" name="Rectangle: Rounded Corners 17">
            <a:extLst>
              <a:ext uri="{FF2B5EF4-FFF2-40B4-BE49-F238E27FC236}">
                <a16:creationId xmlns:a16="http://schemas.microsoft.com/office/drawing/2014/main" id="{8A402E7C-8BF4-A340-5658-038FB94E8EC5}"/>
              </a:ext>
            </a:extLst>
          </p:cNvPr>
          <p:cNvSpPr/>
          <p:nvPr/>
        </p:nvSpPr>
        <p:spPr>
          <a:xfrm>
            <a:off x="2336800" y="3911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Auto Loader</a:t>
            </a:r>
          </a:p>
          <a:p>
            <a:r>
              <a:rPr lang="en-US" sz="1100">
                <a:solidFill>
                  <a:schemeClr val="tx1"/>
                </a:solidFill>
              </a:rPr>
              <a:t>Each fetch lands as a new file in a UC Volume and streams into bronze once</a:t>
            </a:r>
            <a:endParaRPr lang="en-MY"/>
          </a:p>
        </p:txBody>
      </p:sp>
      <p:sp>
        <p:nvSpPr>
          <p:cNvPr id="19" name="Rectangle: Rounded Corners 18">
            <a:extLst>
              <a:ext uri="{FF2B5EF4-FFF2-40B4-BE49-F238E27FC236}">
                <a16:creationId xmlns:a16="http://schemas.microsoft.com/office/drawing/2014/main" id="{0A90E754-003C-0186-8FE9-CEBC30FBDA38}"/>
              </a:ext>
            </a:extLst>
          </p:cNvPr>
          <p:cNvSpPr/>
          <p:nvPr/>
        </p:nvSpPr>
        <p:spPr>
          <a:xfrm>
            <a:off x="4064000" y="1752600"/>
            <a:ext cx="1066800" cy="2540000"/>
          </a:xfrm>
          <a:prstGeom prst="roundRect">
            <a:avLst>
              <a:gd name="adj" fmla="val 8000"/>
            </a:avLst>
          </a:prstGeom>
          <a:solidFill>
            <a:schemeClr val="accent1">
              <a:lumMod val="20000"/>
              <a:lumOff val="80000"/>
            </a:schemeClr>
          </a:solidFill>
          <a:ln w="12700" cap="flat" cmpd="sng" algn="ctr">
            <a:solidFill>
              <a:schemeClr val="accent1">
                <a:lumMod val="60000"/>
                <a:lumOff val="4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Bronze</a:t>
            </a:r>
          </a:p>
          <a:p>
            <a:pPr algn="ctr"/>
            <a:r>
              <a:rPr lang="en-US" sz="1100">
                <a:solidFill>
                  <a:schemeClr val="tx1"/>
                </a:solidFill>
              </a:rPr>
              <a:t>Every API page, post and file as received; full history</a:t>
            </a:r>
            <a:endParaRPr lang="en-MY"/>
          </a:p>
        </p:txBody>
      </p:sp>
      <p:sp>
        <p:nvSpPr>
          <p:cNvPr id="20" name="Rectangle: Rounded Corners 19">
            <a:extLst>
              <a:ext uri="{FF2B5EF4-FFF2-40B4-BE49-F238E27FC236}">
                <a16:creationId xmlns:a16="http://schemas.microsoft.com/office/drawing/2014/main" id="{70568629-6A9E-6243-742D-9FBBA41CDD3A}"/>
              </a:ext>
            </a:extLst>
          </p:cNvPr>
          <p:cNvSpPr/>
          <p:nvPr/>
        </p:nvSpPr>
        <p:spPr>
          <a:xfrm>
            <a:off x="5283200" y="1752600"/>
            <a:ext cx="1066800" cy="2540000"/>
          </a:xfrm>
          <a:prstGeom prst="roundRect">
            <a:avLst>
              <a:gd name="adj" fmla="val 8000"/>
            </a:avLst>
          </a:prstGeom>
          <a:solidFill>
            <a:schemeClr val="bg2">
              <a:lumMod val="90000"/>
            </a:schemeClr>
          </a:solidFill>
          <a:ln w="12700" cap="flat" cmpd="sng" algn="ctr">
            <a:solidFill>
              <a:schemeClr val="bg2">
                <a:lumMod val="6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Silver</a:t>
            </a:r>
          </a:p>
          <a:p>
            <a:pPr algn="ctr"/>
            <a:r>
              <a:rPr lang="en-US" sz="1100">
                <a:solidFill>
                  <a:schemeClr val="tx1"/>
                </a:solidFill>
              </a:rPr>
              <a:t>Readings cleaned, posts parsed, alerts placed in NEA's 47 areas</a:t>
            </a:r>
            <a:endParaRPr lang="en-MY" dirty="0"/>
          </a:p>
        </p:txBody>
      </p:sp>
      <p:sp>
        <p:nvSpPr>
          <p:cNvPr id="21" name="Rectangle: Rounded Corners 20">
            <a:extLst>
              <a:ext uri="{FF2B5EF4-FFF2-40B4-BE49-F238E27FC236}">
                <a16:creationId xmlns:a16="http://schemas.microsoft.com/office/drawing/2014/main" id="{B582E06B-C379-0BDE-7C9D-604206E93B76}"/>
              </a:ext>
            </a:extLst>
          </p:cNvPr>
          <p:cNvSpPr/>
          <p:nvPr/>
        </p:nvSpPr>
        <p:spPr>
          <a:xfrm>
            <a:off x="6502400" y="1752600"/>
            <a:ext cx="1066800" cy="2540000"/>
          </a:xfrm>
          <a:prstGeom prst="roundRect">
            <a:avLst>
              <a:gd name="adj" fmla="val 8000"/>
            </a:avLst>
          </a:prstGeom>
          <a:solidFill>
            <a:schemeClr val="accent2">
              <a:lumMod val="20000"/>
              <a:lumOff val="80000"/>
            </a:schemeClr>
          </a:solidFill>
          <a:ln w="12700" cap="flat" cmpd="sng" algn="ctr">
            <a:solidFill>
              <a:schemeClr val="accent2">
                <a:lumMod val="70000"/>
                <a:lumOff val="3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Gold</a:t>
            </a:r>
          </a:p>
          <a:p>
            <a:pPr algn="ctr"/>
            <a:r>
              <a:rPr lang="en-US" sz="1100">
                <a:solidFill>
                  <a:schemeClr val="tx1"/>
                </a:solidFill>
              </a:rPr>
              <a:t>Each area, every 5 min: rain, forecast, tide, label</a:t>
            </a:r>
            <a:endParaRPr lang="en-MY"/>
          </a:p>
        </p:txBody>
      </p:sp>
      <p:sp>
        <p:nvSpPr>
          <p:cNvPr id="22" name="Rectangle: Rounded Corners 21">
            <a:extLst>
              <a:ext uri="{FF2B5EF4-FFF2-40B4-BE49-F238E27FC236}">
                <a16:creationId xmlns:a16="http://schemas.microsoft.com/office/drawing/2014/main" id="{6C5525EB-F692-1460-F3F1-67965D28AA33}"/>
              </a:ext>
            </a:extLst>
          </p:cNvPr>
          <p:cNvSpPr/>
          <p:nvPr/>
        </p:nvSpPr>
        <p:spPr>
          <a:xfrm>
            <a:off x="4064000" y="4521200"/>
            <a:ext cx="35052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Spark Declarative Pipelines</a:t>
            </a:r>
          </a:p>
          <a:p>
            <a:r>
              <a:rPr lang="en-US" sz="1100">
                <a:solidFill>
                  <a:schemeClr val="tx1"/>
                </a:solidFill>
              </a:rPr>
              <a:t>Two serverless pipelines. Expectations drop bad readings; unplaceable alerts are quarantined. Hours with lost posts or feed outages count as missing, never as quiet.</a:t>
            </a:r>
            <a:endParaRPr lang="en-MY"/>
          </a:p>
        </p:txBody>
      </p:sp>
      <p:sp>
        <p:nvSpPr>
          <p:cNvPr id="23" name="Rectangle: Rounded Corners 22">
            <a:extLst>
              <a:ext uri="{FF2B5EF4-FFF2-40B4-BE49-F238E27FC236}">
                <a16:creationId xmlns:a16="http://schemas.microsoft.com/office/drawing/2014/main" id="{9277E661-B6A5-DC5D-0D0E-0B7147250759}"/>
              </a:ext>
            </a:extLst>
          </p:cNvPr>
          <p:cNvSpPr/>
          <p:nvPr/>
        </p:nvSpPr>
        <p:spPr>
          <a:xfrm>
            <a:off x="7874000" y="1752600"/>
            <a:ext cx="1701800" cy="1422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a:solidFill>
                  <a:schemeClr val="tx1"/>
                </a:solidFill>
              </a:rPr>
              <a:t>MLflow · Unity Catalog</a:t>
            </a:r>
          </a:p>
          <a:p>
            <a:r>
              <a:rPr lang="en-US" sz="1100">
                <a:solidFill>
                  <a:schemeClr val="tx1"/>
                </a:solidFill>
              </a:rPr>
              <a:t>Gated LightGBM pair: each area's chance of a PUB alert within 1 h. 7 checks before @champion moves.</a:t>
            </a:r>
            <a:endParaRPr lang="en-MY" dirty="0"/>
          </a:p>
        </p:txBody>
      </p:sp>
      <p:sp>
        <p:nvSpPr>
          <p:cNvPr id="24" name="Rectangle: Rounded Corners 23">
            <a:extLst>
              <a:ext uri="{FF2B5EF4-FFF2-40B4-BE49-F238E27FC236}">
                <a16:creationId xmlns:a16="http://schemas.microsoft.com/office/drawing/2014/main" id="{94ADEF98-9BA0-5B57-4F11-67FE01E08C7E}"/>
              </a:ext>
            </a:extLst>
          </p:cNvPr>
          <p:cNvSpPr/>
          <p:nvPr/>
        </p:nvSpPr>
        <p:spPr>
          <a:xfrm>
            <a:off x="7874000" y="3276600"/>
            <a:ext cx="17018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a:solidFill>
                  <a:schemeClr val="tx1"/>
                </a:solidFill>
              </a:rPr>
              <a:t>Live scoring</a:t>
            </a:r>
          </a:p>
          <a:p>
            <a:r>
              <a:rPr lang="en-US" sz="1100">
                <a:solidFill>
                  <a:schemeClr val="tx1"/>
                </a:solidFill>
              </a:rPr>
              <a:t>Every 5 min, @champion rates all 47 areas into a Delta table. New warnings go out by Telegram, email.</a:t>
            </a:r>
            <a:endParaRPr lang="en-MY"/>
          </a:p>
        </p:txBody>
      </p:sp>
      <p:sp>
        <p:nvSpPr>
          <p:cNvPr id="25" name="Rectangle: Rounded Corners 24">
            <a:extLst>
              <a:ext uri="{FF2B5EF4-FFF2-40B4-BE49-F238E27FC236}">
                <a16:creationId xmlns:a16="http://schemas.microsoft.com/office/drawing/2014/main" id="{8EB09309-9B40-A0CF-7D21-429BD6199683}"/>
              </a:ext>
            </a:extLst>
          </p:cNvPr>
          <p:cNvSpPr/>
          <p:nvPr/>
        </p:nvSpPr>
        <p:spPr>
          <a:xfrm>
            <a:off x="7874000" y="4699000"/>
            <a:ext cx="1701800" cy="11430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MY" sz="1300" b="1">
                <a:solidFill>
                  <a:schemeClr val="tx1"/>
                </a:solidFill>
              </a:rPr>
              <a:t>Databricks SQL · AI/BI</a:t>
            </a:r>
          </a:p>
          <a:p>
            <a:r>
              <a:rPr lang="en-MY" sz="1100">
                <a:solidFill>
                  <a:schemeClr val="tx1"/>
                </a:solidFill>
              </a:rPr>
              <a:t>Serverless warehouse for the app, Genie, agencies' scoreboard</a:t>
            </a:r>
          </a:p>
        </p:txBody>
      </p:sp>
      <p:sp>
        <p:nvSpPr>
          <p:cNvPr id="26" name="Rectangle: Rounded Corners 25">
            <a:extLst>
              <a:ext uri="{FF2B5EF4-FFF2-40B4-BE49-F238E27FC236}">
                <a16:creationId xmlns:a16="http://schemas.microsoft.com/office/drawing/2014/main" id="{30A914DC-C660-E7C6-B7A1-A99D2198D977}"/>
              </a:ext>
            </a:extLst>
          </p:cNvPr>
          <p:cNvSpPr/>
          <p:nvPr/>
        </p:nvSpPr>
        <p:spPr>
          <a:xfrm>
            <a:off x="9880600" y="1879600"/>
            <a:ext cx="1879600" cy="1727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Databricks App</a:t>
            </a:r>
          </a:p>
          <a:p>
            <a:r>
              <a:rPr lang="en-US" sz="1100">
                <a:solidFill>
                  <a:schemeClr val="tx1"/>
                </a:solidFill>
              </a:rPr>
              <a:t>Live map of 47 areas: what to do on foot, driving or at home. Storm replays, warning sign-ups.</a:t>
            </a:r>
            <a:endParaRPr lang="en-MY" dirty="0"/>
          </a:p>
        </p:txBody>
      </p:sp>
      <p:sp>
        <p:nvSpPr>
          <p:cNvPr id="27" name="Rectangle: Rounded Corners 26">
            <a:extLst>
              <a:ext uri="{FF2B5EF4-FFF2-40B4-BE49-F238E27FC236}">
                <a16:creationId xmlns:a16="http://schemas.microsoft.com/office/drawing/2014/main" id="{50D4B8A1-1046-A3B2-C492-F662147E636C}"/>
              </a:ext>
            </a:extLst>
          </p:cNvPr>
          <p:cNvSpPr/>
          <p:nvPr/>
        </p:nvSpPr>
        <p:spPr>
          <a:xfrm>
            <a:off x="9880600" y="3733800"/>
            <a:ext cx="1879600" cy="2108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Genie Agent</a:t>
            </a:r>
          </a:p>
          <a:p>
            <a:r>
              <a:rPr lang="en-US" sz="1100">
                <a:solidFill>
                  <a:schemeClr val="tx1"/>
                </a:solidFill>
              </a:rPr>
              <a:t>"FloodSense for agencies": ask in plain English how it did against PUB, flood by flood. Also in the app.</a:t>
            </a:r>
            <a:endParaRPr lang="en-MY"/>
          </a:p>
        </p:txBody>
      </p:sp>
      <p:sp>
        <p:nvSpPr>
          <p:cNvPr id="28" name="Rectangle: Rounded Corners 27">
            <a:extLst>
              <a:ext uri="{FF2B5EF4-FFF2-40B4-BE49-F238E27FC236}">
                <a16:creationId xmlns:a16="http://schemas.microsoft.com/office/drawing/2014/main" id="{C8C4777B-9A05-0B7A-904B-D7DA01A60C55}"/>
              </a:ext>
            </a:extLst>
          </p:cNvPr>
          <p:cNvSpPr/>
          <p:nvPr/>
        </p:nvSpPr>
        <p:spPr>
          <a:xfrm>
            <a:off x="9982200" y="2946400"/>
            <a:ext cx="7366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Residents</a:t>
            </a:r>
          </a:p>
        </p:txBody>
      </p:sp>
      <p:sp>
        <p:nvSpPr>
          <p:cNvPr id="29" name="Rectangle: Rounded Corners 28">
            <a:extLst>
              <a:ext uri="{FF2B5EF4-FFF2-40B4-BE49-F238E27FC236}">
                <a16:creationId xmlns:a16="http://schemas.microsoft.com/office/drawing/2014/main" id="{FF1826A6-CB09-F55C-1BB4-388E910075B2}"/>
              </a:ext>
            </a:extLst>
          </p:cNvPr>
          <p:cNvSpPr/>
          <p:nvPr/>
        </p:nvSpPr>
        <p:spPr>
          <a:xfrm>
            <a:off x="10795000" y="2946400"/>
            <a:ext cx="7874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Commuters</a:t>
            </a:r>
          </a:p>
        </p:txBody>
      </p:sp>
      <p:sp>
        <p:nvSpPr>
          <p:cNvPr id="30" name="Rectangle: Rounded Corners 29">
            <a:extLst>
              <a:ext uri="{FF2B5EF4-FFF2-40B4-BE49-F238E27FC236}">
                <a16:creationId xmlns:a16="http://schemas.microsoft.com/office/drawing/2014/main" id="{4FD4DD58-668B-9093-3BDC-381CF906A1E0}"/>
              </a:ext>
            </a:extLst>
          </p:cNvPr>
          <p:cNvSpPr/>
          <p:nvPr/>
        </p:nvSpPr>
        <p:spPr>
          <a:xfrm>
            <a:off x="9982200" y="3251200"/>
            <a:ext cx="9652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Town councils</a:t>
            </a:r>
          </a:p>
        </p:txBody>
      </p:sp>
      <p:sp>
        <p:nvSpPr>
          <p:cNvPr id="31" name="Rectangle: Rounded Corners 30">
            <a:extLst>
              <a:ext uri="{FF2B5EF4-FFF2-40B4-BE49-F238E27FC236}">
                <a16:creationId xmlns:a16="http://schemas.microsoft.com/office/drawing/2014/main" id="{21F349C3-E7BB-F478-755A-E24248EAB80D}"/>
              </a:ext>
            </a:extLst>
          </p:cNvPr>
          <p:cNvSpPr/>
          <p:nvPr/>
        </p:nvSpPr>
        <p:spPr>
          <a:xfrm>
            <a:off x="11023600" y="3251200"/>
            <a:ext cx="6350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Agencies</a:t>
            </a:r>
          </a:p>
        </p:txBody>
      </p:sp>
      <p:sp>
        <p:nvSpPr>
          <p:cNvPr id="33" name="Rectangle: Rounded Corners 32">
            <a:extLst>
              <a:ext uri="{FF2B5EF4-FFF2-40B4-BE49-F238E27FC236}">
                <a16:creationId xmlns:a16="http://schemas.microsoft.com/office/drawing/2014/main" id="{F7AB5FBF-5250-9440-8623-7A5759254075}"/>
              </a:ext>
            </a:extLst>
          </p:cNvPr>
          <p:cNvSpPr/>
          <p:nvPr>
            <p:custDataLst>
              <p:tags r:id="rId2"/>
            </p:custDataLst>
          </p:nvPr>
        </p:nvSpPr>
        <p:spPr>
          <a:xfrm>
            <a:off x="2235200" y="6070600"/>
            <a:ext cx="9626600" cy="355600"/>
          </a:xfrm>
          <a:prstGeom prst="roundRect">
            <a:avLst>
              <a:gd name="adj" fmla="val 12000"/>
            </a:avLst>
          </a:prstGeom>
          <a:solidFill>
            <a:schemeClr val="bg1"/>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66700" tIns="12700" rIns="50800" bIns="12700" rtlCol="0" anchor="ctr">
            <a:noAutofit/>
          </a:bodyPr>
          <a:lstStyle/>
          <a:p>
            <a:pPr algn="ctr"/>
            <a:r>
              <a:rPr lang="en-MY" sz="1100" b="1" dirty="0">
                <a:solidFill>
                  <a:schemeClr val="tx1"/>
                </a:solidFill>
              </a:rPr>
              <a:t>Unity </a:t>
            </a:r>
            <a:r>
              <a:rPr lang="en-MY" sz="1100" b="1" dirty="0" err="1">
                <a:solidFill>
                  <a:schemeClr val="tx1"/>
                </a:solidFill>
              </a:rPr>
              <a:t>Catalog</a:t>
            </a:r>
            <a:endParaRPr lang="en-MY" sz="1100" b="1" dirty="0">
              <a:solidFill>
                <a:schemeClr val="tx1"/>
              </a:solidFill>
            </a:endParaRPr>
          </a:p>
        </p:txBody>
      </p:sp>
      <p:cxnSp>
        <p:nvCxnSpPr>
          <p:cNvPr id="42" name="Connector: Elbow 41">
            <a:extLst>
              <a:ext uri="{FF2B5EF4-FFF2-40B4-BE49-F238E27FC236}">
                <a16:creationId xmlns:a16="http://schemas.microsoft.com/office/drawing/2014/main" id="{E5AC4F5C-FB7F-54EE-AA8C-DD33148A45E8}"/>
              </a:ext>
            </a:extLst>
          </p:cNvPr>
          <p:cNvCxnSpPr>
            <a:cxnSpLocks/>
          </p:cNvCxnSpPr>
          <p:nvPr/>
        </p:nvCxnSpPr>
        <p:spPr>
          <a:xfrm>
            <a:off x="51308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4BFAB8A2-854F-B21E-2BD7-DC89164F3524}"/>
              </a:ext>
            </a:extLst>
          </p:cNvPr>
          <p:cNvCxnSpPr>
            <a:cxnSpLocks/>
          </p:cNvCxnSpPr>
          <p:nvPr/>
        </p:nvCxnSpPr>
        <p:spPr>
          <a:xfrm>
            <a:off x="63500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54" name="IconTile_12">
            <a:extLst>
              <a:ext uri="{FF2B5EF4-FFF2-40B4-BE49-F238E27FC236}">
                <a16:creationId xmlns:a16="http://schemas.microsoft.com/office/drawing/2014/main" id="{26B5945D-55A5-4C15-4FE8-0EFF7451677F}"/>
              </a:ext>
            </a:extLst>
          </p:cNvPr>
          <p:cNvSpPr/>
          <p:nvPr/>
        </p:nvSpPr>
        <p:spPr>
          <a:xfrm>
            <a:off x="241300" y="17907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5" name="IconTile_13">
            <a:extLst>
              <a:ext uri="{FF2B5EF4-FFF2-40B4-BE49-F238E27FC236}">
                <a16:creationId xmlns:a16="http://schemas.microsoft.com/office/drawing/2014/main" id="{83FA0A7A-21A6-DBC0-7CC4-89668E1DED95}"/>
              </a:ext>
            </a:extLst>
          </p:cNvPr>
          <p:cNvSpPr/>
          <p:nvPr/>
        </p:nvSpPr>
        <p:spPr>
          <a:xfrm>
            <a:off x="241300" y="2624138"/>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6" name="IconTile_14">
            <a:extLst>
              <a:ext uri="{FF2B5EF4-FFF2-40B4-BE49-F238E27FC236}">
                <a16:creationId xmlns:a16="http://schemas.microsoft.com/office/drawing/2014/main" id="{0B868303-1075-277F-4AFD-11D05F043A54}"/>
              </a:ext>
            </a:extLst>
          </p:cNvPr>
          <p:cNvSpPr/>
          <p:nvPr/>
        </p:nvSpPr>
        <p:spPr>
          <a:xfrm>
            <a:off x="241300" y="345757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7" name="IconTile_15">
            <a:extLst>
              <a:ext uri="{FF2B5EF4-FFF2-40B4-BE49-F238E27FC236}">
                <a16:creationId xmlns:a16="http://schemas.microsoft.com/office/drawing/2014/main" id="{ED1979F2-AFCA-8A15-09FA-53DD45547C8C}"/>
              </a:ext>
            </a:extLst>
          </p:cNvPr>
          <p:cNvSpPr/>
          <p:nvPr/>
        </p:nvSpPr>
        <p:spPr>
          <a:xfrm>
            <a:off x="241300" y="428942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8" name="IconTile_16">
            <a:extLst>
              <a:ext uri="{FF2B5EF4-FFF2-40B4-BE49-F238E27FC236}">
                <a16:creationId xmlns:a16="http://schemas.microsoft.com/office/drawing/2014/main" id="{63FAD43E-4473-A434-E355-17CC0E1958D5}"/>
              </a:ext>
            </a:extLst>
          </p:cNvPr>
          <p:cNvSpPr/>
          <p:nvPr/>
        </p:nvSpPr>
        <p:spPr>
          <a:xfrm>
            <a:off x="241300" y="5122863"/>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9" name="IconTile_17">
            <a:extLst>
              <a:ext uri="{FF2B5EF4-FFF2-40B4-BE49-F238E27FC236}">
                <a16:creationId xmlns:a16="http://schemas.microsoft.com/office/drawing/2014/main" id="{900CAD94-BE4C-66CD-FCBE-97DFB729E7F7}"/>
              </a:ext>
            </a:extLst>
          </p:cNvPr>
          <p:cNvSpPr/>
          <p:nvPr/>
        </p:nvSpPr>
        <p:spPr>
          <a:xfrm>
            <a:off x="2400300" y="1835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0" name="IconTile_18">
            <a:extLst>
              <a:ext uri="{FF2B5EF4-FFF2-40B4-BE49-F238E27FC236}">
                <a16:creationId xmlns:a16="http://schemas.microsoft.com/office/drawing/2014/main" id="{C05D7A4D-7FC3-64C4-459A-B46A2E03E4FA}"/>
              </a:ext>
            </a:extLst>
          </p:cNvPr>
          <p:cNvSpPr/>
          <p:nvPr/>
        </p:nvSpPr>
        <p:spPr>
          <a:xfrm>
            <a:off x="2400300" y="3994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1" name="IconTile_22">
            <a:extLst>
              <a:ext uri="{FF2B5EF4-FFF2-40B4-BE49-F238E27FC236}">
                <a16:creationId xmlns:a16="http://schemas.microsoft.com/office/drawing/2014/main" id="{5663B5F8-A37A-886A-BE41-A643B76BA427}"/>
              </a:ext>
            </a:extLst>
          </p:cNvPr>
          <p:cNvSpPr/>
          <p:nvPr/>
        </p:nvSpPr>
        <p:spPr>
          <a:xfrm>
            <a:off x="4127500" y="460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2" name="IconTile_23">
            <a:extLst>
              <a:ext uri="{FF2B5EF4-FFF2-40B4-BE49-F238E27FC236}">
                <a16:creationId xmlns:a16="http://schemas.microsoft.com/office/drawing/2014/main" id="{D44235E3-3415-AA23-FF3D-81648176934D}"/>
              </a:ext>
            </a:extLst>
          </p:cNvPr>
          <p:cNvSpPr/>
          <p:nvPr/>
        </p:nvSpPr>
        <p:spPr>
          <a:xfrm>
            <a:off x="7937500" y="1809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3" name="IconTile_24">
            <a:extLst>
              <a:ext uri="{FF2B5EF4-FFF2-40B4-BE49-F238E27FC236}">
                <a16:creationId xmlns:a16="http://schemas.microsoft.com/office/drawing/2014/main" id="{9ACAC183-9B9D-EBEE-DCC7-DD62ECDCC0F3}"/>
              </a:ext>
            </a:extLst>
          </p:cNvPr>
          <p:cNvSpPr/>
          <p:nvPr/>
        </p:nvSpPr>
        <p:spPr>
          <a:xfrm>
            <a:off x="7937500" y="333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4" name="IconTile_25">
            <a:extLst>
              <a:ext uri="{FF2B5EF4-FFF2-40B4-BE49-F238E27FC236}">
                <a16:creationId xmlns:a16="http://schemas.microsoft.com/office/drawing/2014/main" id="{848A7AD7-18ED-FB82-5206-BC55B9A231DD}"/>
              </a:ext>
            </a:extLst>
          </p:cNvPr>
          <p:cNvSpPr/>
          <p:nvPr/>
        </p:nvSpPr>
        <p:spPr>
          <a:xfrm>
            <a:off x="7937500" y="4756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5" name="IconTile_26">
            <a:extLst>
              <a:ext uri="{FF2B5EF4-FFF2-40B4-BE49-F238E27FC236}">
                <a16:creationId xmlns:a16="http://schemas.microsoft.com/office/drawing/2014/main" id="{9A46421A-1441-A9F0-65DF-51F17B0B7784}"/>
              </a:ext>
            </a:extLst>
          </p:cNvPr>
          <p:cNvSpPr/>
          <p:nvPr/>
        </p:nvSpPr>
        <p:spPr>
          <a:xfrm>
            <a:off x="9944100" y="1962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6" name="IconTile_27">
            <a:extLst>
              <a:ext uri="{FF2B5EF4-FFF2-40B4-BE49-F238E27FC236}">
                <a16:creationId xmlns:a16="http://schemas.microsoft.com/office/drawing/2014/main" id="{42D8248C-3FB2-562E-671E-863FD12CDE31}"/>
              </a:ext>
            </a:extLst>
          </p:cNvPr>
          <p:cNvSpPr/>
          <p:nvPr/>
        </p:nvSpPr>
        <p:spPr>
          <a:xfrm>
            <a:off x="9944100" y="38163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72" name="Pic">
            <a:extLst>
              <a:ext uri="{FF2B5EF4-FFF2-40B4-BE49-F238E27FC236}">
                <a16:creationId xmlns:a16="http://schemas.microsoft.com/office/drawing/2014/main" id="{74221F6F-7F75-28DD-8CD1-ED1606A7C1FB}"/>
              </a:ext>
            </a:extLst>
          </p:cNvPr>
          <p:cNvPicPr>
            <a:picLocks/>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 uri="{6F801314-5768-4EAC-8CED-0F2297F94238}"/>
            </a:extLst>
          </a:blip>
          <a:stretch>
            <a:fillRect/>
          </a:stretch>
        </p:blipFill>
        <p:spPr bwMode="auto">
          <a:xfrm>
            <a:off x="7975600" y="1854200"/>
            <a:ext cx="152400" cy="152400"/>
          </a:xfrm>
          <a:prstGeom prst="rect">
            <a:avLst/>
          </a:prstGeom>
          <a:noFill/>
          <a:effectLst/>
        </p:spPr>
      </p:pic>
      <p:pic>
        <p:nvPicPr>
          <p:cNvPr id="71" name="Pic">
            <a:extLst>
              <a:ext uri="{FF2B5EF4-FFF2-40B4-BE49-F238E27FC236}">
                <a16:creationId xmlns:a16="http://schemas.microsoft.com/office/drawing/2014/main" id="{F96D456A-BFC8-5455-0F84-A4A16D7AF323}"/>
              </a:ext>
            </a:extLst>
          </p:cNvPr>
          <p:cNvPicPr>
            <a:picLocks/>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5"/>
              </a:ext>
              <a:ext uri="{6F801314-5768-4EAC-8CED-0F2297F94238}"/>
            </a:extLst>
          </a:blip>
          <a:stretch>
            <a:fillRect/>
          </a:stretch>
        </p:blipFill>
        <p:spPr bwMode="auto">
          <a:xfrm>
            <a:off x="9982200" y="3860800"/>
            <a:ext cx="152400" cy="152400"/>
          </a:xfrm>
          <a:prstGeom prst="rect">
            <a:avLst/>
          </a:prstGeom>
          <a:noFill/>
          <a:effectLst/>
        </p:spPr>
      </p:pic>
      <p:pic>
        <p:nvPicPr>
          <p:cNvPr id="79" name="Pic">
            <a:extLst>
              <a:ext uri="{FF2B5EF4-FFF2-40B4-BE49-F238E27FC236}">
                <a16:creationId xmlns:a16="http://schemas.microsoft.com/office/drawing/2014/main" id="{983CEEE4-3850-C0EF-2F72-7D3DF1D6E1C4}"/>
              </a:ext>
            </a:extLst>
          </p:cNvPr>
          <p:cNvPicPr>
            <a:picLocks/>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 uri="{6F801314-5768-4EAC-8CED-0F2297F94238}"/>
            </a:extLst>
          </a:blip>
          <a:stretch>
            <a:fillRect/>
          </a:stretch>
        </p:blipFill>
        <p:spPr bwMode="auto">
          <a:xfrm>
            <a:off x="4165600" y="4648200"/>
            <a:ext cx="152400" cy="152400"/>
          </a:xfrm>
          <a:prstGeom prst="rect">
            <a:avLst/>
          </a:prstGeom>
          <a:noFill/>
          <a:effectLst/>
        </p:spPr>
      </p:pic>
      <p:pic>
        <p:nvPicPr>
          <p:cNvPr id="80" name="Pic">
            <a:extLst>
              <a:ext uri="{FF2B5EF4-FFF2-40B4-BE49-F238E27FC236}">
                <a16:creationId xmlns:a16="http://schemas.microsoft.com/office/drawing/2014/main" id="{67527278-B6D9-397B-976C-1767B181567E}"/>
              </a:ext>
            </a:extLst>
          </p:cNvPr>
          <p:cNvPicPr>
            <a:picLocks/>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7"/>
              </a:ext>
              <a:ext uri="{6F801314-5768-4EAC-8CED-0F2297F94238}"/>
            </a:extLst>
          </a:blip>
          <a:stretch>
            <a:fillRect/>
          </a:stretch>
        </p:blipFill>
        <p:spPr bwMode="auto">
          <a:xfrm>
            <a:off x="7975600" y="4800600"/>
            <a:ext cx="152400" cy="152400"/>
          </a:xfrm>
          <a:prstGeom prst="rect">
            <a:avLst/>
          </a:prstGeom>
          <a:noFill/>
          <a:effectLst/>
        </p:spPr>
      </p:pic>
      <p:pic>
        <p:nvPicPr>
          <p:cNvPr id="81" name="Pic">
            <a:extLst>
              <a:ext uri="{FF2B5EF4-FFF2-40B4-BE49-F238E27FC236}">
                <a16:creationId xmlns:a16="http://schemas.microsoft.com/office/drawing/2014/main" id="{088B407D-8441-F702-A886-BDA44D021F1D}"/>
              </a:ext>
            </a:extLst>
          </p:cNvPr>
          <p:cNvPicPr>
            <a:picLocks/>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 uri="{6F801314-5768-4EAC-8CED-0F2297F94238}"/>
            </a:extLst>
          </a:blip>
          <a:stretch>
            <a:fillRect/>
          </a:stretch>
        </p:blipFill>
        <p:spPr bwMode="auto">
          <a:xfrm>
            <a:off x="6502400" y="6210300"/>
            <a:ext cx="152400" cy="152400"/>
          </a:xfrm>
          <a:prstGeom prst="rect">
            <a:avLst/>
          </a:prstGeom>
          <a:noFill/>
          <a:effectLst/>
        </p:spPr>
      </p:pic>
      <p:pic>
        <p:nvPicPr>
          <p:cNvPr id="86" name="Pic">
            <a:extLst>
              <a:ext uri="{FF2B5EF4-FFF2-40B4-BE49-F238E27FC236}">
                <a16:creationId xmlns:a16="http://schemas.microsoft.com/office/drawing/2014/main" id="{6A9A6AF7-5CAC-BC58-76D2-7E68B1D41654}"/>
              </a:ext>
            </a:extLst>
          </p:cNvPr>
          <p:cNvPicPr>
            <a:picLocks/>
          </p:cNvPicPr>
          <p:nvPr>
            <p:custDataLst>
              <p:tags r:id="rId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9"/>
              </a:ext>
              <a:ext uri="{6F801314-5768-4EAC-8CED-0F2297F94238}"/>
            </a:extLst>
          </a:blip>
          <a:stretch>
            <a:fillRect/>
          </a:stretch>
        </p:blipFill>
        <p:spPr bwMode="auto">
          <a:xfrm>
            <a:off x="2438400" y="4038600"/>
            <a:ext cx="152400" cy="152400"/>
          </a:xfrm>
          <a:prstGeom prst="rect">
            <a:avLst/>
          </a:prstGeom>
          <a:noFill/>
          <a:effectLst/>
        </p:spPr>
      </p:pic>
      <p:pic>
        <p:nvPicPr>
          <p:cNvPr id="87" name="Pic">
            <a:extLst>
              <a:ext uri="{FF2B5EF4-FFF2-40B4-BE49-F238E27FC236}">
                <a16:creationId xmlns:a16="http://schemas.microsoft.com/office/drawing/2014/main" id="{C15B5F46-B049-0171-5225-B548DB93663E}"/>
              </a:ext>
            </a:extLst>
          </p:cNvPr>
          <p:cNvPicPr>
            <a:picLocks/>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 uri="{6F801314-5768-4EAC-8CED-0F2297F94238}"/>
            </a:extLst>
          </a:blip>
          <a:stretch>
            <a:fillRect/>
          </a:stretch>
        </p:blipFill>
        <p:spPr bwMode="auto">
          <a:xfrm>
            <a:off x="9982200" y="2006600"/>
            <a:ext cx="152400" cy="152400"/>
          </a:xfrm>
          <a:prstGeom prst="rect">
            <a:avLst/>
          </a:prstGeom>
          <a:noFill/>
          <a:effectLst/>
        </p:spPr>
      </p:pic>
      <p:cxnSp>
        <p:nvCxnSpPr>
          <p:cNvPr id="41" name="Connector: Elbow 40">
            <a:extLst>
              <a:ext uri="{FF2B5EF4-FFF2-40B4-BE49-F238E27FC236}">
                <a16:creationId xmlns:a16="http://schemas.microsoft.com/office/drawing/2014/main" id="{24865CF9-4CAB-AAF7-91D0-A88DBD091B48}"/>
              </a:ext>
            </a:extLst>
          </p:cNvPr>
          <p:cNvCxnSpPr>
            <a:cxnSpLocks/>
            <a:stCxn id="12" idx="3"/>
            <a:endCxn id="17" idx="1"/>
          </p:cNvCxnSpPr>
          <p:nvPr/>
        </p:nvCxnSpPr>
        <p:spPr>
          <a:xfrm>
            <a:off x="1930400" y="2156619"/>
            <a:ext cx="406400" cy="56118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0C836911-ED49-C01C-DA9E-48C71B74062B}"/>
              </a:ext>
            </a:extLst>
          </p:cNvPr>
          <p:cNvCxnSpPr>
            <a:cxnSpLocks/>
            <a:stCxn id="12" idx="3"/>
            <a:endCxn id="17" idx="1"/>
          </p:cNvCxnSpPr>
          <p:nvPr/>
        </p:nvCxnSpPr>
        <p:spPr>
          <a:xfrm>
            <a:off x="1930400" y="2156619"/>
            <a:ext cx="406400" cy="561181"/>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Elbow 73">
            <a:extLst>
              <a:ext uri="{FF2B5EF4-FFF2-40B4-BE49-F238E27FC236}">
                <a16:creationId xmlns:a16="http://schemas.microsoft.com/office/drawing/2014/main" id="{22DC02CB-5B90-51DB-A78D-5D3763B759D7}"/>
              </a:ext>
            </a:extLst>
          </p:cNvPr>
          <p:cNvCxnSpPr>
            <a:cxnSpLocks/>
            <a:stCxn id="13" idx="3"/>
            <a:endCxn id="17" idx="1"/>
          </p:cNvCxnSpPr>
          <p:nvPr/>
        </p:nvCxnSpPr>
        <p:spPr>
          <a:xfrm flipV="1">
            <a:off x="1930400" y="2717800"/>
            <a:ext cx="406400" cy="272257"/>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Elbow 74">
            <a:extLst>
              <a:ext uri="{FF2B5EF4-FFF2-40B4-BE49-F238E27FC236}">
                <a16:creationId xmlns:a16="http://schemas.microsoft.com/office/drawing/2014/main" id="{E0EA2B27-0672-EE1D-EE46-0D17EFA76F5C}"/>
              </a:ext>
            </a:extLst>
          </p:cNvPr>
          <p:cNvCxnSpPr>
            <a:cxnSpLocks/>
            <a:stCxn id="14" idx="3"/>
            <a:endCxn id="17" idx="1"/>
          </p:cNvCxnSpPr>
          <p:nvPr/>
        </p:nvCxnSpPr>
        <p:spPr>
          <a:xfrm flipV="1">
            <a:off x="1930400" y="2717800"/>
            <a:ext cx="406400" cy="11049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Elbow 75">
            <a:extLst>
              <a:ext uri="{FF2B5EF4-FFF2-40B4-BE49-F238E27FC236}">
                <a16:creationId xmlns:a16="http://schemas.microsoft.com/office/drawing/2014/main" id="{0D41B131-9744-1093-A32C-57519794E972}"/>
              </a:ext>
            </a:extLst>
          </p:cNvPr>
          <p:cNvCxnSpPr>
            <a:cxnSpLocks/>
            <a:stCxn id="15" idx="3"/>
            <a:endCxn id="17" idx="1"/>
          </p:cNvCxnSpPr>
          <p:nvPr/>
        </p:nvCxnSpPr>
        <p:spPr>
          <a:xfrm flipV="1">
            <a:off x="1930400" y="2717800"/>
            <a:ext cx="406400" cy="1937544"/>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Elbow 76">
            <a:extLst>
              <a:ext uri="{FF2B5EF4-FFF2-40B4-BE49-F238E27FC236}">
                <a16:creationId xmlns:a16="http://schemas.microsoft.com/office/drawing/2014/main" id="{9B9B5931-E55B-88F7-15EC-3AB824C82BA2}"/>
              </a:ext>
            </a:extLst>
          </p:cNvPr>
          <p:cNvCxnSpPr>
            <a:cxnSpLocks/>
            <a:stCxn id="16" idx="3"/>
            <a:endCxn id="17" idx="1"/>
          </p:cNvCxnSpPr>
          <p:nvPr/>
        </p:nvCxnSpPr>
        <p:spPr>
          <a:xfrm flipV="1">
            <a:off x="1930400" y="2717800"/>
            <a:ext cx="406400" cy="2770982"/>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A06134AB-9E54-CE6B-968E-F2F23835F9CF}"/>
              </a:ext>
            </a:extLst>
          </p:cNvPr>
          <p:cNvCxnSpPr>
            <a:cxnSpLocks/>
            <a:stCxn id="17" idx="2"/>
            <a:endCxn id="18" idx="0"/>
          </p:cNvCxnSpPr>
          <p:nvPr/>
        </p:nvCxnSpPr>
        <p:spPr>
          <a:xfrm>
            <a:off x="3048000" y="3683000"/>
            <a:ext cx="0" cy="228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Elbow 81">
            <a:extLst>
              <a:ext uri="{FF2B5EF4-FFF2-40B4-BE49-F238E27FC236}">
                <a16:creationId xmlns:a16="http://schemas.microsoft.com/office/drawing/2014/main" id="{6EF22FE2-425B-C07A-E1EA-0AAFF3B995EE}"/>
              </a:ext>
            </a:extLst>
          </p:cNvPr>
          <p:cNvCxnSpPr>
            <a:cxnSpLocks/>
            <a:stCxn id="18" idx="3"/>
            <a:endCxn id="19" idx="1"/>
          </p:cNvCxnSpPr>
          <p:nvPr/>
        </p:nvCxnSpPr>
        <p:spPr>
          <a:xfrm flipV="1">
            <a:off x="3759200" y="3022600"/>
            <a:ext cx="304800" cy="18542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Elbow 82">
            <a:extLst>
              <a:ext uri="{FF2B5EF4-FFF2-40B4-BE49-F238E27FC236}">
                <a16:creationId xmlns:a16="http://schemas.microsoft.com/office/drawing/2014/main" id="{92840AD7-E6DF-B481-258D-00D0E7219CB7}"/>
              </a:ext>
            </a:extLst>
          </p:cNvPr>
          <p:cNvCxnSpPr>
            <a:cxnSpLocks/>
            <a:stCxn id="21" idx="3"/>
            <a:endCxn id="23" idx="1"/>
          </p:cNvCxnSpPr>
          <p:nvPr/>
        </p:nvCxnSpPr>
        <p:spPr>
          <a:xfrm flipV="1">
            <a:off x="7569200" y="2463800"/>
            <a:ext cx="304800" cy="5588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742E5731-A1B4-7EE8-23B4-D41950E927F2}"/>
              </a:ext>
            </a:extLst>
          </p:cNvPr>
          <p:cNvCxnSpPr>
            <a:cxnSpLocks/>
            <a:stCxn id="23" idx="2"/>
            <a:endCxn id="24" idx="0"/>
          </p:cNvCxnSpPr>
          <p:nvPr/>
        </p:nvCxnSpPr>
        <p:spPr>
          <a:xfrm>
            <a:off x="8724900" y="3175000"/>
            <a:ext cx="0" cy="101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Elbow 89">
            <a:extLst>
              <a:ext uri="{FF2B5EF4-FFF2-40B4-BE49-F238E27FC236}">
                <a16:creationId xmlns:a16="http://schemas.microsoft.com/office/drawing/2014/main" id="{D5DC2CEF-26E9-910B-20E8-168EC8516338}"/>
              </a:ext>
            </a:extLst>
          </p:cNvPr>
          <p:cNvCxnSpPr>
            <a:cxnSpLocks/>
            <a:stCxn id="25" idx="3"/>
            <a:endCxn id="26" idx="1"/>
          </p:cNvCxnSpPr>
          <p:nvPr/>
        </p:nvCxnSpPr>
        <p:spPr>
          <a:xfrm flipV="1">
            <a:off x="9575800" y="2743200"/>
            <a:ext cx="304800" cy="25273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Elbow 90">
            <a:extLst>
              <a:ext uri="{FF2B5EF4-FFF2-40B4-BE49-F238E27FC236}">
                <a16:creationId xmlns:a16="http://schemas.microsoft.com/office/drawing/2014/main" id="{D2D8D2D8-CF46-DC11-19B1-795171F880B3}"/>
              </a:ext>
            </a:extLst>
          </p:cNvPr>
          <p:cNvCxnSpPr>
            <a:cxnSpLocks/>
            <a:stCxn id="25" idx="3"/>
            <a:endCxn id="27" idx="1"/>
          </p:cNvCxnSpPr>
          <p:nvPr/>
        </p:nvCxnSpPr>
        <p:spPr>
          <a:xfrm flipV="1">
            <a:off x="9575800" y="4787900"/>
            <a:ext cx="304800" cy="4826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Freeform: Shape 91">
            <a:extLst>
              <a:ext uri="{FF2B5EF4-FFF2-40B4-BE49-F238E27FC236}">
                <a16:creationId xmlns:a16="http://schemas.microsoft.com/office/drawing/2014/main" id="{934C11B4-39CF-04DD-5D1F-E4309B341534}"/>
              </a:ext>
            </a:extLst>
          </p:cNvPr>
          <p:cNvSpPr/>
          <p:nvPr/>
        </p:nvSpPr>
        <p:spPr>
          <a:xfrm>
            <a:off x="7366000" y="4292600"/>
            <a:ext cx="508001" cy="114301"/>
          </a:xfrm>
          <a:custGeom>
            <a:avLst/>
            <a:gdLst/>
            <a:ahLst/>
            <a:cxnLst/>
            <a:rect l="0" t="0" r="0" b="0"/>
            <a:pathLst>
              <a:path w="508001" h="114301">
                <a:moveTo>
                  <a:pt x="0" y="0"/>
                </a:moveTo>
                <a:lnTo>
                  <a:pt x="0" y="114300"/>
                </a:lnTo>
                <a:lnTo>
                  <a:pt x="508000" y="114300"/>
                </a:ln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pic>
        <p:nvPicPr>
          <p:cNvPr id="94" name="Pic">
            <a:extLst>
              <a:ext uri="{FF2B5EF4-FFF2-40B4-BE49-F238E27FC236}">
                <a16:creationId xmlns:a16="http://schemas.microsoft.com/office/drawing/2014/main" id="{23966361-2060-D424-5D21-577EA27B30F8}"/>
              </a:ext>
            </a:extLst>
          </p:cNvPr>
          <p:cNvPicPr>
            <a:picLocks/>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1"/>
              </a:ext>
              <a:ext uri="{6F801314-5768-4EAC-8CED-0F2297F94238}"/>
            </a:extLst>
          </a:blip>
          <a:stretch>
            <a:fillRect/>
          </a:stretch>
        </p:blipFill>
        <p:spPr bwMode="auto">
          <a:xfrm>
            <a:off x="279400" y="1828800"/>
            <a:ext cx="152400" cy="152400"/>
          </a:xfrm>
          <a:prstGeom prst="rect">
            <a:avLst/>
          </a:prstGeom>
          <a:noFill/>
          <a:effectLst/>
        </p:spPr>
      </p:pic>
      <p:pic>
        <p:nvPicPr>
          <p:cNvPr id="95" name="Pic">
            <a:extLst>
              <a:ext uri="{FF2B5EF4-FFF2-40B4-BE49-F238E27FC236}">
                <a16:creationId xmlns:a16="http://schemas.microsoft.com/office/drawing/2014/main" id="{2845612B-5432-BDFA-6A66-20BBEAA521D3}"/>
              </a:ext>
            </a:extLst>
          </p:cNvPr>
          <p:cNvPicPr>
            <a:picLocks/>
          </p:cNvPicPr>
          <p:nvPr>
            <p:custDataLst>
              <p:tags r:id="rId1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 uri="{6F801314-5768-4EAC-8CED-0F2297F94238}"/>
            </a:extLst>
          </a:blip>
          <a:stretch>
            <a:fillRect/>
          </a:stretch>
        </p:blipFill>
        <p:spPr bwMode="auto">
          <a:xfrm>
            <a:off x="279400" y="2667000"/>
            <a:ext cx="152400" cy="152400"/>
          </a:xfrm>
          <a:prstGeom prst="rect">
            <a:avLst/>
          </a:prstGeom>
          <a:noFill/>
          <a:effectLst/>
        </p:spPr>
      </p:pic>
      <p:pic>
        <p:nvPicPr>
          <p:cNvPr id="97" name="Pic">
            <a:extLst>
              <a:ext uri="{FF2B5EF4-FFF2-40B4-BE49-F238E27FC236}">
                <a16:creationId xmlns:a16="http://schemas.microsoft.com/office/drawing/2014/main" id="{850773C7-24EE-70A8-F3C7-BB4F43CBDED7}"/>
              </a:ext>
            </a:extLst>
          </p:cNvPr>
          <p:cNvPicPr>
            <a:picLocks/>
          </p:cNvPicPr>
          <p:nvPr>
            <p:custDataLst>
              <p:tags r:id="rId1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3"/>
              </a:ext>
              <a:ext uri="{6F801314-5768-4EAC-8CED-0F2297F94238}"/>
            </a:extLst>
          </a:blip>
          <a:stretch>
            <a:fillRect/>
          </a:stretch>
        </p:blipFill>
        <p:spPr bwMode="auto">
          <a:xfrm>
            <a:off x="279400" y="3505200"/>
            <a:ext cx="152400" cy="152400"/>
          </a:xfrm>
          <a:prstGeom prst="rect">
            <a:avLst/>
          </a:prstGeom>
          <a:noFill/>
          <a:effectLst/>
        </p:spPr>
      </p:pic>
      <p:pic>
        <p:nvPicPr>
          <p:cNvPr id="98" name="Pic">
            <a:extLst>
              <a:ext uri="{FF2B5EF4-FFF2-40B4-BE49-F238E27FC236}">
                <a16:creationId xmlns:a16="http://schemas.microsoft.com/office/drawing/2014/main" id="{E0C32825-2446-0977-3D85-D44E12747D8B}"/>
              </a:ext>
            </a:extLst>
          </p:cNvPr>
          <p:cNvPicPr>
            <a:picLocks/>
          </p:cNvPicPr>
          <p:nvPr>
            <p:custDataLst>
              <p:tags r:id="rId1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4"/>
              </a:ext>
              <a:ext uri="{6F801314-5768-4EAC-8CED-0F2297F94238}"/>
            </a:extLst>
          </a:blip>
          <a:stretch>
            <a:fillRect/>
          </a:stretch>
        </p:blipFill>
        <p:spPr bwMode="auto">
          <a:xfrm>
            <a:off x="279400" y="5168900"/>
            <a:ext cx="152400" cy="152400"/>
          </a:xfrm>
          <a:prstGeom prst="rect">
            <a:avLst/>
          </a:prstGeom>
          <a:noFill/>
          <a:effectLst/>
        </p:spPr>
      </p:pic>
      <p:pic>
        <p:nvPicPr>
          <p:cNvPr id="96" name="Pic">
            <a:extLst>
              <a:ext uri="{FF2B5EF4-FFF2-40B4-BE49-F238E27FC236}">
                <a16:creationId xmlns:a16="http://schemas.microsoft.com/office/drawing/2014/main" id="{3232C745-D921-0ECA-12E2-E17B0139204C}"/>
              </a:ext>
            </a:extLst>
          </p:cNvPr>
          <p:cNvPicPr>
            <a:picLocks/>
          </p:cNvPicPr>
          <p:nvPr>
            <p:custDataLst>
              <p:tags r:id="rId1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5"/>
              </a:ext>
              <a:ext uri="{6F801314-5768-4EAC-8CED-0F2297F94238}"/>
            </a:extLst>
          </a:blip>
          <a:stretch>
            <a:fillRect/>
          </a:stretch>
        </p:blipFill>
        <p:spPr bwMode="auto">
          <a:xfrm>
            <a:off x="2438400" y="1879600"/>
            <a:ext cx="152400" cy="152400"/>
          </a:xfrm>
          <a:prstGeom prst="rect">
            <a:avLst/>
          </a:prstGeom>
          <a:noFill/>
          <a:effectLst/>
        </p:spPr>
      </p:pic>
      <p:pic>
        <p:nvPicPr>
          <p:cNvPr id="99" name="Pic">
            <a:extLst>
              <a:ext uri="{FF2B5EF4-FFF2-40B4-BE49-F238E27FC236}">
                <a16:creationId xmlns:a16="http://schemas.microsoft.com/office/drawing/2014/main" id="{8256F8FA-7930-E9BC-84D8-64E05DC39958}"/>
              </a:ext>
            </a:extLst>
          </p:cNvPr>
          <p:cNvPicPr>
            <a:picLocks/>
          </p:cNvPicPr>
          <p:nvPr>
            <p:custDataLst>
              <p:tags r:id="rId1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6"/>
              </a:ext>
              <a:ext uri="{6F801314-5768-4EAC-8CED-0F2297F94238}"/>
            </a:extLst>
          </a:blip>
          <a:stretch>
            <a:fillRect/>
          </a:stretch>
        </p:blipFill>
        <p:spPr bwMode="auto">
          <a:xfrm>
            <a:off x="7975600" y="3378200"/>
            <a:ext cx="152400" cy="152400"/>
          </a:xfrm>
          <a:prstGeom prst="rect">
            <a:avLst/>
          </a:prstGeom>
          <a:noFill/>
          <a:effectLst/>
        </p:spPr>
      </p:pic>
      <p:pic>
        <p:nvPicPr>
          <p:cNvPr id="101" name="Pic">
            <a:extLst>
              <a:ext uri="{FF2B5EF4-FFF2-40B4-BE49-F238E27FC236}">
                <a16:creationId xmlns:a16="http://schemas.microsoft.com/office/drawing/2014/main" id="{B244E248-52FA-A982-3D46-77662980EEB1}"/>
              </a:ext>
            </a:extLst>
          </p:cNvPr>
          <p:cNvPicPr>
            <a:picLocks/>
          </p:cNvPicPr>
          <p:nvPr>
            <p:custDataLst>
              <p:tags r:id="rId1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7"/>
              </a:ext>
              <a:ext uri="{6F801314-5768-4EAC-8CED-0F2297F94238}"/>
            </a:extLst>
          </a:blip>
          <a:stretch>
            <a:fillRect/>
          </a:stretch>
        </p:blipFill>
        <p:spPr bwMode="auto">
          <a:xfrm>
            <a:off x="279400" y="4330700"/>
            <a:ext cx="152400" cy="152400"/>
          </a:xfrm>
          <a:prstGeom prst="rect">
            <a:avLst/>
          </a:prstGeom>
          <a:noFill/>
          <a:effectLst/>
        </p:spPr>
      </p:pic>
      <p:cxnSp>
        <p:nvCxnSpPr>
          <p:cNvPr id="105" name="Straight Arrow Connector 104">
            <a:extLst>
              <a:ext uri="{FF2B5EF4-FFF2-40B4-BE49-F238E27FC236}">
                <a16:creationId xmlns:a16="http://schemas.microsoft.com/office/drawing/2014/main" id="{1335C742-B9F1-73A2-9328-D42CFBA9D4C1}"/>
              </a:ext>
            </a:extLst>
          </p:cNvPr>
          <p:cNvCxnSpPr>
            <a:cxnSpLocks/>
            <a:stCxn id="24" idx="2"/>
            <a:endCxn id="25" idx="0"/>
          </p:cNvCxnSpPr>
          <p:nvPr/>
        </p:nvCxnSpPr>
        <p:spPr>
          <a:xfrm>
            <a:off x="8724900" y="4597400"/>
            <a:ext cx="0" cy="101600"/>
          </a:xfrm>
          <a:prstGeom prst="straightConnector1">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FA6EC9EA-645B-A0A5-BD0B-DBEAF5705E5B}"/>
              </a:ext>
            </a:extLst>
          </p:cNvPr>
          <p:cNvSpPr/>
          <p:nvPr/>
        </p:nvSpPr>
        <p:spPr>
          <a:xfrm>
            <a:off x="3860800" y="1346200"/>
            <a:ext cx="8128000" cy="4608945"/>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6" name="Rectangle 35">
            <a:extLst>
              <a:ext uri="{FF2B5EF4-FFF2-40B4-BE49-F238E27FC236}">
                <a16:creationId xmlns:a16="http://schemas.microsoft.com/office/drawing/2014/main" id="{C6DE547A-8ACB-4046-A3BD-06F78980CD59}"/>
              </a:ext>
            </a:extLst>
          </p:cNvPr>
          <p:cNvSpPr/>
          <p:nvPr/>
        </p:nvSpPr>
        <p:spPr>
          <a:xfrm>
            <a:off x="2184400" y="3798454"/>
            <a:ext cx="9690097" cy="2881746"/>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8" name="Rectangle: Rounded Corners 47">
            <a:extLst>
              <a:ext uri="{FF2B5EF4-FFF2-40B4-BE49-F238E27FC236}">
                <a16:creationId xmlns:a16="http://schemas.microsoft.com/office/drawing/2014/main" id="{840AB042-04BA-E4B6-E8E2-DE9B7AD8D1E4}"/>
              </a:ext>
            </a:extLst>
          </p:cNvPr>
          <p:cNvSpPr/>
          <p:nvPr/>
        </p:nvSpPr>
        <p:spPr>
          <a:xfrm>
            <a:off x="3962400" y="2184400"/>
            <a:ext cx="7899400" cy="2874963"/>
          </a:xfrm>
          <a:prstGeom prst="roundRect">
            <a:avLst>
              <a:gd name="adj" fmla="val 3000"/>
            </a:avLst>
          </a:prstGeom>
          <a:solidFill>
            <a:schemeClr val="tx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4" name="Rectangle: Rounded Corners 33">
            <a:extLst>
              <a:ext uri="{FF2B5EF4-FFF2-40B4-BE49-F238E27FC236}">
                <a16:creationId xmlns:a16="http://schemas.microsoft.com/office/drawing/2014/main" id="{6C3ED065-4E3E-9D85-C282-0EB9E128B945}"/>
              </a:ext>
            </a:extLst>
          </p:cNvPr>
          <p:cNvSpPr/>
          <p:nvPr/>
        </p:nvSpPr>
        <p:spPr>
          <a:xfrm>
            <a:off x="4089400" y="2743200"/>
            <a:ext cx="7645400" cy="2082800"/>
          </a:xfrm>
          <a:prstGeom prst="roundRect">
            <a:avLst>
              <a:gd name="adj" fmla="val 3500"/>
            </a:avLst>
          </a:prstGeom>
          <a:noFill/>
          <a:ln w="9525" cap="flat" cmpd="sng" algn="ctr">
            <a:noFill/>
            <a:prstDash val="solid"/>
            <a:miter lim="800000"/>
          </a:ln>
          <a:effectLst/>
          <a:extLst>
            <a:ext uri="{909E8E84-426E-40DD-AFC4-6F175D3DCCD1}">
              <a14:hiddenFill xmlns:a14="http://schemas.microsoft.com/office/drawing/2010/main">
                <a:solidFill>
                  <a:schemeClr val="tx2">
                    <a:lumMod val="88000"/>
                    <a:lumOff val="12000"/>
                  </a:schemeClr>
                </a:solidFill>
              </a14:hiddenFill>
            </a:ext>
            <a:ext uri="{91240B29-F687-4F45-9708-019B960494DF}">
              <a14:hiddenLine xmlns:a14="http://schemas.microsoft.com/office/drawing/2010/main" w="9525" cap="flat" cmpd="sng" algn="ctr">
                <a:solidFill>
                  <a:schemeClr val="bg2">
                    <a:lumMod val="9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88900" bIns="63500" rtlCol="0" anchor="t">
            <a:noAutofit/>
          </a:bodyPr>
          <a:lstStyle/>
          <a:p>
            <a:r>
              <a:rPr lang="en-MY" sz="1200" b="1" dirty="0">
                <a:solidFill>
                  <a:schemeClr val="bg1"/>
                </a:solidFill>
              </a:rPr>
              <a:t>Fetch · </a:t>
            </a:r>
            <a:r>
              <a:rPr lang="en-MY" sz="1200" b="1" dirty="0" err="1">
                <a:solidFill>
                  <a:schemeClr val="bg1"/>
                </a:solidFill>
              </a:rPr>
              <a:t>Lakeflow</a:t>
            </a:r>
            <a:r>
              <a:rPr lang="en-MY" sz="1200" b="1" dirty="0">
                <a:solidFill>
                  <a:schemeClr val="bg1"/>
                </a:solidFill>
              </a:rPr>
              <a:t> Jobs</a:t>
            </a:r>
          </a:p>
        </p:txBody>
      </p:sp>
      <p:sp>
        <p:nvSpPr>
          <p:cNvPr id="35" name="Rectangle: Rounded Corners 34">
            <a:extLst>
              <a:ext uri="{FF2B5EF4-FFF2-40B4-BE49-F238E27FC236}">
                <a16:creationId xmlns:a16="http://schemas.microsoft.com/office/drawing/2014/main" id="{03CC8058-B194-7CFA-C6D4-870F911DFE84}"/>
              </a:ext>
            </a:extLst>
          </p:cNvPr>
          <p:cNvSpPr/>
          <p:nvPr/>
        </p:nvSpPr>
        <p:spPr>
          <a:xfrm>
            <a:off x="4089400" y="3098800"/>
            <a:ext cx="2446338" cy="1727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flood-live</a:t>
            </a:r>
          </a:p>
          <a:p>
            <a:pPr marL="171450" indent="-171450">
              <a:spcBef>
                <a:spcPts val="600"/>
              </a:spcBef>
              <a:buFont typeface="Arial" panose="020B0604020202020204" pitchFamily="34" charset="0"/>
              <a:buChar char="•"/>
            </a:pPr>
            <a:r>
              <a:rPr lang="en-US" sz="1100">
                <a:solidFill>
                  <a:schemeClr val="bg1"/>
                </a:solidFill>
              </a:rPr>
              <a:t>Serverless, runs every 5 min</a:t>
            </a:r>
            <a:endParaRPr lang="en-MY"/>
          </a:p>
          <a:p>
            <a:pPr marL="171450" indent="-171450">
              <a:spcBef>
                <a:spcPts val="600"/>
              </a:spcBef>
              <a:buFont typeface="Arial" panose="020B0604020202020204" pitchFamily="34" charset="0"/>
              <a:buChar char="•"/>
            </a:pPr>
            <a:r>
              <a:rPr lang="en-US" sz="1100">
                <a:solidFill>
                  <a:schemeClr val="bg1"/>
                </a:solidFill>
              </a:rPr>
              <a:t>9 data.gov.sg live APIs plus PUB Telegram posts</a:t>
            </a:r>
            <a:endParaRPr lang="en-MY"/>
          </a:p>
        </p:txBody>
      </p:sp>
      <p:sp>
        <p:nvSpPr>
          <p:cNvPr id="37" name="IconTile_17">
            <a:extLst>
              <a:ext uri="{FF2B5EF4-FFF2-40B4-BE49-F238E27FC236}">
                <a16:creationId xmlns:a16="http://schemas.microsoft.com/office/drawing/2014/main" id="{E035788E-B1BC-2574-5AA5-CA66BF9C7820}"/>
              </a:ext>
            </a:extLst>
          </p:cNvPr>
          <p:cNvSpPr/>
          <p:nvPr/>
        </p:nvSpPr>
        <p:spPr>
          <a:xfrm>
            <a:off x="4203700" y="32131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8" name="Rectangle: Rounded Corners 37">
            <a:extLst>
              <a:ext uri="{FF2B5EF4-FFF2-40B4-BE49-F238E27FC236}">
                <a16:creationId xmlns:a16="http://schemas.microsoft.com/office/drawing/2014/main" id="{E4BBF9E0-5022-0B2B-063A-445C59E86AE3}"/>
              </a:ext>
            </a:extLst>
          </p:cNvPr>
          <p:cNvSpPr/>
          <p:nvPr/>
        </p:nvSpPr>
        <p:spPr>
          <a:xfrm>
            <a:off x="6688138" y="3098800"/>
            <a:ext cx="2447925" cy="1727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flood-daily</a:t>
            </a:r>
          </a:p>
          <a:p>
            <a:pPr marL="171450" indent="-171450">
              <a:spcBef>
                <a:spcPts val="600"/>
              </a:spcBef>
              <a:buFont typeface="Arial" panose="020B0604020202020204" pitchFamily="34" charset="0"/>
              <a:buChar char="•"/>
            </a:pPr>
            <a:r>
              <a:rPr lang="en-US" sz="1100">
                <a:solidFill>
                  <a:schemeClr val="bg1"/>
                </a:solidFill>
              </a:rPr>
              <a:t>Runs nightly at 00:30</a:t>
            </a:r>
            <a:endParaRPr lang="en-MY"/>
          </a:p>
          <a:p>
            <a:pPr marL="171450" indent="-171450">
              <a:spcBef>
                <a:spcPts val="600"/>
              </a:spcBef>
              <a:buFont typeface="Arial" panose="020B0604020202020204" pitchFamily="34" charset="0"/>
              <a:buChar char="•"/>
            </a:pPr>
            <a:r>
              <a:rPr lang="en-US" sz="1100">
                <a:solidFill>
                  <a:schemeClr val="bg1"/>
                </a:solidFill>
              </a:rPr>
              <a:t>Re-pulls the last two days to fill gaps</a:t>
            </a:r>
            <a:endParaRPr lang="en-MY"/>
          </a:p>
        </p:txBody>
      </p:sp>
      <p:sp>
        <p:nvSpPr>
          <p:cNvPr id="39" name="Rectangle: Rounded Corners 38">
            <a:extLst>
              <a:ext uri="{FF2B5EF4-FFF2-40B4-BE49-F238E27FC236}">
                <a16:creationId xmlns:a16="http://schemas.microsoft.com/office/drawing/2014/main" id="{BF5F8C5B-36DF-06FE-CD22-7B857CCCFF57}"/>
              </a:ext>
            </a:extLst>
          </p:cNvPr>
          <p:cNvSpPr/>
          <p:nvPr/>
        </p:nvSpPr>
        <p:spPr>
          <a:xfrm>
            <a:off x="9288463" y="3098800"/>
            <a:ext cx="2446338" cy="1727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dirty="0">
                <a:solidFill>
                  <a:schemeClr val="bg1"/>
                </a:solidFill>
              </a:rPr>
              <a:t>flood-backfill</a:t>
            </a:r>
          </a:p>
          <a:p>
            <a:pPr marL="171450" indent="-171450">
              <a:spcBef>
                <a:spcPts val="600"/>
              </a:spcBef>
              <a:buFont typeface="Arial" panose="020B0604020202020204" pitchFamily="34" charset="0"/>
              <a:buChar char="•"/>
            </a:pPr>
            <a:r>
              <a:rPr lang="en-US" sz="1100" dirty="0">
                <a:solidFill>
                  <a:schemeClr val="bg1"/>
                </a:solidFill>
              </a:rPr>
              <a:t>Yearly CSVs since 2021, tides, map layers</a:t>
            </a:r>
            <a:endParaRPr lang="en-MY" dirty="0"/>
          </a:p>
          <a:p>
            <a:pPr marL="171450" indent="-171450">
              <a:spcBef>
                <a:spcPts val="600"/>
              </a:spcBef>
              <a:buFont typeface="Arial" panose="020B0604020202020204" pitchFamily="34" charset="0"/>
              <a:buChar char="•"/>
            </a:pPr>
            <a:r>
              <a:rPr lang="en-US" sz="1100" dirty="0">
                <a:solidFill>
                  <a:schemeClr val="bg1"/>
                </a:solidFill>
              </a:rPr>
              <a:t>API history and 832 deleted PUB posts</a:t>
            </a:r>
            <a:endParaRPr lang="en-MY" dirty="0"/>
          </a:p>
        </p:txBody>
      </p:sp>
      <p:sp>
        <p:nvSpPr>
          <p:cNvPr id="40" name="IconTile_17">
            <a:extLst>
              <a:ext uri="{FF2B5EF4-FFF2-40B4-BE49-F238E27FC236}">
                <a16:creationId xmlns:a16="http://schemas.microsoft.com/office/drawing/2014/main" id="{11782AE7-75F8-B465-B060-5CE8AC5C1E2C}"/>
              </a:ext>
            </a:extLst>
          </p:cNvPr>
          <p:cNvSpPr/>
          <p:nvPr/>
        </p:nvSpPr>
        <p:spPr>
          <a:xfrm>
            <a:off x="6802438" y="32131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4" name="IconTile_17">
            <a:extLst>
              <a:ext uri="{FF2B5EF4-FFF2-40B4-BE49-F238E27FC236}">
                <a16:creationId xmlns:a16="http://schemas.microsoft.com/office/drawing/2014/main" id="{1450FD21-0522-0A55-AE8B-13552729F802}"/>
              </a:ext>
            </a:extLst>
          </p:cNvPr>
          <p:cNvSpPr/>
          <p:nvPr/>
        </p:nvSpPr>
        <p:spPr>
          <a:xfrm>
            <a:off x="9402763" y="32131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45" name="Pic">
            <a:extLst>
              <a:ext uri="{FF2B5EF4-FFF2-40B4-BE49-F238E27FC236}">
                <a16:creationId xmlns:a16="http://schemas.microsoft.com/office/drawing/2014/main" id="{C7A95500-2EC7-03A9-9C64-345423DCDD9A}"/>
              </a:ext>
            </a:extLst>
          </p:cNvPr>
          <p:cNvPicPr>
            <a:picLocks/>
          </p:cNvPicPr>
          <p:nvPr>
            <p:custDataLst>
              <p:tags r:id="rId1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8"/>
              </a:ext>
              <a:ext uri="{6F801314-5768-4EAC-8CED-0F2297F94238}"/>
            </a:extLst>
          </a:blip>
          <a:stretch>
            <a:fillRect/>
          </a:stretch>
        </p:blipFill>
        <p:spPr bwMode="auto">
          <a:xfrm>
            <a:off x="4229100" y="3238500"/>
            <a:ext cx="177800" cy="177800"/>
          </a:xfrm>
          <a:prstGeom prst="rect">
            <a:avLst/>
          </a:prstGeom>
          <a:noFill/>
          <a:effectLst/>
        </p:spPr>
      </p:pic>
      <p:pic>
        <p:nvPicPr>
          <p:cNvPr id="46" name="Pic">
            <a:extLst>
              <a:ext uri="{FF2B5EF4-FFF2-40B4-BE49-F238E27FC236}">
                <a16:creationId xmlns:a16="http://schemas.microsoft.com/office/drawing/2014/main" id="{342F9E64-5CC0-86D2-8BC7-AFECDE2DC422}"/>
              </a:ext>
            </a:extLst>
          </p:cNvPr>
          <p:cNvPicPr>
            <a:picLocks/>
          </p:cNvPicPr>
          <p:nvPr>
            <p:custDataLst>
              <p:tags r:id="rId1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9"/>
              </a:ext>
              <a:ext uri="{6F801314-5768-4EAC-8CED-0F2297F94238}"/>
            </a:extLst>
          </a:blip>
          <a:stretch>
            <a:fillRect/>
          </a:stretch>
        </p:blipFill>
        <p:spPr bwMode="auto">
          <a:xfrm>
            <a:off x="6827838" y="3238500"/>
            <a:ext cx="177800" cy="177800"/>
          </a:xfrm>
          <a:prstGeom prst="rect">
            <a:avLst/>
          </a:prstGeom>
          <a:noFill/>
          <a:effectLst/>
        </p:spPr>
      </p:pic>
      <p:pic>
        <p:nvPicPr>
          <p:cNvPr id="47" name="Pic">
            <a:extLst>
              <a:ext uri="{FF2B5EF4-FFF2-40B4-BE49-F238E27FC236}">
                <a16:creationId xmlns:a16="http://schemas.microsoft.com/office/drawing/2014/main" id="{7BB7F04C-246E-8CAD-E35C-77602C2A3ABB}"/>
              </a:ext>
            </a:extLst>
          </p:cNvPr>
          <p:cNvPicPr>
            <a:picLocks/>
          </p:cNvPicPr>
          <p:nvPr>
            <p:custDataLst>
              <p:tags r:id="rId1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0"/>
              </a:ext>
              <a:ext uri="{6F801314-5768-4EAC-8CED-0F2297F94238}"/>
            </a:extLst>
          </a:blip>
          <a:stretch>
            <a:fillRect/>
          </a:stretch>
        </p:blipFill>
        <p:spPr bwMode="auto">
          <a:xfrm>
            <a:off x="9428163" y="3238500"/>
            <a:ext cx="177800" cy="177800"/>
          </a:xfrm>
          <a:prstGeom prst="rect">
            <a:avLst/>
          </a:prstGeom>
          <a:noFill/>
          <a:effectLst/>
        </p:spPr>
      </p:pic>
      <p:sp>
        <p:nvSpPr>
          <p:cNvPr id="49" name="TextBox 48">
            <a:extLst>
              <a:ext uri="{FF2B5EF4-FFF2-40B4-BE49-F238E27FC236}">
                <a16:creationId xmlns:a16="http://schemas.microsoft.com/office/drawing/2014/main" id="{C59C1F93-C27C-30F3-9ECE-282B6B30BE33}"/>
              </a:ext>
            </a:extLst>
          </p:cNvPr>
          <p:cNvSpPr txBox="1"/>
          <p:nvPr/>
        </p:nvSpPr>
        <p:spPr>
          <a:xfrm>
            <a:off x="4089400" y="2330450"/>
            <a:ext cx="7645400" cy="381000"/>
          </a:xfrm>
          <a:prstGeom prst="rect">
            <a:avLst/>
          </a:prstGeom>
          <a:noFill/>
        </p:spPr>
        <p:txBody>
          <a:bodyPr vert="horz" rtlCol="0">
            <a:noAutofit/>
          </a:bodyPr>
          <a:lstStyle/>
          <a:p>
            <a:r>
              <a:rPr lang="en-US" b="1" dirty="0" err="1">
                <a:solidFill>
                  <a:schemeClr val="bg1"/>
                </a:solidFill>
              </a:rPr>
              <a:t>Lakeflow</a:t>
            </a:r>
            <a:r>
              <a:rPr lang="en-US" b="1" dirty="0">
                <a:solidFill>
                  <a:schemeClr val="bg1"/>
                </a:solidFill>
              </a:rPr>
              <a:t> Jobs fetch every 5 minutes</a:t>
            </a:r>
            <a:endParaRPr lang="en-MY" dirty="0"/>
          </a:p>
        </p:txBody>
      </p:sp>
      <p:sp>
        <p:nvSpPr>
          <p:cNvPr id="50" name="Rectangle 49">
            <a:extLst>
              <a:ext uri="{FF2B5EF4-FFF2-40B4-BE49-F238E27FC236}">
                <a16:creationId xmlns:a16="http://schemas.microsoft.com/office/drawing/2014/main" id="{AE3B0E9B-39F7-35B3-D857-1C3280C51E71}"/>
              </a:ext>
            </a:extLst>
          </p:cNvPr>
          <p:cNvSpPr/>
          <p:nvPr/>
        </p:nvSpPr>
        <p:spPr>
          <a:xfrm>
            <a:off x="8966" y="1346200"/>
            <a:ext cx="2175434" cy="533400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1249935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34" grpId="0"/>
      <p:bldP spid="35" grpId="0" animBg="1"/>
      <p:bldP spid="37" grpId="0" animBg="1"/>
      <p:bldP spid="38" grpId="0" animBg="1"/>
      <p:bldP spid="39" grpId="0" animBg="1"/>
      <p:bldP spid="40" grpId="0" animBg="1"/>
      <p:bldP spid="44" grpId="0" animBg="1"/>
      <p:bldP spid="49"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8AB25A0-C285-C613-D537-0D0958C5A426}"/>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4DEB6AC-033E-1115-CDAA-74F0AB21E6C3}"/>
              </a:ext>
            </a:extLst>
          </p:cNvPr>
          <p:cNvGraphicFramePr>
            <a:graphicFrameLocks/>
          </p:cNvGraphicFramePr>
          <p:nvPr>
            <p:custDataLst>
              <p:tags r:id="rId1"/>
            </p:custDataLst>
            <p:extLst>
              <p:ext uri="{D42A27DB-BD31-4B8C-83A1-F6EECF244321}">
                <p14:modId xmlns:p14="http://schemas.microsoft.com/office/powerpoint/2010/main" val="22352998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443" imgH="443" progId="TCLayout.ActiveDocument.1">
                  <p:embed/>
                </p:oleObj>
              </mc:Choice>
              <mc:Fallback>
                <p:oleObj name="thinkcell Slide" r:id="rId22" imgW="443" imgH="443" progId="TCLayout.ActiveDocument.1">
                  <p:embed/>
                  <p:pic>
                    <p:nvPicPr>
                      <p:cNvPr id="3" name="thinkcell data - do not delete" hidden="1">
                        <a:extLst>
                          <a:ext uri="{FF2B5EF4-FFF2-40B4-BE49-F238E27FC236}">
                            <a16:creationId xmlns:a16="http://schemas.microsoft.com/office/drawing/2014/main" id="{64DEB6AC-033E-1115-CDAA-74F0AB21E6C3}"/>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D820C5F-CF5C-78F3-AEAA-02CDC88CDCE9}"/>
              </a:ext>
            </a:extLst>
          </p:cNvPr>
          <p:cNvSpPr>
            <a:spLocks noGrp="1"/>
          </p:cNvSpPr>
          <p:nvPr>
            <p:ph type="title"/>
          </p:nvPr>
        </p:nvSpPr>
        <p:spPr>
          <a:xfrm>
            <a:off x="254000" y="177800"/>
            <a:ext cx="11684000" cy="787400"/>
          </a:xfrm>
        </p:spPr>
        <p:txBody>
          <a:bodyPr/>
          <a:lstStyle/>
          <a:p>
            <a:r>
              <a:rPr lang="en-US" dirty="0"/>
              <a:t>Auto Loader, Unity Catalog Volume</a:t>
            </a:r>
          </a:p>
        </p:txBody>
      </p:sp>
      <p:sp>
        <p:nvSpPr>
          <p:cNvPr id="4" name="Rectangle: Rounded Corners 3">
            <a:extLst>
              <a:ext uri="{FF2B5EF4-FFF2-40B4-BE49-F238E27FC236}">
                <a16:creationId xmlns:a16="http://schemas.microsoft.com/office/drawing/2014/main" id="{045D2DD6-7841-A2A8-B54F-73BF77D96FB9}"/>
              </a:ext>
            </a:extLst>
          </p:cNvPr>
          <p:cNvSpPr/>
          <p:nvPr/>
        </p:nvSpPr>
        <p:spPr>
          <a:xfrm>
            <a:off x="2108200" y="1016000"/>
            <a:ext cx="9880600" cy="5613400"/>
          </a:xfrm>
          <a:prstGeom prst="roundRect">
            <a:avLst>
              <a:gd name="adj" fmla="val 3000"/>
            </a:avLst>
          </a:prstGeom>
          <a:noFill/>
          <a:ln w="9525" cap="flat" cmpd="sng" algn="ctr">
            <a:solidFill>
              <a:schemeClr val="bg2">
                <a:lumMod val="85000"/>
              </a:schemeClr>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88900" tIns="76200" rIns="88900" bIns="76200" rtlCol="0" anchor="t">
            <a:noAutofit/>
          </a:bodyPr>
          <a:lstStyle/>
          <a:p>
            <a:r>
              <a:rPr lang="en-MY"/>
              <a:t> </a:t>
            </a:r>
          </a:p>
        </p:txBody>
      </p:sp>
      <p:sp>
        <p:nvSpPr>
          <p:cNvPr id="5" name="Rectangle 4">
            <a:extLst>
              <a:ext uri="{FF2B5EF4-FFF2-40B4-BE49-F238E27FC236}">
                <a16:creationId xmlns:a16="http://schemas.microsoft.com/office/drawing/2014/main" id="{34DC6699-46B0-17EC-6FA5-C435A74A3F0B}"/>
              </a:ext>
            </a:extLst>
          </p:cNvPr>
          <p:cNvSpPr/>
          <p:nvPr/>
        </p:nvSpPr>
        <p:spPr>
          <a:xfrm>
            <a:off x="2235200" y="1066800"/>
            <a:ext cx="53340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r>
              <a:rPr lang="en-MY" sz="1400" b="1" dirty="0">
                <a:solidFill>
                  <a:schemeClr val="tx1"/>
                </a:solidFill>
              </a:rPr>
              <a:t>Databricks  Data Intelligence Platform</a:t>
            </a:r>
          </a:p>
        </p:txBody>
      </p:sp>
      <p:sp>
        <p:nvSpPr>
          <p:cNvPr id="6" name="Rectangle 5">
            <a:extLst>
              <a:ext uri="{FF2B5EF4-FFF2-40B4-BE49-F238E27FC236}">
                <a16:creationId xmlns:a16="http://schemas.microsoft.com/office/drawing/2014/main" id="{CD217DAF-0C4E-E41A-6BD8-4AC78A1D6869}"/>
              </a:ext>
            </a:extLst>
          </p:cNvPr>
          <p:cNvSpPr/>
          <p:nvPr/>
        </p:nvSpPr>
        <p:spPr>
          <a:xfrm>
            <a:off x="8890000" y="1066800"/>
            <a:ext cx="29718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MY" sz="1000" b="1" dirty="0">
                <a:solidFill>
                  <a:schemeClr val="bg1">
                    <a:lumMod val="50000"/>
                  </a:schemeClr>
                </a:solidFill>
              </a:rPr>
              <a:t>ARCHITECTURE</a:t>
            </a:r>
          </a:p>
        </p:txBody>
      </p:sp>
      <p:sp>
        <p:nvSpPr>
          <p:cNvPr id="7" name="Rectangle: Rounded Corners 6">
            <a:extLst>
              <a:ext uri="{FF2B5EF4-FFF2-40B4-BE49-F238E27FC236}">
                <a16:creationId xmlns:a16="http://schemas.microsoft.com/office/drawing/2014/main" id="{17400C7D-2B0E-8BD6-083A-ECFB62568A21}"/>
              </a:ext>
            </a:extLst>
          </p:cNvPr>
          <p:cNvSpPr/>
          <p:nvPr/>
        </p:nvSpPr>
        <p:spPr>
          <a:xfrm>
            <a:off x="1016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Public data sources</a:t>
            </a:r>
          </a:p>
        </p:txBody>
      </p:sp>
      <p:sp>
        <p:nvSpPr>
          <p:cNvPr id="8" name="Rectangle: Rounded Corners 7">
            <a:extLst>
              <a:ext uri="{FF2B5EF4-FFF2-40B4-BE49-F238E27FC236}">
                <a16:creationId xmlns:a16="http://schemas.microsoft.com/office/drawing/2014/main" id="{A0338B06-6E9C-7E5A-AB7B-33D566CFE6E7}"/>
              </a:ext>
            </a:extLst>
          </p:cNvPr>
          <p:cNvSpPr/>
          <p:nvPr/>
        </p:nvSpPr>
        <p:spPr>
          <a:xfrm>
            <a:off x="2235200" y="1371600"/>
            <a:ext cx="16256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Data ingestion</a:t>
            </a:r>
          </a:p>
        </p:txBody>
      </p:sp>
      <p:sp>
        <p:nvSpPr>
          <p:cNvPr id="9" name="Rectangle: Rounded Corners 8">
            <a:extLst>
              <a:ext uri="{FF2B5EF4-FFF2-40B4-BE49-F238E27FC236}">
                <a16:creationId xmlns:a16="http://schemas.microsoft.com/office/drawing/2014/main" id="{AFB1300A-FFFD-6B78-1FB7-482BB2C11A5F}"/>
              </a:ext>
            </a:extLst>
          </p:cNvPr>
          <p:cNvSpPr/>
          <p:nvPr/>
        </p:nvSpPr>
        <p:spPr>
          <a:xfrm>
            <a:off x="3962400" y="1371600"/>
            <a:ext cx="37084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Lakehouse · Medallion architecture</a:t>
            </a:r>
          </a:p>
        </p:txBody>
      </p:sp>
      <p:sp>
        <p:nvSpPr>
          <p:cNvPr id="10" name="Rectangle: Rounded Corners 9">
            <a:extLst>
              <a:ext uri="{FF2B5EF4-FFF2-40B4-BE49-F238E27FC236}">
                <a16:creationId xmlns:a16="http://schemas.microsoft.com/office/drawing/2014/main" id="{C97F9143-EFAA-C9FB-F878-D26761A17762}"/>
              </a:ext>
            </a:extLst>
          </p:cNvPr>
          <p:cNvSpPr/>
          <p:nvPr/>
        </p:nvSpPr>
        <p:spPr>
          <a:xfrm>
            <a:off x="77724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Intelligence · Serving</a:t>
            </a:r>
          </a:p>
        </p:txBody>
      </p:sp>
      <p:sp>
        <p:nvSpPr>
          <p:cNvPr id="11" name="Rectangle: Rounded Corners 10">
            <a:extLst>
              <a:ext uri="{FF2B5EF4-FFF2-40B4-BE49-F238E27FC236}">
                <a16:creationId xmlns:a16="http://schemas.microsoft.com/office/drawing/2014/main" id="{DD429B98-AC50-6AFF-CE70-C75CCFDEFCEF}"/>
              </a:ext>
            </a:extLst>
          </p:cNvPr>
          <p:cNvSpPr/>
          <p:nvPr/>
        </p:nvSpPr>
        <p:spPr>
          <a:xfrm>
            <a:off x="9779000" y="1371600"/>
            <a:ext cx="2082800" cy="4572000"/>
          </a:xfrm>
          <a:prstGeom prst="roundRect">
            <a:avLst>
              <a:gd name="adj" fmla="val 3500"/>
            </a:avLst>
          </a:prstGeom>
          <a:solidFill>
            <a:schemeClr val="accent1">
              <a:lumMod val="8000"/>
              <a:lumOff val="92000"/>
            </a:schemeClr>
          </a:solidFill>
          <a:ln w="9525" cap="flat" cmpd="sng" algn="ctr">
            <a:solidFill>
              <a:schemeClr val="accent1">
                <a:lumMod val="40000"/>
                <a:lumOff val="6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Residents and agencies · AI agents</a:t>
            </a:r>
          </a:p>
        </p:txBody>
      </p:sp>
      <p:sp>
        <p:nvSpPr>
          <p:cNvPr id="12" name="Rectangle: Rounded Corners 11">
            <a:extLst>
              <a:ext uri="{FF2B5EF4-FFF2-40B4-BE49-F238E27FC236}">
                <a16:creationId xmlns:a16="http://schemas.microsoft.com/office/drawing/2014/main" id="{F6C35BA5-DC58-3BD1-F7C4-8582538FCC4C}"/>
              </a:ext>
            </a:extLst>
          </p:cNvPr>
          <p:cNvSpPr/>
          <p:nvPr/>
        </p:nvSpPr>
        <p:spPr>
          <a:xfrm>
            <a:off x="177800" y="1752600"/>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PUB Flood Alerts</a:t>
            </a:r>
          </a:p>
          <a:p>
            <a:r>
              <a:rPr lang="en-US" sz="1100">
                <a:solidFill>
                  <a:schemeClr val="tx1"/>
                </a:solidFill>
              </a:rPr>
              <a:t>Drains 90% full, flash floods; Telegram posts since 2021</a:t>
            </a:r>
            <a:endParaRPr lang="en-MY"/>
          </a:p>
        </p:txBody>
      </p:sp>
      <p:sp>
        <p:nvSpPr>
          <p:cNvPr id="13" name="Rectangle: Rounded Corners 12">
            <a:extLst>
              <a:ext uri="{FF2B5EF4-FFF2-40B4-BE49-F238E27FC236}">
                <a16:creationId xmlns:a16="http://schemas.microsoft.com/office/drawing/2014/main" id="{28567F21-C899-18DE-EE0D-0AC5AD98580E}"/>
              </a:ext>
            </a:extLst>
          </p:cNvPr>
          <p:cNvSpPr/>
          <p:nvPr/>
        </p:nvSpPr>
        <p:spPr>
          <a:xfrm>
            <a:off x="177800" y="2586038"/>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Internet Archive</a:t>
            </a:r>
          </a:p>
          <a:p>
            <a:r>
              <a:rPr lang="en-US" sz="1100">
                <a:solidFill>
                  <a:schemeClr val="tx1"/>
                </a:solidFill>
              </a:rPr>
              <a:t>832 deleted PUB posts, recovered from web captures</a:t>
            </a:r>
            <a:endParaRPr lang="en-MY"/>
          </a:p>
        </p:txBody>
      </p:sp>
      <p:sp>
        <p:nvSpPr>
          <p:cNvPr id="14" name="Rectangle: Rounded Corners 13">
            <a:extLst>
              <a:ext uri="{FF2B5EF4-FFF2-40B4-BE49-F238E27FC236}">
                <a16:creationId xmlns:a16="http://schemas.microsoft.com/office/drawing/2014/main" id="{D3AEE496-2C04-4B88-25B1-98A9DD3407EC}"/>
              </a:ext>
            </a:extLst>
          </p:cNvPr>
          <p:cNvSpPr/>
          <p:nvPr/>
        </p:nvSpPr>
        <p:spPr>
          <a:xfrm>
            <a:off x="177800" y="3419475"/>
            <a:ext cx="1752600" cy="80645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NEA weather</a:t>
            </a:r>
          </a:p>
          <a:p>
            <a:r>
              <a:rPr lang="en-US" sz="1100">
                <a:solidFill>
                  <a:schemeClr val="tx1"/>
                </a:solidFill>
              </a:rPr>
              <a:t>5-min rain, 2-h forecast, wind, humidity (data.gov.sg)</a:t>
            </a:r>
            <a:endParaRPr lang="en-MY"/>
          </a:p>
        </p:txBody>
      </p:sp>
      <p:sp>
        <p:nvSpPr>
          <p:cNvPr id="15" name="Rectangle: Rounded Corners 14">
            <a:extLst>
              <a:ext uri="{FF2B5EF4-FFF2-40B4-BE49-F238E27FC236}">
                <a16:creationId xmlns:a16="http://schemas.microsoft.com/office/drawing/2014/main" id="{05502BCC-5028-CB2A-CFD6-E007317F48EC}"/>
              </a:ext>
            </a:extLst>
          </p:cNvPr>
          <p:cNvSpPr/>
          <p:nvPr/>
        </p:nvSpPr>
        <p:spPr>
          <a:xfrm>
            <a:off x="177800" y="4251325"/>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Tides</a:t>
            </a:r>
          </a:p>
          <a:p>
            <a:r>
              <a:rPr lang="en-MY" sz="1100">
                <a:solidFill>
                  <a:schemeClr val="tx1"/>
                </a:solidFill>
              </a:rPr>
              <a:t>NEA tide table; UHSLC hourly sea level at Tanjong Pagar</a:t>
            </a:r>
          </a:p>
        </p:txBody>
      </p:sp>
      <p:sp>
        <p:nvSpPr>
          <p:cNvPr id="16" name="Rectangle: Rounded Corners 15">
            <a:extLst>
              <a:ext uri="{FF2B5EF4-FFF2-40B4-BE49-F238E27FC236}">
                <a16:creationId xmlns:a16="http://schemas.microsoft.com/office/drawing/2014/main" id="{61D36DD6-2B91-DBC2-53D1-FE3A2B9B51B4}"/>
              </a:ext>
            </a:extLst>
          </p:cNvPr>
          <p:cNvSpPr/>
          <p:nvPr/>
        </p:nvSpPr>
        <p:spPr>
          <a:xfrm>
            <a:off x="177800" y="5084763"/>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Maps, sensors</a:t>
            </a:r>
          </a:p>
          <a:p>
            <a:r>
              <a:rPr lang="en-MY" sz="1100">
                <a:solidFill>
                  <a:schemeClr val="tx1"/>
                </a:solidFill>
              </a:rPr>
              <a:t>328 PUB water-level sensors, URA land use, SLA, OneMap</a:t>
            </a:r>
          </a:p>
        </p:txBody>
      </p:sp>
      <p:sp>
        <p:nvSpPr>
          <p:cNvPr id="17" name="Rectangle: Rounded Corners 16">
            <a:extLst>
              <a:ext uri="{FF2B5EF4-FFF2-40B4-BE49-F238E27FC236}">
                <a16:creationId xmlns:a16="http://schemas.microsoft.com/office/drawing/2014/main" id="{598207B4-0D5B-DBB0-D0DC-8D792AF47FC9}"/>
              </a:ext>
            </a:extLst>
          </p:cNvPr>
          <p:cNvSpPr/>
          <p:nvPr/>
        </p:nvSpPr>
        <p:spPr>
          <a:xfrm>
            <a:off x="2336800" y="1752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Jobs</a:t>
            </a:r>
          </a:p>
          <a:p>
            <a:r>
              <a:rPr lang="en-US" sz="1100">
                <a:solidFill>
                  <a:schemeClr val="tx1"/>
                </a:solidFill>
              </a:rPr>
              <a:t>Python fetchers on serverless: new data every 5 min, a nightly repair, one-off backfills</a:t>
            </a:r>
            <a:endParaRPr lang="en-MY"/>
          </a:p>
        </p:txBody>
      </p:sp>
      <p:sp>
        <p:nvSpPr>
          <p:cNvPr id="18" name="Rectangle: Rounded Corners 17">
            <a:extLst>
              <a:ext uri="{FF2B5EF4-FFF2-40B4-BE49-F238E27FC236}">
                <a16:creationId xmlns:a16="http://schemas.microsoft.com/office/drawing/2014/main" id="{97F9F6BE-45E1-502A-61BF-68491C00F5B3}"/>
              </a:ext>
            </a:extLst>
          </p:cNvPr>
          <p:cNvSpPr/>
          <p:nvPr/>
        </p:nvSpPr>
        <p:spPr>
          <a:xfrm>
            <a:off x="2336800" y="3911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dirty="0">
                <a:solidFill>
                  <a:schemeClr val="tx1">
                    <a:lumMod val="75000"/>
                    <a:lumOff val="25000"/>
                  </a:schemeClr>
                </a:solidFill>
              </a:rPr>
              <a:t>Auto Loader</a:t>
            </a:r>
          </a:p>
          <a:p>
            <a:r>
              <a:rPr lang="en-US" sz="1100" dirty="0">
                <a:solidFill>
                  <a:schemeClr val="tx1"/>
                </a:solidFill>
              </a:rPr>
              <a:t>Each fetch lands as a new file in a UC Volume and streams into bronze once</a:t>
            </a:r>
            <a:endParaRPr lang="en-MY" dirty="0"/>
          </a:p>
        </p:txBody>
      </p:sp>
      <p:sp>
        <p:nvSpPr>
          <p:cNvPr id="19" name="Rectangle: Rounded Corners 18">
            <a:extLst>
              <a:ext uri="{FF2B5EF4-FFF2-40B4-BE49-F238E27FC236}">
                <a16:creationId xmlns:a16="http://schemas.microsoft.com/office/drawing/2014/main" id="{0F20B9CC-DCD0-882F-F1F8-2682D02E5541}"/>
              </a:ext>
            </a:extLst>
          </p:cNvPr>
          <p:cNvSpPr/>
          <p:nvPr/>
        </p:nvSpPr>
        <p:spPr>
          <a:xfrm>
            <a:off x="4064000" y="1752600"/>
            <a:ext cx="1066800" cy="2540000"/>
          </a:xfrm>
          <a:prstGeom prst="roundRect">
            <a:avLst>
              <a:gd name="adj" fmla="val 8000"/>
            </a:avLst>
          </a:prstGeom>
          <a:solidFill>
            <a:schemeClr val="accent1">
              <a:lumMod val="20000"/>
              <a:lumOff val="80000"/>
            </a:schemeClr>
          </a:solidFill>
          <a:ln w="12700" cap="flat" cmpd="sng" algn="ctr">
            <a:solidFill>
              <a:schemeClr val="accent1">
                <a:lumMod val="60000"/>
                <a:lumOff val="4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Bronze</a:t>
            </a:r>
          </a:p>
          <a:p>
            <a:pPr algn="ctr"/>
            <a:r>
              <a:rPr lang="en-US" sz="1100">
                <a:solidFill>
                  <a:schemeClr val="tx1"/>
                </a:solidFill>
              </a:rPr>
              <a:t>Every API page, post and file as received; full history</a:t>
            </a:r>
            <a:endParaRPr lang="en-MY"/>
          </a:p>
        </p:txBody>
      </p:sp>
      <p:sp>
        <p:nvSpPr>
          <p:cNvPr id="20" name="Rectangle: Rounded Corners 19">
            <a:extLst>
              <a:ext uri="{FF2B5EF4-FFF2-40B4-BE49-F238E27FC236}">
                <a16:creationId xmlns:a16="http://schemas.microsoft.com/office/drawing/2014/main" id="{7058DDFF-EDAD-4A73-1A97-C11EA8645A58}"/>
              </a:ext>
            </a:extLst>
          </p:cNvPr>
          <p:cNvSpPr/>
          <p:nvPr/>
        </p:nvSpPr>
        <p:spPr>
          <a:xfrm>
            <a:off x="5283200" y="1752600"/>
            <a:ext cx="1066800" cy="2540000"/>
          </a:xfrm>
          <a:prstGeom prst="roundRect">
            <a:avLst>
              <a:gd name="adj" fmla="val 8000"/>
            </a:avLst>
          </a:prstGeom>
          <a:solidFill>
            <a:schemeClr val="bg2">
              <a:lumMod val="90000"/>
            </a:schemeClr>
          </a:solidFill>
          <a:ln w="12700" cap="flat" cmpd="sng" algn="ctr">
            <a:solidFill>
              <a:schemeClr val="bg2">
                <a:lumMod val="6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Silver</a:t>
            </a:r>
          </a:p>
          <a:p>
            <a:pPr algn="ctr"/>
            <a:r>
              <a:rPr lang="en-US" sz="1100">
                <a:solidFill>
                  <a:schemeClr val="tx1"/>
                </a:solidFill>
              </a:rPr>
              <a:t>Readings cleaned, posts parsed, alerts placed in NEA's 47 areas</a:t>
            </a:r>
            <a:endParaRPr lang="en-MY" dirty="0"/>
          </a:p>
        </p:txBody>
      </p:sp>
      <p:sp>
        <p:nvSpPr>
          <p:cNvPr id="21" name="Rectangle: Rounded Corners 20">
            <a:extLst>
              <a:ext uri="{FF2B5EF4-FFF2-40B4-BE49-F238E27FC236}">
                <a16:creationId xmlns:a16="http://schemas.microsoft.com/office/drawing/2014/main" id="{6F7F099D-E915-08BC-643B-5817CE153135}"/>
              </a:ext>
            </a:extLst>
          </p:cNvPr>
          <p:cNvSpPr/>
          <p:nvPr/>
        </p:nvSpPr>
        <p:spPr>
          <a:xfrm>
            <a:off x="6502400" y="1752600"/>
            <a:ext cx="1066800" cy="2540000"/>
          </a:xfrm>
          <a:prstGeom prst="roundRect">
            <a:avLst>
              <a:gd name="adj" fmla="val 8000"/>
            </a:avLst>
          </a:prstGeom>
          <a:solidFill>
            <a:schemeClr val="accent2">
              <a:lumMod val="20000"/>
              <a:lumOff val="80000"/>
            </a:schemeClr>
          </a:solidFill>
          <a:ln w="12700" cap="flat" cmpd="sng" algn="ctr">
            <a:solidFill>
              <a:schemeClr val="accent2">
                <a:lumMod val="70000"/>
                <a:lumOff val="3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Gold</a:t>
            </a:r>
          </a:p>
          <a:p>
            <a:pPr algn="ctr"/>
            <a:r>
              <a:rPr lang="en-US" sz="1100">
                <a:solidFill>
                  <a:schemeClr val="tx1"/>
                </a:solidFill>
              </a:rPr>
              <a:t>Each area, every 5 min: rain, forecast, tide, label</a:t>
            </a:r>
            <a:endParaRPr lang="en-MY"/>
          </a:p>
        </p:txBody>
      </p:sp>
      <p:sp>
        <p:nvSpPr>
          <p:cNvPr id="22" name="Rectangle: Rounded Corners 21">
            <a:extLst>
              <a:ext uri="{FF2B5EF4-FFF2-40B4-BE49-F238E27FC236}">
                <a16:creationId xmlns:a16="http://schemas.microsoft.com/office/drawing/2014/main" id="{2CB274E2-DD0C-25CC-3EAC-FF0176B61C9C}"/>
              </a:ext>
            </a:extLst>
          </p:cNvPr>
          <p:cNvSpPr/>
          <p:nvPr/>
        </p:nvSpPr>
        <p:spPr>
          <a:xfrm>
            <a:off x="4064000" y="4521200"/>
            <a:ext cx="35052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Spark Declarative Pipelines</a:t>
            </a:r>
          </a:p>
          <a:p>
            <a:r>
              <a:rPr lang="en-US" sz="1100">
                <a:solidFill>
                  <a:schemeClr val="tx1"/>
                </a:solidFill>
              </a:rPr>
              <a:t>Two serverless pipelines. Expectations drop bad readings; unplaceable alerts are quarantined. Hours with lost posts or feed outages count as missing, never as quiet.</a:t>
            </a:r>
            <a:endParaRPr lang="en-MY"/>
          </a:p>
        </p:txBody>
      </p:sp>
      <p:sp>
        <p:nvSpPr>
          <p:cNvPr id="23" name="Rectangle: Rounded Corners 22">
            <a:extLst>
              <a:ext uri="{FF2B5EF4-FFF2-40B4-BE49-F238E27FC236}">
                <a16:creationId xmlns:a16="http://schemas.microsoft.com/office/drawing/2014/main" id="{EFBAE7CE-B782-2193-07ED-C08449ED26E4}"/>
              </a:ext>
            </a:extLst>
          </p:cNvPr>
          <p:cNvSpPr/>
          <p:nvPr/>
        </p:nvSpPr>
        <p:spPr>
          <a:xfrm>
            <a:off x="7874000" y="1752600"/>
            <a:ext cx="1701800" cy="1422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a:solidFill>
                  <a:schemeClr val="tx1"/>
                </a:solidFill>
              </a:rPr>
              <a:t>MLflow · Unity Catalog</a:t>
            </a:r>
          </a:p>
          <a:p>
            <a:r>
              <a:rPr lang="en-US" sz="1100">
                <a:solidFill>
                  <a:schemeClr val="tx1"/>
                </a:solidFill>
              </a:rPr>
              <a:t>Gated LightGBM pair: each area's chance of a PUB alert within 1 h. 7 checks before @champion moves.</a:t>
            </a:r>
            <a:endParaRPr lang="en-MY" dirty="0"/>
          </a:p>
        </p:txBody>
      </p:sp>
      <p:sp>
        <p:nvSpPr>
          <p:cNvPr id="24" name="Rectangle: Rounded Corners 23">
            <a:extLst>
              <a:ext uri="{FF2B5EF4-FFF2-40B4-BE49-F238E27FC236}">
                <a16:creationId xmlns:a16="http://schemas.microsoft.com/office/drawing/2014/main" id="{6F8569AF-F596-DF50-166F-804FE0574603}"/>
              </a:ext>
            </a:extLst>
          </p:cNvPr>
          <p:cNvSpPr/>
          <p:nvPr/>
        </p:nvSpPr>
        <p:spPr>
          <a:xfrm>
            <a:off x="7874000" y="3276600"/>
            <a:ext cx="17018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a:solidFill>
                  <a:schemeClr val="tx1"/>
                </a:solidFill>
              </a:rPr>
              <a:t>Live scoring</a:t>
            </a:r>
          </a:p>
          <a:p>
            <a:r>
              <a:rPr lang="en-US" sz="1100">
                <a:solidFill>
                  <a:schemeClr val="tx1"/>
                </a:solidFill>
              </a:rPr>
              <a:t>Every 5 min, @champion rates all 47 areas into a Delta table. New warnings go out by Telegram, email.</a:t>
            </a:r>
            <a:endParaRPr lang="en-MY"/>
          </a:p>
        </p:txBody>
      </p:sp>
      <p:sp>
        <p:nvSpPr>
          <p:cNvPr id="25" name="Rectangle: Rounded Corners 24">
            <a:extLst>
              <a:ext uri="{FF2B5EF4-FFF2-40B4-BE49-F238E27FC236}">
                <a16:creationId xmlns:a16="http://schemas.microsoft.com/office/drawing/2014/main" id="{CC09AC52-0A3D-BFCA-002E-E348B7B71E86}"/>
              </a:ext>
            </a:extLst>
          </p:cNvPr>
          <p:cNvSpPr/>
          <p:nvPr/>
        </p:nvSpPr>
        <p:spPr>
          <a:xfrm>
            <a:off x="7874000" y="4699000"/>
            <a:ext cx="1701800" cy="11430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MY" sz="1300" b="1">
                <a:solidFill>
                  <a:schemeClr val="tx1"/>
                </a:solidFill>
              </a:rPr>
              <a:t>Databricks SQL · AI/BI</a:t>
            </a:r>
          </a:p>
          <a:p>
            <a:r>
              <a:rPr lang="en-MY" sz="1100">
                <a:solidFill>
                  <a:schemeClr val="tx1"/>
                </a:solidFill>
              </a:rPr>
              <a:t>Serverless warehouse for the app, Genie, agencies' scoreboard</a:t>
            </a:r>
          </a:p>
        </p:txBody>
      </p:sp>
      <p:sp>
        <p:nvSpPr>
          <p:cNvPr id="26" name="Rectangle: Rounded Corners 25">
            <a:extLst>
              <a:ext uri="{FF2B5EF4-FFF2-40B4-BE49-F238E27FC236}">
                <a16:creationId xmlns:a16="http://schemas.microsoft.com/office/drawing/2014/main" id="{615BC92A-1160-ACFF-48C4-E4CC16330BCF}"/>
              </a:ext>
            </a:extLst>
          </p:cNvPr>
          <p:cNvSpPr/>
          <p:nvPr/>
        </p:nvSpPr>
        <p:spPr>
          <a:xfrm>
            <a:off x="9880600" y="1879600"/>
            <a:ext cx="1879600" cy="1727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Databricks App</a:t>
            </a:r>
          </a:p>
          <a:p>
            <a:r>
              <a:rPr lang="en-US" sz="1100">
                <a:solidFill>
                  <a:schemeClr val="tx1"/>
                </a:solidFill>
              </a:rPr>
              <a:t>Live map of 47 areas: what to do on foot, driving or at home. Storm replays, warning sign-ups.</a:t>
            </a:r>
            <a:endParaRPr lang="en-MY" dirty="0"/>
          </a:p>
        </p:txBody>
      </p:sp>
      <p:sp>
        <p:nvSpPr>
          <p:cNvPr id="27" name="Rectangle: Rounded Corners 26">
            <a:extLst>
              <a:ext uri="{FF2B5EF4-FFF2-40B4-BE49-F238E27FC236}">
                <a16:creationId xmlns:a16="http://schemas.microsoft.com/office/drawing/2014/main" id="{3CF55AC2-89D5-AF1F-572F-1206D201BBB1}"/>
              </a:ext>
            </a:extLst>
          </p:cNvPr>
          <p:cNvSpPr/>
          <p:nvPr/>
        </p:nvSpPr>
        <p:spPr>
          <a:xfrm>
            <a:off x="9880600" y="3733800"/>
            <a:ext cx="1879600" cy="2108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Genie Agent</a:t>
            </a:r>
          </a:p>
          <a:p>
            <a:r>
              <a:rPr lang="en-US" sz="1100">
                <a:solidFill>
                  <a:schemeClr val="tx1"/>
                </a:solidFill>
              </a:rPr>
              <a:t>"FloodSense for agencies": ask in plain English how it did against PUB, flood by flood. Also in the app.</a:t>
            </a:r>
            <a:endParaRPr lang="en-MY"/>
          </a:p>
        </p:txBody>
      </p:sp>
      <p:sp>
        <p:nvSpPr>
          <p:cNvPr id="28" name="Rectangle: Rounded Corners 27">
            <a:extLst>
              <a:ext uri="{FF2B5EF4-FFF2-40B4-BE49-F238E27FC236}">
                <a16:creationId xmlns:a16="http://schemas.microsoft.com/office/drawing/2014/main" id="{84C2D873-2971-35A8-0147-452AF2F94A0F}"/>
              </a:ext>
            </a:extLst>
          </p:cNvPr>
          <p:cNvSpPr/>
          <p:nvPr/>
        </p:nvSpPr>
        <p:spPr>
          <a:xfrm>
            <a:off x="9982200" y="2946400"/>
            <a:ext cx="7366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Residents</a:t>
            </a:r>
          </a:p>
        </p:txBody>
      </p:sp>
      <p:sp>
        <p:nvSpPr>
          <p:cNvPr id="29" name="Rectangle: Rounded Corners 28">
            <a:extLst>
              <a:ext uri="{FF2B5EF4-FFF2-40B4-BE49-F238E27FC236}">
                <a16:creationId xmlns:a16="http://schemas.microsoft.com/office/drawing/2014/main" id="{8900402C-E774-2ABA-F759-259A057B255F}"/>
              </a:ext>
            </a:extLst>
          </p:cNvPr>
          <p:cNvSpPr/>
          <p:nvPr/>
        </p:nvSpPr>
        <p:spPr>
          <a:xfrm>
            <a:off x="10795000" y="2946400"/>
            <a:ext cx="7874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Commuters</a:t>
            </a:r>
          </a:p>
        </p:txBody>
      </p:sp>
      <p:sp>
        <p:nvSpPr>
          <p:cNvPr id="30" name="Rectangle: Rounded Corners 29">
            <a:extLst>
              <a:ext uri="{FF2B5EF4-FFF2-40B4-BE49-F238E27FC236}">
                <a16:creationId xmlns:a16="http://schemas.microsoft.com/office/drawing/2014/main" id="{7EBB41DC-ACF4-1AA3-FFEB-7CF6A6D80B04}"/>
              </a:ext>
            </a:extLst>
          </p:cNvPr>
          <p:cNvSpPr/>
          <p:nvPr/>
        </p:nvSpPr>
        <p:spPr>
          <a:xfrm>
            <a:off x="9982200" y="3251200"/>
            <a:ext cx="9652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Town councils</a:t>
            </a:r>
          </a:p>
        </p:txBody>
      </p:sp>
      <p:sp>
        <p:nvSpPr>
          <p:cNvPr id="31" name="Rectangle: Rounded Corners 30">
            <a:extLst>
              <a:ext uri="{FF2B5EF4-FFF2-40B4-BE49-F238E27FC236}">
                <a16:creationId xmlns:a16="http://schemas.microsoft.com/office/drawing/2014/main" id="{6301359E-D4EA-36CC-BF24-93DDE4D9C925}"/>
              </a:ext>
            </a:extLst>
          </p:cNvPr>
          <p:cNvSpPr/>
          <p:nvPr/>
        </p:nvSpPr>
        <p:spPr>
          <a:xfrm>
            <a:off x="11023600" y="3251200"/>
            <a:ext cx="6350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Agencies</a:t>
            </a:r>
          </a:p>
        </p:txBody>
      </p:sp>
      <p:sp>
        <p:nvSpPr>
          <p:cNvPr id="33" name="Rectangle: Rounded Corners 32">
            <a:extLst>
              <a:ext uri="{FF2B5EF4-FFF2-40B4-BE49-F238E27FC236}">
                <a16:creationId xmlns:a16="http://schemas.microsoft.com/office/drawing/2014/main" id="{A18870E3-B576-4A1D-DDF0-0AF04B87687E}"/>
              </a:ext>
            </a:extLst>
          </p:cNvPr>
          <p:cNvSpPr/>
          <p:nvPr>
            <p:custDataLst>
              <p:tags r:id="rId2"/>
            </p:custDataLst>
          </p:nvPr>
        </p:nvSpPr>
        <p:spPr>
          <a:xfrm>
            <a:off x="2235200" y="6070600"/>
            <a:ext cx="9626600" cy="355600"/>
          </a:xfrm>
          <a:prstGeom prst="roundRect">
            <a:avLst>
              <a:gd name="adj" fmla="val 12000"/>
            </a:avLst>
          </a:prstGeom>
          <a:solidFill>
            <a:schemeClr val="bg1"/>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66700" tIns="12700" rIns="50800" bIns="12700" rtlCol="0" anchor="ctr">
            <a:noAutofit/>
          </a:bodyPr>
          <a:lstStyle/>
          <a:p>
            <a:pPr algn="ctr"/>
            <a:r>
              <a:rPr lang="en-MY" sz="1100" b="1" dirty="0">
                <a:solidFill>
                  <a:schemeClr val="tx1"/>
                </a:solidFill>
              </a:rPr>
              <a:t>Unity </a:t>
            </a:r>
            <a:r>
              <a:rPr lang="en-MY" sz="1100" b="1" dirty="0" err="1">
                <a:solidFill>
                  <a:schemeClr val="tx1"/>
                </a:solidFill>
              </a:rPr>
              <a:t>Catalog</a:t>
            </a:r>
            <a:endParaRPr lang="en-MY" sz="1100" b="1" dirty="0">
              <a:solidFill>
                <a:schemeClr val="tx1"/>
              </a:solidFill>
            </a:endParaRPr>
          </a:p>
        </p:txBody>
      </p:sp>
      <p:cxnSp>
        <p:nvCxnSpPr>
          <p:cNvPr id="42" name="Connector: Elbow 41">
            <a:extLst>
              <a:ext uri="{FF2B5EF4-FFF2-40B4-BE49-F238E27FC236}">
                <a16:creationId xmlns:a16="http://schemas.microsoft.com/office/drawing/2014/main" id="{A2378AD4-A713-752E-A63D-F915756C85B3}"/>
              </a:ext>
            </a:extLst>
          </p:cNvPr>
          <p:cNvCxnSpPr>
            <a:cxnSpLocks/>
          </p:cNvCxnSpPr>
          <p:nvPr/>
        </p:nvCxnSpPr>
        <p:spPr>
          <a:xfrm>
            <a:off x="51308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91002E63-54FE-0828-8089-771BFE89FAC4}"/>
              </a:ext>
            </a:extLst>
          </p:cNvPr>
          <p:cNvCxnSpPr>
            <a:cxnSpLocks/>
          </p:cNvCxnSpPr>
          <p:nvPr/>
        </p:nvCxnSpPr>
        <p:spPr>
          <a:xfrm>
            <a:off x="63500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54" name="IconTile_12">
            <a:extLst>
              <a:ext uri="{FF2B5EF4-FFF2-40B4-BE49-F238E27FC236}">
                <a16:creationId xmlns:a16="http://schemas.microsoft.com/office/drawing/2014/main" id="{3128FFD0-6E9D-E6A0-219E-8A154A3A325D}"/>
              </a:ext>
            </a:extLst>
          </p:cNvPr>
          <p:cNvSpPr/>
          <p:nvPr/>
        </p:nvSpPr>
        <p:spPr>
          <a:xfrm>
            <a:off x="241300" y="17907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5" name="IconTile_13">
            <a:extLst>
              <a:ext uri="{FF2B5EF4-FFF2-40B4-BE49-F238E27FC236}">
                <a16:creationId xmlns:a16="http://schemas.microsoft.com/office/drawing/2014/main" id="{C5A246D8-D47B-C076-87AB-8B7962069A4D}"/>
              </a:ext>
            </a:extLst>
          </p:cNvPr>
          <p:cNvSpPr/>
          <p:nvPr/>
        </p:nvSpPr>
        <p:spPr>
          <a:xfrm>
            <a:off x="241300" y="2624138"/>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6" name="IconTile_14">
            <a:extLst>
              <a:ext uri="{FF2B5EF4-FFF2-40B4-BE49-F238E27FC236}">
                <a16:creationId xmlns:a16="http://schemas.microsoft.com/office/drawing/2014/main" id="{8C705FA7-470E-065F-217A-88BC3307CDEF}"/>
              </a:ext>
            </a:extLst>
          </p:cNvPr>
          <p:cNvSpPr/>
          <p:nvPr/>
        </p:nvSpPr>
        <p:spPr>
          <a:xfrm>
            <a:off x="241300" y="345757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7" name="IconTile_15">
            <a:extLst>
              <a:ext uri="{FF2B5EF4-FFF2-40B4-BE49-F238E27FC236}">
                <a16:creationId xmlns:a16="http://schemas.microsoft.com/office/drawing/2014/main" id="{CEC86B73-05A7-B8F1-0001-4DC09497712F}"/>
              </a:ext>
            </a:extLst>
          </p:cNvPr>
          <p:cNvSpPr/>
          <p:nvPr/>
        </p:nvSpPr>
        <p:spPr>
          <a:xfrm>
            <a:off x="241300" y="428942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8" name="IconTile_16">
            <a:extLst>
              <a:ext uri="{FF2B5EF4-FFF2-40B4-BE49-F238E27FC236}">
                <a16:creationId xmlns:a16="http://schemas.microsoft.com/office/drawing/2014/main" id="{EE7B0804-08E6-F64C-7EB4-6D522E0ECE32}"/>
              </a:ext>
            </a:extLst>
          </p:cNvPr>
          <p:cNvSpPr/>
          <p:nvPr/>
        </p:nvSpPr>
        <p:spPr>
          <a:xfrm>
            <a:off x="241300" y="5122863"/>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9" name="IconTile_17">
            <a:extLst>
              <a:ext uri="{FF2B5EF4-FFF2-40B4-BE49-F238E27FC236}">
                <a16:creationId xmlns:a16="http://schemas.microsoft.com/office/drawing/2014/main" id="{88A3DE7D-24F3-0478-17AE-A16786BC2E23}"/>
              </a:ext>
            </a:extLst>
          </p:cNvPr>
          <p:cNvSpPr/>
          <p:nvPr/>
        </p:nvSpPr>
        <p:spPr>
          <a:xfrm>
            <a:off x="2400300" y="1835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0" name="IconTile_18">
            <a:extLst>
              <a:ext uri="{FF2B5EF4-FFF2-40B4-BE49-F238E27FC236}">
                <a16:creationId xmlns:a16="http://schemas.microsoft.com/office/drawing/2014/main" id="{278B5F39-EACF-3EB0-D113-124C464A37AE}"/>
              </a:ext>
            </a:extLst>
          </p:cNvPr>
          <p:cNvSpPr/>
          <p:nvPr/>
        </p:nvSpPr>
        <p:spPr>
          <a:xfrm>
            <a:off x="2400300" y="3994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1" name="IconTile_22">
            <a:extLst>
              <a:ext uri="{FF2B5EF4-FFF2-40B4-BE49-F238E27FC236}">
                <a16:creationId xmlns:a16="http://schemas.microsoft.com/office/drawing/2014/main" id="{72875527-45F5-860B-65F2-01F0E1424412}"/>
              </a:ext>
            </a:extLst>
          </p:cNvPr>
          <p:cNvSpPr/>
          <p:nvPr/>
        </p:nvSpPr>
        <p:spPr>
          <a:xfrm>
            <a:off x="4127500" y="460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2" name="IconTile_23">
            <a:extLst>
              <a:ext uri="{FF2B5EF4-FFF2-40B4-BE49-F238E27FC236}">
                <a16:creationId xmlns:a16="http://schemas.microsoft.com/office/drawing/2014/main" id="{62FB0368-D367-C432-AE1C-48ABCAE68A27}"/>
              </a:ext>
            </a:extLst>
          </p:cNvPr>
          <p:cNvSpPr/>
          <p:nvPr/>
        </p:nvSpPr>
        <p:spPr>
          <a:xfrm>
            <a:off x="7937500" y="1809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3" name="IconTile_24">
            <a:extLst>
              <a:ext uri="{FF2B5EF4-FFF2-40B4-BE49-F238E27FC236}">
                <a16:creationId xmlns:a16="http://schemas.microsoft.com/office/drawing/2014/main" id="{6C8C5E50-2CD5-9923-8BD3-164A52923FDC}"/>
              </a:ext>
            </a:extLst>
          </p:cNvPr>
          <p:cNvSpPr/>
          <p:nvPr/>
        </p:nvSpPr>
        <p:spPr>
          <a:xfrm>
            <a:off x="7937500" y="333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4" name="IconTile_25">
            <a:extLst>
              <a:ext uri="{FF2B5EF4-FFF2-40B4-BE49-F238E27FC236}">
                <a16:creationId xmlns:a16="http://schemas.microsoft.com/office/drawing/2014/main" id="{F901D473-83E6-3276-186E-43C8C51B2EC0}"/>
              </a:ext>
            </a:extLst>
          </p:cNvPr>
          <p:cNvSpPr/>
          <p:nvPr/>
        </p:nvSpPr>
        <p:spPr>
          <a:xfrm>
            <a:off x="7937500" y="4756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5" name="IconTile_26">
            <a:extLst>
              <a:ext uri="{FF2B5EF4-FFF2-40B4-BE49-F238E27FC236}">
                <a16:creationId xmlns:a16="http://schemas.microsoft.com/office/drawing/2014/main" id="{40294DF2-55BE-EAF6-E054-BF65F5FC39B8}"/>
              </a:ext>
            </a:extLst>
          </p:cNvPr>
          <p:cNvSpPr/>
          <p:nvPr/>
        </p:nvSpPr>
        <p:spPr>
          <a:xfrm>
            <a:off x="9944100" y="1962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6" name="IconTile_27">
            <a:extLst>
              <a:ext uri="{FF2B5EF4-FFF2-40B4-BE49-F238E27FC236}">
                <a16:creationId xmlns:a16="http://schemas.microsoft.com/office/drawing/2014/main" id="{0669E1A8-0C6D-3AEF-508E-6291F32EF0AC}"/>
              </a:ext>
            </a:extLst>
          </p:cNvPr>
          <p:cNvSpPr/>
          <p:nvPr/>
        </p:nvSpPr>
        <p:spPr>
          <a:xfrm>
            <a:off x="9944100" y="38163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72" name="Pic">
            <a:extLst>
              <a:ext uri="{FF2B5EF4-FFF2-40B4-BE49-F238E27FC236}">
                <a16:creationId xmlns:a16="http://schemas.microsoft.com/office/drawing/2014/main" id="{EE9879F6-B90A-2A02-1F19-40BAA79BE4C7}"/>
              </a:ext>
            </a:extLst>
          </p:cNvPr>
          <p:cNvPicPr>
            <a:picLocks/>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 uri="{6F801314-5768-4EAC-8CED-0F2297F94238}"/>
            </a:extLst>
          </a:blip>
          <a:stretch>
            <a:fillRect/>
          </a:stretch>
        </p:blipFill>
        <p:spPr bwMode="auto">
          <a:xfrm>
            <a:off x="7975600" y="1854200"/>
            <a:ext cx="152400" cy="152400"/>
          </a:xfrm>
          <a:prstGeom prst="rect">
            <a:avLst/>
          </a:prstGeom>
          <a:noFill/>
          <a:effectLst/>
        </p:spPr>
      </p:pic>
      <p:pic>
        <p:nvPicPr>
          <p:cNvPr id="71" name="Pic">
            <a:extLst>
              <a:ext uri="{FF2B5EF4-FFF2-40B4-BE49-F238E27FC236}">
                <a16:creationId xmlns:a16="http://schemas.microsoft.com/office/drawing/2014/main" id="{63F1D8E8-2384-74D8-5703-26974502E9EA}"/>
              </a:ext>
            </a:extLst>
          </p:cNvPr>
          <p:cNvPicPr>
            <a:picLocks/>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5"/>
              </a:ext>
              <a:ext uri="{6F801314-5768-4EAC-8CED-0F2297F94238}"/>
            </a:extLst>
          </a:blip>
          <a:stretch>
            <a:fillRect/>
          </a:stretch>
        </p:blipFill>
        <p:spPr bwMode="auto">
          <a:xfrm>
            <a:off x="9982200" y="3860800"/>
            <a:ext cx="152400" cy="152400"/>
          </a:xfrm>
          <a:prstGeom prst="rect">
            <a:avLst/>
          </a:prstGeom>
          <a:noFill/>
          <a:effectLst/>
        </p:spPr>
      </p:pic>
      <p:pic>
        <p:nvPicPr>
          <p:cNvPr id="79" name="Pic">
            <a:extLst>
              <a:ext uri="{FF2B5EF4-FFF2-40B4-BE49-F238E27FC236}">
                <a16:creationId xmlns:a16="http://schemas.microsoft.com/office/drawing/2014/main" id="{B7BFE7C3-AC92-627E-8C8A-96848E52B6BC}"/>
              </a:ext>
            </a:extLst>
          </p:cNvPr>
          <p:cNvPicPr>
            <a:picLocks/>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 uri="{6F801314-5768-4EAC-8CED-0F2297F94238}"/>
            </a:extLst>
          </a:blip>
          <a:stretch>
            <a:fillRect/>
          </a:stretch>
        </p:blipFill>
        <p:spPr bwMode="auto">
          <a:xfrm>
            <a:off x="4165600" y="4648200"/>
            <a:ext cx="152400" cy="152400"/>
          </a:xfrm>
          <a:prstGeom prst="rect">
            <a:avLst/>
          </a:prstGeom>
          <a:noFill/>
          <a:effectLst/>
        </p:spPr>
      </p:pic>
      <p:pic>
        <p:nvPicPr>
          <p:cNvPr id="80" name="Pic">
            <a:extLst>
              <a:ext uri="{FF2B5EF4-FFF2-40B4-BE49-F238E27FC236}">
                <a16:creationId xmlns:a16="http://schemas.microsoft.com/office/drawing/2014/main" id="{0F8E6796-CD3C-19ED-CD99-C77FCF4EBF6D}"/>
              </a:ext>
            </a:extLst>
          </p:cNvPr>
          <p:cNvPicPr>
            <a:picLocks/>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7"/>
              </a:ext>
              <a:ext uri="{6F801314-5768-4EAC-8CED-0F2297F94238}"/>
            </a:extLst>
          </a:blip>
          <a:stretch>
            <a:fillRect/>
          </a:stretch>
        </p:blipFill>
        <p:spPr bwMode="auto">
          <a:xfrm>
            <a:off x="7975600" y="4800600"/>
            <a:ext cx="152400" cy="152400"/>
          </a:xfrm>
          <a:prstGeom prst="rect">
            <a:avLst/>
          </a:prstGeom>
          <a:noFill/>
          <a:effectLst/>
        </p:spPr>
      </p:pic>
      <p:pic>
        <p:nvPicPr>
          <p:cNvPr id="81" name="Pic">
            <a:extLst>
              <a:ext uri="{FF2B5EF4-FFF2-40B4-BE49-F238E27FC236}">
                <a16:creationId xmlns:a16="http://schemas.microsoft.com/office/drawing/2014/main" id="{B48FB64A-734F-FA78-A0E1-E76336CE2F41}"/>
              </a:ext>
            </a:extLst>
          </p:cNvPr>
          <p:cNvPicPr>
            <a:picLocks/>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 uri="{6F801314-5768-4EAC-8CED-0F2297F94238}"/>
            </a:extLst>
          </a:blip>
          <a:stretch>
            <a:fillRect/>
          </a:stretch>
        </p:blipFill>
        <p:spPr bwMode="auto">
          <a:xfrm>
            <a:off x="6502400" y="6210300"/>
            <a:ext cx="152400" cy="152400"/>
          </a:xfrm>
          <a:prstGeom prst="rect">
            <a:avLst/>
          </a:prstGeom>
          <a:noFill/>
          <a:effectLst/>
        </p:spPr>
      </p:pic>
      <p:pic>
        <p:nvPicPr>
          <p:cNvPr id="86" name="Pic">
            <a:extLst>
              <a:ext uri="{FF2B5EF4-FFF2-40B4-BE49-F238E27FC236}">
                <a16:creationId xmlns:a16="http://schemas.microsoft.com/office/drawing/2014/main" id="{0E7C7AFA-8078-1748-A8B1-08FE2767AC57}"/>
              </a:ext>
            </a:extLst>
          </p:cNvPr>
          <p:cNvPicPr>
            <a:picLocks/>
          </p:cNvPicPr>
          <p:nvPr>
            <p:custDataLst>
              <p:tags r:id="rId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9"/>
              </a:ext>
              <a:ext uri="{6F801314-5768-4EAC-8CED-0F2297F94238}"/>
            </a:extLst>
          </a:blip>
          <a:stretch>
            <a:fillRect/>
          </a:stretch>
        </p:blipFill>
        <p:spPr bwMode="auto">
          <a:xfrm>
            <a:off x="2438400" y="4038600"/>
            <a:ext cx="152400" cy="152400"/>
          </a:xfrm>
          <a:prstGeom prst="rect">
            <a:avLst/>
          </a:prstGeom>
          <a:noFill/>
          <a:effectLst/>
        </p:spPr>
      </p:pic>
      <p:pic>
        <p:nvPicPr>
          <p:cNvPr id="87" name="Pic">
            <a:extLst>
              <a:ext uri="{FF2B5EF4-FFF2-40B4-BE49-F238E27FC236}">
                <a16:creationId xmlns:a16="http://schemas.microsoft.com/office/drawing/2014/main" id="{60936889-523A-DA57-B383-EE2F46BABA98}"/>
              </a:ext>
            </a:extLst>
          </p:cNvPr>
          <p:cNvPicPr>
            <a:picLocks/>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 uri="{6F801314-5768-4EAC-8CED-0F2297F94238}"/>
            </a:extLst>
          </a:blip>
          <a:stretch>
            <a:fillRect/>
          </a:stretch>
        </p:blipFill>
        <p:spPr bwMode="auto">
          <a:xfrm>
            <a:off x="9982200" y="2006600"/>
            <a:ext cx="152400" cy="152400"/>
          </a:xfrm>
          <a:prstGeom prst="rect">
            <a:avLst/>
          </a:prstGeom>
          <a:noFill/>
          <a:effectLst/>
        </p:spPr>
      </p:pic>
      <p:cxnSp>
        <p:nvCxnSpPr>
          <p:cNvPr id="41" name="Connector: Elbow 40">
            <a:extLst>
              <a:ext uri="{FF2B5EF4-FFF2-40B4-BE49-F238E27FC236}">
                <a16:creationId xmlns:a16="http://schemas.microsoft.com/office/drawing/2014/main" id="{ABF8BEFD-B389-D006-1C20-2ED4111DB67C}"/>
              </a:ext>
            </a:extLst>
          </p:cNvPr>
          <p:cNvCxnSpPr>
            <a:cxnSpLocks/>
            <a:stCxn id="12" idx="3"/>
            <a:endCxn id="17" idx="1"/>
          </p:cNvCxnSpPr>
          <p:nvPr/>
        </p:nvCxnSpPr>
        <p:spPr>
          <a:xfrm>
            <a:off x="1930400" y="2156619"/>
            <a:ext cx="406400" cy="56118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673CBB92-8DF8-6CA9-0CF0-E5137F02808C}"/>
              </a:ext>
            </a:extLst>
          </p:cNvPr>
          <p:cNvCxnSpPr>
            <a:cxnSpLocks/>
            <a:stCxn id="12" idx="3"/>
            <a:endCxn id="17" idx="1"/>
          </p:cNvCxnSpPr>
          <p:nvPr/>
        </p:nvCxnSpPr>
        <p:spPr>
          <a:xfrm>
            <a:off x="1930400" y="2156619"/>
            <a:ext cx="406400" cy="561181"/>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Elbow 73">
            <a:extLst>
              <a:ext uri="{FF2B5EF4-FFF2-40B4-BE49-F238E27FC236}">
                <a16:creationId xmlns:a16="http://schemas.microsoft.com/office/drawing/2014/main" id="{B6CCC42D-20D0-C9E3-8FA9-3584DA4D8B5D}"/>
              </a:ext>
            </a:extLst>
          </p:cNvPr>
          <p:cNvCxnSpPr>
            <a:cxnSpLocks/>
            <a:stCxn id="13" idx="3"/>
            <a:endCxn id="17" idx="1"/>
          </p:cNvCxnSpPr>
          <p:nvPr/>
        </p:nvCxnSpPr>
        <p:spPr>
          <a:xfrm flipV="1">
            <a:off x="1930400" y="2717800"/>
            <a:ext cx="406400" cy="272257"/>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Elbow 74">
            <a:extLst>
              <a:ext uri="{FF2B5EF4-FFF2-40B4-BE49-F238E27FC236}">
                <a16:creationId xmlns:a16="http://schemas.microsoft.com/office/drawing/2014/main" id="{BA9DF265-91E7-3EBA-1FC8-F5FB26352D9C}"/>
              </a:ext>
            </a:extLst>
          </p:cNvPr>
          <p:cNvCxnSpPr>
            <a:cxnSpLocks/>
            <a:stCxn id="14" idx="3"/>
            <a:endCxn id="17" idx="1"/>
          </p:cNvCxnSpPr>
          <p:nvPr/>
        </p:nvCxnSpPr>
        <p:spPr>
          <a:xfrm flipV="1">
            <a:off x="1930400" y="2717800"/>
            <a:ext cx="406400" cy="11049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Elbow 75">
            <a:extLst>
              <a:ext uri="{FF2B5EF4-FFF2-40B4-BE49-F238E27FC236}">
                <a16:creationId xmlns:a16="http://schemas.microsoft.com/office/drawing/2014/main" id="{B907ACB6-91D9-8107-7ECD-14D0405A30BC}"/>
              </a:ext>
            </a:extLst>
          </p:cNvPr>
          <p:cNvCxnSpPr>
            <a:cxnSpLocks/>
            <a:stCxn id="15" idx="3"/>
            <a:endCxn id="17" idx="1"/>
          </p:cNvCxnSpPr>
          <p:nvPr/>
        </p:nvCxnSpPr>
        <p:spPr>
          <a:xfrm flipV="1">
            <a:off x="1930400" y="2717800"/>
            <a:ext cx="406400" cy="1937544"/>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Elbow 76">
            <a:extLst>
              <a:ext uri="{FF2B5EF4-FFF2-40B4-BE49-F238E27FC236}">
                <a16:creationId xmlns:a16="http://schemas.microsoft.com/office/drawing/2014/main" id="{8D18AB5D-9838-09E9-E572-B70ADEFEC717}"/>
              </a:ext>
            </a:extLst>
          </p:cNvPr>
          <p:cNvCxnSpPr>
            <a:cxnSpLocks/>
            <a:stCxn id="16" idx="3"/>
            <a:endCxn id="17" idx="1"/>
          </p:cNvCxnSpPr>
          <p:nvPr/>
        </p:nvCxnSpPr>
        <p:spPr>
          <a:xfrm flipV="1">
            <a:off x="1930400" y="2717800"/>
            <a:ext cx="406400" cy="2770982"/>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11A61504-92ED-A000-F2D8-E3A1BFBE54F5}"/>
              </a:ext>
            </a:extLst>
          </p:cNvPr>
          <p:cNvCxnSpPr>
            <a:cxnSpLocks/>
            <a:stCxn id="17" idx="2"/>
            <a:endCxn id="18" idx="0"/>
          </p:cNvCxnSpPr>
          <p:nvPr/>
        </p:nvCxnSpPr>
        <p:spPr>
          <a:xfrm>
            <a:off x="3048000" y="3683000"/>
            <a:ext cx="0" cy="228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Elbow 81">
            <a:extLst>
              <a:ext uri="{FF2B5EF4-FFF2-40B4-BE49-F238E27FC236}">
                <a16:creationId xmlns:a16="http://schemas.microsoft.com/office/drawing/2014/main" id="{8B998E2B-7BD8-DBB5-1A96-393FFCBDE920}"/>
              </a:ext>
            </a:extLst>
          </p:cNvPr>
          <p:cNvCxnSpPr>
            <a:cxnSpLocks/>
            <a:stCxn id="18" idx="3"/>
            <a:endCxn id="19" idx="1"/>
          </p:cNvCxnSpPr>
          <p:nvPr/>
        </p:nvCxnSpPr>
        <p:spPr>
          <a:xfrm flipV="1">
            <a:off x="3759200" y="3022600"/>
            <a:ext cx="304800" cy="18542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Elbow 82">
            <a:extLst>
              <a:ext uri="{FF2B5EF4-FFF2-40B4-BE49-F238E27FC236}">
                <a16:creationId xmlns:a16="http://schemas.microsoft.com/office/drawing/2014/main" id="{3F96A4A1-2DA4-3B0C-DA1B-EC91AA8061A5}"/>
              </a:ext>
            </a:extLst>
          </p:cNvPr>
          <p:cNvCxnSpPr>
            <a:cxnSpLocks/>
            <a:stCxn id="21" idx="3"/>
            <a:endCxn id="23" idx="1"/>
          </p:cNvCxnSpPr>
          <p:nvPr/>
        </p:nvCxnSpPr>
        <p:spPr>
          <a:xfrm flipV="1">
            <a:off x="7569200" y="2463800"/>
            <a:ext cx="304800" cy="5588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F4BCD4B6-B8BD-A747-AE9F-2FB20F04A9C2}"/>
              </a:ext>
            </a:extLst>
          </p:cNvPr>
          <p:cNvCxnSpPr>
            <a:cxnSpLocks/>
            <a:stCxn id="23" idx="2"/>
            <a:endCxn id="24" idx="0"/>
          </p:cNvCxnSpPr>
          <p:nvPr/>
        </p:nvCxnSpPr>
        <p:spPr>
          <a:xfrm>
            <a:off x="8724900" y="3175000"/>
            <a:ext cx="0" cy="101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Elbow 89">
            <a:extLst>
              <a:ext uri="{FF2B5EF4-FFF2-40B4-BE49-F238E27FC236}">
                <a16:creationId xmlns:a16="http://schemas.microsoft.com/office/drawing/2014/main" id="{DA67E665-0DE4-5993-8E44-05FC382915E1}"/>
              </a:ext>
            </a:extLst>
          </p:cNvPr>
          <p:cNvCxnSpPr>
            <a:cxnSpLocks/>
            <a:stCxn id="25" idx="3"/>
            <a:endCxn id="26" idx="1"/>
          </p:cNvCxnSpPr>
          <p:nvPr/>
        </p:nvCxnSpPr>
        <p:spPr>
          <a:xfrm flipV="1">
            <a:off x="9575800" y="2743200"/>
            <a:ext cx="304800" cy="25273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Elbow 90">
            <a:extLst>
              <a:ext uri="{FF2B5EF4-FFF2-40B4-BE49-F238E27FC236}">
                <a16:creationId xmlns:a16="http://schemas.microsoft.com/office/drawing/2014/main" id="{231B3D3D-6E51-B421-0782-5F94E83D7686}"/>
              </a:ext>
            </a:extLst>
          </p:cNvPr>
          <p:cNvCxnSpPr>
            <a:cxnSpLocks/>
            <a:stCxn id="25" idx="3"/>
            <a:endCxn id="27" idx="1"/>
          </p:cNvCxnSpPr>
          <p:nvPr/>
        </p:nvCxnSpPr>
        <p:spPr>
          <a:xfrm flipV="1">
            <a:off x="9575800" y="4787900"/>
            <a:ext cx="304800" cy="4826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Freeform: Shape 91">
            <a:extLst>
              <a:ext uri="{FF2B5EF4-FFF2-40B4-BE49-F238E27FC236}">
                <a16:creationId xmlns:a16="http://schemas.microsoft.com/office/drawing/2014/main" id="{7202E1A4-431C-E600-73C3-7B7B2043875C}"/>
              </a:ext>
            </a:extLst>
          </p:cNvPr>
          <p:cNvSpPr/>
          <p:nvPr/>
        </p:nvSpPr>
        <p:spPr>
          <a:xfrm>
            <a:off x="7366000" y="4292600"/>
            <a:ext cx="508001" cy="114301"/>
          </a:xfrm>
          <a:custGeom>
            <a:avLst/>
            <a:gdLst/>
            <a:ahLst/>
            <a:cxnLst/>
            <a:rect l="0" t="0" r="0" b="0"/>
            <a:pathLst>
              <a:path w="508001" h="114301">
                <a:moveTo>
                  <a:pt x="0" y="0"/>
                </a:moveTo>
                <a:lnTo>
                  <a:pt x="0" y="114300"/>
                </a:lnTo>
                <a:lnTo>
                  <a:pt x="508000" y="114300"/>
                </a:ln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pic>
        <p:nvPicPr>
          <p:cNvPr id="94" name="Pic">
            <a:extLst>
              <a:ext uri="{FF2B5EF4-FFF2-40B4-BE49-F238E27FC236}">
                <a16:creationId xmlns:a16="http://schemas.microsoft.com/office/drawing/2014/main" id="{A5DFD349-0CAD-8CB0-0473-803080A3EE3F}"/>
              </a:ext>
            </a:extLst>
          </p:cNvPr>
          <p:cNvPicPr>
            <a:picLocks/>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1"/>
              </a:ext>
              <a:ext uri="{6F801314-5768-4EAC-8CED-0F2297F94238}"/>
            </a:extLst>
          </a:blip>
          <a:stretch>
            <a:fillRect/>
          </a:stretch>
        </p:blipFill>
        <p:spPr bwMode="auto">
          <a:xfrm>
            <a:off x="279400" y="1828800"/>
            <a:ext cx="152400" cy="152400"/>
          </a:xfrm>
          <a:prstGeom prst="rect">
            <a:avLst/>
          </a:prstGeom>
          <a:noFill/>
          <a:effectLst/>
        </p:spPr>
      </p:pic>
      <p:pic>
        <p:nvPicPr>
          <p:cNvPr id="95" name="Pic">
            <a:extLst>
              <a:ext uri="{FF2B5EF4-FFF2-40B4-BE49-F238E27FC236}">
                <a16:creationId xmlns:a16="http://schemas.microsoft.com/office/drawing/2014/main" id="{CF0CD992-9294-9D2E-0DF9-019409845BBF}"/>
              </a:ext>
            </a:extLst>
          </p:cNvPr>
          <p:cNvPicPr>
            <a:picLocks/>
          </p:cNvPicPr>
          <p:nvPr>
            <p:custDataLst>
              <p:tags r:id="rId1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 uri="{6F801314-5768-4EAC-8CED-0F2297F94238}"/>
            </a:extLst>
          </a:blip>
          <a:stretch>
            <a:fillRect/>
          </a:stretch>
        </p:blipFill>
        <p:spPr bwMode="auto">
          <a:xfrm>
            <a:off x="279400" y="2667000"/>
            <a:ext cx="152400" cy="152400"/>
          </a:xfrm>
          <a:prstGeom prst="rect">
            <a:avLst/>
          </a:prstGeom>
          <a:noFill/>
          <a:effectLst/>
        </p:spPr>
      </p:pic>
      <p:pic>
        <p:nvPicPr>
          <p:cNvPr id="97" name="Pic">
            <a:extLst>
              <a:ext uri="{FF2B5EF4-FFF2-40B4-BE49-F238E27FC236}">
                <a16:creationId xmlns:a16="http://schemas.microsoft.com/office/drawing/2014/main" id="{6CED4CEC-81BB-1D83-8D9B-3491F93D10F3}"/>
              </a:ext>
            </a:extLst>
          </p:cNvPr>
          <p:cNvPicPr>
            <a:picLocks/>
          </p:cNvPicPr>
          <p:nvPr>
            <p:custDataLst>
              <p:tags r:id="rId1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3"/>
              </a:ext>
              <a:ext uri="{6F801314-5768-4EAC-8CED-0F2297F94238}"/>
            </a:extLst>
          </a:blip>
          <a:stretch>
            <a:fillRect/>
          </a:stretch>
        </p:blipFill>
        <p:spPr bwMode="auto">
          <a:xfrm>
            <a:off x="279400" y="3505200"/>
            <a:ext cx="152400" cy="152400"/>
          </a:xfrm>
          <a:prstGeom prst="rect">
            <a:avLst/>
          </a:prstGeom>
          <a:noFill/>
          <a:effectLst/>
        </p:spPr>
      </p:pic>
      <p:pic>
        <p:nvPicPr>
          <p:cNvPr id="98" name="Pic">
            <a:extLst>
              <a:ext uri="{FF2B5EF4-FFF2-40B4-BE49-F238E27FC236}">
                <a16:creationId xmlns:a16="http://schemas.microsoft.com/office/drawing/2014/main" id="{D721A451-C9B2-A0DF-48D7-3D31AF6014EA}"/>
              </a:ext>
            </a:extLst>
          </p:cNvPr>
          <p:cNvPicPr>
            <a:picLocks/>
          </p:cNvPicPr>
          <p:nvPr>
            <p:custDataLst>
              <p:tags r:id="rId1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4"/>
              </a:ext>
              <a:ext uri="{6F801314-5768-4EAC-8CED-0F2297F94238}"/>
            </a:extLst>
          </a:blip>
          <a:stretch>
            <a:fillRect/>
          </a:stretch>
        </p:blipFill>
        <p:spPr bwMode="auto">
          <a:xfrm>
            <a:off x="279400" y="5168900"/>
            <a:ext cx="152400" cy="152400"/>
          </a:xfrm>
          <a:prstGeom prst="rect">
            <a:avLst/>
          </a:prstGeom>
          <a:noFill/>
          <a:effectLst/>
        </p:spPr>
      </p:pic>
      <p:pic>
        <p:nvPicPr>
          <p:cNvPr id="96" name="Pic">
            <a:extLst>
              <a:ext uri="{FF2B5EF4-FFF2-40B4-BE49-F238E27FC236}">
                <a16:creationId xmlns:a16="http://schemas.microsoft.com/office/drawing/2014/main" id="{F2AAB7A4-E161-E3BD-EE8B-CCB7F917E6C7}"/>
              </a:ext>
            </a:extLst>
          </p:cNvPr>
          <p:cNvPicPr>
            <a:picLocks/>
          </p:cNvPicPr>
          <p:nvPr>
            <p:custDataLst>
              <p:tags r:id="rId1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5"/>
              </a:ext>
              <a:ext uri="{6F801314-5768-4EAC-8CED-0F2297F94238}"/>
            </a:extLst>
          </a:blip>
          <a:stretch>
            <a:fillRect/>
          </a:stretch>
        </p:blipFill>
        <p:spPr bwMode="auto">
          <a:xfrm>
            <a:off x="2438400" y="1879600"/>
            <a:ext cx="152400" cy="152400"/>
          </a:xfrm>
          <a:prstGeom prst="rect">
            <a:avLst/>
          </a:prstGeom>
          <a:noFill/>
          <a:effectLst/>
        </p:spPr>
      </p:pic>
      <p:pic>
        <p:nvPicPr>
          <p:cNvPr id="99" name="Pic">
            <a:extLst>
              <a:ext uri="{FF2B5EF4-FFF2-40B4-BE49-F238E27FC236}">
                <a16:creationId xmlns:a16="http://schemas.microsoft.com/office/drawing/2014/main" id="{147B9366-3275-1861-9B03-1F1110009B33}"/>
              </a:ext>
            </a:extLst>
          </p:cNvPr>
          <p:cNvPicPr>
            <a:picLocks/>
          </p:cNvPicPr>
          <p:nvPr>
            <p:custDataLst>
              <p:tags r:id="rId1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6"/>
              </a:ext>
              <a:ext uri="{6F801314-5768-4EAC-8CED-0F2297F94238}"/>
            </a:extLst>
          </a:blip>
          <a:stretch>
            <a:fillRect/>
          </a:stretch>
        </p:blipFill>
        <p:spPr bwMode="auto">
          <a:xfrm>
            <a:off x="7975600" y="3378200"/>
            <a:ext cx="152400" cy="152400"/>
          </a:xfrm>
          <a:prstGeom prst="rect">
            <a:avLst/>
          </a:prstGeom>
          <a:noFill/>
          <a:effectLst/>
        </p:spPr>
      </p:pic>
      <p:pic>
        <p:nvPicPr>
          <p:cNvPr id="101" name="Pic">
            <a:extLst>
              <a:ext uri="{FF2B5EF4-FFF2-40B4-BE49-F238E27FC236}">
                <a16:creationId xmlns:a16="http://schemas.microsoft.com/office/drawing/2014/main" id="{EE649009-9AA7-F26A-9080-77A91DE3CDF3}"/>
              </a:ext>
            </a:extLst>
          </p:cNvPr>
          <p:cNvPicPr>
            <a:picLocks/>
          </p:cNvPicPr>
          <p:nvPr>
            <p:custDataLst>
              <p:tags r:id="rId1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7"/>
              </a:ext>
              <a:ext uri="{6F801314-5768-4EAC-8CED-0F2297F94238}"/>
            </a:extLst>
          </a:blip>
          <a:stretch>
            <a:fillRect/>
          </a:stretch>
        </p:blipFill>
        <p:spPr bwMode="auto">
          <a:xfrm>
            <a:off x="279400" y="4330700"/>
            <a:ext cx="152400" cy="152400"/>
          </a:xfrm>
          <a:prstGeom prst="rect">
            <a:avLst/>
          </a:prstGeom>
          <a:noFill/>
          <a:effectLst/>
        </p:spPr>
      </p:pic>
      <p:cxnSp>
        <p:nvCxnSpPr>
          <p:cNvPr id="105" name="Straight Arrow Connector 104">
            <a:extLst>
              <a:ext uri="{FF2B5EF4-FFF2-40B4-BE49-F238E27FC236}">
                <a16:creationId xmlns:a16="http://schemas.microsoft.com/office/drawing/2014/main" id="{3A0B3F52-0FE8-0BE9-EB35-4F7EA10B7A97}"/>
              </a:ext>
            </a:extLst>
          </p:cNvPr>
          <p:cNvCxnSpPr>
            <a:cxnSpLocks/>
            <a:stCxn id="24" idx="2"/>
            <a:endCxn id="25" idx="0"/>
          </p:cNvCxnSpPr>
          <p:nvPr/>
        </p:nvCxnSpPr>
        <p:spPr>
          <a:xfrm>
            <a:off x="8724900" y="4597400"/>
            <a:ext cx="0" cy="101600"/>
          </a:xfrm>
          <a:prstGeom prst="straightConnector1">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1111A0C0-D002-6F13-66C1-D211B6C145B3}"/>
              </a:ext>
            </a:extLst>
          </p:cNvPr>
          <p:cNvSpPr/>
          <p:nvPr/>
        </p:nvSpPr>
        <p:spPr>
          <a:xfrm>
            <a:off x="3835400" y="1346200"/>
            <a:ext cx="8153400" cy="533400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8" name="Rectangle: Rounded Corners 47">
            <a:extLst>
              <a:ext uri="{FF2B5EF4-FFF2-40B4-BE49-F238E27FC236}">
                <a16:creationId xmlns:a16="http://schemas.microsoft.com/office/drawing/2014/main" id="{30BFCC8F-5F4C-4A31-18CC-6AE5B8339DDD}"/>
              </a:ext>
            </a:extLst>
          </p:cNvPr>
          <p:cNvSpPr/>
          <p:nvPr/>
        </p:nvSpPr>
        <p:spPr>
          <a:xfrm>
            <a:off x="3962400" y="2273300"/>
            <a:ext cx="7899400" cy="2740025"/>
          </a:xfrm>
          <a:prstGeom prst="roundRect">
            <a:avLst>
              <a:gd name="adj" fmla="val 3000"/>
            </a:avLst>
          </a:prstGeom>
          <a:solidFill>
            <a:schemeClr val="tx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6" name="Rectangle 35">
            <a:extLst>
              <a:ext uri="{FF2B5EF4-FFF2-40B4-BE49-F238E27FC236}">
                <a16:creationId xmlns:a16="http://schemas.microsoft.com/office/drawing/2014/main" id="{FFF92184-C8FF-7950-AC22-99C09E226B49}"/>
              </a:ext>
            </a:extLst>
          </p:cNvPr>
          <p:cNvSpPr/>
          <p:nvPr/>
        </p:nvSpPr>
        <p:spPr>
          <a:xfrm>
            <a:off x="2222500" y="1341078"/>
            <a:ext cx="1714499" cy="2443522"/>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4" name="Rectangle: Rounded Corners 33">
            <a:extLst>
              <a:ext uri="{FF2B5EF4-FFF2-40B4-BE49-F238E27FC236}">
                <a16:creationId xmlns:a16="http://schemas.microsoft.com/office/drawing/2014/main" id="{0B2F9044-ED66-A049-37FE-93F52B936B68}"/>
              </a:ext>
            </a:extLst>
          </p:cNvPr>
          <p:cNvSpPr/>
          <p:nvPr/>
        </p:nvSpPr>
        <p:spPr>
          <a:xfrm>
            <a:off x="4089400" y="2743200"/>
            <a:ext cx="7645400" cy="2082800"/>
          </a:xfrm>
          <a:prstGeom prst="roundRect">
            <a:avLst>
              <a:gd name="adj" fmla="val 3500"/>
            </a:avLst>
          </a:prstGeom>
          <a:noFill/>
          <a:ln w="9525" cap="flat" cmpd="sng" algn="ctr">
            <a:noFill/>
            <a:prstDash val="solid"/>
            <a:miter lim="800000"/>
          </a:ln>
          <a:effectLst/>
          <a:extLst>
            <a:ext uri="{909E8E84-426E-40DD-AFC4-6F175D3DCCD1}">
              <a14:hiddenFill xmlns:a14="http://schemas.microsoft.com/office/drawing/2010/main">
                <a:solidFill>
                  <a:schemeClr val="tx2">
                    <a:lumMod val="88000"/>
                    <a:lumOff val="12000"/>
                  </a:schemeClr>
                </a:solidFill>
              </a14:hiddenFill>
            </a:ext>
            <a:ext uri="{91240B29-F687-4F45-9708-019B960494DF}">
              <a14:hiddenLine xmlns:a14="http://schemas.microsoft.com/office/drawing/2010/main" w="9525" cap="flat" cmpd="sng" algn="ctr">
                <a:solidFill>
                  <a:schemeClr val="bg2">
                    <a:lumMod val="9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88900" bIns="63500" rtlCol="0" anchor="t">
            <a:noAutofit/>
          </a:bodyPr>
          <a:lstStyle/>
          <a:p>
            <a:r>
              <a:rPr lang="en-MY" sz="1200" b="1">
                <a:solidFill>
                  <a:schemeClr val="bg1"/>
                </a:solidFill>
              </a:rPr>
              <a:t>Land · Load · Monitor</a:t>
            </a:r>
          </a:p>
        </p:txBody>
      </p:sp>
      <p:sp>
        <p:nvSpPr>
          <p:cNvPr id="35" name="Rectangle: Rounded Corners 34">
            <a:extLst>
              <a:ext uri="{FF2B5EF4-FFF2-40B4-BE49-F238E27FC236}">
                <a16:creationId xmlns:a16="http://schemas.microsoft.com/office/drawing/2014/main" id="{21A11C6C-7A7E-0C59-11D4-9407B3D23058}"/>
              </a:ext>
            </a:extLst>
          </p:cNvPr>
          <p:cNvSpPr/>
          <p:nvPr/>
        </p:nvSpPr>
        <p:spPr>
          <a:xfrm>
            <a:off x="4089400" y="3098800"/>
            <a:ext cx="2446338" cy="1727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Unity Catalog volume</a:t>
            </a:r>
          </a:p>
          <a:p>
            <a:pPr marL="171450" indent="-171450">
              <a:spcBef>
                <a:spcPts val="600"/>
              </a:spcBef>
              <a:buFont typeface="Arial" panose="020B0604020202020204" pitchFamily="34" charset="0"/>
              <a:buChar char="•"/>
            </a:pPr>
            <a:r>
              <a:rPr lang="en-US" sz="1100">
                <a:solidFill>
                  <a:schemeClr val="bg1"/>
                </a:solidFill>
              </a:rPr>
              <a:t>Every fetch lands as a new file</a:t>
            </a:r>
            <a:endParaRPr lang="en-MY"/>
          </a:p>
          <a:p>
            <a:pPr marL="171450" indent="-171450">
              <a:spcBef>
                <a:spcPts val="600"/>
              </a:spcBef>
              <a:buFont typeface="Arial" panose="020B0604020202020204" pitchFamily="34" charset="0"/>
              <a:buChar char="•"/>
            </a:pPr>
            <a:r>
              <a:rPr lang="en-US" sz="1100">
                <a:solidFill>
                  <a:schemeClr val="bg1"/>
                </a:solidFill>
              </a:rPr>
              <a:t>Files are never overwritten</a:t>
            </a:r>
            <a:endParaRPr lang="en-MY"/>
          </a:p>
        </p:txBody>
      </p:sp>
      <p:sp>
        <p:nvSpPr>
          <p:cNvPr id="37" name="Rectangle: Rounded Corners 36">
            <a:extLst>
              <a:ext uri="{FF2B5EF4-FFF2-40B4-BE49-F238E27FC236}">
                <a16:creationId xmlns:a16="http://schemas.microsoft.com/office/drawing/2014/main" id="{CEA3EFF3-9A4C-779D-CE18-98EAB165B904}"/>
              </a:ext>
            </a:extLst>
          </p:cNvPr>
          <p:cNvSpPr/>
          <p:nvPr/>
        </p:nvSpPr>
        <p:spPr>
          <a:xfrm>
            <a:off x="6688138" y="3098800"/>
            <a:ext cx="2447925" cy="1727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Auto Loader → bronze</a:t>
            </a:r>
          </a:p>
          <a:p>
            <a:pPr marL="171450" indent="-171450">
              <a:spcBef>
                <a:spcPts val="600"/>
              </a:spcBef>
              <a:buFont typeface="Arial" panose="020B0604020202020204" pitchFamily="34" charset="0"/>
              <a:buChar char="•"/>
            </a:pPr>
            <a:r>
              <a:rPr lang="en-US" sz="1100">
                <a:solidFill>
                  <a:schemeClr val="bg1"/>
                </a:solidFill>
              </a:rPr>
              <a:t>Ingests each file exactly once</a:t>
            </a:r>
            <a:endParaRPr lang="en-MY"/>
          </a:p>
          <a:p>
            <a:pPr marL="171450" indent="-171450">
              <a:spcBef>
                <a:spcPts val="600"/>
              </a:spcBef>
              <a:buFont typeface="Arial" panose="020B0604020202020204" pitchFamily="34" charset="0"/>
              <a:buChar char="•"/>
            </a:pPr>
            <a:r>
              <a:rPr lang="en-US" sz="1100">
                <a:solidFill>
                  <a:schemeClr val="bg1"/>
                </a:solidFill>
              </a:rPr>
              <a:t>JSON kept whole, so API changes never break it</a:t>
            </a:r>
            <a:endParaRPr lang="en-MY"/>
          </a:p>
        </p:txBody>
      </p:sp>
      <p:sp>
        <p:nvSpPr>
          <p:cNvPr id="38" name="Rectangle: Rounded Corners 37">
            <a:extLst>
              <a:ext uri="{FF2B5EF4-FFF2-40B4-BE49-F238E27FC236}">
                <a16:creationId xmlns:a16="http://schemas.microsoft.com/office/drawing/2014/main" id="{227F3A09-D0AB-2D98-3EEC-FFDEA089B1BE}"/>
              </a:ext>
            </a:extLst>
          </p:cNvPr>
          <p:cNvSpPr/>
          <p:nvPr/>
        </p:nvSpPr>
        <p:spPr>
          <a:xfrm>
            <a:off x="9288463" y="3098800"/>
            <a:ext cx="2446338" cy="1727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Heartbeat &amp; watchdog</a:t>
            </a:r>
          </a:p>
          <a:p>
            <a:pPr marL="171450" indent="-171450">
              <a:spcBef>
                <a:spcPts val="600"/>
              </a:spcBef>
              <a:buFont typeface="Arial" panose="020B0604020202020204" pitchFamily="34" charset="0"/>
              <a:buChar char="•"/>
            </a:pPr>
            <a:r>
              <a:rPr lang="en-US" sz="1100">
                <a:solidFill>
                  <a:schemeClr val="bg1"/>
                </a:solidFill>
              </a:rPr>
              <a:t>Logs status, rows, latency per source</a:t>
            </a:r>
            <a:endParaRPr lang="en-MY"/>
          </a:p>
          <a:p>
            <a:pPr marL="171450" indent="-171450">
              <a:spcBef>
                <a:spcPts val="600"/>
              </a:spcBef>
              <a:buFont typeface="Arial" panose="020B0604020202020204" pitchFamily="34" charset="0"/>
              <a:buChar char="•"/>
            </a:pPr>
            <a:r>
              <a:rPr lang="en-US" sz="1100">
                <a:solidFill>
                  <a:schemeClr val="bg1"/>
                </a:solidFill>
              </a:rPr>
              <a:t>Hourly email alert if feed or predictions go stale</a:t>
            </a:r>
            <a:endParaRPr lang="en-MY"/>
          </a:p>
        </p:txBody>
      </p:sp>
      <p:sp>
        <p:nvSpPr>
          <p:cNvPr id="39" name="IconTile_17">
            <a:extLst>
              <a:ext uri="{FF2B5EF4-FFF2-40B4-BE49-F238E27FC236}">
                <a16:creationId xmlns:a16="http://schemas.microsoft.com/office/drawing/2014/main" id="{12DEEC6F-1552-5AAB-6DA4-7A927A736FF8}"/>
              </a:ext>
            </a:extLst>
          </p:cNvPr>
          <p:cNvSpPr/>
          <p:nvPr/>
        </p:nvSpPr>
        <p:spPr>
          <a:xfrm>
            <a:off x="4203700" y="32131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0" name="IconTile_17">
            <a:extLst>
              <a:ext uri="{FF2B5EF4-FFF2-40B4-BE49-F238E27FC236}">
                <a16:creationId xmlns:a16="http://schemas.microsoft.com/office/drawing/2014/main" id="{82C120A1-3CFE-6F88-F96B-CEC0D5E2D6A0}"/>
              </a:ext>
            </a:extLst>
          </p:cNvPr>
          <p:cNvSpPr/>
          <p:nvPr/>
        </p:nvSpPr>
        <p:spPr>
          <a:xfrm>
            <a:off x="6802438" y="32131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4" name="IconTile_17">
            <a:extLst>
              <a:ext uri="{FF2B5EF4-FFF2-40B4-BE49-F238E27FC236}">
                <a16:creationId xmlns:a16="http://schemas.microsoft.com/office/drawing/2014/main" id="{8AACD586-6F0D-32C5-6622-C94959478EC0}"/>
              </a:ext>
            </a:extLst>
          </p:cNvPr>
          <p:cNvSpPr/>
          <p:nvPr/>
        </p:nvSpPr>
        <p:spPr>
          <a:xfrm>
            <a:off x="9402763" y="32131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45" name="Pic">
            <a:extLst>
              <a:ext uri="{FF2B5EF4-FFF2-40B4-BE49-F238E27FC236}">
                <a16:creationId xmlns:a16="http://schemas.microsoft.com/office/drawing/2014/main" id="{07B08EFE-3D38-D7F6-E76A-D97C548F5D0D}"/>
              </a:ext>
            </a:extLst>
          </p:cNvPr>
          <p:cNvPicPr>
            <a:picLocks/>
          </p:cNvPicPr>
          <p:nvPr>
            <p:custDataLst>
              <p:tags r:id="rId1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8"/>
              </a:ext>
              <a:ext uri="{6F801314-5768-4EAC-8CED-0F2297F94238}"/>
            </a:extLst>
          </a:blip>
          <a:stretch>
            <a:fillRect/>
          </a:stretch>
        </p:blipFill>
        <p:spPr bwMode="auto">
          <a:xfrm>
            <a:off x="4229100" y="3238500"/>
            <a:ext cx="177800" cy="177800"/>
          </a:xfrm>
          <a:prstGeom prst="rect">
            <a:avLst/>
          </a:prstGeom>
          <a:noFill/>
          <a:effectLst/>
        </p:spPr>
      </p:pic>
      <p:pic>
        <p:nvPicPr>
          <p:cNvPr id="46" name="Pic">
            <a:extLst>
              <a:ext uri="{FF2B5EF4-FFF2-40B4-BE49-F238E27FC236}">
                <a16:creationId xmlns:a16="http://schemas.microsoft.com/office/drawing/2014/main" id="{D7BB2D11-89A0-BC2F-213F-EF1269C4A10B}"/>
              </a:ext>
            </a:extLst>
          </p:cNvPr>
          <p:cNvPicPr>
            <a:picLocks/>
          </p:cNvPicPr>
          <p:nvPr>
            <p:custDataLst>
              <p:tags r:id="rId1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9"/>
              </a:ext>
              <a:ext uri="{6F801314-5768-4EAC-8CED-0F2297F94238}"/>
            </a:extLst>
          </a:blip>
          <a:stretch>
            <a:fillRect/>
          </a:stretch>
        </p:blipFill>
        <p:spPr bwMode="auto">
          <a:xfrm>
            <a:off x="6827838" y="3238500"/>
            <a:ext cx="177800" cy="177800"/>
          </a:xfrm>
          <a:prstGeom prst="rect">
            <a:avLst/>
          </a:prstGeom>
          <a:noFill/>
          <a:effectLst/>
        </p:spPr>
      </p:pic>
      <p:pic>
        <p:nvPicPr>
          <p:cNvPr id="47" name="Pic">
            <a:extLst>
              <a:ext uri="{FF2B5EF4-FFF2-40B4-BE49-F238E27FC236}">
                <a16:creationId xmlns:a16="http://schemas.microsoft.com/office/drawing/2014/main" id="{3A18F590-EA97-AD1D-A2D5-23B057B3992E}"/>
              </a:ext>
            </a:extLst>
          </p:cNvPr>
          <p:cNvPicPr>
            <a:picLocks/>
          </p:cNvPicPr>
          <p:nvPr>
            <p:custDataLst>
              <p:tags r:id="rId1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0"/>
              </a:ext>
              <a:ext uri="{6F801314-5768-4EAC-8CED-0F2297F94238}"/>
            </a:extLst>
          </a:blip>
          <a:stretch>
            <a:fillRect/>
          </a:stretch>
        </p:blipFill>
        <p:spPr bwMode="auto">
          <a:xfrm>
            <a:off x="9428163" y="3238500"/>
            <a:ext cx="177800" cy="177800"/>
          </a:xfrm>
          <a:prstGeom prst="rect">
            <a:avLst/>
          </a:prstGeom>
          <a:noFill/>
          <a:effectLst/>
        </p:spPr>
      </p:pic>
      <p:sp>
        <p:nvSpPr>
          <p:cNvPr id="49" name="TextBox 48">
            <a:extLst>
              <a:ext uri="{FF2B5EF4-FFF2-40B4-BE49-F238E27FC236}">
                <a16:creationId xmlns:a16="http://schemas.microsoft.com/office/drawing/2014/main" id="{70041CE1-B779-1538-B9CD-0217551F7972}"/>
              </a:ext>
            </a:extLst>
          </p:cNvPr>
          <p:cNvSpPr txBox="1"/>
          <p:nvPr/>
        </p:nvSpPr>
        <p:spPr>
          <a:xfrm>
            <a:off x="4089400" y="2392182"/>
            <a:ext cx="7645400" cy="381000"/>
          </a:xfrm>
          <a:prstGeom prst="rect">
            <a:avLst/>
          </a:prstGeom>
          <a:noFill/>
        </p:spPr>
        <p:txBody>
          <a:bodyPr vert="horz" rtlCol="0">
            <a:noAutofit/>
          </a:bodyPr>
          <a:lstStyle/>
          <a:p>
            <a:r>
              <a:rPr lang="en-US" b="1" dirty="0">
                <a:solidFill>
                  <a:schemeClr val="bg1"/>
                </a:solidFill>
              </a:rPr>
              <a:t>Auto Loader streams new files into bronze</a:t>
            </a:r>
            <a:endParaRPr lang="en-MY" dirty="0"/>
          </a:p>
        </p:txBody>
      </p:sp>
      <p:sp>
        <p:nvSpPr>
          <p:cNvPr id="51" name="Rectangle 50">
            <a:extLst>
              <a:ext uri="{FF2B5EF4-FFF2-40B4-BE49-F238E27FC236}">
                <a16:creationId xmlns:a16="http://schemas.microsoft.com/office/drawing/2014/main" id="{92D96333-9717-EA07-25C8-15CD0CEFC526}"/>
              </a:ext>
            </a:extLst>
          </p:cNvPr>
          <p:cNvSpPr/>
          <p:nvPr/>
        </p:nvSpPr>
        <p:spPr>
          <a:xfrm>
            <a:off x="8966" y="1346200"/>
            <a:ext cx="2213532" cy="533400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2" name="Rectangle 51">
            <a:extLst>
              <a:ext uri="{FF2B5EF4-FFF2-40B4-BE49-F238E27FC236}">
                <a16:creationId xmlns:a16="http://schemas.microsoft.com/office/drawing/2014/main" id="{6E3F3993-EACF-DFF9-E745-B8FABE6A02CA}"/>
              </a:ext>
            </a:extLst>
          </p:cNvPr>
          <p:cNvSpPr/>
          <p:nvPr/>
        </p:nvSpPr>
        <p:spPr>
          <a:xfrm>
            <a:off x="2112684" y="6026149"/>
            <a:ext cx="1849716" cy="640309"/>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629375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34" grpId="0"/>
      <p:bldP spid="35" grpId="0" animBg="1"/>
      <p:bldP spid="37" grpId="0" animBg="1"/>
      <p:bldP spid="38" grpId="0" animBg="1"/>
      <p:bldP spid="39" grpId="0" animBg="1"/>
      <p:bldP spid="40" grpId="0" animBg="1"/>
      <p:bldP spid="44" grpId="0" animBg="1"/>
      <p:bldP spid="49" grpId="0"/>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826561B-283E-A2E6-7B9F-C6FC0F1BF231}"/>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9C37ADC-2346-A112-0D25-06F843CE22BC}"/>
              </a:ext>
            </a:extLst>
          </p:cNvPr>
          <p:cNvGraphicFramePr>
            <a:graphicFrameLocks/>
          </p:cNvGraphicFramePr>
          <p:nvPr>
            <p:custDataLst>
              <p:tags r:id="rId1"/>
            </p:custDataLst>
            <p:extLst>
              <p:ext uri="{D42A27DB-BD31-4B8C-83A1-F6EECF244321}">
                <p14:modId xmlns:p14="http://schemas.microsoft.com/office/powerpoint/2010/main" val="38869447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443" imgH="443" progId="TCLayout.ActiveDocument.1">
                  <p:embed/>
                </p:oleObj>
              </mc:Choice>
              <mc:Fallback>
                <p:oleObj name="thinkcell Slide" r:id="rId26" imgW="443" imgH="443" progId="TCLayout.ActiveDocument.1">
                  <p:embed/>
                  <p:pic>
                    <p:nvPicPr>
                      <p:cNvPr id="3" name="thinkcell data - do not delete" hidden="1">
                        <a:extLst>
                          <a:ext uri="{FF2B5EF4-FFF2-40B4-BE49-F238E27FC236}">
                            <a16:creationId xmlns:a16="http://schemas.microsoft.com/office/drawing/2014/main" id="{09C37ADC-2346-A112-0D25-06F843CE22BC}"/>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33" name="Rectangle: Rounded Corners 32">
            <a:extLst>
              <a:ext uri="{FF2B5EF4-FFF2-40B4-BE49-F238E27FC236}">
                <a16:creationId xmlns:a16="http://schemas.microsoft.com/office/drawing/2014/main" id="{61F26BCD-CC5E-3F42-23B4-50801675DBCF}"/>
              </a:ext>
            </a:extLst>
          </p:cNvPr>
          <p:cNvSpPr/>
          <p:nvPr>
            <p:custDataLst>
              <p:tags r:id="rId2"/>
            </p:custDataLst>
          </p:nvPr>
        </p:nvSpPr>
        <p:spPr>
          <a:xfrm>
            <a:off x="2235200" y="6070600"/>
            <a:ext cx="9626600" cy="355600"/>
          </a:xfrm>
          <a:prstGeom prst="roundRect">
            <a:avLst>
              <a:gd name="adj" fmla="val 12000"/>
            </a:avLst>
          </a:prstGeom>
          <a:solidFill>
            <a:schemeClr val="bg1"/>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66700" tIns="12700" rIns="50800" bIns="12700" rtlCol="0" anchor="ctr">
            <a:noAutofit/>
          </a:bodyPr>
          <a:lstStyle/>
          <a:p>
            <a:pPr algn="ctr"/>
            <a:r>
              <a:rPr lang="en-MY" sz="1100" b="1" dirty="0">
                <a:solidFill>
                  <a:schemeClr val="tx1"/>
                </a:solidFill>
              </a:rPr>
              <a:t>Unity </a:t>
            </a:r>
            <a:r>
              <a:rPr lang="en-MY" sz="1100" b="1" dirty="0" err="1">
                <a:solidFill>
                  <a:schemeClr val="tx1"/>
                </a:solidFill>
              </a:rPr>
              <a:t>Catalog</a:t>
            </a:r>
            <a:endParaRPr lang="en-MY" sz="1100" b="1" dirty="0">
              <a:solidFill>
                <a:schemeClr val="tx1"/>
              </a:solidFill>
            </a:endParaRPr>
          </a:p>
        </p:txBody>
      </p:sp>
      <p:pic>
        <p:nvPicPr>
          <p:cNvPr id="81" name="Pic">
            <a:extLst>
              <a:ext uri="{FF2B5EF4-FFF2-40B4-BE49-F238E27FC236}">
                <a16:creationId xmlns:a16="http://schemas.microsoft.com/office/drawing/2014/main" id="{9037E8AE-0810-BE15-D70B-D19F47DB80AF}"/>
              </a:ext>
            </a:extLst>
          </p:cNvPr>
          <p:cNvPicPr>
            <a:picLocks/>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 uri="{6F801314-5768-4EAC-8CED-0F2297F94238}"/>
            </a:extLst>
          </a:blip>
          <a:stretch>
            <a:fillRect/>
          </a:stretch>
        </p:blipFill>
        <p:spPr bwMode="auto">
          <a:xfrm>
            <a:off x="6502400" y="6210300"/>
            <a:ext cx="152400" cy="152400"/>
          </a:xfrm>
          <a:prstGeom prst="rect">
            <a:avLst/>
          </a:prstGeom>
          <a:noFill/>
          <a:effectLst/>
        </p:spPr>
      </p:pic>
      <p:sp>
        <p:nvSpPr>
          <p:cNvPr id="2" name="Title 1">
            <a:extLst>
              <a:ext uri="{FF2B5EF4-FFF2-40B4-BE49-F238E27FC236}">
                <a16:creationId xmlns:a16="http://schemas.microsoft.com/office/drawing/2014/main" id="{7870C49A-F8C9-529A-9440-665F8809A599}"/>
              </a:ext>
            </a:extLst>
          </p:cNvPr>
          <p:cNvSpPr>
            <a:spLocks noGrp="1"/>
          </p:cNvSpPr>
          <p:nvPr>
            <p:ph type="title"/>
          </p:nvPr>
        </p:nvSpPr>
        <p:spPr>
          <a:xfrm>
            <a:off x="254000" y="177800"/>
            <a:ext cx="11684000" cy="787400"/>
          </a:xfrm>
        </p:spPr>
        <p:txBody>
          <a:bodyPr>
            <a:normAutofit fontScale="90000"/>
          </a:bodyPr>
          <a:lstStyle/>
          <a:p>
            <a:r>
              <a:rPr lang="en-US" dirty="0"/>
              <a:t>Lakehouse, </a:t>
            </a:r>
            <a:r>
              <a:rPr lang="en-US" dirty="0" err="1"/>
              <a:t>Lakeflow</a:t>
            </a:r>
            <a:r>
              <a:rPr lang="en-US" dirty="0"/>
              <a:t> Spark Declarative Pipelines, Medallion Architecture, Expectations, Delta Tables</a:t>
            </a:r>
          </a:p>
        </p:txBody>
      </p:sp>
      <p:sp>
        <p:nvSpPr>
          <p:cNvPr id="4" name="Rectangle: Rounded Corners 3">
            <a:extLst>
              <a:ext uri="{FF2B5EF4-FFF2-40B4-BE49-F238E27FC236}">
                <a16:creationId xmlns:a16="http://schemas.microsoft.com/office/drawing/2014/main" id="{CEE0A847-DDF1-2B94-3BA2-7D9DAA01B1E4}"/>
              </a:ext>
            </a:extLst>
          </p:cNvPr>
          <p:cNvSpPr/>
          <p:nvPr/>
        </p:nvSpPr>
        <p:spPr>
          <a:xfrm>
            <a:off x="2108200" y="1016000"/>
            <a:ext cx="9880600" cy="5613400"/>
          </a:xfrm>
          <a:prstGeom prst="roundRect">
            <a:avLst>
              <a:gd name="adj" fmla="val 3000"/>
            </a:avLst>
          </a:prstGeom>
          <a:noFill/>
          <a:ln w="9525" cap="flat" cmpd="sng" algn="ctr">
            <a:solidFill>
              <a:schemeClr val="bg2">
                <a:lumMod val="85000"/>
              </a:schemeClr>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88900" tIns="76200" rIns="88900" bIns="76200" rtlCol="0" anchor="t">
            <a:noAutofit/>
          </a:bodyPr>
          <a:lstStyle/>
          <a:p>
            <a:r>
              <a:rPr lang="en-MY"/>
              <a:t> </a:t>
            </a:r>
          </a:p>
        </p:txBody>
      </p:sp>
      <p:sp>
        <p:nvSpPr>
          <p:cNvPr id="5" name="Rectangle 4">
            <a:extLst>
              <a:ext uri="{FF2B5EF4-FFF2-40B4-BE49-F238E27FC236}">
                <a16:creationId xmlns:a16="http://schemas.microsoft.com/office/drawing/2014/main" id="{1DA53BE0-4183-2694-2C79-D122BFF133B5}"/>
              </a:ext>
            </a:extLst>
          </p:cNvPr>
          <p:cNvSpPr/>
          <p:nvPr/>
        </p:nvSpPr>
        <p:spPr>
          <a:xfrm>
            <a:off x="2235200" y="1066800"/>
            <a:ext cx="53340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r>
              <a:rPr lang="en-MY" sz="1400" b="1" dirty="0">
                <a:solidFill>
                  <a:schemeClr val="tx1"/>
                </a:solidFill>
              </a:rPr>
              <a:t>Databricks  Data Intelligence Platform</a:t>
            </a:r>
          </a:p>
        </p:txBody>
      </p:sp>
      <p:sp>
        <p:nvSpPr>
          <p:cNvPr id="6" name="Rectangle 5">
            <a:extLst>
              <a:ext uri="{FF2B5EF4-FFF2-40B4-BE49-F238E27FC236}">
                <a16:creationId xmlns:a16="http://schemas.microsoft.com/office/drawing/2014/main" id="{85D27B16-0918-8C58-2136-C538581625E4}"/>
              </a:ext>
            </a:extLst>
          </p:cNvPr>
          <p:cNvSpPr/>
          <p:nvPr/>
        </p:nvSpPr>
        <p:spPr>
          <a:xfrm>
            <a:off x="8890000" y="1066800"/>
            <a:ext cx="29718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MY" sz="1000" b="1" dirty="0">
                <a:solidFill>
                  <a:schemeClr val="bg1">
                    <a:lumMod val="50000"/>
                  </a:schemeClr>
                </a:solidFill>
              </a:rPr>
              <a:t>ARCHITECTURE</a:t>
            </a:r>
          </a:p>
        </p:txBody>
      </p:sp>
      <p:sp>
        <p:nvSpPr>
          <p:cNvPr id="37" name="Rectangle 36">
            <a:extLst>
              <a:ext uri="{FF2B5EF4-FFF2-40B4-BE49-F238E27FC236}">
                <a16:creationId xmlns:a16="http://schemas.microsoft.com/office/drawing/2014/main" id="{8DEE279B-0B61-8F75-8A52-F8C5F88464B9}"/>
              </a:ext>
            </a:extLst>
          </p:cNvPr>
          <p:cNvSpPr/>
          <p:nvPr/>
        </p:nvSpPr>
        <p:spPr>
          <a:xfrm>
            <a:off x="2006601" y="1346200"/>
            <a:ext cx="5740399" cy="5320258"/>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600"/>
          </a:p>
        </p:txBody>
      </p:sp>
      <p:sp>
        <p:nvSpPr>
          <p:cNvPr id="7" name="Rectangle: Rounded Corners 6">
            <a:extLst>
              <a:ext uri="{FF2B5EF4-FFF2-40B4-BE49-F238E27FC236}">
                <a16:creationId xmlns:a16="http://schemas.microsoft.com/office/drawing/2014/main" id="{1B2929F8-4D99-1FF8-2F3B-F75793511459}"/>
              </a:ext>
            </a:extLst>
          </p:cNvPr>
          <p:cNvSpPr/>
          <p:nvPr/>
        </p:nvSpPr>
        <p:spPr>
          <a:xfrm>
            <a:off x="1016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Public data sources</a:t>
            </a:r>
          </a:p>
        </p:txBody>
      </p:sp>
      <p:sp>
        <p:nvSpPr>
          <p:cNvPr id="8" name="Rectangle: Rounded Corners 7">
            <a:extLst>
              <a:ext uri="{FF2B5EF4-FFF2-40B4-BE49-F238E27FC236}">
                <a16:creationId xmlns:a16="http://schemas.microsoft.com/office/drawing/2014/main" id="{97412C74-3C29-2F94-DEDA-B8BD4A4F3921}"/>
              </a:ext>
            </a:extLst>
          </p:cNvPr>
          <p:cNvSpPr/>
          <p:nvPr/>
        </p:nvSpPr>
        <p:spPr>
          <a:xfrm>
            <a:off x="2235200" y="1371600"/>
            <a:ext cx="16256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Data ingestion</a:t>
            </a:r>
          </a:p>
        </p:txBody>
      </p:sp>
      <p:sp>
        <p:nvSpPr>
          <p:cNvPr id="9" name="Rectangle: Rounded Corners 8">
            <a:extLst>
              <a:ext uri="{FF2B5EF4-FFF2-40B4-BE49-F238E27FC236}">
                <a16:creationId xmlns:a16="http://schemas.microsoft.com/office/drawing/2014/main" id="{858EE97E-97AD-83D6-4C1C-820FB594486B}"/>
              </a:ext>
            </a:extLst>
          </p:cNvPr>
          <p:cNvSpPr/>
          <p:nvPr/>
        </p:nvSpPr>
        <p:spPr>
          <a:xfrm>
            <a:off x="3962400" y="1371600"/>
            <a:ext cx="37084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pPr marL="266700"/>
            <a:r>
              <a:rPr lang="en-MY" sz="1300" b="1" dirty="0">
                <a:solidFill>
                  <a:schemeClr val="tx1">
                    <a:lumMod val="75000"/>
                    <a:lumOff val="25000"/>
                  </a:schemeClr>
                </a:solidFill>
              </a:rPr>
              <a:t>Lakehouse · Medallion architecture</a:t>
            </a:r>
          </a:p>
        </p:txBody>
      </p:sp>
      <p:sp>
        <p:nvSpPr>
          <p:cNvPr id="10" name="Rectangle: Rounded Corners 9">
            <a:extLst>
              <a:ext uri="{FF2B5EF4-FFF2-40B4-BE49-F238E27FC236}">
                <a16:creationId xmlns:a16="http://schemas.microsoft.com/office/drawing/2014/main" id="{142D0779-1735-6106-3E28-6ADE2334CAB3}"/>
              </a:ext>
            </a:extLst>
          </p:cNvPr>
          <p:cNvSpPr/>
          <p:nvPr/>
        </p:nvSpPr>
        <p:spPr>
          <a:xfrm>
            <a:off x="77724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Intelligence · Serving</a:t>
            </a:r>
          </a:p>
        </p:txBody>
      </p:sp>
      <p:sp>
        <p:nvSpPr>
          <p:cNvPr id="11" name="Rectangle: Rounded Corners 10">
            <a:extLst>
              <a:ext uri="{FF2B5EF4-FFF2-40B4-BE49-F238E27FC236}">
                <a16:creationId xmlns:a16="http://schemas.microsoft.com/office/drawing/2014/main" id="{90EBB812-1C9C-A45E-579B-3AD2A734B3E7}"/>
              </a:ext>
            </a:extLst>
          </p:cNvPr>
          <p:cNvSpPr/>
          <p:nvPr/>
        </p:nvSpPr>
        <p:spPr>
          <a:xfrm>
            <a:off x="9779000" y="1371600"/>
            <a:ext cx="2082800" cy="4572000"/>
          </a:xfrm>
          <a:prstGeom prst="roundRect">
            <a:avLst>
              <a:gd name="adj" fmla="val 3500"/>
            </a:avLst>
          </a:prstGeom>
          <a:solidFill>
            <a:schemeClr val="accent1">
              <a:lumMod val="8000"/>
              <a:lumOff val="92000"/>
            </a:schemeClr>
          </a:solidFill>
          <a:ln w="9525" cap="flat" cmpd="sng" algn="ctr">
            <a:solidFill>
              <a:schemeClr val="accent1">
                <a:lumMod val="40000"/>
                <a:lumOff val="6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Residents and agencies · AI agents</a:t>
            </a:r>
          </a:p>
        </p:txBody>
      </p:sp>
      <p:sp>
        <p:nvSpPr>
          <p:cNvPr id="12" name="Rectangle: Rounded Corners 11">
            <a:extLst>
              <a:ext uri="{FF2B5EF4-FFF2-40B4-BE49-F238E27FC236}">
                <a16:creationId xmlns:a16="http://schemas.microsoft.com/office/drawing/2014/main" id="{6F4D1364-A4E3-DCA2-874E-4DE5B2E8D95C}"/>
              </a:ext>
            </a:extLst>
          </p:cNvPr>
          <p:cNvSpPr/>
          <p:nvPr/>
        </p:nvSpPr>
        <p:spPr>
          <a:xfrm>
            <a:off x="177800" y="1752600"/>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PUB Flood Alerts</a:t>
            </a:r>
          </a:p>
          <a:p>
            <a:r>
              <a:rPr lang="en-US" sz="1100">
                <a:solidFill>
                  <a:schemeClr val="tx1"/>
                </a:solidFill>
              </a:rPr>
              <a:t>Drains 90% full, flash floods; Telegram posts since 2021</a:t>
            </a:r>
            <a:endParaRPr lang="en-MY"/>
          </a:p>
        </p:txBody>
      </p:sp>
      <p:sp>
        <p:nvSpPr>
          <p:cNvPr id="13" name="Rectangle: Rounded Corners 12">
            <a:extLst>
              <a:ext uri="{FF2B5EF4-FFF2-40B4-BE49-F238E27FC236}">
                <a16:creationId xmlns:a16="http://schemas.microsoft.com/office/drawing/2014/main" id="{06185CED-1F1F-2C45-3988-004AEAC27079}"/>
              </a:ext>
            </a:extLst>
          </p:cNvPr>
          <p:cNvSpPr/>
          <p:nvPr/>
        </p:nvSpPr>
        <p:spPr>
          <a:xfrm>
            <a:off x="177800" y="2586038"/>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Internet Archive</a:t>
            </a:r>
          </a:p>
          <a:p>
            <a:r>
              <a:rPr lang="en-US" sz="1100">
                <a:solidFill>
                  <a:schemeClr val="tx1"/>
                </a:solidFill>
              </a:rPr>
              <a:t>832 deleted PUB posts, recovered from web captures</a:t>
            </a:r>
            <a:endParaRPr lang="en-MY"/>
          </a:p>
        </p:txBody>
      </p:sp>
      <p:sp>
        <p:nvSpPr>
          <p:cNvPr id="14" name="Rectangle: Rounded Corners 13">
            <a:extLst>
              <a:ext uri="{FF2B5EF4-FFF2-40B4-BE49-F238E27FC236}">
                <a16:creationId xmlns:a16="http://schemas.microsoft.com/office/drawing/2014/main" id="{380A54D2-E372-91B4-F7E5-941AF332432D}"/>
              </a:ext>
            </a:extLst>
          </p:cNvPr>
          <p:cNvSpPr/>
          <p:nvPr/>
        </p:nvSpPr>
        <p:spPr>
          <a:xfrm>
            <a:off x="177800" y="3419475"/>
            <a:ext cx="1752600" cy="80645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NEA weather</a:t>
            </a:r>
          </a:p>
          <a:p>
            <a:r>
              <a:rPr lang="en-US" sz="1100">
                <a:solidFill>
                  <a:schemeClr val="tx1"/>
                </a:solidFill>
              </a:rPr>
              <a:t>5-min rain, 2-h forecast, wind, humidity (data.gov.sg)</a:t>
            </a:r>
            <a:endParaRPr lang="en-MY"/>
          </a:p>
        </p:txBody>
      </p:sp>
      <p:sp>
        <p:nvSpPr>
          <p:cNvPr id="15" name="Rectangle: Rounded Corners 14">
            <a:extLst>
              <a:ext uri="{FF2B5EF4-FFF2-40B4-BE49-F238E27FC236}">
                <a16:creationId xmlns:a16="http://schemas.microsoft.com/office/drawing/2014/main" id="{A541454E-4D4A-87B9-4D58-D9213C16E5B2}"/>
              </a:ext>
            </a:extLst>
          </p:cNvPr>
          <p:cNvSpPr/>
          <p:nvPr/>
        </p:nvSpPr>
        <p:spPr>
          <a:xfrm>
            <a:off x="177800" y="4251325"/>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Tides</a:t>
            </a:r>
          </a:p>
          <a:p>
            <a:r>
              <a:rPr lang="en-MY" sz="1100">
                <a:solidFill>
                  <a:schemeClr val="tx1"/>
                </a:solidFill>
              </a:rPr>
              <a:t>NEA tide table; UHSLC hourly sea level at Tanjong Pagar</a:t>
            </a:r>
          </a:p>
        </p:txBody>
      </p:sp>
      <p:sp>
        <p:nvSpPr>
          <p:cNvPr id="16" name="Rectangle: Rounded Corners 15">
            <a:extLst>
              <a:ext uri="{FF2B5EF4-FFF2-40B4-BE49-F238E27FC236}">
                <a16:creationId xmlns:a16="http://schemas.microsoft.com/office/drawing/2014/main" id="{20661418-7DCD-C391-FAFA-ED7C3A233DAD}"/>
              </a:ext>
            </a:extLst>
          </p:cNvPr>
          <p:cNvSpPr/>
          <p:nvPr/>
        </p:nvSpPr>
        <p:spPr>
          <a:xfrm>
            <a:off x="177800" y="5084763"/>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Maps, sensors</a:t>
            </a:r>
          </a:p>
          <a:p>
            <a:r>
              <a:rPr lang="en-MY" sz="1100">
                <a:solidFill>
                  <a:schemeClr val="tx1"/>
                </a:solidFill>
              </a:rPr>
              <a:t>328 PUB water-level sensors, URA land use, SLA, OneMap</a:t>
            </a:r>
          </a:p>
        </p:txBody>
      </p:sp>
      <p:sp>
        <p:nvSpPr>
          <p:cNvPr id="17" name="Rectangle: Rounded Corners 16">
            <a:extLst>
              <a:ext uri="{FF2B5EF4-FFF2-40B4-BE49-F238E27FC236}">
                <a16:creationId xmlns:a16="http://schemas.microsoft.com/office/drawing/2014/main" id="{747DAA30-ECB1-75C6-A15A-7C3551DA08B0}"/>
              </a:ext>
            </a:extLst>
          </p:cNvPr>
          <p:cNvSpPr/>
          <p:nvPr/>
        </p:nvSpPr>
        <p:spPr>
          <a:xfrm>
            <a:off x="2336800" y="1752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Jobs</a:t>
            </a:r>
          </a:p>
          <a:p>
            <a:r>
              <a:rPr lang="en-US" sz="1100">
                <a:solidFill>
                  <a:schemeClr val="tx1"/>
                </a:solidFill>
              </a:rPr>
              <a:t>Python fetchers on serverless: new data every 5 min, a nightly repair, one-off backfills</a:t>
            </a:r>
            <a:endParaRPr lang="en-MY"/>
          </a:p>
        </p:txBody>
      </p:sp>
      <p:sp>
        <p:nvSpPr>
          <p:cNvPr id="18" name="Rectangle: Rounded Corners 17">
            <a:extLst>
              <a:ext uri="{FF2B5EF4-FFF2-40B4-BE49-F238E27FC236}">
                <a16:creationId xmlns:a16="http://schemas.microsoft.com/office/drawing/2014/main" id="{15C4D8E1-24FF-44E7-1D31-2B80E11D863A}"/>
              </a:ext>
            </a:extLst>
          </p:cNvPr>
          <p:cNvSpPr/>
          <p:nvPr/>
        </p:nvSpPr>
        <p:spPr>
          <a:xfrm>
            <a:off x="2336800" y="3911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Auto Loader</a:t>
            </a:r>
          </a:p>
          <a:p>
            <a:r>
              <a:rPr lang="en-US" sz="1100">
                <a:solidFill>
                  <a:schemeClr val="tx1"/>
                </a:solidFill>
              </a:rPr>
              <a:t>Each fetch lands as a new file in a UC Volume and streams into bronze once</a:t>
            </a:r>
            <a:endParaRPr lang="en-MY"/>
          </a:p>
        </p:txBody>
      </p:sp>
      <p:sp>
        <p:nvSpPr>
          <p:cNvPr id="19" name="Rectangle: Rounded Corners 18">
            <a:extLst>
              <a:ext uri="{FF2B5EF4-FFF2-40B4-BE49-F238E27FC236}">
                <a16:creationId xmlns:a16="http://schemas.microsoft.com/office/drawing/2014/main" id="{2325175B-B3CB-DAAB-91DA-752BD8CCD7D8}"/>
              </a:ext>
            </a:extLst>
          </p:cNvPr>
          <p:cNvSpPr/>
          <p:nvPr/>
        </p:nvSpPr>
        <p:spPr>
          <a:xfrm>
            <a:off x="4064000" y="1752600"/>
            <a:ext cx="1066800" cy="2540000"/>
          </a:xfrm>
          <a:prstGeom prst="roundRect">
            <a:avLst>
              <a:gd name="adj" fmla="val 8000"/>
            </a:avLst>
          </a:prstGeom>
          <a:solidFill>
            <a:schemeClr val="accent1">
              <a:lumMod val="20000"/>
              <a:lumOff val="80000"/>
            </a:schemeClr>
          </a:solidFill>
          <a:ln w="12700" cap="flat" cmpd="sng" algn="ctr">
            <a:solidFill>
              <a:schemeClr val="accent1">
                <a:lumMod val="60000"/>
                <a:lumOff val="4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dirty="0">
                <a:solidFill>
                  <a:schemeClr val="tx1">
                    <a:lumMod val="75000"/>
                    <a:lumOff val="25000"/>
                  </a:schemeClr>
                </a:solidFill>
              </a:rPr>
              <a:t>Bronze</a:t>
            </a:r>
          </a:p>
          <a:p>
            <a:pPr algn="ctr"/>
            <a:r>
              <a:rPr lang="en-US" sz="1100" dirty="0">
                <a:solidFill>
                  <a:schemeClr val="tx1"/>
                </a:solidFill>
              </a:rPr>
              <a:t>Every API page, post and file as received; full history</a:t>
            </a:r>
            <a:endParaRPr lang="en-MY" dirty="0"/>
          </a:p>
        </p:txBody>
      </p:sp>
      <p:sp>
        <p:nvSpPr>
          <p:cNvPr id="20" name="Rectangle: Rounded Corners 19">
            <a:extLst>
              <a:ext uri="{FF2B5EF4-FFF2-40B4-BE49-F238E27FC236}">
                <a16:creationId xmlns:a16="http://schemas.microsoft.com/office/drawing/2014/main" id="{52BE637D-E506-FF11-EC88-57EE80F75B36}"/>
              </a:ext>
            </a:extLst>
          </p:cNvPr>
          <p:cNvSpPr/>
          <p:nvPr/>
        </p:nvSpPr>
        <p:spPr>
          <a:xfrm>
            <a:off x="5283200" y="1752600"/>
            <a:ext cx="1066800" cy="2540000"/>
          </a:xfrm>
          <a:prstGeom prst="roundRect">
            <a:avLst>
              <a:gd name="adj" fmla="val 8000"/>
            </a:avLst>
          </a:prstGeom>
          <a:solidFill>
            <a:schemeClr val="bg2">
              <a:lumMod val="90000"/>
            </a:schemeClr>
          </a:solidFill>
          <a:ln w="12700" cap="flat" cmpd="sng" algn="ctr">
            <a:solidFill>
              <a:schemeClr val="bg2">
                <a:lumMod val="6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dirty="0">
                <a:solidFill>
                  <a:schemeClr val="tx1">
                    <a:lumMod val="75000"/>
                    <a:lumOff val="25000"/>
                  </a:schemeClr>
                </a:solidFill>
              </a:rPr>
              <a:t>Silver</a:t>
            </a:r>
          </a:p>
          <a:p>
            <a:pPr algn="ctr"/>
            <a:r>
              <a:rPr lang="en-US" sz="1100" dirty="0">
                <a:solidFill>
                  <a:schemeClr val="tx1"/>
                </a:solidFill>
              </a:rPr>
              <a:t>Readings cleaned, posts parsed, alerts placed in NEA's 47 areas</a:t>
            </a:r>
            <a:endParaRPr lang="en-MY" dirty="0"/>
          </a:p>
        </p:txBody>
      </p:sp>
      <p:sp>
        <p:nvSpPr>
          <p:cNvPr id="21" name="Rectangle: Rounded Corners 20">
            <a:extLst>
              <a:ext uri="{FF2B5EF4-FFF2-40B4-BE49-F238E27FC236}">
                <a16:creationId xmlns:a16="http://schemas.microsoft.com/office/drawing/2014/main" id="{9FD4C140-4AB3-DD7B-88A3-29F5BB88F310}"/>
              </a:ext>
            </a:extLst>
          </p:cNvPr>
          <p:cNvSpPr/>
          <p:nvPr/>
        </p:nvSpPr>
        <p:spPr>
          <a:xfrm>
            <a:off x="6502400" y="1752600"/>
            <a:ext cx="1066800" cy="2540000"/>
          </a:xfrm>
          <a:prstGeom prst="roundRect">
            <a:avLst>
              <a:gd name="adj" fmla="val 8000"/>
            </a:avLst>
          </a:prstGeom>
          <a:solidFill>
            <a:schemeClr val="accent2">
              <a:lumMod val="20000"/>
              <a:lumOff val="80000"/>
            </a:schemeClr>
          </a:solidFill>
          <a:ln w="12700" cap="flat" cmpd="sng" algn="ctr">
            <a:solidFill>
              <a:schemeClr val="accent2">
                <a:lumMod val="70000"/>
                <a:lumOff val="3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dirty="0">
                <a:solidFill>
                  <a:schemeClr val="tx1">
                    <a:lumMod val="75000"/>
                    <a:lumOff val="25000"/>
                  </a:schemeClr>
                </a:solidFill>
              </a:rPr>
              <a:t>Gold</a:t>
            </a:r>
          </a:p>
          <a:p>
            <a:pPr algn="ctr"/>
            <a:r>
              <a:rPr lang="en-US" sz="1100" dirty="0">
                <a:solidFill>
                  <a:schemeClr val="tx1"/>
                </a:solidFill>
              </a:rPr>
              <a:t>Each area, every 5 min: rain, forecast, tide, label</a:t>
            </a:r>
            <a:endParaRPr lang="en-MY" dirty="0"/>
          </a:p>
        </p:txBody>
      </p:sp>
      <p:sp>
        <p:nvSpPr>
          <p:cNvPr id="22" name="Rectangle: Rounded Corners 21">
            <a:extLst>
              <a:ext uri="{FF2B5EF4-FFF2-40B4-BE49-F238E27FC236}">
                <a16:creationId xmlns:a16="http://schemas.microsoft.com/office/drawing/2014/main" id="{D35846EF-00FA-7620-F687-6F9312AB154B}"/>
              </a:ext>
            </a:extLst>
          </p:cNvPr>
          <p:cNvSpPr/>
          <p:nvPr/>
        </p:nvSpPr>
        <p:spPr>
          <a:xfrm>
            <a:off x="4064000" y="4521200"/>
            <a:ext cx="35052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dirty="0" err="1">
                <a:solidFill>
                  <a:schemeClr val="tx1">
                    <a:lumMod val="75000"/>
                    <a:lumOff val="25000"/>
                  </a:schemeClr>
                </a:solidFill>
              </a:rPr>
              <a:t>Lakeflow</a:t>
            </a:r>
            <a:r>
              <a:rPr lang="en-US" sz="1300" b="1" dirty="0">
                <a:solidFill>
                  <a:schemeClr val="tx1">
                    <a:lumMod val="75000"/>
                    <a:lumOff val="25000"/>
                  </a:schemeClr>
                </a:solidFill>
              </a:rPr>
              <a:t> Spark Declarative Pipelines</a:t>
            </a:r>
          </a:p>
          <a:p>
            <a:r>
              <a:rPr lang="en-US" sz="1100" dirty="0">
                <a:solidFill>
                  <a:schemeClr val="tx1"/>
                </a:solidFill>
              </a:rPr>
              <a:t>Two serverless pipelines. Expectations drop bad readings; unplaceable alerts are quarantined. Hours with lost posts or feed outages count as missing, never as quiet.</a:t>
            </a:r>
            <a:endParaRPr lang="en-MY" dirty="0"/>
          </a:p>
        </p:txBody>
      </p:sp>
      <p:sp>
        <p:nvSpPr>
          <p:cNvPr id="23" name="Rectangle: Rounded Corners 22">
            <a:extLst>
              <a:ext uri="{FF2B5EF4-FFF2-40B4-BE49-F238E27FC236}">
                <a16:creationId xmlns:a16="http://schemas.microsoft.com/office/drawing/2014/main" id="{673CDD7F-EF89-DA5D-087E-E2E01283B675}"/>
              </a:ext>
            </a:extLst>
          </p:cNvPr>
          <p:cNvSpPr/>
          <p:nvPr/>
        </p:nvSpPr>
        <p:spPr>
          <a:xfrm>
            <a:off x="7874000" y="1752600"/>
            <a:ext cx="1701800" cy="1422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a:solidFill>
                  <a:schemeClr val="tx1"/>
                </a:solidFill>
              </a:rPr>
              <a:t>MLflow · Unity Catalog</a:t>
            </a:r>
          </a:p>
          <a:p>
            <a:r>
              <a:rPr lang="en-US" sz="1100">
                <a:solidFill>
                  <a:schemeClr val="tx1"/>
                </a:solidFill>
              </a:rPr>
              <a:t>Gated LightGBM pair: each area's chance of a PUB alert within 1 h. 7 checks before @champion moves.</a:t>
            </a:r>
            <a:endParaRPr lang="en-MY" dirty="0"/>
          </a:p>
        </p:txBody>
      </p:sp>
      <p:sp>
        <p:nvSpPr>
          <p:cNvPr id="24" name="Rectangle: Rounded Corners 23">
            <a:extLst>
              <a:ext uri="{FF2B5EF4-FFF2-40B4-BE49-F238E27FC236}">
                <a16:creationId xmlns:a16="http://schemas.microsoft.com/office/drawing/2014/main" id="{6EBE2818-EAB8-A029-B6BC-33BECF4D3553}"/>
              </a:ext>
            </a:extLst>
          </p:cNvPr>
          <p:cNvSpPr/>
          <p:nvPr/>
        </p:nvSpPr>
        <p:spPr>
          <a:xfrm>
            <a:off x="7874000" y="3276600"/>
            <a:ext cx="17018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a:solidFill>
                  <a:schemeClr val="tx1"/>
                </a:solidFill>
              </a:rPr>
              <a:t>Live scoring</a:t>
            </a:r>
          </a:p>
          <a:p>
            <a:r>
              <a:rPr lang="en-US" sz="1100">
                <a:solidFill>
                  <a:schemeClr val="tx1"/>
                </a:solidFill>
              </a:rPr>
              <a:t>Every 5 min, @champion rates all 47 areas into a Delta table. New warnings go out by Telegram, email.</a:t>
            </a:r>
            <a:endParaRPr lang="en-MY"/>
          </a:p>
        </p:txBody>
      </p:sp>
      <p:sp>
        <p:nvSpPr>
          <p:cNvPr id="25" name="Rectangle: Rounded Corners 24">
            <a:extLst>
              <a:ext uri="{FF2B5EF4-FFF2-40B4-BE49-F238E27FC236}">
                <a16:creationId xmlns:a16="http://schemas.microsoft.com/office/drawing/2014/main" id="{F73CC4A2-79BA-A6D2-E6A3-1E567F4D1D40}"/>
              </a:ext>
            </a:extLst>
          </p:cNvPr>
          <p:cNvSpPr/>
          <p:nvPr/>
        </p:nvSpPr>
        <p:spPr>
          <a:xfrm>
            <a:off x="7874000" y="4699000"/>
            <a:ext cx="1701800" cy="11430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MY" sz="1300" b="1">
                <a:solidFill>
                  <a:schemeClr val="tx1"/>
                </a:solidFill>
              </a:rPr>
              <a:t>Databricks SQL · AI/BI</a:t>
            </a:r>
          </a:p>
          <a:p>
            <a:r>
              <a:rPr lang="en-MY" sz="1100">
                <a:solidFill>
                  <a:schemeClr val="tx1"/>
                </a:solidFill>
              </a:rPr>
              <a:t>Serverless warehouse for the app, Genie, agencies' scoreboard</a:t>
            </a:r>
          </a:p>
        </p:txBody>
      </p:sp>
      <p:sp>
        <p:nvSpPr>
          <p:cNvPr id="26" name="Rectangle: Rounded Corners 25">
            <a:extLst>
              <a:ext uri="{FF2B5EF4-FFF2-40B4-BE49-F238E27FC236}">
                <a16:creationId xmlns:a16="http://schemas.microsoft.com/office/drawing/2014/main" id="{6C6A077B-B762-156D-C3D6-53D9649B55DC}"/>
              </a:ext>
            </a:extLst>
          </p:cNvPr>
          <p:cNvSpPr/>
          <p:nvPr/>
        </p:nvSpPr>
        <p:spPr>
          <a:xfrm>
            <a:off x="9880600" y="1879600"/>
            <a:ext cx="1879600" cy="1727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Databricks App</a:t>
            </a:r>
          </a:p>
          <a:p>
            <a:r>
              <a:rPr lang="en-US" sz="1100">
                <a:solidFill>
                  <a:schemeClr val="tx1"/>
                </a:solidFill>
              </a:rPr>
              <a:t>Live map of 47 areas: what to do on foot, driving or at home. Storm replays, warning sign-ups.</a:t>
            </a:r>
            <a:endParaRPr lang="en-MY" dirty="0"/>
          </a:p>
        </p:txBody>
      </p:sp>
      <p:sp>
        <p:nvSpPr>
          <p:cNvPr id="27" name="Rectangle: Rounded Corners 26">
            <a:extLst>
              <a:ext uri="{FF2B5EF4-FFF2-40B4-BE49-F238E27FC236}">
                <a16:creationId xmlns:a16="http://schemas.microsoft.com/office/drawing/2014/main" id="{9657D728-AB67-A43D-4FA0-7D65D825511C}"/>
              </a:ext>
            </a:extLst>
          </p:cNvPr>
          <p:cNvSpPr/>
          <p:nvPr/>
        </p:nvSpPr>
        <p:spPr>
          <a:xfrm>
            <a:off x="9880600" y="3733800"/>
            <a:ext cx="1879600" cy="2108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Genie Agent</a:t>
            </a:r>
          </a:p>
          <a:p>
            <a:r>
              <a:rPr lang="en-US" sz="1100">
                <a:solidFill>
                  <a:schemeClr val="tx1"/>
                </a:solidFill>
              </a:rPr>
              <a:t>"FloodSense for agencies": ask in plain English how it did against PUB, flood by flood. Also in the app.</a:t>
            </a:r>
            <a:endParaRPr lang="en-MY"/>
          </a:p>
        </p:txBody>
      </p:sp>
      <p:sp>
        <p:nvSpPr>
          <p:cNvPr id="28" name="Rectangle: Rounded Corners 27">
            <a:extLst>
              <a:ext uri="{FF2B5EF4-FFF2-40B4-BE49-F238E27FC236}">
                <a16:creationId xmlns:a16="http://schemas.microsoft.com/office/drawing/2014/main" id="{9D7EE230-9C46-A228-7A39-108DF4A4D5B6}"/>
              </a:ext>
            </a:extLst>
          </p:cNvPr>
          <p:cNvSpPr/>
          <p:nvPr/>
        </p:nvSpPr>
        <p:spPr>
          <a:xfrm>
            <a:off x="9982200" y="2946400"/>
            <a:ext cx="7366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Residents</a:t>
            </a:r>
          </a:p>
        </p:txBody>
      </p:sp>
      <p:sp>
        <p:nvSpPr>
          <p:cNvPr id="29" name="Rectangle: Rounded Corners 28">
            <a:extLst>
              <a:ext uri="{FF2B5EF4-FFF2-40B4-BE49-F238E27FC236}">
                <a16:creationId xmlns:a16="http://schemas.microsoft.com/office/drawing/2014/main" id="{FF724F87-A7BC-7249-DFA6-FD5A5D047ED2}"/>
              </a:ext>
            </a:extLst>
          </p:cNvPr>
          <p:cNvSpPr/>
          <p:nvPr/>
        </p:nvSpPr>
        <p:spPr>
          <a:xfrm>
            <a:off x="10795000" y="2946400"/>
            <a:ext cx="7874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Commuters</a:t>
            </a:r>
          </a:p>
        </p:txBody>
      </p:sp>
      <p:sp>
        <p:nvSpPr>
          <p:cNvPr id="30" name="Rectangle: Rounded Corners 29">
            <a:extLst>
              <a:ext uri="{FF2B5EF4-FFF2-40B4-BE49-F238E27FC236}">
                <a16:creationId xmlns:a16="http://schemas.microsoft.com/office/drawing/2014/main" id="{C8CF4B84-BB18-047A-CC91-7E938546C3A5}"/>
              </a:ext>
            </a:extLst>
          </p:cNvPr>
          <p:cNvSpPr/>
          <p:nvPr/>
        </p:nvSpPr>
        <p:spPr>
          <a:xfrm>
            <a:off x="9982200" y="3251200"/>
            <a:ext cx="9652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Town councils</a:t>
            </a:r>
          </a:p>
        </p:txBody>
      </p:sp>
      <p:sp>
        <p:nvSpPr>
          <p:cNvPr id="31" name="Rectangle: Rounded Corners 30">
            <a:extLst>
              <a:ext uri="{FF2B5EF4-FFF2-40B4-BE49-F238E27FC236}">
                <a16:creationId xmlns:a16="http://schemas.microsoft.com/office/drawing/2014/main" id="{0D71311F-BAB7-C7B2-DBA0-FC1814487C6A}"/>
              </a:ext>
            </a:extLst>
          </p:cNvPr>
          <p:cNvSpPr/>
          <p:nvPr/>
        </p:nvSpPr>
        <p:spPr>
          <a:xfrm>
            <a:off x="11023600" y="3251200"/>
            <a:ext cx="6350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Agencies</a:t>
            </a:r>
          </a:p>
        </p:txBody>
      </p:sp>
      <p:cxnSp>
        <p:nvCxnSpPr>
          <p:cNvPr id="42" name="Connector: Elbow 41">
            <a:extLst>
              <a:ext uri="{FF2B5EF4-FFF2-40B4-BE49-F238E27FC236}">
                <a16:creationId xmlns:a16="http://schemas.microsoft.com/office/drawing/2014/main" id="{433D69C3-7874-CA18-21A6-0DDABAC7BE47}"/>
              </a:ext>
            </a:extLst>
          </p:cNvPr>
          <p:cNvCxnSpPr>
            <a:cxnSpLocks/>
          </p:cNvCxnSpPr>
          <p:nvPr/>
        </p:nvCxnSpPr>
        <p:spPr>
          <a:xfrm>
            <a:off x="51308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336980E2-F9AD-8D46-C171-5D2B822365D2}"/>
              </a:ext>
            </a:extLst>
          </p:cNvPr>
          <p:cNvCxnSpPr>
            <a:cxnSpLocks/>
          </p:cNvCxnSpPr>
          <p:nvPr/>
        </p:nvCxnSpPr>
        <p:spPr>
          <a:xfrm>
            <a:off x="63500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54" name="IconTile_12">
            <a:extLst>
              <a:ext uri="{FF2B5EF4-FFF2-40B4-BE49-F238E27FC236}">
                <a16:creationId xmlns:a16="http://schemas.microsoft.com/office/drawing/2014/main" id="{4EF65483-ECA9-066B-76FA-85F969EFE1D4}"/>
              </a:ext>
            </a:extLst>
          </p:cNvPr>
          <p:cNvSpPr/>
          <p:nvPr/>
        </p:nvSpPr>
        <p:spPr>
          <a:xfrm>
            <a:off x="241300" y="17907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5" name="IconTile_13">
            <a:extLst>
              <a:ext uri="{FF2B5EF4-FFF2-40B4-BE49-F238E27FC236}">
                <a16:creationId xmlns:a16="http://schemas.microsoft.com/office/drawing/2014/main" id="{F59FB5E8-B07E-425A-C641-38DD71FB7304}"/>
              </a:ext>
            </a:extLst>
          </p:cNvPr>
          <p:cNvSpPr/>
          <p:nvPr/>
        </p:nvSpPr>
        <p:spPr>
          <a:xfrm>
            <a:off x="241300" y="2624138"/>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6" name="IconTile_14">
            <a:extLst>
              <a:ext uri="{FF2B5EF4-FFF2-40B4-BE49-F238E27FC236}">
                <a16:creationId xmlns:a16="http://schemas.microsoft.com/office/drawing/2014/main" id="{80D106D0-E67C-22BB-65B8-74023C28D0AC}"/>
              </a:ext>
            </a:extLst>
          </p:cNvPr>
          <p:cNvSpPr/>
          <p:nvPr/>
        </p:nvSpPr>
        <p:spPr>
          <a:xfrm>
            <a:off x="241300" y="345757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7" name="IconTile_15">
            <a:extLst>
              <a:ext uri="{FF2B5EF4-FFF2-40B4-BE49-F238E27FC236}">
                <a16:creationId xmlns:a16="http://schemas.microsoft.com/office/drawing/2014/main" id="{1A144388-F32E-CF61-C195-BA5404A07A2F}"/>
              </a:ext>
            </a:extLst>
          </p:cNvPr>
          <p:cNvSpPr/>
          <p:nvPr/>
        </p:nvSpPr>
        <p:spPr>
          <a:xfrm>
            <a:off x="241300" y="428942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8" name="IconTile_16">
            <a:extLst>
              <a:ext uri="{FF2B5EF4-FFF2-40B4-BE49-F238E27FC236}">
                <a16:creationId xmlns:a16="http://schemas.microsoft.com/office/drawing/2014/main" id="{21D60B3E-6C9C-3641-251E-C131C29764A8}"/>
              </a:ext>
            </a:extLst>
          </p:cNvPr>
          <p:cNvSpPr/>
          <p:nvPr/>
        </p:nvSpPr>
        <p:spPr>
          <a:xfrm>
            <a:off x="241300" y="5122863"/>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9" name="IconTile_17">
            <a:extLst>
              <a:ext uri="{FF2B5EF4-FFF2-40B4-BE49-F238E27FC236}">
                <a16:creationId xmlns:a16="http://schemas.microsoft.com/office/drawing/2014/main" id="{D8336B83-C757-DCFB-C713-987EBA49776C}"/>
              </a:ext>
            </a:extLst>
          </p:cNvPr>
          <p:cNvSpPr/>
          <p:nvPr/>
        </p:nvSpPr>
        <p:spPr>
          <a:xfrm>
            <a:off x="2400300" y="1835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0" name="IconTile_18">
            <a:extLst>
              <a:ext uri="{FF2B5EF4-FFF2-40B4-BE49-F238E27FC236}">
                <a16:creationId xmlns:a16="http://schemas.microsoft.com/office/drawing/2014/main" id="{8773AFEA-DC11-BFF0-CE21-84F64B2B1DBD}"/>
              </a:ext>
            </a:extLst>
          </p:cNvPr>
          <p:cNvSpPr/>
          <p:nvPr/>
        </p:nvSpPr>
        <p:spPr>
          <a:xfrm>
            <a:off x="2400300" y="3994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1" name="IconTile_22">
            <a:extLst>
              <a:ext uri="{FF2B5EF4-FFF2-40B4-BE49-F238E27FC236}">
                <a16:creationId xmlns:a16="http://schemas.microsoft.com/office/drawing/2014/main" id="{0AA3A0FA-1F8E-4CA2-DCFF-E35D5DED9EDC}"/>
              </a:ext>
            </a:extLst>
          </p:cNvPr>
          <p:cNvSpPr/>
          <p:nvPr/>
        </p:nvSpPr>
        <p:spPr>
          <a:xfrm>
            <a:off x="4127500" y="460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2" name="IconTile_23">
            <a:extLst>
              <a:ext uri="{FF2B5EF4-FFF2-40B4-BE49-F238E27FC236}">
                <a16:creationId xmlns:a16="http://schemas.microsoft.com/office/drawing/2014/main" id="{3C79DE21-C4F7-028F-41B8-614FB53C11DA}"/>
              </a:ext>
            </a:extLst>
          </p:cNvPr>
          <p:cNvSpPr/>
          <p:nvPr/>
        </p:nvSpPr>
        <p:spPr>
          <a:xfrm>
            <a:off x="7937500" y="1809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3" name="IconTile_24">
            <a:extLst>
              <a:ext uri="{FF2B5EF4-FFF2-40B4-BE49-F238E27FC236}">
                <a16:creationId xmlns:a16="http://schemas.microsoft.com/office/drawing/2014/main" id="{D7CBD523-B2BF-2F6C-23BD-BD2411979421}"/>
              </a:ext>
            </a:extLst>
          </p:cNvPr>
          <p:cNvSpPr/>
          <p:nvPr/>
        </p:nvSpPr>
        <p:spPr>
          <a:xfrm>
            <a:off x="7937500" y="333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4" name="IconTile_25">
            <a:extLst>
              <a:ext uri="{FF2B5EF4-FFF2-40B4-BE49-F238E27FC236}">
                <a16:creationId xmlns:a16="http://schemas.microsoft.com/office/drawing/2014/main" id="{6F680693-93DE-7916-4CB6-8A80DB1DE1B3}"/>
              </a:ext>
            </a:extLst>
          </p:cNvPr>
          <p:cNvSpPr/>
          <p:nvPr/>
        </p:nvSpPr>
        <p:spPr>
          <a:xfrm>
            <a:off x="7937500" y="4756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5" name="IconTile_26">
            <a:extLst>
              <a:ext uri="{FF2B5EF4-FFF2-40B4-BE49-F238E27FC236}">
                <a16:creationId xmlns:a16="http://schemas.microsoft.com/office/drawing/2014/main" id="{C3EAB829-A190-BFCF-85CA-A0AF342D7F12}"/>
              </a:ext>
            </a:extLst>
          </p:cNvPr>
          <p:cNvSpPr/>
          <p:nvPr/>
        </p:nvSpPr>
        <p:spPr>
          <a:xfrm>
            <a:off x="9944100" y="1962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6" name="IconTile_27">
            <a:extLst>
              <a:ext uri="{FF2B5EF4-FFF2-40B4-BE49-F238E27FC236}">
                <a16:creationId xmlns:a16="http://schemas.microsoft.com/office/drawing/2014/main" id="{2BD597CB-56EB-49F3-8581-3546884F2091}"/>
              </a:ext>
            </a:extLst>
          </p:cNvPr>
          <p:cNvSpPr/>
          <p:nvPr/>
        </p:nvSpPr>
        <p:spPr>
          <a:xfrm>
            <a:off x="9944100" y="38163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72" name="Pic">
            <a:extLst>
              <a:ext uri="{FF2B5EF4-FFF2-40B4-BE49-F238E27FC236}">
                <a16:creationId xmlns:a16="http://schemas.microsoft.com/office/drawing/2014/main" id="{FA5A5FC5-2C69-2B2B-A6D8-A250DBF668D1}"/>
              </a:ext>
            </a:extLst>
          </p:cNvPr>
          <p:cNvPicPr>
            <a:picLocks/>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9"/>
              </a:ext>
              <a:ext uri="{6F801314-5768-4EAC-8CED-0F2297F94238}"/>
            </a:extLst>
          </a:blip>
          <a:stretch>
            <a:fillRect/>
          </a:stretch>
        </p:blipFill>
        <p:spPr bwMode="auto">
          <a:xfrm>
            <a:off x="7975600" y="1854200"/>
            <a:ext cx="152400" cy="152400"/>
          </a:xfrm>
          <a:prstGeom prst="rect">
            <a:avLst/>
          </a:prstGeom>
          <a:noFill/>
          <a:effectLst/>
        </p:spPr>
      </p:pic>
      <p:pic>
        <p:nvPicPr>
          <p:cNvPr id="71" name="Pic">
            <a:extLst>
              <a:ext uri="{FF2B5EF4-FFF2-40B4-BE49-F238E27FC236}">
                <a16:creationId xmlns:a16="http://schemas.microsoft.com/office/drawing/2014/main" id="{94E3B687-C649-595E-36D7-C47D2B60803B}"/>
              </a:ext>
            </a:extLst>
          </p:cNvPr>
          <p:cNvPicPr>
            <a:picLocks/>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 uri="{6F801314-5768-4EAC-8CED-0F2297F94238}"/>
            </a:extLst>
          </a:blip>
          <a:stretch>
            <a:fillRect/>
          </a:stretch>
        </p:blipFill>
        <p:spPr bwMode="auto">
          <a:xfrm>
            <a:off x="9982200" y="3860800"/>
            <a:ext cx="152400" cy="152400"/>
          </a:xfrm>
          <a:prstGeom prst="rect">
            <a:avLst/>
          </a:prstGeom>
          <a:noFill/>
          <a:effectLst/>
        </p:spPr>
      </p:pic>
      <p:pic>
        <p:nvPicPr>
          <p:cNvPr id="79" name="Pic">
            <a:extLst>
              <a:ext uri="{FF2B5EF4-FFF2-40B4-BE49-F238E27FC236}">
                <a16:creationId xmlns:a16="http://schemas.microsoft.com/office/drawing/2014/main" id="{DA8A4674-4002-2E61-E33A-E3E05F4F8AB0}"/>
              </a:ext>
            </a:extLst>
          </p:cNvPr>
          <p:cNvPicPr>
            <a:picLocks/>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1"/>
              </a:ext>
              <a:ext uri="{6F801314-5768-4EAC-8CED-0F2297F94238}"/>
            </a:extLst>
          </a:blip>
          <a:stretch>
            <a:fillRect/>
          </a:stretch>
        </p:blipFill>
        <p:spPr bwMode="auto">
          <a:xfrm>
            <a:off x="4165600" y="4648200"/>
            <a:ext cx="152400" cy="152400"/>
          </a:xfrm>
          <a:prstGeom prst="rect">
            <a:avLst/>
          </a:prstGeom>
          <a:noFill/>
          <a:effectLst/>
        </p:spPr>
      </p:pic>
      <p:pic>
        <p:nvPicPr>
          <p:cNvPr id="80" name="Pic">
            <a:extLst>
              <a:ext uri="{FF2B5EF4-FFF2-40B4-BE49-F238E27FC236}">
                <a16:creationId xmlns:a16="http://schemas.microsoft.com/office/drawing/2014/main" id="{0444E540-3A4F-D383-2896-430FAC42C31D}"/>
              </a:ext>
            </a:extLst>
          </p:cNvPr>
          <p:cNvPicPr>
            <a:picLocks/>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 uri="{6F801314-5768-4EAC-8CED-0F2297F94238}"/>
            </a:extLst>
          </a:blip>
          <a:stretch>
            <a:fillRect/>
          </a:stretch>
        </p:blipFill>
        <p:spPr bwMode="auto">
          <a:xfrm>
            <a:off x="7975600" y="4800600"/>
            <a:ext cx="152400" cy="152400"/>
          </a:xfrm>
          <a:prstGeom prst="rect">
            <a:avLst/>
          </a:prstGeom>
          <a:noFill/>
          <a:effectLst/>
        </p:spPr>
      </p:pic>
      <p:pic>
        <p:nvPicPr>
          <p:cNvPr id="86" name="Pic">
            <a:extLst>
              <a:ext uri="{FF2B5EF4-FFF2-40B4-BE49-F238E27FC236}">
                <a16:creationId xmlns:a16="http://schemas.microsoft.com/office/drawing/2014/main" id="{DCAC6DBB-B36C-97FF-F659-090B04072F26}"/>
              </a:ext>
            </a:extLst>
          </p:cNvPr>
          <p:cNvPicPr>
            <a:picLocks/>
          </p:cNvPicPr>
          <p:nvPr>
            <p:custDataLst>
              <p:tags r:id="rId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3"/>
              </a:ext>
              <a:ext uri="{6F801314-5768-4EAC-8CED-0F2297F94238}"/>
            </a:extLst>
          </a:blip>
          <a:stretch>
            <a:fillRect/>
          </a:stretch>
        </p:blipFill>
        <p:spPr bwMode="auto">
          <a:xfrm>
            <a:off x="2438400" y="4038600"/>
            <a:ext cx="152400" cy="152400"/>
          </a:xfrm>
          <a:prstGeom prst="rect">
            <a:avLst/>
          </a:prstGeom>
          <a:noFill/>
          <a:effectLst/>
        </p:spPr>
      </p:pic>
      <p:pic>
        <p:nvPicPr>
          <p:cNvPr id="87" name="Pic">
            <a:extLst>
              <a:ext uri="{FF2B5EF4-FFF2-40B4-BE49-F238E27FC236}">
                <a16:creationId xmlns:a16="http://schemas.microsoft.com/office/drawing/2014/main" id="{B06F6168-AF54-E1EC-B708-DC14F31FF75A}"/>
              </a:ext>
            </a:extLst>
          </p:cNvPr>
          <p:cNvPicPr>
            <a:picLocks/>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4"/>
              </a:ext>
              <a:ext uri="{6F801314-5768-4EAC-8CED-0F2297F94238}"/>
            </a:extLst>
          </a:blip>
          <a:stretch>
            <a:fillRect/>
          </a:stretch>
        </p:blipFill>
        <p:spPr bwMode="auto">
          <a:xfrm>
            <a:off x="9982200" y="2006600"/>
            <a:ext cx="152400" cy="152400"/>
          </a:xfrm>
          <a:prstGeom prst="rect">
            <a:avLst/>
          </a:prstGeom>
          <a:noFill/>
          <a:effectLst/>
        </p:spPr>
      </p:pic>
      <p:cxnSp>
        <p:nvCxnSpPr>
          <p:cNvPr id="41" name="Connector: Elbow 40">
            <a:extLst>
              <a:ext uri="{FF2B5EF4-FFF2-40B4-BE49-F238E27FC236}">
                <a16:creationId xmlns:a16="http://schemas.microsoft.com/office/drawing/2014/main" id="{D0289153-52D8-3E5E-D562-709B40D4CCD6}"/>
              </a:ext>
            </a:extLst>
          </p:cNvPr>
          <p:cNvCxnSpPr>
            <a:cxnSpLocks/>
            <a:stCxn id="12" idx="3"/>
            <a:endCxn id="17" idx="1"/>
          </p:cNvCxnSpPr>
          <p:nvPr/>
        </p:nvCxnSpPr>
        <p:spPr>
          <a:xfrm>
            <a:off x="1930400" y="2156619"/>
            <a:ext cx="406400" cy="56118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0E26D7DA-177B-3FFC-1A55-4DB095BBD45C}"/>
              </a:ext>
            </a:extLst>
          </p:cNvPr>
          <p:cNvCxnSpPr>
            <a:cxnSpLocks/>
            <a:stCxn id="12" idx="3"/>
            <a:endCxn id="17" idx="1"/>
          </p:cNvCxnSpPr>
          <p:nvPr/>
        </p:nvCxnSpPr>
        <p:spPr>
          <a:xfrm>
            <a:off x="1930400" y="2156619"/>
            <a:ext cx="406400" cy="561181"/>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Elbow 73">
            <a:extLst>
              <a:ext uri="{FF2B5EF4-FFF2-40B4-BE49-F238E27FC236}">
                <a16:creationId xmlns:a16="http://schemas.microsoft.com/office/drawing/2014/main" id="{74F8E001-4D8C-9EF9-6524-33D8A3C8E778}"/>
              </a:ext>
            </a:extLst>
          </p:cNvPr>
          <p:cNvCxnSpPr>
            <a:cxnSpLocks/>
            <a:stCxn id="13" idx="3"/>
            <a:endCxn id="17" idx="1"/>
          </p:cNvCxnSpPr>
          <p:nvPr/>
        </p:nvCxnSpPr>
        <p:spPr>
          <a:xfrm flipV="1">
            <a:off x="1930400" y="2717800"/>
            <a:ext cx="406400" cy="272257"/>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Elbow 74">
            <a:extLst>
              <a:ext uri="{FF2B5EF4-FFF2-40B4-BE49-F238E27FC236}">
                <a16:creationId xmlns:a16="http://schemas.microsoft.com/office/drawing/2014/main" id="{25562DB9-1122-E5DF-BB8C-DF053C8A70CE}"/>
              </a:ext>
            </a:extLst>
          </p:cNvPr>
          <p:cNvCxnSpPr>
            <a:cxnSpLocks/>
            <a:stCxn id="14" idx="3"/>
            <a:endCxn id="17" idx="1"/>
          </p:cNvCxnSpPr>
          <p:nvPr/>
        </p:nvCxnSpPr>
        <p:spPr>
          <a:xfrm flipV="1">
            <a:off x="1930400" y="2717800"/>
            <a:ext cx="406400" cy="11049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Freeform: Shape 91">
            <a:extLst>
              <a:ext uri="{FF2B5EF4-FFF2-40B4-BE49-F238E27FC236}">
                <a16:creationId xmlns:a16="http://schemas.microsoft.com/office/drawing/2014/main" id="{D99C7111-2B30-918F-23C6-27BE49A7239B}"/>
              </a:ext>
            </a:extLst>
          </p:cNvPr>
          <p:cNvSpPr/>
          <p:nvPr/>
        </p:nvSpPr>
        <p:spPr>
          <a:xfrm>
            <a:off x="7366000" y="4292600"/>
            <a:ext cx="508001" cy="114301"/>
          </a:xfrm>
          <a:custGeom>
            <a:avLst/>
            <a:gdLst/>
            <a:ahLst/>
            <a:cxnLst/>
            <a:rect l="0" t="0" r="0" b="0"/>
            <a:pathLst>
              <a:path w="508001" h="114301">
                <a:moveTo>
                  <a:pt x="0" y="0"/>
                </a:moveTo>
                <a:lnTo>
                  <a:pt x="0" y="114300"/>
                </a:lnTo>
                <a:lnTo>
                  <a:pt x="508000" y="114300"/>
                </a:ln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cxnSp>
        <p:nvCxnSpPr>
          <p:cNvPr id="76" name="Connector: Elbow 75">
            <a:extLst>
              <a:ext uri="{FF2B5EF4-FFF2-40B4-BE49-F238E27FC236}">
                <a16:creationId xmlns:a16="http://schemas.microsoft.com/office/drawing/2014/main" id="{EF12A5EF-63D7-7610-969E-E04E20107084}"/>
              </a:ext>
            </a:extLst>
          </p:cNvPr>
          <p:cNvCxnSpPr>
            <a:cxnSpLocks/>
            <a:stCxn id="15" idx="3"/>
            <a:endCxn id="17" idx="1"/>
          </p:cNvCxnSpPr>
          <p:nvPr/>
        </p:nvCxnSpPr>
        <p:spPr>
          <a:xfrm flipV="1">
            <a:off x="1930400" y="2717800"/>
            <a:ext cx="406400" cy="1937544"/>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Elbow 76">
            <a:extLst>
              <a:ext uri="{FF2B5EF4-FFF2-40B4-BE49-F238E27FC236}">
                <a16:creationId xmlns:a16="http://schemas.microsoft.com/office/drawing/2014/main" id="{A4605252-4209-25A0-9783-75ED3DEABA90}"/>
              </a:ext>
            </a:extLst>
          </p:cNvPr>
          <p:cNvCxnSpPr>
            <a:cxnSpLocks/>
            <a:stCxn id="16" idx="3"/>
            <a:endCxn id="17" idx="1"/>
          </p:cNvCxnSpPr>
          <p:nvPr/>
        </p:nvCxnSpPr>
        <p:spPr>
          <a:xfrm flipV="1">
            <a:off x="1930400" y="2717800"/>
            <a:ext cx="406400" cy="2770982"/>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BCD3E050-9E49-B32E-1551-B0E2A3E2C78A}"/>
              </a:ext>
            </a:extLst>
          </p:cNvPr>
          <p:cNvCxnSpPr>
            <a:cxnSpLocks/>
            <a:stCxn id="17" idx="2"/>
            <a:endCxn id="18" idx="0"/>
          </p:cNvCxnSpPr>
          <p:nvPr/>
        </p:nvCxnSpPr>
        <p:spPr>
          <a:xfrm>
            <a:off x="3048000" y="3683000"/>
            <a:ext cx="0" cy="228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Elbow 81">
            <a:extLst>
              <a:ext uri="{FF2B5EF4-FFF2-40B4-BE49-F238E27FC236}">
                <a16:creationId xmlns:a16="http://schemas.microsoft.com/office/drawing/2014/main" id="{B64A286C-AB1B-35B8-444E-03D5B84F4B87}"/>
              </a:ext>
            </a:extLst>
          </p:cNvPr>
          <p:cNvCxnSpPr>
            <a:cxnSpLocks/>
            <a:stCxn id="18" idx="3"/>
            <a:endCxn id="19" idx="1"/>
          </p:cNvCxnSpPr>
          <p:nvPr/>
        </p:nvCxnSpPr>
        <p:spPr>
          <a:xfrm flipV="1">
            <a:off x="3759200" y="3022600"/>
            <a:ext cx="304800" cy="18542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Elbow 82">
            <a:extLst>
              <a:ext uri="{FF2B5EF4-FFF2-40B4-BE49-F238E27FC236}">
                <a16:creationId xmlns:a16="http://schemas.microsoft.com/office/drawing/2014/main" id="{C2540F7E-5676-B513-CA97-8D22638D2158}"/>
              </a:ext>
            </a:extLst>
          </p:cNvPr>
          <p:cNvCxnSpPr>
            <a:cxnSpLocks/>
            <a:stCxn id="21" idx="3"/>
            <a:endCxn id="23" idx="1"/>
          </p:cNvCxnSpPr>
          <p:nvPr/>
        </p:nvCxnSpPr>
        <p:spPr>
          <a:xfrm flipV="1">
            <a:off x="7569200" y="2463800"/>
            <a:ext cx="304800" cy="5588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B3A693A3-BE2C-C9FD-50B1-66059DBBC7C8}"/>
              </a:ext>
            </a:extLst>
          </p:cNvPr>
          <p:cNvCxnSpPr>
            <a:cxnSpLocks/>
            <a:stCxn id="23" idx="2"/>
            <a:endCxn id="24" idx="0"/>
          </p:cNvCxnSpPr>
          <p:nvPr/>
        </p:nvCxnSpPr>
        <p:spPr>
          <a:xfrm>
            <a:off x="8724900" y="3175000"/>
            <a:ext cx="0" cy="101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Elbow 89">
            <a:extLst>
              <a:ext uri="{FF2B5EF4-FFF2-40B4-BE49-F238E27FC236}">
                <a16:creationId xmlns:a16="http://schemas.microsoft.com/office/drawing/2014/main" id="{A269EE91-3F58-FD81-382E-0CA638F1104E}"/>
              </a:ext>
            </a:extLst>
          </p:cNvPr>
          <p:cNvCxnSpPr>
            <a:cxnSpLocks/>
            <a:stCxn id="25" idx="3"/>
            <a:endCxn id="26" idx="1"/>
          </p:cNvCxnSpPr>
          <p:nvPr/>
        </p:nvCxnSpPr>
        <p:spPr>
          <a:xfrm flipV="1">
            <a:off x="9575800" y="2743200"/>
            <a:ext cx="304800" cy="25273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Elbow 90">
            <a:extLst>
              <a:ext uri="{FF2B5EF4-FFF2-40B4-BE49-F238E27FC236}">
                <a16:creationId xmlns:a16="http://schemas.microsoft.com/office/drawing/2014/main" id="{DFE6B6E0-A933-5DF6-4377-678ABED118EE}"/>
              </a:ext>
            </a:extLst>
          </p:cNvPr>
          <p:cNvCxnSpPr>
            <a:cxnSpLocks/>
            <a:stCxn id="25" idx="3"/>
            <a:endCxn id="27" idx="1"/>
          </p:cNvCxnSpPr>
          <p:nvPr/>
        </p:nvCxnSpPr>
        <p:spPr>
          <a:xfrm flipV="1">
            <a:off x="9575800" y="4787900"/>
            <a:ext cx="304800" cy="4826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94" name="Pic">
            <a:extLst>
              <a:ext uri="{FF2B5EF4-FFF2-40B4-BE49-F238E27FC236}">
                <a16:creationId xmlns:a16="http://schemas.microsoft.com/office/drawing/2014/main" id="{A9F71D1A-E02A-9439-FBE4-9A8EA85C911D}"/>
              </a:ext>
            </a:extLst>
          </p:cNvPr>
          <p:cNvPicPr>
            <a:picLocks/>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5"/>
              </a:ext>
              <a:ext uri="{6F801314-5768-4EAC-8CED-0F2297F94238}"/>
            </a:extLst>
          </a:blip>
          <a:stretch>
            <a:fillRect/>
          </a:stretch>
        </p:blipFill>
        <p:spPr bwMode="auto">
          <a:xfrm>
            <a:off x="279400" y="1828800"/>
            <a:ext cx="152400" cy="152400"/>
          </a:xfrm>
          <a:prstGeom prst="rect">
            <a:avLst/>
          </a:prstGeom>
          <a:noFill/>
          <a:effectLst/>
        </p:spPr>
      </p:pic>
      <p:pic>
        <p:nvPicPr>
          <p:cNvPr id="95" name="Pic">
            <a:extLst>
              <a:ext uri="{FF2B5EF4-FFF2-40B4-BE49-F238E27FC236}">
                <a16:creationId xmlns:a16="http://schemas.microsoft.com/office/drawing/2014/main" id="{62537E9D-832B-3952-A703-DCAA658C7CB3}"/>
              </a:ext>
            </a:extLst>
          </p:cNvPr>
          <p:cNvPicPr>
            <a:picLocks/>
          </p:cNvPicPr>
          <p:nvPr>
            <p:custDataLst>
              <p:tags r:id="rId1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6"/>
              </a:ext>
              <a:ext uri="{6F801314-5768-4EAC-8CED-0F2297F94238}"/>
            </a:extLst>
          </a:blip>
          <a:stretch>
            <a:fillRect/>
          </a:stretch>
        </p:blipFill>
        <p:spPr bwMode="auto">
          <a:xfrm>
            <a:off x="279400" y="2667000"/>
            <a:ext cx="152400" cy="152400"/>
          </a:xfrm>
          <a:prstGeom prst="rect">
            <a:avLst/>
          </a:prstGeom>
          <a:noFill/>
          <a:effectLst/>
        </p:spPr>
      </p:pic>
      <p:pic>
        <p:nvPicPr>
          <p:cNvPr id="97" name="Pic">
            <a:extLst>
              <a:ext uri="{FF2B5EF4-FFF2-40B4-BE49-F238E27FC236}">
                <a16:creationId xmlns:a16="http://schemas.microsoft.com/office/drawing/2014/main" id="{A53265DE-66EC-5E29-D3F5-95587092FD84}"/>
              </a:ext>
            </a:extLst>
          </p:cNvPr>
          <p:cNvPicPr>
            <a:picLocks/>
          </p:cNvPicPr>
          <p:nvPr>
            <p:custDataLst>
              <p:tags r:id="rId1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7"/>
              </a:ext>
              <a:ext uri="{6F801314-5768-4EAC-8CED-0F2297F94238}"/>
            </a:extLst>
          </a:blip>
          <a:stretch>
            <a:fillRect/>
          </a:stretch>
        </p:blipFill>
        <p:spPr bwMode="auto">
          <a:xfrm>
            <a:off x="279400" y="3505200"/>
            <a:ext cx="152400" cy="152400"/>
          </a:xfrm>
          <a:prstGeom prst="rect">
            <a:avLst/>
          </a:prstGeom>
          <a:noFill/>
          <a:effectLst/>
        </p:spPr>
      </p:pic>
      <p:pic>
        <p:nvPicPr>
          <p:cNvPr id="98" name="Pic">
            <a:extLst>
              <a:ext uri="{FF2B5EF4-FFF2-40B4-BE49-F238E27FC236}">
                <a16:creationId xmlns:a16="http://schemas.microsoft.com/office/drawing/2014/main" id="{D3EB3F7E-DEED-DCA3-0CD2-DECF55071A3A}"/>
              </a:ext>
            </a:extLst>
          </p:cNvPr>
          <p:cNvPicPr>
            <a:picLocks/>
          </p:cNvPicPr>
          <p:nvPr>
            <p:custDataLst>
              <p:tags r:id="rId1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8"/>
              </a:ext>
              <a:ext uri="{6F801314-5768-4EAC-8CED-0F2297F94238}"/>
            </a:extLst>
          </a:blip>
          <a:stretch>
            <a:fillRect/>
          </a:stretch>
        </p:blipFill>
        <p:spPr bwMode="auto">
          <a:xfrm>
            <a:off x="279400" y="5168900"/>
            <a:ext cx="152400" cy="152400"/>
          </a:xfrm>
          <a:prstGeom prst="rect">
            <a:avLst/>
          </a:prstGeom>
          <a:noFill/>
          <a:effectLst/>
        </p:spPr>
      </p:pic>
      <p:sp>
        <p:nvSpPr>
          <p:cNvPr id="132" name="Rectangle 131">
            <a:extLst>
              <a:ext uri="{FF2B5EF4-FFF2-40B4-BE49-F238E27FC236}">
                <a16:creationId xmlns:a16="http://schemas.microsoft.com/office/drawing/2014/main" id="{2B464C05-480C-9357-4D4A-110899C0475C}"/>
              </a:ext>
            </a:extLst>
          </p:cNvPr>
          <p:cNvSpPr/>
          <p:nvPr/>
        </p:nvSpPr>
        <p:spPr>
          <a:xfrm>
            <a:off x="7701643" y="1255486"/>
            <a:ext cx="4223657" cy="5320258"/>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600"/>
          </a:p>
        </p:txBody>
      </p:sp>
      <p:pic>
        <p:nvPicPr>
          <p:cNvPr id="96" name="Pic">
            <a:extLst>
              <a:ext uri="{FF2B5EF4-FFF2-40B4-BE49-F238E27FC236}">
                <a16:creationId xmlns:a16="http://schemas.microsoft.com/office/drawing/2014/main" id="{FCE8FA9D-FD8C-68A2-2266-A034A003CC23}"/>
              </a:ext>
            </a:extLst>
          </p:cNvPr>
          <p:cNvPicPr>
            <a:picLocks/>
          </p:cNvPicPr>
          <p:nvPr>
            <p:custDataLst>
              <p:tags r:id="rId1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9"/>
              </a:ext>
              <a:ext uri="{6F801314-5768-4EAC-8CED-0F2297F94238}"/>
            </a:extLst>
          </a:blip>
          <a:stretch>
            <a:fillRect/>
          </a:stretch>
        </p:blipFill>
        <p:spPr bwMode="auto">
          <a:xfrm>
            <a:off x="2438400" y="1879600"/>
            <a:ext cx="152400" cy="152400"/>
          </a:xfrm>
          <a:prstGeom prst="rect">
            <a:avLst/>
          </a:prstGeom>
          <a:noFill/>
          <a:effectLst/>
        </p:spPr>
      </p:pic>
      <p:pic>
        <p:nvPicPr>
          <p:cNvPr id="99" name="Pic">
            <a:extLst>
              <a:ext uri="{FF2B5EF4-FFF2-40B4-BE49-F238E27FC236}">
                <a16:creationId xmlns:a16="http://schemas.microsoft.com/office/drawing/2014/main" id="{C6253BC6-451E-2591-E97D-D224BB9C0B51}"/>
              </a:ext>
            </a:extLst>
          </p:cNvPr>
          <p:cNvPicPr>
            <a:picLocks/>
          </p:cNvPicPr>
          <p:nvPr>
            <p:custDataLst>
              <p:tags r:id="rId1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0"/>
              </a:ext>
              <a:ext uri="{6F801314-5768-4EAC-8CED-0F2297F94238}"/>
            </a:extLst>
          </a:blip>
          <a:stretch>
            <a:fillRect/>
          </a:stretch>
        </p:blipFill>
        <p:spPr bwMode="auto">
          <a:xfrm>
            <a:off x="7975600" y="3378200"/>
            <a:ext cx="152400" cy="152400"/>
          </a:xfrm>
          <a:prstGeom prst="rect">
            <a:avLst/>
          </a:prstGeom>
          <a:noFill/>
          <a:effectLst/>
        </p:spPr>
      </p:pic>
      <p:pic>
        <p:nvPicPr>
          <p:cNvPr id="101" name="Pic">
            <a:extLst>
              <a:ext uri="{FF2B5EF4-FFF2-40B4-BE49-F238E27FC236}">
                <a16:creationId xmlns:a16="http://schemas.microsoft.com/office/drawing/2014/main" id="{B70239B0-BB93-7DDE-D097-323194D99D6C}"/>
              </a:ext>
            </a:extLst>
          </p:cNvPr>
          <p:cNvPicPr>
            <a:picLocks/>
          </p:cNvPicPr>
          <p:nvPr>
            <p:custDataLst>
              <p:tags r:id="rId1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1"/>
              </a:ext>
              <a:ext uri="{6F801314-5768-4EAC-8CED-0F2297F94238}"/>
            </a:extLst>
          </a:blip>
          <a:stretch>
            <a:fillRect/>
          </a:stretch>
        </p:blipFill>
        <p:spPr bwMode="auto">
          <a:xfrm>
            <a:off x="279400" y="4330700"/>
            <a:ext cx="152400" cy="152400"/>
          </a:xfrm>
          <a:prstGeom prst="rect">
            <a:avLst/>
          </a:prstGeom>
          <a:noFill/>
          <a:effectLst/>
        </p:spPr>
      </p:pic>
      <p:cxnSp>
        <p:nvCxnSpPr>
          <p:cNvPr id="105" name="Straight Arrow Connector 104">
            <a:extLst>
              <a:ext uri="{FF2B5EF4-FFF2-40B4-BE49-F238E27FC236}">
                <a16:creationId xmlns:a16="http://schemas.microsoft.com/office/drawing/2014/main" id="{D9AF03AF-B555-4229-5B14-BEA6593026B1}"/>
              </a:ext>
            </a:extLst>
          </p:cNvPr>
          <p:cNvCxnSpPr>
            <a:cxnSpLocks/>
            <a:stCxn id="24" idx="2"/>
            <a:endCxn id="25" idx="0"/>
          </p:cNvCxnSpPr>
          <p:nvPr/>
        </p:nvCxnSpPr>
        <p:spPr>
          <a:xfrm>
            <a:off x="8724900" y="4597400"/>
            <a:ext cx="0" cy="101600"/>
          </a:xfrm>
          <a:prstGeom prst="straightConnector1">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AB58EB29-79B6-C553-CF8C-EDD54EBC2B3D}"/>
              </a:ext>
            </a:extLst>
          </p:cNvPr>
          <p:cNvSpPr/>
          <p:nvPr/>
        </p:nvSpPr>
        <p:spPr>
          <a:xfrm>
            <a:off x="7721600" y="4457701"/>
            <a:ext cx="4267199" cy="151130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4" name="Rectangle 33">
            <a:extLst>
              <a:ext uri="{FF2B5EF4-FFF2-40B4-BE49-F238E27FC236}">
                <a16:creationId xmlns:a16="http://schemas.microsoft.com/office/drawing/2014/main" id="{1B043882-62E0-CEB2-9305-63853DDDAB5E}"/>
              </a:ext>
            </a:extLst>
          </p:cNvPr>
          <p:cNvSpPr/>
          <p:nvPr/>
        </p:nvSpPr>
        <p:spPr>
          <a:xfrm>
            <a:off x="7772400" y="1346200"/>
            <a:ext cx="4368799" cy="313690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6" name="Rectangle 35">
            <a:extLst>
              <a:ext uri="{FF2B5EF4-FFF2-40B4-BE49-F238E27FC236}">
                <a16:creationId xmlns:a16="http://schemas.microsoft.com/office/drawing/2014/main" id="{AE0F2E1C-32DD-7F44-7773-A841F96A906C}"/>
              </a:ext>
            </a:extLst>
          </p:cNvPr>
          <p:cNvSpPr/>
          <p:nvPr/>
        </p:nvSpPr>
        <p:spPr>
          <a:xfrm>
            <a:off x="101600" y="1272989"/>
            <a:ext cx="3835400" cy="4696012"/>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8" name="Rectangle: Rounded Corners 37">
            <a:extLst>
              <a:ext uri="{FF2B5EF4-FFF2-40B4-BE49-F238E27FC236}">
                <a16:creationId xmlns:a16="http://schemas.microsoft.com/office/drawing/2014/main" id="{1F38DDF5-7648-0371-3CEC-F5553E2AA7B5}"/>
              </a:ext>
            </a:extLst>
          </p:cNvPr>
          <p:cNvSpPr/>
          <p:nvPr/>
        </p:nvSpPr>
        <p:spPr>
          <a:xfrm>
            <a:off x="406400" y="1371600"/>
            <a:ext cx="3454400" cy="4572000"/>
          </a:xfrm>
          <a:prstGeom prst="roundRect">
            <a:avLst>
              <a:gd name="adj" fmla="val 3000"/>
            </a:avLst>
          </a:prstGeom>
          <a:solidFill>
            <a:schemeClr val="tx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9" name="Rectangle: Rounded Corners 38">
            <a:extLst>
              <a:ext uri="{FF2B5EF4-FFF2-40B4-BE49-F238E27FC236}">
                <a16:creationId xmlns:a16="http://schemas.microsoft.com/office/drawing/2014/main" id="{5653E835-298E-8FAB-C8AE-EE745D9ED3BA}"/>
              </a:ext>
            </a:extLst>
          </p:cNvPr>
          <p:cNvSpPr/>
          <p:nvPr/>
        </p:nvSpPr>
        <p:spPr>
          <a:xfrm>
            <a:off x="533400" y="2108200"/>
            <a:ext cx="3200400" cy="3733800"/>
          </a:xfrm>
          <a:prstGeom prst="roundRect">
            <a:avLst>
              <a:gd name="adj" fmla="val 3500"/>
            </a:avLst>
          </a:prstGeom>
          <a:noFill/>
          <a:ln w="9525" cap="flat" cmpd="sng" algn="ctr">
            <a:noFill/>
            <a:prstDash val="solid"/>
            <a:miter lim="800000"/>
          </a:ln>
          <a:effectLst/>
          <a:extLst>
            <a:ext uri="{909E8E84-426E-40DD-AFC4-6F175D3DCCD1}">
              <a14:hiddenFill xmlns:a14="http://schemas.microsoft.com/office/drawing/2010/main">
                <a:solidFill>
                  <a:schemeClr val="tx2">
                    <a:lumMod val="88000"/>
                    <a:lumOff val="12000"/>
                  </a:schemeClr>
                </a:solidFill>
              </a14:hiddenFill>
            </a:ext>
            <a:ext uri="{91240B29-F687-4F45-9708-019B960494DF}">
              <a14:hiddenLine xmlns:a14="http://schemas.microsoft.com/office/drawing/2010/main" w="9525" cap="flat" cmpd="sng" algn="ctr">
                <a:solidFill>
                  <a:schemeClr val="bg2">
                    <a:lumMod val="9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88900" bIns="63500" rtlCol="0" anchor="t">
            <a:noAutofit/>
          </a:bodyPr>
          <a:lstStyle/>
          <a:p>
            <a:r>
              <a:rPr lang="en-MY" sz="1200" b="1">
                <a:solidFill>
                  <a:schemeClr val="bg1"/>
                </a:solidFill>
              </a:rPr>
              <a:t>Refresh · Place · Check</a:t>
            </a:r>
          </a:p>
        </p:txBody>
      </p:sp>
      <p:sp>
        <p:nvSpPr>
          <p:cNvPr id="40" name="TextBox 39">
            <a:extLst>
              <a:ext uri="{FF2B5EF4-FFF2-40B4-BE49-F238E27FC236}">
                <a16:creationId xmlns:a16="http://schemas.microsoft.com/office/drawing/2014/main" id="{8118CE54-92ED-8A5C-38DF-240D07AA7096}"/>
              </a:ext>
            </a:extLst>
          </p:cNvPr>
          <p:cNvSpPr txBox="1"/>
          <p:nvPr/>
        </p:nvSpPr>
        <p:spPr>
          <a:xfrm>
            <a:off x="533400" y="1447800"/>
            <a:ext cx="3200400" cy="609600"/>
          </a:xfrm>
          <a:prstGeom prst="rect">
            <a:avLst/>
          </a:prstGeom>
          <a:noFill/>
        </p:spPr>
        <p:txBody>
          <a:bodyPr vert="horz" rtlCol="0">
            <a:noAutofit/>
          </a:bodyPr>
          <a:lstStyle/>
          <a:p>
            <a:r>
              <a:rPr lang="en-US" b="1">
                <a:solidFill>
                  <a:schemeClr val="bg1"/>
                </a:solidFill>
              </a:rPr>
              <a:t>flood-etl: bronze → silver</a:t>
            </a:r>
            <a:endParaRPr lang="en-MY"/>
          </a:p>
        </p:txBody>
      </p:sp>
      <p:sp>
        <p:nvSpPr>
          <p:cNvPr id="44" name="Rectangle: Rounded Corners 43">
            <a:extLst>
              <a:ext uri="{FF2B5EF4-FFF2-40B4-BE49-F238E27FC236}">
                <a16:creationId xmlns:a16="http://schemas.microsoft.com/office/drawing/2014/main" id="{D98E4D53-4E2F-5347-1FDE-01D34AD98D2F}"/>
              </a:ext>
            </a:extLst>
          </p:cNvPr>
          <p:cNvSpPr/>
          <p:nvPr/>
        </p:nvSpPr>
        <p:spPr>
          <a:xfrm>
            <a:off x="7772400" y="1371600"/>
            <a:ext cx="4089400" cy="4572000"/>
          </a:xfrm>
          <a:prstGeom prst="roundRect">
            <a:avLst>
              <a:gd name="adj" fmla="val 3000"/>
            </a:avLst>
          </a:prstGeom>
          <a:solidFill>
            <a:schemeClr val="tx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5" name="Rectangle: Rounded Corners 44">
            <a:extLst>
              <a:ext uri="{FF2B5EF4-FFF2-40B4-BE49-F238E27FC236}">
                <a16:creationId xmlns:a16="http://schemas.microsoft.com/office/drawing/2014/main" id="{BDBB1AD0-C915-8A83-BBBC-4901EB6B0C87}"/>
              </a:ext>
            </a:extLst>
          </p:cNvPr>
          <p:cNvSpPr/>
          <p:nvPr/>
        </p:nvSpPr>
        <p:spPr>
          <a:xfrm>
            <a:off x="7899400" y="2108200"/>
            <a:ext cx="3835400" cy="3733800"/>
          </a:xfrm>
          <a:prstGeom prst="roundRect">
            <a:avLst>
              <a:gd name="adj" fmla="val 3500"/>
            </a:avLst>
          </a:prstGeom>
          <a:noFill/>
          <a:ln w="9525" cap="flat" cmpd="sng" algn="ctr">
            <a:noFill/>
            <a:prstDash val="solid"/>
            <a:miter lim="800000"/>
          </a:ln>
          <a:effectLst/>
          <a:extLst>
            <a:ext uri="{909E8E84-426E-40DD-AFC4-6F175D3DCCD1}">
              <a14:hiddenFill xmlns:a14="http://schemas.microsoft.com/office/drawing/2010/main">
                <a:solidFill>
                  <a:schemeClr val="tx2">
                    <a:lumMod val="88000"/>
                    <a:lumOff val="12000"/>
                  </a:schemeClr>
                </a:solidFill>
              </a14:hiddenFill>
            </a:ext>
            <a:ext uri="{91240B29-F687-4F45-9708-019B960494DF}">
              <a14:hiddenLine xmlns:a14="http://schemas.microsoft.com/office/drawing/2010/main" w="9525" cap="flat" cmpd="sng" algn="ctr">
                <a:solidFill>
                  <a:schemeClr val="bg2">
                    <a:lumMod val="9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88900" bIns="63500" rtlCol="0" anchor="t">
            <a:noAutofit/>
          </a:bodyPr>
          <a:lstStyle/>
          <a:p>
            <a:r>
              <a:rPr lang="en-MY" sz="1200" b="1">
                <a:solidFill>
                  <a:schemeClr val="bg1"/>
                </a:solidFill>
              </a:rPr>
              <a:t>Compute · Model · Guard</a:t>
            </a:r>
          </a:p>
        </p:txBody>
      </p:sp>
      <p:sp>
        <p:nvSpPr>
          <p:cNvPr id="46" name="TextBox 45">
            <a:extLst>
              <a:ext uri="{FF2B5EF4-FFF2-40B4-BE49-F238E27FC236}">
                <a16:creationId xmlns:a16="http://schemas.microsoft.com/office/drawing/2014/main" id="{6E31D236-0CD6-7076-D9F2-E3C8D6073334}"/>
              </a:ext>
            </a:extLst>
          </p:cNvPr>
          <p:cNvSpPr txBox="1"/>
          <p:nvPr/>
        </p:nvSpPr>
        <p:spPr>
          <a:xfrm>
            <a:off x="7899400" y="1447800"/>
            <a:ext cx="3835400" cy="609600"/>
          </a:xfrm>
          <a:prstGeom prst="rect">
            <a:avLst/>
          </a:prstGeom>
          <a:noFill/>
        </p:spPr>
        <p:txBody>
          <a:bodyPr vert="horz" rtlCol="0">
            <a:noAutofit/>
          </a:bodyPr>
          <a:lstStyle/>
          <a:p>
            <a:r>
              <a:rPr lang="en-US" b="1">
                <a:solidFill>
                  <a:schemeClr val="bg1"/>
                </a:solidFill>
              </a:rPr>
              <a:t>flood-gold: features, labels</a:t>
            </a:r>
            <a:endParaRPr lang="en-MY"/>
          </a:p>
        </p:txBody>
      </p:sp>
      <p:sp>
        <p:nvSpPr>
          <p:cNvPr id="47" name="Rectangle: Rounded Corners 46">
            <a:extLst>
              <a:ext uri="{FF2B5EF4-FFF2-40B4-BE49-F238E27FC236}">
                <a16:creationId xmlns:a16="http://schemas.microsoft.com/office/drawing/2014/main" id="{B3F15DA2-70AB-D32C-B680-982A7BD2EB0A}"/>
              </a:ext>
            </a:extLst>
          </p:cNvPr>
          <p:cNvSpPr/>
          <p:nvPr/>
        </p:nvSpPr>
        <p:spPr>
          <a:xfrm>
            <a:off x="533400" y="2438400"/>
            <a:ext cx="3200400" cy="10668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Refresh bronze and silver</a:t>
            </a:r>
          </a:p>
          <a:p>
            <a:pPr marL="171450" indent="-171450">
              <a:spcBef>
                <a:spcPts val="600"/>
              </a:spcBef>
              <a:buFont typeface="Arial" panose="020B0604020202020204" pitchFamily="34" charset="0"/>
              <a:buChar char="•"/>
            </a:pPr>
            <a:r>
              <a:rPr lang="en-US" sz="1100">
                <a:solidFill>
                  <a:schemeClr val="bg1"/>
                </a:solidFill>
              </a:rPr>
              <a:t>Dedupes and types readings</a:t>
            </a:r>
            <a:endParaRPr lang="en-MY"/>
          </a:p>
          <a:p>
            <a:pPr marL="171450" indent="-171450">
              <a:spcBef>
                <a:spcPts val="600"/>
              </a:spcBef>
              <a:buFont typeface="Arial" panose="020B0604020202020204" pitchFamily="34" charset="0"/>
              <a:buChar char="•"/>
            </a:pPr>
            <a:r>
              <a:rPr lang="en-US" sz="1100">
                <a:solidFill>
                  <a:schemeClr val="bg1"/>
                </a:solidFill>
              </a:rPr>
              <a:t>Reads PUB's posts</a:t>
            </a:r>
            <a:endParaRPr lang="en-MY"/>
          </a:p>
        </p:txBody>
      </p:sp>
      <p:sp>
        <p:nvSpPr>
          <p:cNvPr id="48" name="Rectangle: Rounded Corners 47">
            <a:extLst>
              <a:ext uri="{FF2B5EF4-FFF2-40B4-BE49-F238E27FC236}">
                <a16:creationId xmlns:a16="http://schemas.microsoft.com/office/drawing/2014/main" id="{D035BD51-30B8-2312-F1A9-A1AE5A197439}"/>
              </a:ext>
            </a:extLst>
          </p:cNvPr>
          <p:cNvSpPr/>
          <p:nvPr/>
        </p:nvSpPr>
        <p:spPr>
          <a:xfrm>
            <a:off x="533400" y="3606800"/>
            <a:ext cx="3200400" cy="10668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Place every alert</a:t>
            </a:r>
          </a:p>
          <a:p>
            <a:pPr marL="171450" indent="-171450">
              <a:spcBef>
                <a:spcPts val="600"/>
              </a:spcBef>
              <a:buFont typeface="Arial" panose="020B0604020202020204" pitchFamily="34" charset="0"/>
              <a:buChar char="•"/>
            </a:pPr>
            <a:r>
              <a:rPr lang="en-US" sz="1100">
                <a:solidFill>
                  <a:schemeClr val="bg1"/>
                </a:solidFill>
              </a:rPr>
              <a:t>Into one of NEA's 47 forecast areas</a:t>
            </a:r>
            <a:endParaRPr lang="en-MY"/>
          </a:p>
          <a:p>
            <a:pPr marL="171450" indent="-171450">
              <a:spcBef>
                <a:spcPts val="600"/>
              </a:spcBef>
              <a:buFont typeface="Arial" panose="020B0604020202020204" pitchFamily="34" charset="0"/>
              <a:buChar char="•"/>
            </a:pPr>
            <a:r>
              <a:rPr lang="en-US" sz="1100">
                <a:solidFill>
                  <a:schemeClr val="bg1"/>
                </a:solidFill>
              </a:rPr>
              <a:t>Via PUB sensors, OneMap, manual fixes</a:t>
            </a:r>
            <a:endParaRPr lang="en-MY"/>
          </a:p>
        </p:txBody>
      </p:sp>
      <p:sp>
        <p:nvSpPr>
          <p:cNvPr id="49" name="Rectangle: Rounded Corners 48">
            <a:extLst>
              <a:ext uri="{FF2B5EF4-FFF2-40B4-BE49-F238E27FC236}">
                <a16:creationId xmlns:a16="http://schemas.microsoft.com/office/drawing/2014/main" id="{3C61DA66-BE0C-F58B-A5A3-3A7EE8A8F2BA}"/>
              </a:ext>
            </a:extLst>
          </p:cNvPr>
          <p:cNvSpPr/>
          <p:nvPr/>
        </p:nvSpPr>
        <p:spPr>
          <a:xfrm>
            <a:off x="533400" y="4775200"/>
            <a:ext cx="3200400" cy="10668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Expectations</a:t>
            </a:r>
          </a:p>
          <a:p>
            <a:pPr marL="171450" indent="-171450">
              <a:spcBef>
                <a:spcPts val="600"/>
              </a:spcBef>
              <a:buFont typeface="Arial" panose="020B0604020202020204" pitchFamily="34" charset="0"/>
              <a:buChar char="•"/>
            </a:pPr>
            <a:r>
              <a:rPr lang="en-US" sz="1100">
                <a:solidFill>
                  <a:schemeClr val="bg1"/>
                </a:solidFill>
              </a:rPr>
              <a:t>Drop malformed readings</a:t>
            </a:r>
            <a:endParaRPr lang="en-MY"/>
          </a:p>
          <a:p>
            <a:pPr marL="171450" indent="-171450">
              <a:spcBef>
                <a:spcPts val="600"/>
              </a:spcBef>
              <a:buFont typeface="Arial" panose="020B0604020202020204" pitchFamily="34" charset="0"/>
              <a:buChar char="•"/>
            </a:pPr>
            <a:r>
              <a:rPr lang="en-US" sz="1100">
                <a:solidFill>
                  <a:schemeClr val="bg1"/>
                </a:solidFill>
              </a:rPr>
              <a:t>Quarantine bad alerts, review unread posts</a:t>
            </a:r>
            <a:endParaRPr lang="en-MY"/>
          </a:p>
        </p:txBody>
      </p:sp>
      <p:sp>
        <p:nvSpPr>
          <p:cNvPr id="50" name="IconTile_17">
            <a:extLst>
              <a:ext uri="{FF2B5EF4-FFF2-40B4-BE49-F238E27FC236}">
                <a16:creationId xmlns:a16="http://schemas.microsoft.com/office/drawing/2014/main" id="{6BC6B255-CA8C-B865-6C9C-304192CB6CBF}"/>
              </a:ext>
            </a:extLst>
          </p:cNvPr>
          <p:cNvSpPr/>
          <p:nvPr/>
        </p:nvSpPr>
        <p:spPr>
          <a:xfrm>
            <a:off x="647700" y="25527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1" name="IconTile_17">
            <a:extLst>
              <a:ext uri="{FF2B5EF4-FFF2-40B4-BE49-F238E27FC236}">
                <a16:creationId xmlns:a16="http://schemas.microsoft.com/office/drawing/2014/main" id="{BE7ED673-ECAB-CD0B-54D4-AEDB94B21802}"/>
              </a:ext>
            </a:extLst>
          </p:cNvPr>
          <p:cNvSpPr/>
          <p:nvPr/>
        </p:nvSpPr>
        <p:spPr>
          <a:xfrm>
            <a:off x="647700" y="37211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2" name="IconTile_17">
            <a:extLst>
              <a:ext uri="{FF2B5EF4-FFF2-40B4-BE49-F238E27FC236}">
                <a16:creationId xmlns:a16="http://schemas.microsoft.com/office/drawing/2014/main" id="{90D17023-9936-8693-9E0C-871F67A506F5}"/>
              </a:ext>
            </a:extLst>
          </p:cNvPr>
          <p:cNvSpPr/>
          <p:nvPr/>
        </p:nvSpPr>
        <p:spPr>
          <a:xfrm>
            <a:off x="647700" y="4889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7" name="Rectangle: Rounded Corners 66">
            <a:extLst>
              <a:ext uri="{FF2B5EF4-FFF2-40B4-BE49-F238E27FC236}">
                <a16:creationId xmlns:a16="http://schemas.microsoft.com/office/drawing/2014/main" id="{E5DCEC7A-04A7-AB63-3C06-CAF896234171}"/>
              </a:ext>
            </a:extLst>
          </p:cNvPr>
          <p:cNvSpPr/>
          <p:nvPr/>
        </p:nvSpPr>
        <p:spPr>
          <a:xfrm>
            <a:off x="7899400" y="2438400"/>
            <a:ext cx="3835400" cy="8128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Materialized views</a:t>
            </a:r>
          </a:p>
          <a:p>
            <a:pPr marL="171450" indent="-171450">
              <a:spcBef>
                <a:spcPts val="600"/>
              </a:spcBef>
              <a:buFont typeface="Arial" panose="020B0604020202020204" pitchFamily="34" charset="0"/>
              <a:buChar char="•"/>
            </a:pPr>
            <a:r>
              <a:rPr lang="en-US" sz="1100">
                <a:solidFill>
                  <a:schemeClr val="bg1"/>
                </a:solidFill>
              </a:rPr>
              <a:t>Rain, upwind rain, forecast, tide, terrain, storm memory</a:t>
            </a:r>
            <a:endParaRPr lang="en-MY"/>
          </a:p>
        </p:txBody>
      </p:sp>
      <p:sp>
        <p:nvSpPr>
          <p:cNvPr id="68" name="Rectangle: Rounded Corners 67">
            <a:extLst>
              <a:ext uri="{FF2B5EF4-FFF2-40B4-BE49-F238E27FC236}">
                <a16:creationId xmlns:a16="http://schemas.microsoft.com/office/drawing/2014/main" id="{8E69649C-2AE8-9F06-5D2F-DCF454D385C0}"/>
              </a:ext>
            </a:extLst>
          </p:cNvPr>
          <p:cNvSpPr/>
          <p:nvPr/>
        </p:nvSpPr>
        <p:spPr>
          <a:xfrm>
            <a:off x="7899400" y="3327400"/>
            <a:ext cx="3835400" cy="8128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In-pipeline tide model</a:t>
            </a:r>
          </a:p>
          <a:p>
            <a:pPr marL="171450" indent="-171450">
              <a:spcBef>
                <a:spcPts val="600"/>
              </a:spcBef>
              <a:buFont typeface="Arial" panose="020B0604020202020204" pitchFamily="34" charset="0"/>
              <a:buChar char="•"/>
            </a:pPr>
            <a:r>
              <a:rPr lang="en-US" sz="1100">
                <a:solidFill>
                  <a:schemeClr val="bg1"/>
                </a:solidFill>
              </a:rPr>
              <a:t>Checked against NEA's tide table</a:t>
            </a:r>
            <a:endParaRPr lang="en-MY"/>
          </a:p>
        </p:txBody>
      </p:sp>
      <p:sp>
        <p:nvSpPr>
          <p:cNvPr id="69" name="Rectangle: Rounded Corners 68">
            <a:extLst>
              <a:ext uri="{FF2B5EF4-FFF2-40B4-BE49-F238E27FC236}">
                <a16:creationId xmlns:a16="http://schemas.microsoft.com/office/drawing/2014/main" id="{9BA4BDBA-9EF7-1C90-C78D-C9C8982C0563}"/>
              </a:ext>
            </a:extLst>
          </p:cNvPr>
          <p:cNvSpPr/>
          <p:nvPr/>
        </p:nvSpPr>
        <p:spPr>
          <a:xfrm>
            <a:off x="7899400" y="4216400"/>
            <a:ext cx="3835400" cy="8128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Missing never counts as zero</a:t>
            </a:r>
          </a:p>
          <a:p>
            <a:pPr marL="171450" indent="-171450">
              <a:spcBef>
                <a:spcPts val="600"/>
              </a:spcBef>
              <a:buFont typeface="Arial" panose="020B0604020202020204" pitchFamily="34" charset="0"/>
              <a:buChar char="•"/>
            </a:pPr>
            <a:r>
              <a:rPr lang="en-US" sz="1100">
                <a:solidFill>
                  <a:schemeClr val="bg1"/>
                </a:solidFill>
              </a:rPr>
              <a:t>Readings count only from NEA's publish time</a:t>
            </a:r>
            <a:endParaRPr lang="en-MY"/>
          </a:p>
        </p:txBody>
      </p:sp>
      <p:sp>
        <p:nvSpPr>
          <p:cNvPr id="70" name="IconTile_17">
            <a:extLst>
              <a:ext uri="{FF2B5EF4-FFF2-40B4-BE49-F238E27FC236}">
                <a16:creationId xmlns:a16="http://schemas.microsoft.com/office/drawing/2014/main" id="{A6650DB6-BBD8-0A17-97DC-987ECE76F7F1}"/>
              </a:ext>
            </a:extLst>
          </p:cNvPr>
          <p:cNvSpPr/>
          <p:nvPr/>
        </p:nvSpPr>
        <p:spPr>
          <a:xfrm>
            <a:off x="8013700" y="25527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3" name="IconTile_17">
            <a:extLst>
              <a:ext uri="{FF2B5EF4-FFF2-40B4-BE49-F238E27FC236}">
                <a16:creationId xmlns:a16="http://schemas.microsoft.com/office/drawing/2014/main" id="{728F9C87-1000-BB8D-B8E9-6DB49D538738}"/>
              </a:ext>
            </a:extLst>
          </p:cNvPr>
          <p:cNvSpPr/>
          <p:nvPr/>
        </p:nvSpPr>
        <p:spPr>
          <a:xfrm>
            <a:off x="8013700" y="34417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5" name="IconTile_17">
            <a:extLst>
              <a:ext uri="{FF2B5EF4-FFF2-40B4-BE49-F238E27FC236}">
                <a16:creationId xmlns:a16="http://schemas.microsoft.com/office/drawing/2014/main" id="{1BF57B95-A5C2-1A43-9729-54D6083DC0E5}"/>
              </a:ext>
            </a:extLst>
          </p:cNvPr>
          <p:cNvSpPr/>
          <p:nvPr/>
        </p:nvSpPr>
        <p:spPr>
          <a:xfrm>
            <a:off x="8013700" y="43307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8" name="Rectangle: Rounded Corners 87">
            <a:extLst>
              <a:ext uri="{FF2B5EF4-FFF2-40B4-BE49-F238E27FC236}">
                <a16:creationId xmlns:a16="http://schemas.microsoft.com/office/drawing/2014/main" id="{15C7E685-C21B-A5F8-4A9A-FD744C5BE45E}"/>
              </a:ext>
            </a:extLst>
          </p:cNvPr>
          <p:cNvSpPr/>
          <p:nvPr/>
        </p:nvSpPr>
        <p:spPr>
          <a:xfrm>
            <a:off x="7899400" y="5105400"/>
            <a:ext cx="3835400" cy="7366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One feature module, gold and live</a:t>
            </a:r>
          </a:p>
          <a:p>
            <a:pPr marL="171450" indent="-171450">
              <a:spcBef>
                <a:spcPts val="600"/>
              </a:spcBef>
              <a:buFont typeface="Arial" panose="020B0604020202020204" pitchFamily="34" charset="0"/>
              <a:buChar char="•"/>
            </a:pPr>
            <a:r>
              <a:rPr lang="en-US" sz="1100">
                <a:solidFill>
                  <a:schemeClr val="bg1"/>
                </a:solidFill>
              </a:rPr>
              <a:t>534 area-ticks checked, every column matched</a:t>
            </a:r>
            <a:endParaRPr lang="en-MY"/>
          </a:p>
        </p:txBody>
      </p:sp>
      <p:sp>
        <p:nvSpPr>
          <p:cNvPr id="89" name="IconTile_17">
            <a:extLst>
              <a:ext uri="{FF2B5EF4-FFF2-40B4-BE49-F238E27FC236}">
                <a16:creationId xmlns:a16="http://schemas.microsoft.com/office/drawing/2014/main" id="{ECF831E3-E92A-8962-1E57-AA9198AB0D6F}"/>
              </a:ext>
            </a:extLst>
          </p:cNvPr>
          <p:cNvSpPr/>
          <p:nvPr/>
        </p:nvSpPr>
        <p:spPr>
          <a:xfrm>
            <a:off x="8013700" y="52197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93" name="Pic">
            <a:extLst>
              <a:ext uri="{FF2B5EF4-FFF2-40B4-BE49-F238E27FC236}">
                <a16:creationId xmlns:a16="http://schemas.microsoft.com/office/drawing/2014/main" id="{8511F1B5-E198-7826-9036-9F9738E5FA9D}"/>
              </a:ext>
            </a:extLst>
          </p:cNvPr>
          <p:cNvPicPr>
            <a:picLocks/>
          </p:cNvPicPr>
          <p:nvPr>
            <p:custDataLst>
              <p:tags r:id="rId1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2"/>
              </a:ext>
              <a:ext uri="{6F801314-5768-4EAC-8CED-0F2297F94238}"/>
            </a:extLst>
          </a:blip>
          <a:stretch>
            <a:fillRect/>
          </a:stretch>
        </p:blipFill>
        <p:spPr bwMode="auto">
          <a:xfrm>
            <a:off x="673100" y="2578100"/>
            <a:ext cx="177800" cy="177800"/>
          </a:xfrm>
          <a:prstGeom prst="rect">
            <a:avLst/>
          </a:prstGeom>
          <a:noFill/>
          <a:effectLst/>
        </p:spPr>
      </p:pic>
      <p:pic>
        <p:nvPicPr>
          <p:cNvPr id="100" name="Pic">
            <a:extLst>
              <a:ext uri="{FF2B5EF4-FFF2-40B4-BE49-F238E27FC236}">
                <a16:creationId xmlns:a16="http://schemas.microsoft.com/office/drawing/2014/main" id="{6CAA1900-027E-5B91-9C2F-DA18AA40091E}"/>
              </a:ext>
            </a:extLst>
          </p:cNvPr>
          <p:cNvPicPr>
            <a:picLocks/>
          </p:cNvPicPr>
          <p:nvPr>
            <p:custDataLst>
              <p:tags r:id="rId1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8"/>
              </a:ext>
              <a:ext uri="{6F801314-5768-4EAC-8CED-0F2297F94238}"/>
            </a:extLst>
          </a:blip>
          <a:stretch>
            <a:fillRect/>
          </a:stretch>
        </p:blipFill>
        <p:spPr bwMode="auto">
          <a:xfrm>
            <a:off x="673100" y="3746500"/>
            <a:ext cx="177800" cy="177800"/>
          </a:xfrm>
          <a:prstGeom prst="rect">
            <a:avLst/>
          </a:prstGeom>
          <a:noFill/>
          <a:effectLst/>
        </p:spPr>
      </p:pic>
      <p:pic>
        <p:nvPicPr>
          <p:cNvPr id="102" name="Pic">
            <a:extLst>
              <a:ext uri="{FF2B5EF4-FFF2-40B4-BE49-F238E27FC236}">
                <a16:creationId xmlns:a16="http://schemas.microsoft.com/office/drawing/2014/main" id="{0267CB2E-3BB7-87D5-CD99-94E796F3F409}"/>
              </a:ext>
            </a:extLst>
          </p:cNvPr>
          <p:cNvPicPr>
            <a:picLocks/>
          </p:cNvPicPr>
          <p:nvPr>
            <p:custDataLst>
              <p:tags r:id="rId1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3"/>
              </a:ext>
              <a:ext uri="{6F801314-5768-4EAC-8CED-0F2297F94238}"/>
            </a:extLst>
          </a:blip>
          <a:stretch>
            <a:fillRect/>
          </a:stretch>
        </p:blipFill>
        <p:spPr bwMode="auto">
          <a:xfrm>
            <a:off x="673100" y="4914900"/>
            <a:ext cx="177800" cy="177800"/>
          </a:xfrm>
          <a:prstGeom prst="rect">
            <a:avLst/>
          </a:prstGeom>
          <a:noFill/>
          <a:effectLst/>
        </p:spPr>
      </p:pic>
      <p:pic>
        <p:nvPicPr>
          <p:cNvPr id="103" name="Pic">
            <a:extLst>
              <a:ext uri="{FF2B5EF4-FFF2-40B4-BE49-F238E27FC236}">
                <a16:creationId xmlns:a16="http://schemas.microsoft.com/office/drawing/2014/main" id="{6D059FCB-10B8-98F7-C59C-89D138421EFB}"/>
              </a:ext>
            </a:extLst>
          </p:cNvPr>
          <p:cNvPicPr>
            <a:picLocks/>
          </p:cNvPicPr>
          <p:nvPr>
            <p:custDataLst>
              <p:tags r:id="rId2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4"/>
              </a:ext>
              <a:ext uri="{6F801314-5768-4EAC-8CED-0F2297F94238}"/>
            </a:extLst>
          </a:blip>
          <a:stretch>
            <a:fillRect/>
          </a:stretch>
        </p:blipFill>
        <p:spPr bwMode="auto">
          <a:xfrm>
            <a:off x="8039100" y="2578100"/>
            <a:ext cx="177800" cy="177800"/>
          </a:xfrm>
          <a:prstGeom prst="rect">
            <a:avLst/>
          </a:prstGeom>
          <a:noFill/>
          <a:effectLst/>
        </p:spPr>
      </p:pic>
      <p:pic>
        <p:nvPicPr>
          <p:cNvPr id="104" name="Pic">
            <a:extLst>
              <a:ext uri="{FF2B5EF4-FFF2-40B4-BE49-F238E27FC236}">
                <a16:creationId xmlns:a16="http://schemas.microsoft.com/office/drawing/2014/main" id="{3834A7A0-C580-2D7C-592E-ACEBBA05333D}"/>
              </a:ext>
            </a:extLst>
          </p:cNvPr>
          <p:cNvPicPr>
            <a:picLocks/>
          </p:cNvPicPr>
          <p:nvPr>
            <p:custDataLst>
              <p:tags r:id="rId2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5"/>
              </a:ext>
              <a:ext uri="{6F801314-5768-4EAC-8CED-0F2297F94238}"/>
            </a:extLst>
          </a:blip>
          <a:stretch>
            <a:fillRect/>
          </a:stretch>
        </p:blipFill>
        <p:spPr bwMode="auto">
          <a:xfrm>
            <a:off x="8039100" y="3467100"/>
            <a:ext cx="177800" cy="177800"/>
          </a:xfrm>
          <a:prstGeom prst="rect">
            <a:avLst/>
          </a:prstGeom>
          <a:noFill/>
          <a:effectLst/>
        </p:spPr>
      </p:pic>
      <p:pic>
        <p:nvPicPr>
          <p:cNvPr id="106" name="Pic">
            <a:extLst>
              <a:ext uri="{FF2B5EF4-FFF2-40B4-BE49-F238E27FC236}">
                <a16:creationId xmlns:a16="http://schemas.microsoft.com/office/drawing/2014/main" id="{B5CB9C91-CF24-CC06-7501-CAC30D67AB7E}"/>
              </a:ext>
            </a:extLst>
          </p:cNvPr>
          <p:cNvPicPr>
            <a:picLocks/>
          </p:cNvPicPr>
          <p:nvPr>
            <p:custDataLst>
              <p:tags r:id="rId2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6"/>
              </a:ext>
              <a:ext uri="{6F801314-5768-4EAC-8CED-0F2297F94238}"/>
            </a:extLst>
          </a:blip>
          <a:stretch>
            <a:fillRect/>
          </a:stretch>
        </p:blipFill>
        <p:spPr bwMode="auto">
          <a:xfrm>
            <a:off x="8039100" y="4356100"/>
            <a:ext cx="177800" cy="177800"/>
          </a:xfrm>
          <a:prstGeom prst="rect">
            <a:avLst/>
          </a:prstGeom>
          <a:noFill/>
          <a:effectLst/>
        </p:spPr>
      </p:pic>
      <p:pic>
        <p:nvPicPr>
          <p:cNvPr id="107" name="Pic">
            <a:extLst>
              <a:ext uri="{FF2B5EF4-FFF2-40B4-BE49-F238E27FC236}">
                <a16:creationId xmlns:a16="http://schemas.microsoft.com/office/drawing/2014/main" id="{C1D333FB-D4C6-AD7C-74F8-4FF390E73BE3}"/>
              </a:ext>
            </a:extLst>
          </p:cNvPr>
          <p:cNvPicPr>
            <a:picLocks/>
          </p:cNvPicPr>
          <p:nvPr>
            <p:custDataLst>
              <p:tags r:id="rId2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7"/>
              </a:ext>
              <a:ext uri="{6F801314-5768-4EAC-8CED-0F2297F94238}"/>
            </a:extLst>
          </a:blip>
          <a:stretch>
            <a:fillRect/>
          </a:stretch>
        </p:blipFill>
        <p:spPr bwMode="auto">
          <a:xfrm>
            <a:off x="8039100" y="5245100"/>
            <a:ext cx="177800" cy="177800"/>
          </a:xfrm>
          <a:prstGeom prst="rect">
            <a:avLst/>
          </a:prstGeom>
          <a:noFill/>
          <a:effectLst/>
        </p:spPr>
      </p:pic>
      <p:sp>
        <p:nvSpPr>
          <p:cNvPr id="108" name="Rectangle 107">
            <a:extLst>
              <a:ext uri="{FF2B5EF4-FFF2-40B4-BE49-F238E27FC236}">
                <a16:creationId xmlns:a16="http://schemas.microsoft.com/office/drawing/2014/main" id="{E7928C4A-BDB6-A1BE-F10B-6A5FC1F5FB62}"/>
              </a:ext>
            </a:extLst>
          </p:cNvPr>
          <p:cNvSpPr/>
          <p:nvPr/>
        </p:nvSpPr>
        <p:spPr>
          <a:xfrm>
            <a:off x="11874499" y="4461396"/>
            <a:ext cx="254001" cy="1526654"/>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600"/>
          </a:p>
        </p:txBody>
      </p:sp>
    </p:spTree>
    <p:extLst>
      <p:ext uri="{BB962C8B-B14F-4D97-AF65-F5344CB8AC3E}">
        <p14:creationId xmlns:p14="http://schemas.microsoft.com/office/powerpoint/2010/main" val="2698146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0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p:bldP spid="40" grpId="0"/>
      <p:bldP spid="44" grpId="0" animBg="1"/>
      <p:bldP spid="45" grpId="0"/>
      <p:bldP spid="46" grpId="0"/>
      <p:bldP spid="47" grpId="0" animBg="1"/>
      <p:bldP spid="48" grpId="0" animBg="1"/>
      <p:bldP spid="49" grpId="0" animBg="1"/>
      <p:bldP spid="50" grpId="0" animBg="1"/>
      <p:bldP spid="51" grpId="0" animBg="1"/>
      <p:bldP spid="52" grpId="0" animBg="1"/>
      <p:bldP spid="67" grpId="0" animBg="1"/>
      <p:bldP spid="68" grpId="0" animBg="1"/>
      <p:bldP spid="69" grpId="0" animBg="1"/>
      <p:bldP spid="70" grpId="0" animBg="1"/>
      <p:bldP spid="73" grpId="0" animBg="1"/>
      <p:bldP spid="85" grpId="0" animBg="1"/>
      <p:bldP spid="88" grpId="0" animBg="1"/>
      <p:bldP spid="89"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826561B-283E-A2E6-7B9F-C6FC0F1BF231}"/>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9C37ADC-2346-A112-0D25-06F843CE22BC}"/>
              </a:ext>
            </a:extLst>
          </p:cNvPr>
          <p:cNvGraphicFramePr>
            <a:graphicFrameLocks/>
          </p:cNvGraphicFramePr>
          <p:nvPr>
            <p:custDataLst>
              <p:tags r:id="rId1"/>
            </p:custDataLst>
            <p:extLst>
              <p:ext uri="{D42A27DB-BD31-4B8C-83A1-F6EECF244321}">
                <p14:modId xmlns:p14="http://schemas.microsoft.com/office/powerpoint/2010/main" val="38721094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43" imgH="443" progId="TCLayout.ActiveDocument.1">
                  <p:embed/>
                </p:oleObj>
              </mc:Choice>
              <mc:Fallback>
                <p:oleObj name="thinkcell Slide" r:id="rId25" imgW="443" imgH="443" progId="TCLayout.ActiveDocument.1">
                  <p:embed/>
                  <p:pic>
                    <p:nvPicPr>
                      <p:cNvPr id="3" name="thinkcell data - do not delete" hidden="1">
                        <a:extLst>
                          <a:ext uri="{FF2B5EF4-FFF2-40B4-BE49-F238E27FC236}">
                            <a16:creationId xmlns:a16="http://schemas.microsoft.com/office/drawing/2014/main" id="{09C37ADC-2346-A112-0D25-06F843CE22BC}"/>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33" name="Rectangle: Rounded Corners 32">
            <a:extLst>
              <a:ext uri="{FF2B5EF4-FFF2-40B4-BE49-F238E27FC236}">
                <a16:creationId xmlns:a16="http://schemas.microsoft.com/office/drawing/2014/main" id="{61F26BCD-CC5E-3F42-23B4-50801675DBCF}"/>
              </a:ext>
            </a:extLst>
          </p:cNvPr>
          <p:cNvSpPr/>
          <p:nvPr>
            <p:custDataLst>
              <p:tags r:id="rId2"/>
            </p:custDataLst>
          </p:nvPr>
        </p:nvSpPr>
        <p:spPr>
          <a:xfrm>
            <a:off x="2235200" y="6070600"/>
            <a:ext cx="9626600" cy="355600"/>
          </a:xfrm>
          <a:prstGeom prst="roundRect">
            <a:avLst>
              <a:gd name="adj" fmla="val 12000"/>
            </a:avLst>
          </a:prstGeom>
          <a:solidFill>
            <a:schemeClr val="accent1">
              <a:lumMod val="20000"/>
              <a:lumOff val="80000"/>
            </a:schemeClr>
          </a:solidFill>
          <a:ln w="9525" cap="flat" cmpd="sng" algn="ctr">
            <a:solidFill>
              <a:schemeClr val="accent1">
                <a:lumMod val="75000"/>
                <a:lumOff val="2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66700" tIns="12700" rIns="50800" bIns="12700" rtlCol="0" anchor="ctr">
            <a:noAutofit/>
          </a:bodyPr>
          <a:lstStyle/>
          <a:p>
            <a:pPr marL="266700" algn="ctr"/>
            <a:r>
              <a:rPr lang="en-MY" sz="1300" b="1" dirty="0">
                <a:solidFill>
                  <a:schemeClr val="tx1">
                    <a:lumMod val="75000"/>
                    <a:lumOff val="25000"/>
                  </a:schemeClr>
                </a:solidFill>
              </a:rPr>
              <a:t>Unity </a:t>
            </a:r>
            <a:r>
              <a:rPr lang="en-MY" sz="1300" b="1" dirty="0" err="1">
                <a:solidFill>
                  <a:schemeClr val="tx1">
                    <a:lumMod val="75000"/>
                    <a:lumOff val="25000"/>
                  </a:schemeClr>
                </a:solidFill>
              </a:rPr>
              <a:t>Catalog</a:t>
            </a:r>
            <a:endParaRPr lang="en-MY" sz="1300" b="1" dirty="0">
              <a:solidFill>
                <a:schemeClr val="tx1">
                  <a:lumMod val="75000"/>
                  <a:lumOff val="25000"/>
                </a:schemeClr>
              </a:solidFill>
            </a:endParaRPr>
          </a:p>
        </p:txBody>
      </p:sp>
      <p:sp>
        <p:nvSpPr>
          <p:cNvPr id="2" name="Title 1">
            <a:extLst>
              <a:ext uri="{FF2B5EF4-FFF2-40B4-BE49-F238E27FC236}">
                <a16:creationId xmlns:a16="http://schemas.microsoft.com/office/drawing/2014/main" id="{7870C49A-F8C9-529A-9440-665F8809A599}"/>
              </a:ext>
            </a:extLst>
          </p:cNvPr>
          <p:cNvSpPr>
            <a:spLocks noGrp="1"/>
          </p:cNvSpPr>
          <p:nvPr>
            <p:ph type="title"/>
          </p:nvPr>
        </p:nvSpPr>
        <p:spPr>
          <a:xfrm>
            <a:off x="254000" y="177800"/>
            <a:ext cx="11684000" cy="787400"/>
          </a:xfrm>
        </p:spPr>
        <p:txBody>
          <a:bodyPr>
            <a:normAutofit fontScale="90000"/>
          </a:bodyPr>
          <a:lstStyle/>
          <a:p>
            <a:r>
              <a:rPr lang="en-US" dirty="0"/>
              <a:t>Unity Catalog, Secrets, One Bundle (DABS), Developer and Production Profiles, Experiments</a:t>
            </a:r>
          </a:p>
        </p:txBody>
      </p:sp>
      <p:sp>
        <p:nvSpPr>
          <p:cNvPr id="4" name="Rectangle: Rounded Corners 3">
            <a:extLst>
              <a:ext uri="{FF2B5EF4-FFF2-40B4-BE49-F238E27FC236}">
                <a16:creationId xmlns:a16="http://schemas.microsoft.com/office/drawing/2014/main" id="{CEE0A847-DDF1-2B94-3BA2-7D9DAA01B1E4}"/>
              </a:ext>
            </a:extLst>
          </p:cNvPr>
          <p:cNvSpPr/>
          <p:nvPr/>
        </p:nvSpPr>
        <p:spPr>
          <a:xfrm>
            <a:off x="2108200" y="1016000"/>
            <a:ext cx="9880600" cy="5613400"/>
          </a:xfrm>
          <a:prstGeom prst="roundRect">
            <a:avLst>
              <a:gd name="adj" fmla="val 3000"/>
            </a:avLst>
          </a:prstGeom>
          <a:noFill/>
          <a:ln w="9525" cap="flat" cmpd="sng" algn="ctr">
            <a:solidFill>
              <a:schemeClr val="bg2">
                <a:lumMod val="85000"/>
              </a:schemeClr>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88900" tIns="76200" rIns="88900" bIns="76200" rtlCol="0" anchor="t">
            <a:noAutofit/>
          </a:bodyPr>
          <a:lstStyle/>
          <a:p>
            <a:r>
              <a:rPr lang="en-MY"/>
              <a:t> </a:t>
            </a:r>
          </a:p>
        </p:txBody>
      </p:sp>
      <p:sp>
        <p:nvSpPr>
          <p:cNvPr id="5" name="Rectangle 4">
            <a:extLst>
              <a:ext uri="{FF2B5EF4-FFF2-40B4-BE49-F238E27FC236}">
                <a16:creationId xmlns:a16="http://schemas.microsoft.com/office/drawing/2014/main" id="{1DA53BE0-4183-2694-2C79-D122BFF133B5}"/>
              </a:ext>
            </a:extLst>
          </p:cNvPr>
          <p:cNvSpPr/>
          <p:nvPr/>
        </p:nvSpPr>
        <p:spPr>
          <a:xfrm>
            <a:off x="2235200" y="1066800"/>
            <a:ext cx="53340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r>
              <a:rPr lang="en-MY" sz="1400" b="1" dirty="0">
                <a:solidFill>
                  <a:schemeClr val="tx1"/>
                </a:solidFill>
              </a:rPr>
              <a:t>Databricks  Data Intelligence Platform</a:t>
            </a:r>
          </a:p>
        </p:txBody>
      </p:sp>
      <p:sp>
        <p:nvSpPr>
          <p:cNvPr id="6" name="Rectangle 5">
            <a:extLst>
              <a:ext uri="{FF2B5EF4-FFF2-40B4-BE49-F238E27FC236}">
                <a16:creationId xmlns:a16="http://schemas.microsoft.com/office/drawing/2014/main" id="{85D27B16-0918-8C58-2136-C538581625E4}"/>
              </a:ext>
            </a:extLst>
          </p:cNvPr>
          <p:cNvSpPr/>
          <p:nvPr/>
        </p:nvSpPr>
        <p:spPr>
          <a:xfrm>
            <a:off x="8890000" y="1066800"/>
            <a:ext cx="29718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MY" sz="1000" b="1" dirty="0">
                <a:solidFill>
                  <a:schemeClr val="bg1">
                    <a:lumMod val="50000"/>
                  </a:schemeClr>
                </a:solidFill>
              </a:rPr>
              <a:t>ARCHITECTURE</a:t>
            </a:r>
          </a:p>
        </p:txBody>
      </p:sp>
      <p:sp>
        <p:nvSpPr>
          <p:cNvPr id="7" name="Rectangle: Rounded Corners 6">
            <a:extLst>
              <a:ext uri="{FF2B5EF4-FFF2-40B4-BE49-F238E27FC236}">
                <a16:creationId xmlns:a16="http://schemas.microsoft.com/office/drawing/2014/main" id="{1B2929F8-4D99-1FF8-2F3B-F75793511459}"/>
              </a:ext>
            </a:extLst>
          </p:cNvPr>
          <p:cNvSpPr/>
          <p:nvPr/>
        </p:nvSpPr>
        <p:spPr>
          <a:xfrm>
            <a:off x="1016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Public data sources</a:t>
            </a:r>
          </a:p>
        </p:txBody>
      </p:sp>
      <p:sp>
        <p:nvSpPr>
          <p:cNvPr id="8" name="Rectangle: Rounded Corners 7">
            <a:extLst>
              <a:ext uri="{FF2B5EF4-FFF2-40B4-BE49-F238E27FC236}">
                <a16:creationId xmlns:a16="http://schemas.microsoft.com/office/drawing/2014/main" id="{97412C74-3C29-2F94-DEDA-B8BD4A4F3921}"/>
              </a:ext>
            </a:extLst>
          </p:cNvPr>
          <p:cNvSpPr/>
          <p:nvPr/>
        </p:nvSpPr>
        <p:spPr>
          <a:xfrm>
            <a:off x="2235200" y="1371600"/>
            <a:ext cx="16256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Data ingestion</a:t>
            </a:r>
          </a:p>
        </p:txBody>
      </p:sp>
      <p:sp>
        <p:nvSpPr>
          <p:cNvPr id="9" name="Rectangle: Rounded Corners 8">
            <a:extLst>
              <a:ext uri="{FF2B5EF4-FFF2-40B4-BE49-F238E27FC236}">
                <a16:creationId xmlns:a16="http://schemas.microsoft.com/office/drawing/2014/main" id="{858EE97E-97AD-83D6-4C1C-820FB594486B}"/>
              </a:ext>
            </a:extLst>
          </p:cNvPr>
          <p:cNvSpPr/>
          <p:nvPr/>
        </p:nvSpPr>
        <p:spPr>
          <a:xfrm>
            <a:off x="3962400" y="1371600"/>
            <a:ext cx="37084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Lakehouse · Medallion architecture</a:t>
            </a:r>
          </a:p>
        </p:txBody>
      </p:sp>
      <p:sp>
        <p:nvSpPr>
          <p:cNvPr id="10" name="Rectangle: Rounded Corners 9">
            <a:extLst>
              <a:ext uri="{FF2B5EF4-FFF2-40B4-BE49-F238E27FC236}">
                <a16:creationId xmlns:a16="http://schemas.microsoft.com/office/drawing/2014/main" id="{142D0779-1735-6106-3E28-6ADE2334CAB3}"/>
              </a:ext>
            </a:extLst>
          </p:cNvPr>
          <p:cNvSpPr/>
          <p:nvPr/>
        </p:nvSpPr>
        <p:spPr>
          <a:xfrm>
            <a:off x="77724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Intelligence · Serving</a:t>
            </a:r>
          </a:p>
        </p:txBody>
      </p:sp>
      <p:sp>
        <p:nvSpPr>
          <p:cNvPr id="11" name="Rectangle: Rounded Corners 10">
            <a:extLst>
              <a:ext uri="{FF2B5EF4-FFF2-40B4-BE49-F238E27FC236}">
                <a16:creationId xmlns:a16="http://schemas.microsoft.com/office/drawing/2014/main" id="{90EBB812-1C9C-A45E-579B-3AD2A734B3E7}"/>
              </a:ext>
            </a:extLst>
          </p:cNvPr>
          <p:cNvSpPr/>
          <p:nvPr/>
        </p:nvSpPr>
        <p:spPr>
          <a:xfrm>
            <a:off x="9779000" y="1371600"/>
            <a:ext cx="2032000" cy="4572000"/>
          </a:xfrm>
          <a:prstGeom prst="roundRect">
            <a:avLst>
              <a:gd name="adj" fmla="val 3500"/>
            </a:avLst>
          </a:prstGeom>
          <a:solidFill>
            <a:schemeClr val="accent1">
              <a:lumMod val="8000"/>
              <a:lumOff val="92000"/>
            </a:schemeClr>
          </a:solidFill>
          <a:ln w="9525" cap="flat" cmpd="sng" algn="ctr">
            <a:solidFill>
              <a:schemeClr val="accent1">
                <a:lumMod val="40000"/>
                <a:lumOff val="6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Residents and agencies · AI agents</a:t>
            </a:r>
          </a:p>
        </p:txBody>
      </p:sp>
      <p:sp>
        <p:nvSpPr>
          <p:cNvPr id="12" name="Rectangle: Rounded Corners 11">
            <a:extLst>
              <a:ext uri="{FF2B5EF4-FFF2-40B4-BE49-F238E27FC236}">
                <a16:creationId xmlns:a16="http://schemas.microsoft.com/office/drawing/2014/main" id="{6F4D1364-A4E3-DCA2-874E-4DE5B2E8D95C}"/>
              </a:ext>
            </a:extLst>
          </p:cNvPr>
          <p:cNvSpPr/>
          <p:nvPr/>
        </p:nvSpPr>
        <p:spPr>
          <a:xfrm>
            <a:off x="177800" y="1752600"/>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PUB Flood Alerts</a:t>
            </a:r>
          </a:p>
          <a:p>
            <a:r>
              <a:rPr lang="en-US" sz="1100">
                <a:solidFill>
                  <a:schemeClr val="tx1"/>
                </a:solidFill>
              </a:rPr>
              <a:t>Drains 90% full, flash floods; Telegram posts since 2021</a:t>
            </a:r>
            <a:endParaRPr lang="en-MY"/>
          </a:p>
        </p:txBody>
      </p:sp>
      <p:sp>
        <p:nvSpPr>
          <p:cNvPr id="13" name="Rectangle: Rounded Corners 12">
            <a:extLst>
              <a:ext uri="{FF2B5EF4-FFF2-40B4-BE49-F238E27FC236}">
                <a16:creationId xmlns:a16="http://schemas.microsoft.com/office/drawing/2014/main" id="{06185CED-1F1F-2C45-3988-004AEAC27079}"/>
              </a:ext>
            </a:extLst>
          </p:cNvPr>
          <p:cNvSpPr/>
          <p:nvPr/>
        </p:nvSpPr>
        <p:spPr>
          <a:xfrm>
            <a:off x="177800" y="2586038"/>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Internet Archive</a:t>
            </a:r>
          </a:p>
          <a:p>
            <a:r>
              <a:rPr lang="en-US" sz="1100">
                <a:solidFill>
                  <a:schemeClr val="tx1"/>
                </a:solidFill>
              </a:rPr>
              <a:t>832 deleted PUB posts, recovered from web captures</a:t>
            </a:r>
            <a:endParaRPr lang="en-MY"/>
          </a:p>
        </p:txBody>
      </p:sp>
      <p:sp>
        <p:nvSpPr>
          <p:cNvPr id="14" name="Rectangle: Rounded Corners 13">
            <a:extLst>
              <a:ext uri="{FF2B5EF4-FFF2-40B4-BE49-F238E27FC236}">
                <a16:creationId xmlns:a16="http://schemas.microsoft.com/office/drawing/2014/main" id="{380A54D2-E372-91B4-F7E5-941AF332432D}"/>
              </a:ext>
            </a:extLst>
          </p:cNvPr>
          <p:cNvSpPr/>
          <p:nvPr/>
        </p:nvSpPr>
        <p:spPr>
          <a:xfrm>
            <a:off x="177800" y="3419475"/>
            <a:ext cx="1752600" cy="80645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NEA weather</a:t>
            </a:r>
          </a:p>
          <a:p>
            <a:r>
              <a:rPr lang="en-US" sz="1100">
                <a:solidFill>
                  <a:schemeClr val="tx1"/>
                </a:solidFill>
              </a:rPr>
              <a:t>5-min rain, 2-h forecast, wind, humidity (data.gov.sg)</a:t>
            </a:r>
            <a:endParaRPr lang="en-MY"/>
          </a:p>
        </p:txBody>
      </p:sp>
      <p:sp>
        <p:nvSpPr>
          <p:cNvPr id="15" name="Rectangle: Rounded Corners 14">
            <a:extLst>
              <a:ext uri="{FF2B5EF4-FFF2-40B4-BE49-F238E27FC236}">
                <a16:creationId xmlns:a16="http://schemas.microsoft.com/office/drawing/2014/main" id="{A541454E-4D4A-87B9-4D58-D9213C16E5B2}"/>
              </a:ext>
            </a:extLst>
          </p:cNvPr>
          <p:cNvSpPr/>
          <p:nvPr/>
        </p:nvSpPr>
        <p:spPr>
          <a:xfrm>
            <a:off x="177800" y="4251325"/>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Tides</a:t>
            </a:r>
          </a:p>
          <a:p>
            <a:r>
              <a:rPr lang="en-MY" sz="1100">
                <a:solidFill>
                  <a:schemeClr val="tx1"/>
                </a:solidFill>
              </a:rPr>
              <a:t>NEA tide table; UHSLC hourly sea level at Tanjong Pagar</a:t>
            </a:r>
          </a:p>
        </p:txBody>
      </p:sp>
      <p:sp>
        <p:nvSpPr>
          <p:cNvPr id="16" name="Rectangle: Rounded Corners 15">
            <a:extLst>
              <a:ext uri="{FF2B5EF4-FFF2-40B4-BE49-F238E27FC236}">
                <a16:creationId xmlns:a16="http://schemas.microsoft.com/office/drawing/2014/main" id="{20661418-7DCD-C391-FAFA-ED7C3A233DAD}"/>
              </a:ext>
            </a:extLst>
          </p:cNvPr>
          <p:cNvSpPr/>
          <p:nvPr/>
        </p:nvSpPr>
        <p:spPr>
          <a:xfrm>
            <a:off x="177800" y="5084763"/>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Maps, sensors</a:t>
            </a:r>
          </a:p>
          <a:p>
            <a:r>
              <a:rPr lang="en-MY" sz="1100">
                <a:solidFill>
                  <a:schemeClr val="tx1"/>
                </a:solidFill>
              </a:rPr>
              <a:t>328 PUB water-level sensors, URA land use, SLA, OneMap</a:t>
            </a:r>
          </a:p>
        </p:txBody>
      </p:sp>
      <p:sp>
        <p:nvSpPr>
          <p:cNvPr id="17" name="Rectangle: Rounded Corners 16">
            <a:extLst>
              <a:ext uri="{FF2B5EF4-FFF2-40B4-BE49-F238E27FC236}">
                <a16:creationId xmlns:a16="http://schemas.microsoft.com/office/drawing/2014/main" id="{747DAA30-ECB1-75C6-A15A-7C3551DA08B0}"/>
              </a:ext>
            </a:extLst>
          </p:cNvPr>
          <p:cNvSpPr/>
          <p:nvPr/>
        </p:nvSpPr>
        <p:spPr>
          <a:xfrm>
            <a:off x="2336800" y="1752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Jobs</a:t>
            </a:r>
          </a:p>
          <a:p>
            <a:r>
              <a:rPr lang="en-US" sz="1100">
                <a:solidFill>
                  <a:schemeClr val="tx1"/>
                </a:solidFill>
              </a:rPr>
              <a:t>Python fetchers on serverless: new data every 5 min, a nightly repair, one-off backfills</a:t>
            </a:r>
            <a:endParaRPr lang="en-MY"/>
          </a:p>
        </p:txBody>
      </p:sp>
      <p:sp>
        <p:nvSpPr>
          <p:cNvPr id="18" name="Rectangle: Rounded Corners 17">
            <a:extLst>
              <a:ext uri="{FF2B5EF4-FFF2-40B4-BE49-F238E27FC236}">
                <a16:creationId xmlns:a16="http://schemas.microsoft.com/office/drawing/2014/main" id="{15C4D8E1-24FF-44E7-1D31-2B80E11D863A}"/>
              </a:ext>
            </a:extLst>
          </p:cNvPr>
          <p:cNvSpPr/>
          <p:nvPr/>
        </p:nvSpPr>
        <p:spPr>
          <a:xfrm>
            <a:off x="2336800" y="3911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Auto Loader</a:t>
            </a:r>
          </a:p>
          <a:p>
            <a:r>
              <a:rPr lang="en-US" sz="1100">
                <a:solidFill>
                  <a:schemeClr val="tx1"/>
                </a:solidFill>
              </a:rPr>
              <a:t>Each fetch lands as a new file in a UC Volume and streams into bronze once</a:t>
            </a:r>
            <a:endParaRPr lang="en-MY"/>
          </a:p>
        </p:txBody>
      </p:sp>
      <p:sp>
        <p:nvSpPr>
          <p:cNvPr id="19" name="Rectangle: Rounded Corners 18">
            <a:extLst>
              <a:ext uri="{FF2B5EF4-FFF2-40B4-BE49-F238E27FC236}">
                <a16:creationId xmlns:a16="http://schemas.microsoft.com/office/drawing/2014/main" id="{2325175B-B3CB-DAAB-91DA-752BD8CCD7D8}"/>
              </a:ext>
            </a:extLst>
          </p:cNvPr>
          <p:cNvSpPr/>
          <p:nvPr/>
        </p:nvSpPr>
        <p:spPr>
          <a:xfrm>
            <a:off x="4064000" y="1752600"/>
            <a:ext cx="1066800" cy="2540000"/>
          </a:xfrm>
          <a:prstGeom prst="roundRect">
            <a:avLst>
              <a:gd name="adj" fmla="val 8000"/>
            </a:avLst>
          </a:prstGeom>
          <a:solidFill>
            <a:schemeClr val="accent1">
              <a:lumMod val="20000"/>
              <a:lumOff val="80000"/>
            </a:schemeClr>
          </a:solidFill>
          <a:ln w="12700" cap="flat" cmpd="sng" algn="ctr">
            <a:solidFill>
              <a:schemeClr val="accent1">
                <a:lumMod val="60000"/>
                <a:lumOff val="4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Bronze</a:t>
            </a:r>
          </a:p>
          <a:p>
            <a:pPr algn="ctr"/>
            <a:r>
              <a:rPr lang="en-US" sz="1100">
                <a:solidFill>
                  <a:schemeClr val="tx1"/>
                </a:solidFill>
              </a:rPr>
              <a:t>Every API page, post and file as received; full history</a:t>
            </a:r>
            <a:endParaRPr lang="en-MY"/>
          </a:p>
        </p:txBody>
      </p:sp>
      <p:sp>
        <p:nvSpPr>
          <p:cNvPr id="20" name="Rectangle: Rounded Corners 19">
            <a:extLst>
              <a:ext uri="{FF2B5EF4-FFF2-40B4-BE49-F238E27FC236}">
                <a16:creationId xmlns:a16="http://schemas.microsoft.com/office/drawing/2014/main" id="{52BE637D-E506-FF11-EC88-57EE80F75B36}"/>
              </a:ext>
            </a:extLst>
          </p:cNvPr>
          <p:cNvSpPr/>
          <p:nvPr/>
        </p:nvSpPr>
        <p:spPr>
          <a:xfrm>
            <a:off x="5283200" y="1752600"/>
            <a:ext cx="1066800" cy="2540000"/>
          </a:xfrm>
          <a:prstGeom prst="roundRect">
            <a:avLst>
              <a:gd name="adj" fmla="val 8000"/>
            </a:avLst>
          </a:prstGeom>
          <a:solidFill>
            <a:schemeClr val="bg2">
              <a:lumMod val="90000"/>
            </a:schemeClr>
          </a:solidFill>
          <a:ln w="12700" cap="flat" cmpd="sng" algn="ctr">
            <a:solidFill>
              <a:schemeClr val="bg2">
                <a:lumMod val="6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Silver</a:t>
            </a:r>
          </a:p>
          <a:p>
            <a:pPr algn="ctr"/>
            <a:r>
              <a:rPr lang="en-US" sz="1100">
                <a:solidFill>
                  <a:schemeClr val="tx1"/>
                </a:solidFill>
              </a:rPr>
              <a:t>Readings cleaned, posts parsed, alerts placed in NEA's 47 areas</a:t>
            </a:r>
            <a:endParaRPr lang="en-MY" dirty="0"/>
          </a:p>
        </p:txBody>
      </p:sp>
      <p:sp>
        <p:nvSpPr>
          <p:cNvPr id="21" name="Rectangle: Rounded Corners 20">
            <a:extLst>
              <a:ext uri="{FF2B5EF4-FFF2-40B4-BE49-F238E27FC236}">
                <a16:creationId xmlns:a16="http://schemas.microsoft.com/office/drawing/2014/main" id="{9FD4C140-4AB3-DD7B-88A3-29F5BB88F310}"/>
              </a:ext>
            </a:extLst>
          </p:cNvPr>
          <p:cNvSpPr/>
          <p:nvPr/>
        </p:nvSpPr>
        <p:spPr>
          <a:xfrm>
            <a:off x="6502400" y="1752600"/>
            <a:ext cx="1066800" cy="2540000"/>
          </a:xfrm>
          <a:prstGeom prst="roundRect">
            <a:avLst>
              <a:gd name="adj" fmla="val 8000"/>
            </a:avLst>
          </a:prstGeom>
          <a:solidFill>
            <a:schemeClr val="accent2">
              <a:lumMod val="20000"/>
              <a:lumOff val="80000"/>
            </a:schemeClr>
          </a:solidFill>
          <a:ln w="12700" cap="flat" cmpd="sng" algn="ctr">
            <a:solidFill>
              <a:schemeClr val="accent2">
                <a:lumMod val="70000"/>
                <a:lumOff val="3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Gold</a:t>
            </a:r>
          </a:p>
          <a:p>
            <a:pPr algn="ctr"/>
            <a:r>
              <a:rPr lang="en-US" sz="1100">
                <a:solidFill>
                  <a:schemeClr val="tx1"/>
                </a:solidFill>
              </a:rPr>
              <a:t>Each area, every 5 min: rain, forecast, tide, label</a:t>
            </a:r>
            <a:endParaRPr lang="en-MY"/>
          </a:p>
        </p:txBody>
      </p:sp>
      <p:sp>
        <p:nvSpPr>
          <p:cNvPr id="22" name="Rectangle: Rounded Corners 21">
            <a:extLst>
              <a:ext uri="{FF2B5EF4-FFF2-40B4-BE49-F238E27FC236}">
                <a16:creationId xmlns:a16="http://schemas.microsoft.com/office/drawing/2014/main" id="{D35846EF-00FA-7620-F687-6F9312AB154B}"/>
              </a:ext>
            </a:extLst>
          </p:cNvPr>
          <p:cNvSpPr/>
          <p:nvPr/>
        </p:nvSpPr>
        <p:spPr>
          <a:xfrm>
            <a:off x="4064000" y="4521200"/>
            <a:ext cx="35052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Spark Declarative Pipelines</a:t>
            </a:r>
          </a:p>
          <a:p>
            <a:r>
              <a:rPr lang="en-US" sz="1100">
                <a:solidFill>
                  <a:schemeClr val="tx1"/>
                </a:solidFill>
              </a:rPr>
              <a:t>Two serverless pipelines. Expectations drop bad readings; unplaceable alerts are quarantined. Hours with lost posts or feed outages count as missing, never as quiet.</a:t>
            </a:r>
            <a:endParaRPr lang="en-MY"/>
          </a:p>
        </p:txBody>
      </p:sp>
      <p:sp>
        <p:nvSpPr>
          <p:cNvPr id="23" name="Rectangle: Rounded Corners 22">
            <a:extLst>
              <a:ext uri="{FF2B5EF4-FFF2-40B4-BE49-F238E27FC236}">
                <a16:creationId xmlns:a16="http://schemas.microsoft.com/office/drawing/2014/main" id="{673CDD7F-EF89-DA5D-087E-E2E01283B675}"/>
              </a:ext>
            </a:extLst>
          </p:cNvPr>
          <p:cNvSpPr/>
          <p:nvPr/>
        </p:nvSpPr>
        <p:spPr>
          <a:xfrm>
            <a:off x="7874000" y="1752600"/>
            <a:ext cx="1701800" cy="1422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a:solidFill>
                  <a:schemeClr val="tx1"/>
                </a:solidFill>
              </a:rPr>
              <a:t>MLflow · Unity Catalog</a:t>
            </a:r>
          </a:p>
          <a:p>
            <a:r>
              <a:rPr lang="en-US" sz="1100">
                <a:solidFill>
                  <a:schemeClr val="tx1"/>
                </a:solidFill>
              </a:rPr>
              <a:t>Gated LightGBM pair: each area's chance of a PUB alert within 1 h. 7 checks before @champion moves.</a:t>
            </a:r>
            <a:endParaRPr lang="en-MY" dirty="0"/>
          </a:p>
        </p:txBody>
      </p:sp>
      <p:sp>
        <p:nvSpPr>
          <p:cNvPr id="24" name="Rectangle: Rounded Corners 23">
            <a:extLst>
              <a:ext uri="{FF2B5EF4-FFF2-40B4-BE49-F238E27FC236}">
                <a16:creationId xmlns:a16="http://schemas.microsoft.com/office/drawing/2014/main" id="{6EBE2818-EAB8-A029-B6BC-33BECF4D3553}"/>
              </a:ext>
            </a:extLst>
          </p:cNvPr>
          <p:cNvSpPr/>
          <p:nvPr/>
        </p:nvSpPr>
        <p:spPr>
          <a:xfrm>
            <a:off x="7874000" y="3276600"/>
            <a:ext cx="17018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a:solidFill>
                  <a:schemeClr val="tx1"/>
                </a:solidFill>
              </a:rPr>
              <a:t>Live scoring</a:t>
            </a:r>
          </a:p>
          <a:p>
            <a:r>
              <a:rPr lang="en-US" sz="1100">
                <a:solidFill>
                  <a:schemeClr val="tx1"/>
                </a:solidFill>
              </a:rPr>
              <a:t>Every 5 min, @champion rates all 47 areas into a Delta table. New warnings go out by Telegram, email.</a:t>
            </a:r>
            <a:endParaRPr lang="en-MY"/>
          </a:p>
        </p:txBody>
      </p:sp>
      <p:sp>
        <p:nvSpPr>
          <p:cNvPr id="25" name="Rectangle: Rounded Corners 24">
            <a:extLst>
              <a:ext uri="{FF2B5EF4-FFF2-40B4-BE49-F238E27FC236}">
                <a16:creationId xmlns:a16="http://schemas.microsoft.com/office/drawing/2014/main" id="{F73CC4A2-79BA-A6D2-E6A3-1E567F4D1D40}"/>
              </a:ext>
            </a:extLst>
          </p:cNvPr>
          <p:cNvSpPr/>
          <p:nvPr/>
        </p:nvSpPr>
        <p:spPr>
          <a:xfrm>
            <a:off x="7874000" y="4699000"/>
            <a:ext cx="1701800" cy="11430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MY" sz="1300" b="1">
                <a:solidFill>
                  <a:schemeClr val="tx1"/>
                </a:solidFill>
              </a:rPr>
              <a:t>Databricks SQL · AI/BI</a:t>
            </a:r>
          </a:p>
          <a:p>
            <a:r>
              <a:rPr lang="en-MY" sz="1100">
                <a:solidFill>
                  <a:schemeClr val="tx1"/>
                </a:solidFill>
              </a:rPr>
              <a:t>Serverless warehouse for the app, Genie, agencies' scoreboard</a:t>
            </a:r>
          </a:p>
        </p:txBody>
      </p:sp>
      <p:sp>
        <p:nvSpPr>
          <p:cNvPr id="26" name="Rectangle: Rounded Corners 25">
            <a:extLst>
              <a:ext uri="{FF2B5EF4-FFF2-40B4-BE49-F238E27FC236}">
                <a16:creationId xmlns:a16="http://schemas.microsoft.com/office/drawing/2014/main" id="{6C6A077B-B762-156D-C3D6-53D9649B55DC}"/>
              </a:ext>
            </a:extLst>
          </p:cNvPr>
          <p:cNvSpPr/>
          <p:nvPr/>
        </p:nvSpPr>
        <p:spPr>
          <a:xfrm>
            <a:off x="9880600" y="1879600"/>
            <a:ext cx="1879600" cy="1727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Databricks App</a:t>
            </a:r>
          </a:p>
          <a:p>
            <a:r>
              <a:rPr lang="en-US" sz="1100">
                <a:solidFill>
                  <a:schemeClr val="tx1"/>
                </a:solidFill>
              </a:rPr>
              <a:t>Live map of 47 areas: what to do on foot, driving or at home. Storm replays, warning sign-ups.</a:t>
            </a:r>
            <a:endParaRPr lang="en-MY" dirty="0"/>
          </a:p>
        </p:txBody>
      </p:sp>
      <p:sp>
        <p:nvSpPr>
          <p:cNvPr id="27" name="Rectangle: Rounded Corners 26">
            <a:extLst>
              <a:ext uri="{FF2B5EF4-FFF2-40B4-BE49-F238E27FC236}">
                <a16:creationId xmlns:a16="http://schemas.microsoft.com/office/drawing/2014/main" id="{9657D728-AB67-A43D-4FA0-7D65D825511C}"/>
              </a:ext>
            </a:extLst>
          </p:cNvPr>
          <p:cNvSpPr/>
          <p:nvPr/>
        </p:nvSpPr>
        <p:spPr>
          <a:xfrm>
            <a:off x="9880600" y="3733800"/>
            <a:ext cx="1879600" cy="2108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Genie Agent</a:t>
            </a:r>
          </a:p>
          <a:p>
            <a:r>
              <a:rPr lang="en-US" sz="1100">
                <a:solidFill>
                  <a:schemeClr val="tx1"/>
                </a:solidFill>
              </a:rPr>
              <a:t>"FloodSense for agencies": ask in plain English how it did against PUB, flood by flood. Also in the app.</a:t>
            </a:r>
            <a:endParaRPr lang="en-MY"/>
          </a:p>
        </p:txBody>
      </p:sp>
      <p:sp>
        <p:nvSpPr>
          <p:cNvPr id="28" name="Rectangle: Rounded Corners 27">
            <a:extLst>
              <a:ext uri="{FF2B5EF4-FFF2-40B4-BE49-F238E27FC236}">
                <a16:creationId xmlns:a16="http://schemas.microsoft.com/office/drawing/2014/main" id="{9D7EE230-9C46-A228-7A39-108DF4A4D5B6}"/>
              </a:ext>
            </a:extLst>
          </p:cNvPr>
          <p:cNvSpPr/>
          <p:nvPr/>
        </p:nvSpPr>
        <p:spPr>
          <a:xfrm>
            <a:off x="9982200" y="2946400"/>
            <a:ext cx="7366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Residents</a:t>
            </a:r>
          </a:p>
        </p:txBody>
      </p:sp>
      <p:sp>
        <p:nvSpPr>
          <p:cNvPr id="29" name="Rectangle: Rounded Corners 28">
            <a:extLst>
              <a:ext uri="{FF2B5EF4-FFF2-40B4-BE49-F238E27FC236}">
                <a16:creationId xmlns:a16="http://schemas.microsoft.com/office/drawing/2014/main" id="{FF724F87-A7BC-7249-DFA6-FD5A5D047ED2}"/>
              </a:ext>
            </a:extLst>
          </p:cNvPr>
          <p:cNvSpPr/>
          <p:nvPr/>
        </p:nvSpPr>
        <p:spPr>
          <a:xfrm>
            <a:off x="10795000" y="2946400"/>
            <a:ext cx="7874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Commuters</a:t>
            </a:r>
          </a:p>
        </p:txBody>
      </p:sp>
      <p:sp>
        <p:nvSpPr>
          <p:cNvPr id="30" name="Rectangle: Rounded Corners 29">
            <a:extLst>
              <a:ext uri="{FF2B5EF4-FFF2-40B4-BE49-F238E27FC236}">
                <a16:creationId xmlns:a16="http://schemas.microsoft.com/office/drawing/2014/main" id="{C8CF4B84-BB18-047A-CC91-7E938546C3A5}"/>
              </a:ext>
            </a:extLst>
          </p:cNvPr>
          <p:cNvSpPr/>
          <p:nvPr/>
        </p:nvSpPr>
        <p:spPr>
          <a:xfrm>
            <a:off x="9982200" y="3251200"/>
            <a:ext cx="9652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Town councils</a:t>
            </a:r>
          </a:p>
        </p:txBody>
      </p:sp>
      <p:sp>
        <p:nvSpPr>
          <p:cNvPr id="31" name="Rectangle: Rounded Corners 30">
            <a:extLst>
              <a:ext uri="{FF2B5EF4-FFF2-40B4-BE49-F238E27FC236}">
                <a16:creationId xmlns:a16="http://schemas.microsoft.com/office/drawing/2014/main" id="{0D71311F-BAB7-C7B2-DBA0-FC1814487C6A}"/>
              </a:ext>
            </a:extLst>
          </p:cNvPr>
          <p:cNvSpPr/>
          <p:nvPr/>
        </p:nvSpPr>
        <p:spPr>
          <a:xfrm>
            <a:off x="11023600" y="3251200"/>
            <a:ext cx="6350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Agencies</a:t>
            </a:r>
          </a:p>
        </p:txBody>
      </p:sp>
      <p:cxnSp>
        <p:nvCxnSpPr>
          <p:cNvPr id="42" name="Connector: Elbow 41">
            <a:extLst>
              <a:ext uri="{FF2B5EF4-FFF2-40B4-BE49-F238E27FC236}">
                <a16:creationId xmlns:a16="http://schemas.microsoft.com/office/drawing/2014/main" id="{433D69C3-7874-CA18-21A6-0DDABAC7BE47}"/>
              </a:ext>
            </a:extLst>
          </p:cNvPr>
          <p:cNvCxnSpPr>
            <a:cxnSpLocks/>
          </p:cNvCxnSpPr>
          <p:nvPr/>
        </p:nvCxnSpPr>
        <p:spPr>
          <a:xfrm>
            <a:off x="51308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336980E2-F9AD-8D46-C171-5D2B822365D2}"/>
              </a:ext>
            </a:extLst>
          </p:cNvPr>
          <p:cNvCxnSpPr>
            <a:cxnSpLocks/>
          </p:cNvCxnSpPr>
          <p:nvPr/>
        </p:nvCxnSpPr>
        <p:spPr>
          <a:xfrm>
            <a:off x="63500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54" name="IconTile_12">
            <a:extLst>
              <a:ext uri="{FF2B5EF4-FFF2-40B4-BE49-F238E27FC236}">
                <a16:creationId xmlns:a16="http://schemas.microsoft.com/office/drawing/2014/main" id="{4EF65483-ECA9-066B-76FA-85F969EFE1D4}"/>
              </a:ext>
            </a:extLst>
          </p:cNvPr>
          <p:cNvSpPr/>
          <p:nvPr/>
        </p:nvSpPr>
        <p:spPr>
          <a:xfrm>
            <a:off x="241300" y="17907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5" name="IconTile_13">
            <a:extLst>
              <a:ext uri="{FF2B5EF4-FFF2-40B4-BE49-F238E27FC236}">
                <a16:creationId xmlns:a16="http://schemas.microsoft.com/office/drawing/2014/main" id="{F59FB5E8-B07E-425A-C641-38DD71FB7304}"/>
              </a:ext>
            </a:extLst>
          </p:cNvPr>
          <p:cNvSpPr/>
          <p:nvPr/>
        </p:nvSpPr>
        <p:spPr>
          <a:xfrm>
            <a:off x="241300" y="2624138"/>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6" name="IconTile_14">
            <a:extLst>
              <a:ext uri="{FF2B5EF4-FFF2-40B4-BE49-F238E27FC236}">
                <a16:creationId xmlns:a16="http://schemas.microsoft.com/office/drawing/2014/main" id="{80D106D0-E67C-22BB-65B8-74023C28D0AC}"/>
              </a:ext>
            </a:extLst>
          </p:cNvPr>
          <p:cNvSpPr/>
          <p:nvPr/>
        </p:nvSpPr>
        <p:spPr>
          <a:xfrm>
            <a:off x="241300" y="345757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7" name="IconTile_15">
            <a:extLst>
              <a:ext uri="{FF2B5EF4-FFF2-40B4-BE49-F238E27FC236}">
                <a16:creationId xmlns:a16="http://schemas.microsoft.com/office/drawing/2014/main" id="{1A144388-F32E-CF61-C195-BA5404A07A2F}"/>
              </a:ext>
            </a:extLst>
          </p:cNvPr>
          <p:cNvSpPr/>
          <p:nvPr/>
        </p:nvSpPr>
        <p:spPr>
          <a:xfrm>
            <a:off x="241300" y="428942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8" name="IconTile_16">
            <a:extLst>
              <a:ext uri="{FF2B5EF4-FFF2-40B4-BE49-F238E27FC236}">
                <a16:creationId xmlns:a16="http://schemas.microsoft.com/office/drawing/2014/main" id="{21D60B3E-6C9C-3641-251E-C131C29764A8}"/>
              </a:ext>
            </a:extLst>
          </p:cNvPr>
          <p:cNvSpPr/>
          <p:nvPr/>
        </p:nvSpPr>
        <p:spPr>
          <a:xfrm>
            <a:off x="241300" y="5122863"/>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9" name="IconTile_17">
            <a:extLst>
              <a:ext uri="{FF2B5EF4-FFF2-40B4-BE49-F238E27FC236}">
                <a16:creationId xmlns:a16="http://schemas.microsoft.com/office/drawing/2014/main" id="{D8336B83-C757-DCFB-C713-987EBA49776C}"/>
              </a:ext>
            </a:extLst>
          </p:cNvPr>
          <p:cNvSpPr/>
          <p:nvPr/>
        </p:nvSpPr>
        <p:spPr>
          <a:xfrm>
            <a:off x="2400300" y="1835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0" name="IconTile_18">
            <a:extLst>
              <a:ext uri="{FF2B5EF4-FFF2-40B4-BE49-F238E27FC236}">
                <a16:creationId xmlns:a16="http://schemas.microsoft.com/office/drawing/2014/main" id="{8773AFEA-DC11-BFF0-CE21-84F64B2B1DBD}"/>
              </a:ext>
            </a:extLst>
          </p:cNvPr>
          <p:cNvSpPr/>
          <p:nvPr/>
        </p:nvSpPr>
        <p:spPr>
          <a:xfrm>
            <a:off x="2400300" y="3994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1" name="IconTile_22">
            <a:extLst>
              <a:ext uri="{FF2B5EF4-FFF2-40B4-BE49-F238E27FC236}">
                <a16:creationId xmlns:a16="http://schemas.microsoft.com/office/drawing/2014/main" id="{0AA3A0FA-1F8E-4CA2-DCFF-E35D5DED9EDC}"/>
              </a:ext>
            </a:extLst>
          </p:cNvPr>
          <p:cNvSpPr/>
          <p:nvPr/>
        </p:nvSpPr>
        <p:spPr>
          <a:xfrm>
            <a:off x="4127500" y="460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2" name="IconTile_23">
            <a:extLst>
              <a:ext uri="{FF2B5EF4-FFF2-40B4-BE49-F238E27FC236}">
                <a16:creationId xmlns:a16="http://schemas.microsoft.com/office/drawing/2014/main" id="{3C79DE21-C4F7-028F-41B8-614FB53C11DA}"/>
              </a:ext>
            </a:extLst>
          </p:cNvPr>
          <p:cNvSpPr/>
          <p:nvPr/>
        </p:nvSpPr>
        <p:spPr>
          <a:xfrm>
            <a:off x="7937500" y="1809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3" name="IconTile_24">
            <a:extLst>
              <a:ext uri="{FF2B5EF4-FFF2-40B4-BE49-F238E27FC236}">
                <a16:creationId xmlns:a16="http://schemas.microsoft.com/office/drawing/2014/main" id="{D7CBD523-B2BF-2F6C-23BD-BD2411979421}"/>
              </a:ext>
            </a:extLst>
          </p:cNvPr>
          <p:cNvSpPr/>
          <p:nvPr/>
        </p:nvSpPr>
        <p:spPr>
          <a:xfrm>
            <a:off x="7937500" y="333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4" name="IconTile_25">
            <a:extLst>
              <a:ext uri="{FF2B5EF4-FFF2-40B4-BE49-F238E27FC236}">
                <a16:creationId xmlns:a16="http://schemas.microsoft.com/office/drawing/2014/main" id="{6F680693-93DE-7916-4CB6-8A80DB1DE1B3}"/>
              </a:ext>
            </a:extLst>
          </p:cNvPr>
          <p:cNvSpPr/>
          <p:nvPr/>
        </p:nvSpPr>
        <p:spPr>
          <a:xfrm>
            <a:off x="7937500" y="4756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5" name="IconTile_26">
            <a:extLst>
              <a:ext uri="{FF2B5EF4-FFF2-40B4-BE49-F238E27FC236}">
                <a16:creationId xmlns:a16="http://schemas.microsoft.com/office/drawing/2014/main" id="{C3EAB829-A190-BFCF-85CA-A0AF342D7F12}"/>
              </a:ext>
            </a:extLst>
          </p:cNvPr>
          <p:cNvSpPr/>
          <p:nvPr/>
        </p:nvSpPr>
        <p:spPr>
          <a:xfrm>
            <a:off x="9944100" y="1962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6" name="IconTile_27">
            <a:extLst>
              <a:ext uri="{FF2B5EF4-FFF2-40B4-BE49-F238E27FC236}">
                <a16:creationId xmlns:a16="http://schemas.microsoft.com/office/drawing/2014/main" id="{2BD597CB-56EB-49F3-8581-3546884F2091}"/>
              </a:ext>
            </a:extLst>
          </p:cNvPr>
          <p:cNvSpPr/>
          <p:nvPr/>
        </p:nvSpPr>
        <p:spPr>
          <a:xfrm>
            <a:off x="9944100" y="38163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72" name="Pic">
            <a:extLst>
              <a:ext uri="{FF2B5EF4-FFF2-40B4-BE49-F238E27FC236}">
                <a16:creationId xmlns:a16="http://schemas.microsoft.com/office/drawing/2014/main" id="{FA5A5FC5-2C69-2B2B-A6D8-A250DBF668D1}"/>
              </a:ext>
            </a:extLst>
          </p:cNvPr>
          <p:cNvPicPr>
            <a:picLocks/>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7"/>
              </a:ext>
              <a:ext uri="{6F801314-5768-4EAC-8CED-0F2297F94238}"/>
            </a:extLst>
          </a:blip>
          <a:stretch>
            <a:fillRect/>
          </a:stretch>
        </p:blipFill>
        <p:spPr bwMode="auto">
          <a:xfrm>
            <a:off x="7975600" y="1854200"/>
            <a:ext cx="152400" cy="152400"/>
          </a:xfrm>
          <a:prstGeom prst="rect">
            <a:avLst/>
          </a:prstGeom>
          <a:noFill/>
          <a:effectLst/>
        </p:spPr>
      </p:pic>
      <p:pic>
        <p:nvPicPr>
          <p:cNvPr id="71" name="Pic">
            <a:extLst>
              <a:ext uri="{FF2B5EF4-FFF2-40B4-BE49-F238E27FC236}">
                <a16:creationId xmlns:a16="http://schemas.microsoft.com/office/drawing/2014/main" id="{94E3B687-C649-595E-36D7-C47D2B60803B}"/>
              </a:ext>
            </a:extLst>
          </p:cNvPr>
          <p:cNvPicPr>
            <a:picLocks/>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 uri="{6F801314-5768-4EAC-8CED-0F2297F94238}"/>
            </a:extLst>
          </a:blip>
          <a:stretch>
            <a:fillRect/>
          </a:stretch>
        </p:blipFill>
        <p:spPr bwMode="auto">
          <a:xfrm>
            <a:off x="9982200" y="3860800"/>
            <a:ext cx="152400" cy="152400"/>
          </a:xfrm>
          <a:prstGeom prst="rect">
            <a:avLst/>
          </a:prstGeom>
          <a:noFill/>
          <a:effectLst/>
        </p:spPr>
      </p:pic>
      <p:pic>
        <p:nvPicPr>
          <p:cNvPr id="79" name="Pic">
            <a:extLst>
              <a:ext uri="{FF2B5EF4-FFF2-40B4-BE49-F238E27FC236}">
                <a16:creationId xmlns:a16="http://schemas.microsoft.com/office/drawing/2014/main" id="{DA8A4674-4002-2E61-E33A-E3E05F4F8AB0}"/>
              </a:ext>
            </a:extLst>
          </p:cNvPr>
          <p:cNvPicPr>
            <a:picLocks/>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9"/>
              </a:ext>
              <a:ext uri="{6F801314-5768-4EAC-8CED-0F2297F94238}"/>
            </a:extLst>
          </a:blip>
          <a:stretch>
            <a:fillRect/>
          </a:stretch>
        </p:blipFill>
        <p:spPr bwMode="auto">
          <a:xfrm>
            <a:off x="4165600" y="4648200"/>
            <a:ext cx="152400" cy="152400"/>
          </a:xfrm>
          <a:prstGeom prst="rect">
            <a:avLst/>
          </a:prstGeom>
          <a:noFill/>
          <a:effectLst/>
        </p:spPr>
      </p:pic>
      <p:pic>
        <p:nvPicPr>
          <p:cNvPr id="80" name="Pic">
            <a:extLst>
              <a:ext uri="{FF2B5EF4-FFF2-40B4-BE49-F238E27FC236}">
                <a16:creationId xmlns:a16="http://schemas.microsoft.com/office/drawing/2014/main" id="{0444E540-3A4F-D383-2896-430FAC42C31D}"/>
              </a:ext>
            </a:extLst>
          </p:cNvPr>
          <p:cNvPicPr>
            <a:picLocks/>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 uri="{6F801314-5768-4EAC-8CED-0F2297F94238}"/>
            </a:extLst>
          </a:blip>
          <a:stretch>
            <a:fillRect/>
          </a:stretch>
        </p:blipFill>
        <p:spPr bwMode="auto">
          <a:xfrm>
            <a:off x="7975600" y="4800600"/>
            <a:ext cx="152400" cy="152400"/>
          </a:xfrm>
          <a:prstGeom prst="rect">
            <a:avLst/>
          </a:prstGeom>
          <a:noFill/>
          <a:effectLst/>
        </p:spPr>
      </p:pic>
      <p:pic>
        <p:nvPicPr>
          <p:cNvPr id="86" name="Pic">
            <a:extLst>
              <a:ext uri="{FF2B5EF4-FFF2-40B4-BE49-F238E27FC236}">
                <a16:creationId xmlns:a16="http://schemas.microsoft.com/office/drawing/2014/main" id="{DCAC6DBB-B36C-97FF-F659-090B04072F26}"/>
              </a:ext>
            </a:extLst>
          </p:cNvPr>
          <p:cNvPicPr>
            <a:picLocks/>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1"/>
              </a:ext>
              <a:ext uri="{6F801314-5768-4EAC-8CED-0F2297F94238}"/>
            </a:extLst>
          </a:blip>
          <a:stretch>
            <a:fillRect/>
          </a:stretch>
        </p:blipFill>
        <p:spPr bwMode="auto">
          <a:xfrm>
            <a:off x="2438400" y="4038600"/>
            <a:ext cx="152400" cy="152400"/>
          </a:xfrm>
          <a:prstGeom prst="rect">
            <a:avLst/>
          </a:prstGeom>
          <a:noFill/>
          <a:effectLst/>
        </p:spPr>
      </p:pic>
      <p:pic>
        <p:nvPicPr>
          <p:cNvPr id="87" name="Pic">
            <a:extLst>
              <a:ext uri="{FF2B5EF4-FFF2-40B4-BE49-F238E27FC236}">
                <a16:creationId xmlns:a16="http://schemas.microsoft.com/office/drawing/2014/main" id="{B06F6168-AF54-E1EC-B708-DC14F31FF75A}"/>
              </a:ext>
            </a:extLst>
          </p:cNvPr>
          <p:cNvPicPr>
            <a:picLocks/>
          </p:cNvPicPr>
          <p:nvPr>
            <p:custDataLst>
              <p:tags r:id="rId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 uri="{6F801314-5768-4EAC-8CED-0F2297F94238}"/>
            </a:extLst>
          </a:blip>
          <a:stretch>
            <a:fillRect/>
          </a:stretch>
        </p:blipFill>
        <p:spPr bwMode="auto">
          <a:xfrm>
            <a:off x="9982200" y="2006600"/>
            <a:ext cx="152400" cy="152400"/>
          </a:xfrm>
          <a:prstGeom prst="rect">
            <a:avLst/>
          </a:prstGeom>
          <a:noFill/>
          <a:effectLst/>
        </p:spPr>
      </p:pic>
      <p:cxnSp>
        <p:nvCxnSpPr>
          <p:cNvPr id="41" name="Connector: Elbow 40">
            <a:extLst>
              <a:ext uri="{FF2B5EF4-FFF2-40B4-BE49-F238E27FC236}">
                <a16:creationId xmlns:a16="http://schemas.microsoft.com/office/drawing/2014/main" id="{D0289153-52D8-3E5E-D562-709B40D4CCD6}"/>
              </a:ext>
            </a:extLst>
          </p:cNvPr>
          <p:cNvCxnSpPr>
            <a:cxnSpLocks/>
            <a:stCxn id="12" idx="3"/>
            <a:endCxn id="17" idx="1"/>
          </p:cNvCxnSpPr>
          <p:nvPr/>
        </p:nvCxnSpPr>
        <p:spPr>
          <a:xfrm>
            <a:off x="1930400" y="2156619"/>
            <a:ext cx="406400" cy="56118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0E26D7DA-177B-3FFC-1A55-4DB095BBD45C}"/>
              </a:ext>
            </a:extLst>
          </p:cNvPr>
          <p:cNvCxnSpPr>
            <a:cxnSpLocks/>
            <a:stCxn id="12" idx="3"/>
            <a:endCxn id="17" idx="1"/>
          </p:cNvCxnSpPr>
          <p:nvPr/>
        </p:nvCxnSpPr>
        <p:spPr>
          <a:xfrm>
            <a:off x="1930400" y="2156619"/>
            <a:ext cx="406400" cy="561181"/>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Elbow 73">
            <a:extLst>
              <a:ext uri="{FF2B5EF4-FFF2-40B4-BE49-F238E27FC236}">
                <a16:creationId xmlns:a16="http://schemas.microsoft.com/office/drawing/2014/main" id="{74F8E001-4D8C-9EF9-6524-33D8A3C8E778}"/>
              </a:ext>
            </a:extLst>
          </p:cNvPr>
          <p:cNvCxnSpPr>
            <a:cxnSpLocks/>
            <a:stCxn id="13" idx="3"/>
            <a:endCxn id="17" idx="1"/>
          </p:cNvCxnSpPr>
          <p:nvPr/>
        </p:nvCxnSpPr>
        <p:spPr>
          <a:xfrm flipV="1">
            <a:off x="1930400" y="2717800"/>
            <a:ext cx="406400" cy="272257"/>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Elbow 74">
            <a:extLst>
              <a:ext uri="{FF2B5EF4-FFF2-40B4-BE49-F238E27FC236}">
                <a16:creationId xmlns:a16="http://schemas.microsoft.com/office/drawing/2014/main" id="{25562DB9-1122-E5DF-BB8C-DF053C8A70CE}"/>
              </a:ext>
            </a:extLst>
          </p:cNvPr>
          <p:cNvCxnSpPr>
            <a:cxnSpLocks/>
            <a:stCxn id="14" idx="3"/>
            <a:endCxn id="17" idx="1"/>
          </p:cNvCxnSpPr>
          <p:nvPr/>
        </p:nvCxnSpPr>
        <p:spPr>
          <a:xfrm flipV="1">
            <a:off x="1930400" y="2717800"/>
            <a:ext cx="406400" cy="11049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Elbow 75">
            <a:extLst>
              <a:ext uri="{FF2B5EF4-FFF2-40B4-BE49-F238E27FC236}">
                <a16:creationId xmlns:a16="http://schemas.microsoft.com/office/drawing/2014/main" id="{EF12A5EF-63D7-7610-969E-E04E20107084}"/>
              </a:ext>
            </a:extLst>
          </p:cNvPr>
          <p:cNvCxnSpPr>
            <a:cxnSpLocks/>
            <a:stCxn id="15" idx="3"/>
            <a:endCxn id="17" idx="1"/>
          </p:cNvCxnSpPr>
          <p:nvPr/>
        </p:nvCxnSpPr>
        <p:spPr>
          <a:xfrm flipV="1">
            <a:off x="1930400" y="2717800"/>
            <a:ext cx="406400" cy="1937544"/>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Elbow 76">
            <a:extLst>
              <a:ext uri="{FF2B5EF4-FFF2-40B4-BE49-F238E27FC236}">
                <a16:creationId xmlns:a16="http://schemas.microsoft.com/office/drawing/2014/main" id="{A4605252-4209-25A0-9783-75ED3DEABA90}"/>
              </a:ext>
            </a:extLst>
          </p:cNvPr>
          <p:cNvCxnSpPr>
            <a:cxnSpLocks/>
            <a:stCxn id="16" idx="3"/>
            <a:endCxn id="17" idx="1"/>
          </p:cNvCxnSpPr>
          <p:nvPr/>
        </p:nvCxnSpPr>
        <p:spPr>
          <a:xfrm flipV="1">
            <a:off x="1930400" y="2717800"/>
            <a:ext cx="406400" cy="2770982"/>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BCD3E050-9E49-B32E-1551-B0E2A3E2C78A}"/>
              </a:ext>
            </a:extLst>
          </p:cNvPr>
          <p:cNvCxnSpPr>
            <a:cxnSpLocks/>
            <a:stCxn id="17" idx="2"/>
            <a:endCxn id="18" idx="0"/>
          </p:cNvCxnSpPr>
          <p:nvPr/>
        </p:nvCxnSpPr>
        <p:spPr>
          <a:xfrm>
            <a:off x="3048000" y="3683000"/>
            <a:ext cx="0" cy="228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Elbow 81">
            <a:extLst>
              <a:ext uri="{FF2B5EF4-FFF2-40B4-BE49-F238E27FC236}">
                <a16:creationId xmlns:a16="http://schemas.microsoft.com/office/drawing/2014/main" id="{B64A286C-AB1B-35B8-444E-03D5B84F4B87}"/>
              </a:ext>
            </a:extLst>
          </p:cNvPr>
          <p:cNvCxnSpPr>
            <a:cxnSpLocks/>
            <a:stCxn id="18" idx="3"/>
            <a:endCxn id="19" idx="1"/>
          </p:cNvCxnSpPr>
          <p:nvPr/>
        </p:nvCxnSpPr>
        <p:spPr>
          <a:xfrm flipV="1">
            <a:off x="3759200" y="3022600"/>
            <a:ext cx="304800" cy="18542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Elbow 82">
            <a:extLst>
              <a:ext uri="{FF2B5EF4-FFF2-40B4-BE49-F238E27FC236}">
                <a16:creationId xmlns:a16="http://schemas.microsoft.com/office/drawing/2014/main" id="{C2540F7E-5676-B513-CA97-8D22638D2158}"/>
              </a:ext>
            </a:extLst>
          </p:cNvPr>
          <p:cNvCxnSpPr>
            <a:cxnSpLocks/>
            <a:stCxn id="21" idx="3"/>
            <a:endCxn id="23" idx="1"/>
          </p:cNvCxnSpPr>
          <p:nvPr/>
        </p:nvCxnSpPr>
        <p:spPr>
          <a:xfrm flipV="1">
            <a:off x="7569200" y="2463800"/>
            <a:ext cx="304800" cy="5588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B3A693A3-BE2C-C9FD-50B1-66059DBBC7C8}"/>
              </a:ext>
            </a:extLst>
          </p:cNvPr>
          <p:cNvCxnSpPr>
            <a:cxnSpLocks/>
            <a:stCxn id="23" idx="2"/>
            <a:endCxn id="24" idx="0"/>
          </p:cNvCxnSpPr>
          <p:nvPr/>
        </p:nvCxnSpPr>
        <p:spPr>
          <a:xfrm>
            <a:off x="8724900" y="3175000"/>
            <a:ext cx="0" cy="101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Elbow 89">
            <a:extLst>
              <a:ext uri="{FF2B5EF4-FFF2-40B4-BE49-F238E27FC236}">
                <a16:creationId xmlns:a16="http://schemas.microsoft.com/office/drawing/2014/main" id="{A269EE91-3F58-FD81-382E-0CA638F1104E}"/>
              </a:ext>
            </a:extLst>
          </p:cNvPr>
          <p:cNvCxnSpPr>
            <a:cxnSpLocks/>
            <a:stCxn id="25" idx="3"/>
            <a:endCxn id="26" idx="1"/>
          </p:cNvCxnSpPr>
          <p:nvPr/>
        </p:nvCxnSpPr>
        <p:spPr>
          <a:xfrm flipV="1">
            <a:off x="9575800" y="2743200"/>
            <a:ext cx="304800" cy="25273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Elbow 90">
            <a:extLst>
              <a:ext uri="{FF2B5EF4-FFF2-40B4-BE49-F238E27FC236}">
                <a16:creationId xmlns:a16="http://schemas.microsoft.com/office/drawing/2014/main" id="{DFE6B6E0-A933-5DF6-4377-678ABED118EE}"/>
              </a:ext>
            </a:extLst>
          </p:cNvPr>
          <p:cNvCxnSpPr>
            <a:cxnSpLocks/>
            <a:stCxn id="25" idx="3"/>
            <a:endCxn id="27" idx="1"/>
          </p:cNvCxnSpPr>
          <p:nvPr/>
        </p:nvCxnSpPr>
        <p:spPr>
          <a:xfrm flipV="1">
            <a:off x="9575800" y="4787900"/>
            <a:ext cx="304800" cy="4826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Freeform: Shape 91">
            <a:extLst>
              <a:ext uri="{FF2B5EF4-FFF2-40B4-BE49-F238E27FC236}">
                <a16:creationId xmlns:a16="http://schemas.microsoft.com/office/drawing/2014/main" id="{D99C7111-2B30-918F-23C6-27BE49A7239B}"/>
              </a:ext>
            </a:extLst>
          </p:cNvPr>
          <p:cNvSpPr/>
          <p:nvPr/>
        </p:nvSpPr>
        <p:spPr>
          <a:xfrm>
            <a:off x="7366000" y="4292600"/>
            <a:ext cx="508001" cy="114301"/>
          </a:xfrm>
          <a:custGeom>
            <a:avLst/>
            <a:gdLst/>
            <a:ahLst/>
            <a:cxnLst/>
            <a:rect l="0" t="0" r="0" b="0"/>
            <a:pathLst>
              <a:path w="508001" h="114301">
                <a:moveTo>
                  <a:pt x="0" y="0"/>
                </a:moveTo>
                <a:lnTo>
                  <a:pt x="0" y="114300"/>
                </a:lnTo>
                <a:lnTo>
                  <a:pt x="508000" y="114300"/>
                </a:ln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pic>
        <p:nvPicPr>
          <p:cNvPr id="94" name="Pic">
            <a:extLst>
              <a:ext uri="{FF2B5EF4-FFF2-40B4-BE49-F238E27FC236}">
                <a16:creationId xmlns:a16="http://schemas.microsoft.com/office/drawing/2014/main" id="{A9F71D1A-E02A-9439-FBE4-9A8EA85C911D}"/>
              </a:ext>
            </a:extLst>
          </p:cNvPr>
          <p:cNvPicPr>
            <a:picLocks/>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3"/>
              </a:ext>
              <a:ext uri="{6F801314-5768-4EAC-8CED-0F2297F94238}"/>
            </a:extLst>
          </a:blip>
          <a:stretch>
            <a:fillRect/>
          </a:stretch>
        </p:blipFill>
        <p:spPr bwMode="auto">
          <a:xfrm>
            <a:off x="279400" y="1828800"/>
            <a:ext cx="152400" cy="152400"/>
          </a:xfrm>
          <a:prstGeom prst="rect">
            <a:avLst/>
          </a:prstGeom>
          <a:noFill/>
          <a:effectLst/>
        </p:spPr>
      </p:pic>
      <p:pic>
        <p:nvPicPr>
          <p:cNvPr id="95" name="Pic">
            <a:extLst>
              <a:ext uri="{FF2B5EF4-FFF2-40B4-BE49-F238E27FC236}">
                <a16:creationId xmlns:a16="http://schemas.microsoft.com/office/drawing/2014/main" id="{62537E9D-832B-3952-A703-DCAA658C7CB3}"/>
              </a:ext>
            </a:extLst>
          </p:cNvPr>
          <p:cNvPicPr>
            <a:picLocks/>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4"/>
              </a:ext>
              <a:ext uri="{6F801314-5768-4EAC-8CED-0F2297F94238}"/>
            </a:extLst>
          </a:blip>
          <a:stretch>
            <a:fillRect/>
          </a:stretch>
        </p:blipFill>
        <p:spPr bwMode="auto">
          <a:xfrm>
            <a:off x="279400" y="2667000"/>
            <a:ext cx="152400" cy="152400"/>
          </a:xfrm>
          <a:prstGeom prst="rect">
            <a:avLst/>
          </a:prstGeom>
          <a:noFill/>
          <a:effectLst/>
        </p:spPr>
      </p:pic>
      <p:pic>
        <p:nvPicPr>
          <p:cNvPr id="97" name="Pic">
            <a:extLst>
              <a:ext uri="{FF2B5EF4-FFF2-40B4-BE49-F238E27FC236}">
                <a16:creationId xmlns:a16="http://schemas.microsoft.com/office/drawing/2014/main" id="{A53265DE-66EC-5E29-D3F5-95587092FD84}"/>
              </a:ext>
            </a:extLst>
          </p:cNvPr>
          <p:cNvPicPr>
            <a:picLocks/>
          </p:cNvPicPr>
          <p:nvPr>
            <p:custDataLst>
              <p:tags r:id="rId1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5"/>
              </a:ext>
              <a:ext uri="{6F801314-5768-4EAC-8CED-0F2297F94238}"/>
            </a:extLst>
          </a:blip>
          <a:stretch>
            <a:fillRect/>
          </a:stretch>
        </p:blipFill>
        <p:spPr bwMode="auto">
          <a:xfrm>
            <a:off x="279400" y="3505200"/>
            <a:ext cx="152400" cy="152400"/>
          </a:xfrm>
          <a:prstGeom prst="rect">
            <a:avLst/>
          </a:prstGeom>
          <a:noFill/>
          <a:effectLst/>
        </p:spPr>
      </p:pic>
      <p:pic>
        <p:nvPicPr>
          <p:cNvPr id="98" name="Pic">
            <a:extLst>
              <a:ext uri="{FF2B5EF4-FFF2-40B4-BE49-F238E27FC236}">
                <a16:creationId xmlns:a16="http://schemas.microsoft.com/office/drawing/2014/main" id="{D3EB3F7E-DEED-DCA3-0CD2-DECF55071A3A}"/>
              </a:ext>
            </a:extLst>
          </p:cNvPr>
          <p:cNvPicPr>
            <a:picLocks/>
          </p:cNvPicPr>
          <p:nvPr>
            <p:custDataLst>
              <p:tags r:id="rId1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6"/>
              </a:ext>
              <a:ext uri="{6F801314-5768-4EAC-8CED-0F2297F94238}"/>
            </a:extLst>
          </a:blip>
          <a:stretch>
            <a:fillRect/>
          </a:stretch>
        </p:blipFill>
        <p:spPr bwMode="auto">
          <a:xfrm>
            <a:off x="279400" y="5168900"/>
            <a:ext cx="152400" cy="152400"/>
          </a:xfrm>
          <a:prstGeom prst="rect">
            <a:avLst/>
          </a:prstGeom>
          <a:noFill/>
          <a:effectLst/>
        </p:spPr>
      </p:pic>
      <p:pic>
        <p:nvPicPr>
          <p:cNvPr id="96" name="Pic">
            <a:extLst>
              <a:ext uri="{FF2B5EF4-FFF2-40B4-BE49-F238E27FC236}">
                <a16:creationId xmlns:a16="http://schemas.microsoft.com/office/drawing/2014/main" id="{FCE8FA9D-FD8C-68A2-2266-A034A003CC23}"/>
              </a:ext>
            </a:extLst>
          </p:cNvPr>
          <p:cNvPicPr>
            <a:picLocks/>
          </p:cNvPicPr>
          <p:nvPr>
            <p:custDataLst>
              <p:tags r:id="rId1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7"/>
              </a:ext>
              <a:ext uri="{6F801314-5768-4EAC-8CED-0F2297F94238}"/>
            </a:extLst>
          </a:blip>
          <a:stretch>
            <a:fillRect/>
          </a:stretch>
        </p:blipFill>
        <p:spPr bwMode="auto">
          <a:xfrm>
            <a:off x="2438400" y="1879600"/>
            <a:ext cx="152400" cy="152400"/>
          </a:xfrm>
          <a:prstGeom prst="rect">
            <a:avLst/>
          </a:prstGeom>
          <a:noFill/>
          <a:effectLst/>
        </p:spPr>
      </p:pic>
      <p:pic>
        <p:nvPicPr>
          <p:cNvPr id="99" name="Pic">
            <a:extLst>
              <a:ext uri="{FF2B5EF4-FFF2-40B4-BE49-F238E27FC236}">
                <a16:creationId xmlns:a16="http://schemas.microsoft.com/office/drawing/2014/main" id="{C6253BC6-451E-2591-E97D-D224BB9C0B51}"/>
              </a:ext>
            </a:extLst>
          </p:cNvPr>
          <p:cNvPicPr>
            <a:picLocks/>
          </p:cNvPicPr>
          <p:nvPr>
            <p:custDataLst>
              <p:tags r:id="rId1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8"/>
              </a:ext>
              <a:ext uri="{6F801314-5768-4EAC-8CED-0F2297F94238}"/>
            </a:extLst>
          </a:blip>
          <a:stretch>
            <a:fillRect/>
          </a:stretch>
        </p:blipFill>
        <p:spPr bwMode="auto">
          <a:xfrm>
            <a:off x="7975600" y="3378200"/>
            <a:ext cx="152400" cy="152400"/>
          </a:xfrm>
          <a:prstGeom prst="rect">
            <a:avLst/>
          </a:prstGeom>
          <a:noFill/>
          <a:effectLst/>
        </p:spPr>
      </p:pic>
      <p:pic>
        <p:nvPicPr>
          <p:cNvPr id="101" name="Pic">
            <a:extLst>
              <a:ext uri="{FF2B5EF4-FFF2-40B4-BE49-F238E27FC236}">
                <a16:creationId xmlns:a16="http://schemas.microsoft.com/office/drawing/2014/main" id="{B70239B0-BB93-7DDE-D097-323194D99D6C}"/>
              </a:ext>
            </a:extLst>
          </p:cNvPr>
          <p:cNvPicPr>
            <a:picLocks/>
          </p:cNvPicPr>
          <p:nvPr>
            <p:custDataLst>
              <p:tags r:id="rId1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9"/>
              </a:ext>
              <a:ext uri="{6F801314-5768-4EAC-8CED-0F2297F94238}"/>
            </a:extLst>
          </a:blip>
          <a:stretch>
            <a:fillRect/>
          </a:stretch>
        </p:blipFill>
        <p:spPr bwMode="auto">
          <a:xfrm>
            <a:off x="279400" y="4330700"/>
            <a:ext cx="152400" cy="152400"/>
          </a:xfrm>
          <a:prstGeom prst="rect">
            <a:avLst/>
          </a:prstGeom>
          <a:noFill/>
          <a:effectLst/>
        </p:spPr>
      </p:pic>
      <p:sp>
        <p:nvSpPr>
          <p:cNvPr id="134" name="Rectangle 133">
            <a:extLst>
              <a:ext uri="{FF2B5EF4-FFF2-40B4-BE49-F238E27FC236}">
                <a16:creationId xmlns:a16="http://schemas.microsoft.com/office/drawing/2014/main" id="{738A8B2D-42AF-22C9-9FB2-A328F0AC1204}"/>
              </a:ext>
            </a:extLst>
          </p:cNvPr>
          <p:cNvSpPr/>
          <p:nvPr/>
        </p:nvSpPr>
        <p:spPr>
          <a:xfrm>
            <a:off x="330200" y="1346200"/>
            <a:ext cx="11709400" cy="462915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105" name="Straight Arrow Connector 104">
            <a:extLst>
              <a:ext uri="{FF2B5EF4-FFF2-40B4-BE49-F238E27FC236}">
                <a16:creationId xmlns:a16="http://schemas.microsoft.com/office/drawing/2014/main" id="{D9AF03AF-B555-4229-5B14-BEA6593026B1}"/>
              </a:ext>
            </a:extLst>
          </p:cNvPr>
          <p:cNvCxnSpPr>
            <a:cxnSpLocks/>
            <a:stCxn id="24" idx="2"/>
            <a:endCxn id="25" idx="0"/>
          </p:cNvCxnSpPr>
          <p:nvPr/>
        </p:nvCxnSpPr>
        <p:spPr>
          <a:xfrm>
            <a:off x="8724900" y="4597400"/>
            <a:ext cx="0" cy="101600"/>
          </a:xfrm>
          <a:prstGeom prst="straightConnector1">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1B043882-62E0-CEB2-9305-63853DDDAB5E}"/>
              </a:ext>
            </a:extLst>
          </p:cNvPr>
          <p:cNvSpPr/>
          <p:nvPr/>
        </p:nvSpPr>
        <p:spPr>
          <a:xfrm>
            <a:off x="63500" y="1273175"/>
            <a:ext cx="508000" cy="47021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5" name="Rectangle: Rounded Corners 34">
            <a:extLst>
              <a:ext uri="{FF2B5EF4-FFF2-40B4-BE49-F238E27FC236}">
                <a16:creationId xmlns:a16="http://schemas.microsoft.com/office/drawing/2014/main" id="{8F026587-F1B9-E186-A22A-5BC01DCC0C3F}"/>
              </a:ext>
            </a:extLst>
          </p:cNvPr>
          <p:cNvSpPr/>
          <p:nvPr/>
        </p:nvSpPr>
        <p:spPr>
          <a:xfrm>
            <a:off x="406400" y="1371600"/>
            <a:ext cx="11455400" cy="4572000"/>
          </a:xfrm>
          <a:prstGeom prst="roundRect">
            <a:avLst>
              <a:gd name="adj" fmla="val 3000"/>
            </a:avLst>
          </a:prstGeom>
          <a:solidFill>
            <a:schemeClr val="tx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9" name="Rectangle: Rounded Corners 108">
            <a:extLst>
              <a:ext uri="{FF2B5EF4-FFF2-40B4-BE49-F238E27FC236}">
                <a16:creationId xmlns:a16="http://schemas.microsoft.com/office/drawing/2014/main" id="{28CBCA5A-C3A3-356E-A8E5-91EFD3A4535E}"/>
              </a:ext>
            </a:extLst>
          </p:cNvPr>
          <p:cNvSpPr/>
          <p:nvPr/>
        </p:nvSpPr>
        <p:spPr>
          <a:xfrm>
            <a:off x="533400" y="1905000"/>
            <a:ext cx="11201400" cy="1905000"/>
          </a:xfrm>
          <a:prstGeom prst="roundRect">
            <a:avLst>
              <a:gd name="adj" fmla="val 3500"/>
            </a:avLst>
          </a:prstGeom>
          <a:noFill/>
          <a:ln w="9525" cap="flat" cmpd="sng" algn="ctr">
            <a:noFill/>
            <a:prstDash val="solid"/>
            <a:miter lim="800000"/>
          </a:ln>
          <a:effectLst/>
          <a:extLst>
            <a:ext uri="{909E8E84-426E-40DD-AFC4-6F175D3DCCD1}">
              <a14:hiddenFill xmlns:a14="http://schemas.microsoft.com/office/drawing/2010/main">
                <a:solidFill>
                  <a:schemeClr val="tx2">
                    <a:lumMod val="88000"/>
                    <a:lumOff val="12000"/>
                  </a:schemeClr>
                </a:solidFill>
              </a14:hiddenFill>
            </a:ext>
            <a:ext uri="{91240B29-F687-4F45-9708-019B960494DF}">
              <a14:hiddenLine xmlns:a14="http://schemas.microsoft.com/office/drawing/2010/main" w="9525" cap="flat" cmpd="sng" algn="ctr">
                <a:solidFill>
                  <a:schemeClr val="bg2">
                    <a:lumMod val="9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88900" bIns="63500" rtlCol="0" anchor="t">
            <a:noAutofit/>
          </a:bodyPr>
          <a:lstStyle/>
          <a:p>
            <a:r>
              <a:rPr lang="en-MY" sz="1200" b="1">
                <a:solidFill>
                  <a:schemeClr val="bg1"/>
                </a:solidFill>
              </a:rPr>
              <a:t>Unity Catalog · who sees what</a:t>
            </a:r>
          </a:p>
        </p:txBody>
      </p:sp>
      <p:sp>
        <p:nvSpPr>
          <p:cNvPr id="110" name="TextBox 109">
            <a:extLst>
              <a:ext uri="{FF2B5EF4-FFF2-40B4-BE49-F238E27FC236}">
                <a16:creationId xmlns:a16="http://schemas.microsoft.com/office/drawing/2014/main" id="{79E4744D-1840-23C8-ED42-096E5986371B}"/>
              </a:ext>
            </a:extLst>
          </p:cNvPr>
          <p:cNvSpPr txBox="1"/>
          <p:nvPr/>
        </p:nvSpPr>
        <p:spPr>
          <a:xfrm>
            <a:off x="533400" y="1447800"/>
            <a:ext cx="11201400" cy="381000"/>
          </a:xfrm>
          <a:prstGeom prst="rect">
            <a:avLst/>
          </a:prstGeom>
          <a:noFill/>
        </p:spPr>
        <p:txBody>
          <a:bodyPr vert="horz" rtlCol="0">
            <a:noAutofit/>
          </a:bodyPr>
          <a:lstStyle/>
          <a:p>
            <a:r>
              <a:rPr lang="en-US" b="1">
                <a:solidFill>
                  <a:schemeClr val="bg1"/>
                </a:solidFill>
              </a:rPr>
              <a:t>Unity Catalog governs every table, file, model and dashboard</a:t>
            </a:r>
            <a:endParaRPr lang="en-MY"/>
          </a:p>
        </p:txBody>
      </p:sp>
      <p:sp>
        <p:nvSpPr>
          <p:cNvPr id="111" name="Rectangle: Rounded Corners 110">
            <a:extLst>
              <a:ext uri="{FF2B5EF4-FFF2-40B4-BE49-F238E27FC236}">
                <a16:creationId xmlns:a16="http://schemas.microsoft.com/office/drawing/2014/main" id="{BC628E88-17D8-9920-739E-EC8926AD9B58}"/>
              </a:ext>
            </a:extLst>
          </p:cNvPr>
          <p:cNvSpPr/>
          <p:nvPr/>
        </p:nvSpPr>
        <p:spPr>
          <a:xfrm>
            <a:off x="533400" y="3911600"/>
            <a:ext cx="11201400" cy="1930400"/>
          </a:xfrm>
          <a:prstGeom prst="roundRect">
            <a:avLst>
              <a:gd name="adj" fmla="val 3500"/>
            </a:avLst>
          </a:prstGeom>
          <a:noFill/>
          <a:ln w="9525" cap="flat" cmpd="sng" algn="ctr">
            <a:noFill/>
            <a:prstDash val="solid"/>
            <a:miter lim="800000"/>
          </a:ln>
          <a:effectLst/>
          <a:extLst>
            <a:ext uri="{909E8E84-426E-40DD-AFC4-6F175D3DCCD1}">
              <a14:hiddenFill xmlns:a14="http://schemas.microsoft.com/office/drawing/2010/main">
                <a:solidFill>
                  <a:schemeClr val="tx2">
                    <a:lumMod val="88000"/>
                    <a:lumOff val="12000"/>
                  </a:schemeClr>
                </a:solidFill>
              </a14:hiddenFill>
            </a:ext>
            <a:ext uri="{91240B29-F687-4F45-9708-019B960494DF}">
              <a14:hiddenLine xmlns:a14="http://schemas.microsoft.com/office/drawing/2010/main" w="9525" cap="flat" cmpd="sng" algn="ctr">
                <a:solidFill>
                  <a:schemeClr val="bg2">
                    <a:lumMod val="9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88900" bIns="63500" rtlCol="0" anchor="t">
            <a:noAutofit/>
          </a:bodyPr>
          <a:lstStyle/>
          <a:p>
            <a:r>
              <a:rPr lang="en-MY" sz="1200" b="1">
                <a:solidFill>
                  <a:schemeClr val="bg1"/>
                </a:solidFill>
              </a:rPr>
              <a:t>Secrets · lineage · deployment</a:t>
            </a:r>
          </a:p>
        </p:txBody>
      </p:sp>
      <p:sp>
        <p:nvSpPr>
          <p:cNvPr id="112" name="Rectangle: Rounded Corners 111">
            <a:extLst>
              <a:ext uri="{FF2B5EF4-FFF2-40B4-BE49-F238E27FC236}">
                <a16:creationId xmlns:a16="http://schemas.microsoft.com/office/drawing/2014/main" id="{4FD48BF5-7B93-535D-CBAC-6986FBA65AD0}"/>
              </a:ext>
            </a:extLst>
          </p:cNvPr>
          <p:cNvSpPr/>
          <p:nvPr/>
        </p:nvSpPr>
        <p:spPr>
          <a:xfrm>
            <a:off x="533400" y="2235200"/>
            <a:ext cx="3649663" cy="15748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One catalog per environment</a:t>
            </a:r>
          </a:p>
          <a:p>
            <a:pPr marL="171450" indent="-171450">
              <a:spcBef>
                <a:spcPts val="600"/>
              </a:spcBef>
              <a:buFont typeface="Arial" panose="020B0604020202020204" pitchFamily="34" charset="0"/>
              <a:buChar char="•"/>
            </a:pPr>
            <a:r>
              <a:rPr lang="en-US" sz="1100">
                <a:solidFill>
                  <a:schemeClr val="bg1"/>
                </a:solidFill>
              </a:rPr>
              <a:t>Bronze, silver, gold, ML and app schemas</a:t>
            </a:r>
            <a:endParaRPr lang="en-MY"/>
          </a:p>
          <a:p>
            <a:pPr marL="171450" indent="-171450">
              <a:spcBef>
                <a:spcPts val="600"/>
              </a:spcBef>
              <a:buFont typeface="Arial" panose="020B0604020202020204" pitchFamily="34" charset="0"/>
              <a:buChar char="•"/>
            </a:pPr>
            <a:r>
              <a:rPr lang="en-US" sz="1100">
                <a:solidFill>
                  <a:schemeClr val="bg1"/>
                </a:solidFill>
              </a:rPr>
              <a:t>Managed volume; dev schemas per teammate</a:t>
            </a:r>
            <a:endParaRPr lang="en-MY"/>
          </a:p>
        </p:txBody>
      </p:sp>
      <p:sp>
        <p:nvSpPr>
          <p:cNvPr id="113" name="IconTile_17">
            <a:extLst>
              <a:ext uri="{FF2B5EF4-FFF2-40B4-BE49-F238E27FC236}">
                <a16:creationId xmlns:a16="http://schemas.microsoft.com/office/drawing/2014/main" id="{D9597845-8B2C-3C5C-2950-2D5849EAD371}"/>
              </a:ext>
            </a:extLst>
          </p:cNvPr>
          <p:cNvSpPr/>
          <p:nvPr/>
        </p:nvSpPr>
        <p:spPr>
          <a:xfrm>
            <a:off x="647700" y="2349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4" name="Rectangle: Rounded Corners 113">
            <a:extLst>
              <a:ext uri="{FF2B5EF4-FFF2-40B4-BE49-F238E27FC236}">
                <a16:creationId xmlns:a16="http://schemas.microsoft.com/office/drawing/2014/main" id="{8D35958B-081C-0434-F2A8-6996A690F71C}"/>
              </a:ext>
            </a:extLst>
          </p:cNvPr>
          <p:cNvSpPr/>
          <p:nvPr/>
        </p:nvSpPr>
        <p:spPr>
          <a:xfrm>
            <a:off x="4310063" y="2235200"/>
            <a:ext cx="3648075" cy="15748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App as its own service principal</a:t>
            </a:r>
          </a:p>
          <a:p>
            <a:pPr marL="171450" indent="-171450">
              <a:spcBef>
                <a:spcPts val="600"/>
              </a:spcBef>
              <a:buFont typeface="Arial" panose="020B0604020202020204" pitchFamily="34" charset="0"/>
              <a:buChar char="•"/>
            </a:pPr>
            <a:r>
              <a:rPr lang="en-US" sz="1100">
                <a:solidFill>
                  <a:schemeClr val="bg1"/>
                </a:solidFill>
              </a:rPr>
              <a:t>Reads analytics, runs the model</a:t>
            </a:r>
            <a:endParaRPr lang="en-MY"/>
          </a:p>
          <a:p>
            <a:pPr marL="171450" indent="-171450">
              <a:spcBef>
                <a:spcPts val="600"/>
              </a:spcBef>
              <a:buFont typeface="Arial" panose="020B0604020202020204" pitchFamily="34" charset="0"/>
              <a:buChar char="•"/>
            </a:pPr>
            <a:r>
              <a:rPr lang="en-US" sz="1100">
                <a:solidFill>
                  <a:schemeClr val="bg1"/>
                </a:solidFill>
              </a:rPr>
              <a:t>Writes only to sign-ups</a:t>
            </a:r>
            <a:endParaRPr lang="en-MY"/>
          </a:p>
          <a:p>
            <a:pPr marL="171450" indent="-171450">
              <a:spcBef>
                <a:spcPts val="600"/>
              </a:spcBef>
              <a:buFont typeface="Arial" panose="020B0604020202020204" pitchFamily="34" charset="0"/>
              <a:buChar char="•"/>
            </a:pPr>
            <a:r>
              <a:rPr lang="en-US" sz="1100">
                <a:solidFill>
                  <a:schemeClr val="bg1"/>
                </a:solidFill>
              </a:rPr>
              <a:t>No group has catalog-wide access</a:t>
            </a:r>
            <a:endParaRPr lang="en-MY"/>
          </a:p>
        </p:txBody>
      </p:sp>
      <p:sp>
        <p:nvSpPr>
          <p:cNvPr id="115" name="IconTile_17">
            <a:extLst>
              <a:ext uri="{FF2B5EF4-FFF2-40B4-BE49-F238E27FC236}">
                <a16:creationId xmlns:a16="http://schemas.microsoft.com/office/drawing/2014/main" id="{F0E20070-22EF-D88F-3B3F-30085D8C62CB}"/>
              </a:ext>
            </a:extLst>
          </p:cNvPr>
          <p:cNvSpPr/>
          <p:nvPr/>
        </p:nvSpPr>
        <p:spPr>
          <a:xfrm>
            <a:off x="4424363" y="2349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6" name="Rectangle: Rounded Corners 115">
            <a:extLst>
              <a:ext uri="{FF2B5EF4-FFF2-40B4-BE49-F238E27FC236}">
                <a16:creationId xmlns:a16="http://schemas.microsoft.com/office/drawing/2014/main" id="{AD7C9DE2-250C-F378-7AF1-F4701221DCBD}"/>
              </a:ext>
            </a:extLst>
          </p:cNvPr>
          <p:cNvSpPr/>
          <p:nvPr/>
        </p:nvSpPr>
        <p:spPr>
          <a:xfrm>
            <a:off x="8085138" y="2235200"/>
            <a:ext cx="3649663" cy="15748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Resident sign-ups isolated</a:t>
            </a:r>
          </a:p>
          <a:p>
            <a:pPr marL="171450" indent="-171450">
              <a:spcBef>
                <a:spcPts val="600"/>
              </a:spcBef>
              <a:buFont typeface="Arial" panose="020B0604020202020204" pitchFamily="34" charset="0"/>
              <a:buChar char="•"/>
            </a:pPr>
            <a:r>
              <a:rPr lang="en-US" sz="1100">
                <a:solidFill>
                  <a:schemeClr val="bg1"/>
                </a:solidFill>
              </a:rPr>
              <a:t>Kept in their own schema</a:t>
            </a:r>
            <a:endParaRPr lang="en-MY"/>
          </a:p>
          <a:p>
            <a:pPr marL="171450" indent="-171450">
              <a:spcBef>
                <a:spcPts val="600"/>
              </a:spcBef>
              <a:buFont typeface="Arial" panose="020B0604020202020204" pitchFamily="34" charset="0"/>
              <a:buChar char="•"/>
            </a:pPr>
            <a:r>
              <a:rPr lang="en-US" sz="1100">
                <a:solidFill>
                  <a:schemeClr val="bg1"/>
                </a:solidFill>
              </a:rPr>
              <a:t>Addresses shown masked</a:t>
            </a:r>
            <a:endParaRPr lang="en-MY"/>
          </a:p>
        </p:txBody>
      </p:sp>
      <p:sp>
        <p:nvSpPr>
          <p:cNvPr id="117" name="IconTile_17">
            <a:extLst>
              <a:ext uri="{FF2B5EF4-FFF2-40B4-BE49-F238E27FC236}">
                <a16:creationId xmlns:a16="http://schemas.microsoft.com/office/drawing/2014/main" id="{E903F701-6E38-9A38-46AB-DF91ED3D9604}"/>
              </a:ext>
            </a:extLst>
          </p:cNvPr>
          <p:cNvSpPr/>
          <p:nvPr/>
        </p:nvSpPr>
        <p:spPr>
          <a:xfrm>
            <a:off x="8199438" y="2349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8" name="Rectangle: Rounded Corners 117">
            <a:extLst>
              <a:ext uri="{FF2B5EF4-FFF2-40B4-BE49-F238E27FC236}">
                <a16:creationId xmlns:a16="http://schemas.microsoft.com/office/drawing/2014/main" id="{3DB7E7A6-9DA1-3CFE-B197-DDBA812FF23D}"/>
              </a:ext>
            </a:extLst>
          </p:cNvPr>
          <p:cNvSpPr/>
          <p:nvPr/>
        </p:nvSpPr>
        <p:spPr>
          <a:xfrm>
            <a:off x="8085138" y="4241800"/>
            <a:ext cx="3649663" cy="1600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One bundle (DABs), dev and prod</a:t>
            </a:r>
          </a:p>
          <a:p>
            <a:pPr marL="171450" indent="-171450">
              <a:spcBef>
                <a:spcPts val="600"/>
              </a:spcBef>
              <a:buFont typeface="Arial" panose="020B0604020202020204" pitchFamily="34" charset="0"/>
              <a:buChar char="•"/>
            </a:pPr>
            <a:r>
              <a:rPr lang="en-US" sz="1100">
                <a:solidFill>
                  <a:schemeClr val="bg1"/>
                </a:solidFill>
              </a:rPr>
              <a:t>7 jobs, 2 pipelines, app, dashboard, Genie space</a:t>
            </a:r>
            <a:endParaRPr lang="en-MY"/>
          </a:p>
          <a:p>
            <a:pPr marL="171450" indent="-171450">
              <a:spcBef>
                <a:spcPts val="600"/>
              </a:spcBef>
              <a:buFont typeface="Arial" panose="020B0604020202020204" pitchFamily="34" charset="0"/>
              <a:buChar char="•"/>
            </a:pPr>
            <a:r>
              <a:rPr lang="en-US" sz="1100">
                <a:solidFill>
                  <a:schemeClr val="bg1"/>
                </a:solidFill>
              </a:rPr>
              <a:t>Experiment, model, 5 schemas, volume</a:t>
            </a:r>
            <a:endParaRPr lang="en-MY"/>
          </a:p>
        </p:txBody>
      </p:sp>
      <p:sp>
        <p:nvSpPr>
          <p:cNvPr id="119" name="IconTile_17">
            <a:extLst>
              <a:ext uri="{FF2B5EF4-FFF2-40B4-BE49-F238E27FC236}">
                <a16:creationId xmlns:a16="http://schemas.microsoft.com/office/drawing/2014/main" id="{25998F2B-7C5F-4FEB-D476-7E6743549FB3}"/>
              </a:ext>
            </a:extLst>
          </p:cNvPr>
          <p:cNvSpPr/>
          <p:nvPr/>
        </p:nvSpPr>
        <p:spPr>
          <a:xfrm>
            <a:off x="8199438" y="43561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20" name="Rectangle: Rounded Corners 119">
            <a:extLst>
              <a:ext uri="{FF2B5EF4-FFF2-40B4-BE49-F238E27FC236}">
                <a16:creationId xmlns:a16="http://schemas.microsoft.com/office/drawing/2014/main" id="{9787628C-173F-20B2-D6FA-E620EF333791}"/>
              </a:ext>
            </a:extLst>
          </p:cNvPr>
          <p:cNvSpPr/>
          <p:nvPr/>
        </p:nvSpPr>
        <p:spPr>
          <a:xfrm>
            <a:off x="533400" y="4241800"/>
            <a:ext cx="3649663" cy="1600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Secrets in a secret scope</a:t>
            </a:r>
          </a:p>
          <a:p>
            <a:pPr marL="171450" indent="-171450">
              <a:spcBef>
                <a:spcPts val="600"/>
              </a:spcBef>
              <a:buFont typeface="Arial" panose="020B0604020202020204" pitchFamily="34" charset="0"/>
              <a:buChar char="•"/>
            </a:pPr>
            <a:r>
              <a:rPr lang="en-US" sz="1100">
                <a:solidFill>
                  <a:schemeClr val="bg1"/>
                </a:solidFill>
              </a:rPr>
              <a:t>API keys, Telegram token, mail credentials</a:t>
            </a:r>
            <a:endParaRPr lang="en-MY"/>
          </a:p>
          <a:p>
            <a:pPr marL="171450" indent="-171450">
              <a:spcBef>
                <a:spcPts val="600"/>
              </a:spcBef>
              <a:buFont typeface="Arial" panose="020B0604020202020204" pitchFamily="34" charset="0"/>
              <a:buChar char="•"/>
            </a:pPr>
            <a:r>
              <a:rPr lang="en-US" sz="1100">
                <a:solidFill>
                  <a:schemeClr val="bg1"/>
                </a:solidFill>
              </a:rPr>
              <a:t>Never in code</a:t>
            </a:r>
            <a:endParaRPr lang="en-MY"/>
          </a:p>
        </p:txBody>
      </p:sp>
      <p:sp>
        <p:nvSpPr>
          <p:cNvPr id="121" name="IconTile_17">
            <a:extLst>
              <a:ext uri="{FF2B5EF4-FFF2-40B4-BE49-F238E27FC236}">
                <a16:creationId xmlns:a16="http://schemas.microsoft.com/office/drawing/2014/main" id="{453B0D34-B5CE-68DD-27D8-BCBF86345899}"/>
              </a:ext>
            </a:extLst>
          </p:cNvPr>
          <p:cNvSpPr/>
          <p:nvPr/>
        </p:nvSpPr>
        <p:spPr>
          <a:xfrm>
            <a:off x="647700" y="43561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22" name="Rectangle: Rounded Corners 121">
            <a:extLst>
              <a:ext uri="{FF2B5EF4-FFF2-40B4-BE49-F238E27FC236}">
                <a16:creationId xmlns:a16="http://schemas.microsoft.com/office/drawing/2014/main" id="{580B375C-A8CC-3786-87C2-B0916CA98352}"/>
              </a:ext>
            </a:extLst>
          </p:cNvPr>
          <p:cNvSpPr/>
          <p:nvPr/>
        </p:nvSpPr>
        <p:spPr>
          <a:xfrm>
            <a:off x="4310063" y="4241800"/>
            <a:ext cx="3648075" cy="1600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Lineage from bronze to gold to app</a:t>
            </a:r>
          </a:p>
          <a:p>
            <a:pPr marL="171450" indent="-171450">
              <a:spcBef>
                <a:spcPts val="600"/>
              </a:spcBef>
              <a:buFont typeface="Arial" panose="020B0604020202020204" pitchFamily="34" charset="0"/>
              <a:buChar char="•"/>
            </a:pPr>
            <a:r>
              <a:rPr lang="en-US" sz="1100">
                <a:solidFill>
                  <a:schemeClr val="bg1"/>
                </a:solidFill>
              </a:rPr>
              <a:t>Every label records who read it</a:t>
            </a:r>
            <a:endParaRPr lang="en-MY"/>
          </a:p>
          <a:p>
            <a:pPr marL="171450" indent="-171450">
              <a:spcBef>
                <a:spcPts val="600"/>
              </a:spcBef>
              <a:buFont typeface="Arial" panose="020B0604020202020204" pitchFamily="34" charset="0"/>
              <a:buChar char="•"/>
            </a:pPr>
            <a:r>
              <a:rPr lang="en-US" sz="1100">
                <a:solidFill>
                  <a:schemeClr val="bg1"/>
                </a:solidFill>
              </a:rPr>
              <a:t>Pattern, person or Jev</a:t>
            </a:r>
            <a:endParaRPr lang="en-MY"/>
          </a:p>
        </p:txBody>
      </p:sp>
      <p:sp>
        <p:nvSpPr>
          <p:cNvPr id="123" name="IconTile_17">
            <a:extLst>
              <a:ext uri="{FF2B5EF4-FFF2-40B4-BE49-F238E27FC236}">
                <a16:creationId xmlns:a16="http://schemas.microsoft.com/office/drawing/2014/main" id="{44C0120E-1BF2-9B1C-989A-563D5ABBB27A}"/>
              </a:ext>
            </a:extLst>
          </p:cNvPr>
          <p:cNvSpPr/>
          <p:nvPr/>
        </p:nvSpPr>
        <p:spPr>
          <a:xfrm>
            <a:off x="4424363" y="43561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124" name="Pic">
            <a:extLst>
              <a:ext uri="{FF2B5EF4-FFF2-40B4-BE49-F238E27FC236}">
                <a16:creationId xmlns:a16="http://schemas.microsoft.com/office/drawing/2014/main" id="{F292E9B0-961F-A9A7-9A10-68C78A495E63}"/>
              </a:ext>
            </a:extLst>
          </p:cNvPr>
          <p:cNvPicPr>
            <a:picLocks/>
          </p:cNvPicPr>
          <p:nvPr>
            <p:custDataLst>
              <p:tags r:id="rId1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0"/>
              </a:ext>
              <a:ext uri="{6F801314-5768-4EAC-8CED-0F2297F94238}"/>
            </a:extLst>
          </a:blip>
          <a:stretch>
            <a:fillRect/>
          </a:stretch>
        </p:blipFill>
        <p:spPr bwMode="auto">
          <a:xfrm>
            <a:off x="673100" y="2374900"/>
            <a:ext cx="177800" cy="177800"/>
          </a:xfrm>
          <a:prstGeom prst="rect">
            <a:avLst/>
          </a:prstGeom>
          <a:noFill/>
          <a:effectLst/>
        </p:spPr>
      </p:pic>
      <p:pic>
        <p:nvPicPr>
          <p:cNvPr id="125" name="Pic">
            <a:extLst>
              <a:ext uri="{FF2B5EF4-FFF2-40B4-BE49-F238E27FC236}">
                <a16:creationId xmlns:a16="http://schemas.microsoft.com/office/drawing/2014/main" id="{65B73ADC-CCAC-DA73-4643-3FC1AF683D2A}"/>
              </a:ext>
            </a:extLst>
          </p:cNvPr>
          <p:cNvPicPr>
            <a:picLocks/>
          </p:cNvPicPr>
          <p:nvPr>
            <p:custDataLst>
              <p:tags r:id="rId1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1"/>
              </a:ext>
              <a:ext uri="{6F801314-5768-4EAC-8CED-0F2297F94238}"/>
            </a:extLst>
          </a:blip>
          <a:stretch>
            <a:fillRect/>
          </a:stretch>
        </p:blipFill>
        <p:spPr bwMode="auto">
          <a:xfrm>
            <a:off x="4449763" y="2374900"/>
            <a:ext cx="177800" cy="177800"/>
          </a:xfrm>
          <a:prstGeom prst="rect">
            <a:avLst/>
          </a:prstGeom>
          <a:noFill/>
          <a:effectLst/>
        </p:spPr>
      </p:pic>
      <p:pic>
        <p:nvPicPr>
          <p:cNvPr id="126" name="Pic">
            <a:extLst>
              <a:ext uri="{FF2B5EF4-FFF2-40B4-BE49-F238E27FC236}">
                <a16:creationId xmlns:a16="http://schemas.microsoft.com/office/drawing/2014/main" id="{D7B7FDDB-0A1F-66A0-4B56-95B2C8D5C6F5}"/>
              </a:ext>
            </a:extLst>
          </p:cNvPr>
          <p:cNvPicPr>
            <a:picLocks/>
          </p:cNvPicPr>
          <p:nvPr>
            <p:custDataLst>
              <p:tags r:id="rId1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2"/>
              </a:ext>
              <a:ext uri="{6F801314-5768-4EAC-8CED-0F2297F94238}"/>
            </a:extLst>
          </a:blip>
          <a:stretch>
            <a:fillRect/>
          </a:stretch>
        </p:blipFill>
        <p:spPr bwMode="auto">
          <a:xfrm>
            <a:off x="8224838" y="2374900"/>
            <a:ext cx="177800" cy="177800"/>
          </a:xfrm>
          <a:prstGeom prst="rect">
            <a:avLst/>
          </a:prstGeom>
          <a:noFill/>
          <a:effectLst/>
        </p:spPr>
      </p:pic>
      <p:pic>
        <p:nvPicPr>
          <p:cNvPr id="127" name="Pic">
            <a:extLst>
              <a:ext uri="{FF2B5EF4-FFF2-40B4-BE49-F238E27FC236}">
                <a16:creationId xmlns:a16="http://schemas.microsoft.com/office/drawing/2014/main" id="{7CF65F86-EA59-5F5E-4799-982ED2F43493}"/>
              </a:ext>
            </a:extLst>
          </p:cNvPr>
          <p:cNvPicPr>
            <a:picLocks/>
          </p:cNvPicPr>
          <p:nvPr>
            <p:custDataLst>
              <p:tags r:id="rId1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3"/>
              </a:ext>
              <a:ext uri="{6F801314-5768-4EAC-8CED-0F2297F94238}"/>
            </a:extLst>
          </a:blip>
          <a:stretch>
            <a:fillRect/>
          </a:stretch>
        </p:blipFill>
        <p:spPr bwMode="auto">
          <a:xfrm>
            <a:off x="673100" y="4381500"/>
            <a:ext cx="177800" cy="177800"/>
          </a:xfrm>
          <a:prstGeom prst="rect">
            <a:avLst/>
          </a:prstGeom>
          <a:noFill/>
          <a:effectLst/>
        </p:spPr>
      </p:pic>
      <p:pic>
        <p:nvPicPr>
          <p:cNvPr id="128" name="Pic">
            <a:extLst>
              <a:ext uri="{FF2B5EF4-FFF2-40B4-BE49-F238E27FC236}">
                <a16:creationId xmlns:a16="http://schemas.microsoft.com/office/drawing/2014/main" id="{37B345AB-0A54-D830-D838-68C4ECA8BF44}"/>
              </a:ext>
            </a:extLst>
          </p:cNvPr>
          <p:cNvPicPr>
            <a:picLocks/>
          </p:cNvPicPr>
          <p:nvPr>
            <p:custDataLst>
              <p:tags r:id="rId2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4"/>
              </a:ext>
              <a:ext uri="{6F801314-5768-4EAC-8CED-0F2297F94238}"/>
            </a:extLst>
          </a:blip>
          <a:stretch>
            <a:fillRect/>
          </a:stretch>
        </p:blipFill>
        <p:spPr bwMode="auto">
          <a:xfrm>
            <a:off x="4449763" y="4381500"/>
            <a:ext cx="177800" cy="177800"/>
          </a:xfrm>
          <a:prstGeom prst="rect">
            <a:avLst/>
          </a:prstGeom>
          <a:noFill/>
          <a:effectLst/>
        </p:spPr>
      </p:pic>
      <p:pic>
        <p:nvPicPr>
          <p:cNvPr id="129" name="Pic">
            <a:extLst>
              <a:ext uri="{FF2B5EF4-FFF2-40B4-BE49-F238E27FC236}">
                <a16:creationId xmlns:a16="http://schemas.microsoft.com/office/drawing/2014/main" id="{F672C99F-25C7-69C6-F207-5D2842934431}"/>
              </a:ext>
            </a:extLst>
          </p:cNvPr>
          <p:cNvPicPr>
            <a:picLocks/>
          </p:cNvPicPr>
          <p:nvPr>
            <p:custDataLst>
              <p:tags r:id="rId2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5"/>
              </a:ext>
              <a:ext uri="{6F801314-5768-4EAC-8CED-0F2297F94238}"/>
            </a:extLst>
          </a:blip>
          <a:stretch>
            <a:fillRect/>
          </a:stretch>
        </p:blipFill>
        <p:spPr bwMode="auto">
          <a:xfrm>
            <a:off x="8224838" y="4381500"/>
            <a:ext cx="177800" cy="177800"/>
          </a:xfrm>
          <a:prstGeom prst="rect">
            <a:avLst/>
          </a:prstGeom>
          <a:noFill/>
          <a:effectLst/>
        </p:spPr>
      </p:pic>
      <p:pic>
        <p:nvPicPr>
          <p:cNvPr id="132" name="Pic">
            <a:extLst>
              <a:ext uri="{FF2B5EF4-FFF2-40B4-BE49-F238E27FC236}">
                <a16:creationId xmlns:a16="http://schemas.microsoft.com/office/drawing/2014/main" id="{49EF1913-F374-9B6B-86FB-0DC28E06649F}"/>
              </a:ext>
            </a:extLst>
          </p:cNvPr>
          <p:cNvPicPr>
            <a:picLocks/>
          </p:cNvPicPr>
          <p:nvPr>
            <p:custDataLst>
              <p:tags r:id="rId2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6"/>
              </a:ext>
              <a:ext uri="{6F801314-5768-4EAC-8CED-0F2297F94238}"/>
            </a:extLst>
          </a:blip>
          <a:stretch>
            <a:fillRect/>
          </a:stretch>
        </p:blipFill>
        <p:spPr bwMode="auto">
          <a:xfrm>
            <a:off x="6502400" y="6183313"/>
            <a:ext cx="152400" cy="152400"/>
          </a:xfrm>
          <a:prstGeom prst="rect">
            <a:avLst/>
          </a:prstGeom>
          <a:noFill/>
          <a:effectLst/>
        </p:spPr>
      </p:pic>
    </p:spTree>
    <p:extLst>
      <p:ext uri="{BB962C8B-B14F-4D97-AF65-F5344CB8AC3E}">
        <p14:creationId xmlns:p14="http://schemas.microsoft.com/office/powerpoint/2010/main" val="1708977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109" grpId="0"/>
      <p:bldP spid="110" grpId="0"/>
      <p:bldP spid="111" grpId="0"/>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CC0811-6C54-E661-5D70-8712F1690BD9}"/>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4FD6A35-1132-CCE6-13D4-CBA1FE321C53}"/>
              </a:ext>
            </a:extLst>
          </p:cNvPr>
          <p:cNvGraphicFramePr>
            <a:graphicFrameLocks/>
          </p:cNvGraphicFramePr>
          <p:nvPr>
            <p:custDataLst>
              <p:tags r:id="rId1"/>
            </p:custDataLst>
            <p:extLst>
              <p:ext uri="{D42A27DB-BD31-4B8C-83A1-F6EECF244321}">
                <p14:modId xmlns:p14="http://schemas.microsoft.com/office/powerpoint/2010/main" val="7920994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43" imgH="443" progId="TCLayout.ActiveDocument.1">
                  <p:embed/>
                </p:oleObj>
              </mc:Choice>
              <mc:Fallback>
                <p:oleObj name="thinkcell Slide" r:id="rId25" imgW="443" imgH="443" progId="TCLayout.ActiveDocument.1">
                  <p:embed/>
                  <p:pic>
                    <p:nvPicPr>
                      <p:cNvPr id="3" name="thinkcell data - do not delete" hidden="1">
                        <a:extLst>
                          <a:ext uri="{FF2B5EF4-FFF2-40B4-BE49-F238E27FC236}">
                            <a16:creationId xmlns:a16="http://schemas.microsoft.com/office/drawing/2014/main" id="{54FD6A35-1132-CCE6-13D4-CBA1FE321C53}"/>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1534910-F357-4546-5CF5-89E82CF8F1C8}"/>
              </a:ext>
            </a:extLst>
          </p:cNvPr>
          <p:cNvSpPr>
            <a:spLocks noGrp="1"/>
          </p:cNvSpPr>
          <p:nvPr>
            <p:ph type="title"/>
          </p:nvPr>
        </p:nvSpPr>
        <p:spPr>
          <a:xfrm>
            <a:off x="254000" y="177800"/>
            <a:ext cx="11684000" cy="787400"/>
          </a:xfrm>
        </p:spPr>
        <p:txBody>
          <a:bodyPr>
            <a:normAutofit fontScale="90000"/>
          </a:bodyPr>
          <a:lstStyle/>
          <a:p>
            <a:r>
              <a:rPr lang="en-US" dirty="0" err="1"/>
              <a:t>MLflow</a:t>
            </a:r>
            <a:r>
              <a:rPr lang="en-US" dirty="0"/>
              <a:t>, @Challenger, @Champion, 14 Versions</a:t>
            </a:r>
          </a:p>
        </p:txBody>
      </p:sp>
      <p:sp>
        <p:nvSpPr>
          <p:cNvPr id="4" name="Rectangle: Rounded Corners 3">
            <a:extLst>
              <a:ext uri="{FF2B5EF4-FFF2-40B4-BE49-F238E27FC236}">
                <a16:creationId xmlns:a16="http://schemas.microsoft.com/office/drawing/2014/main" id="{0A9C5F0E-3069-928D-E678-3E781A2977AB}"/>
              </a:ext>
            </a:extLst>
          </p:cNvPr>
          <p:cNvSpPr/>
          <p:nvPr/>
        </p:nvSpPr>
        <p:spPr>
          <a:xfrm>
            <a:off x="2108200" y="1016000"/>
            <a:ext cx="9880600" cy="5613400"/>
          </a:xfrm>
          <a:prstGeom prst="roundRect">
            <a:avLst>
              <a:gd name="adj" fmla="val 3000"/>
            </a:avLst>
          </a:prstGeom>
          <a:noFill/>
          <a:ln w="9525" cap="flat" cmpd="sng" algn="ctr">
            <a:solidFill>
              <a:schemeClr val="bg2">
                <a:lumMod val="85000"/>
              </a:schemeClr>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88900" tIns="76200" rIns="88900" bIns="76200" rtlCol="0" anchor="t">
            <a:noAutofit/>
          </a:bodyPr>
          <a:lstStyle/>
          <a:p>
            <a:r>
              <a:rPr lang="en-MY"/>
              <a:t> </a:t>
            </a:r>
          </a:p>
        </p:txBody>
      </p:sp>
      <p:sp>
        <p:nvSpPr>
          <p:cNvPr id="5" name="Rectangle 4">
            <a:extLst>
              <a:ext uri="{FF2B5EF4-FFF2-40B4-BE49-F238E27FC236}">
                <a16:creationId xmlns:a16="http://schemas.microsoft.com/office/drawing/2014/main" id="{75D1BD13-A43F-461E-C292-0AD03868EDC9}"/>
              </a:ext>
            </a:extLst>
          </p:cNvPr>
          <p:cNvSpPr/>
          <p:nvPr/>
        </p:nvSpPr>
        <p:spPr>
          <a:xfrm>
            <a:off x="2235200" y="1066800"/>
            <a:ext cx="53340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r>
              <a:rPr lang="en-MY" sz="1400" b="1" dirty="0">
                <a:solidFill>
                  <a:schemeClr val="tx1"/>
                </a:solidFill>
              </a:rPr>
              <a:t>Databricks  Data Intelligence Platform</a:t>
            </a:r>
          </a:p>
        </p:txBody>
      </p:sp>
      <p:sp>
        <p:nvSpPr>
          <p:cNvPr id="6" name="Rectangle 5">
            <a:extLst>
              <a:ext uri="{FF2B5EF4-FFF2-40B4-BE49-F238E27FC236}">
                <a16:creationId xmlns:a16="http://schemas.microsoft.com/office/drawing/2014/main" id="{42F1C753-4D23-5F05-0236-E4C0EE27DBBB}"/>
              </a:ext>
            </a:extLst>
          </p:cNvPr>
          <p:cNvSpPr/>
          <p:nvPr/>
        </p:nvSpPr>
        <p:spPr>
          <a:xfrm>
            <a:off x="8890000" y="1066800"/>
            <a:ext cx="29718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MY" sz="1000" b="1" dirty="0">
                <a:solidFill>
                  <a:schemeClr val="bg1">
                    <a:lumMod val="50000"/>
                  </a:schemeClr>
                </a:solidFill>
              </a:rPr>
              <a:t>ARCHITECTURE</a:t>
            </a:r>
          </a:p>
        </p:txBody>
      </p:sp>
      <p:sp>
        <p:nvSpPr>
          <p:cNvPr id="7" name="Rectangle: Rounded Corners 6">
            <a:extLst>
              <a:ext uri="{FF2B5EF4-FFF2-40B4-BE49-F238E27FC236}">
                <a16:creationId xmlns:a16="http://schemas.microsoft.com/office/drawing/2014/main" id="{80B3EE19-6A33-7F15-E53C-E8201B1A260C}"/>
              </a:ext>
            </a:extLst>
          </p:cNvPr>
          <p:cNvSpPr/>
          <p:nvPr/>
        </p:nvSpPr>
        <p:spPr>
          <a:xfrm>
            <a:off x="1016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Public data sources</a:t>
            </a:r>
          </a:p>
        </p:txBody>
      </p:sp>
      <p:sp>
        <p:nvSpPr>
          <p:cNvPr id="8" name="Rectangle: Rounded Corners 7">
            <a:extLst>
              <a:ext uri="{FF2B5EF4-FFF2-40B4-BE49-F238E27FC236}">
                <a16:creationId xmlns:a16="http://schemas.microsoft.com/office/drawing/2014/main" id="{23F6CFDE-5C8E-87C6-501E-4012C2DF921E}"/>
              </a:ext>
            </a:extLst>
          </p:cNvPr>
          <p:cNvSpPr/>
          <p:nvPr/>
        </p:nvSpPr>
        <p:spPr>
          <a:xfrm>
            <a:off x="2235200" y="1371600"/>
            <a:ext cx="16256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Data ingestion</a:t>
            </a:r>
          </a:p>
        </p:txBody>
      </p:sp>
      <p:sp>
        <p:nvSpPr>
          <p:cNvPr id="9" name="Rectangle: Rounded Corners 8">
            <a:extLst>
              <a:ext uri="{FF2B5EF4-FFF2-40B4-BE49-F238E27FC236}">
                <a16:creationId xmlns:a16="http://schemas.microsoft.com/office/drawing/2014/main" id="{A9BCA69B-E316-D260-11A9-0DB412E4E48E}"/>
              </a:ext>
            </a:extLst>
          </p:cNvPr>
          <p:cNvSpPr/>
          <p:nvPr/>
        </p:nvSpPr>
        <p:spPr>
          <a:xfrm>
            <a:off x="3962400" y="1371600"/>
            <a:ext cx="37084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Lakehouse · Medallion architecture</a:t>
            </a:r>
          </a:p>
        </p:txBody>
      </p:sp>
      <p:sp>
        <p:nvSpPr>
          <p:cNvPr id="10" name="Rectangle: Rounded Corners 9">
            <a:extLst>
              <a:ext uri="{FF2B5EF4-FFF2-40B4-BE49-F238E27FC236}">
                <a16:creationId xmlns:a16="http://schemas.microsoft.com/office/drawing/2014/main" id="{C614175E-A0F7-1323-214E-15025FE4CC51}"/>
              </a:ext>
            </a:extLst>
          </p:cNvPr>
          <p:cNvSpPr/>
          <p:nvPr/>
        </p:nvSpPr>
        <p:spPr>
          <a:xfrm>
            <a:off x="77724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dirty="0">
                <a:solidFill>
                  <a:schemeClr val="tx1"/>
                </a:solidFill>
              </a:rPr>
              <a:t>Intelligence · Serving</a:t>
            </a:r>
          </a:p>
        </p:txBody>
      </p:sp>
      <p:sp>
        <p:nvSpPr>
          <p:cNvPr id="11" name="Rectangle: Rounded Corners 10">
            <a:extLst>
              <a:ext uri="{FF2B5EF4-FFF2-40B4-BE49-F238E27FC236}">
                <a16:creationId xmlns:a16="http://schemas.microsoft.com/office/drawing/2014/main" id="{A8D044EC-E6D0-FED6-91E0-E9CA3BCF9967}"/>
              </a:ext>
            </a:extLst>
          </p:cNvPr>
          <p:cNvSpPr/>
          <p:nvPr/>
        </p:nvSpPr>
        <p:spPr>
          <a:xfrm>
            <a:off x="9779000" y="1371600"/>
            <a:ext cx="2082800" cy="4572000"/>
          </a:xfrm>
          <a:prstGeom prst="roundRect">
            <a:avLst>
              <a:gd name="adj" fmla="val 3500"/>
            </a:avLst>
          </a:prstGeom>
          <a:solidFill>
            <a:schemeClr val="accent1">
              <a:lumMod val="8000"/>
              <a:lumOff val="92000"/>
            </a:schemeClr>
          </a:solidFill>
          <a:ln w="9525" cap="flat" cmpd="sng" algn="ctr">
            <a:solidFill>
              <a:schemeClr val="accent1">
                <a:lumMod val="40000"/>
                <a:lumOff val="6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Residents and agencies · AI agents</a:t>
            </a:r>
          </a:p>
        </p:txBody>
      </p:sp>
      <p:sp>
        <p:nvSpPr>
          <p:cNvPr id="12" name="Rectangle: Rounded Corners 11">
            <a:extLst>
              <a:ext uri="{FF2B5EF4-FFF2-40B4-BE49-F238E27FC236}">
                <a16:creationId xmlns:a16="http://schemas.microsoft.com/office/drawing/2014/main" id="{F4524889-9257-9982-90D9-84DD537D4CBE}"/>
              </a:ext>
            </a:extLst>
          </p:cNvPr>
          <p:cNvSpPr/>
          <p:nvPr/>
        </p:nvSpPr>
        <p:spPr>
          <a:xfrm>
            <a:off x="177800" y="1752600"/>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PUB Flood Alerts</a:t>
            </a:r>
          </a:p>
          <a:p>
            <a:r>
              <a:rPr lang="en-US" sz="1100">
                <a:solidFill>
                  <a:schemeClr val="tx1"/>
                </a:solidFill>
              </a:rPr>
              <a:t>Drains 90% full, flash floods; Telegram posts since 2021</a:t>
            </a:r>
            <a:endParaRPr lang="en-MY"/>
          </a:p>
        </p:txBody>
      </p:sp>
      <p:sp>
        <p:nvSpPr>
          <p:cNvPr id="13" name="Rectangle: Rounded Corners 12">
            <a:extLst>
              <a:ext uri="{FF2B5EF4-FFF2-40B4-BE49-F238E27FC236}">
                <a16:creationId xmlns:a16="http://schemas.microsoft.com/office/drawing/2014/main" id="{5F6A0BD7-60F4-831D-A9D0-0AE0D770CDE4}"/>
              </a:ext>
            </a:extLst>
          </p:cNvPr>
          <p:cNvSpPr/>
          <p:nvPr/>
        </p:nvSpPr>
        <p:spPr>
          <a:xfrm>
            <a:off x="177800" y="2586038"/>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Internet Archive</a:t>
            </a:r>
          </a:p>
          <a:p>
            <a:r>
              <a:rPr lang="en-US" sz="1100">
                <a:solidFill>
                  <a:schemeClr val="tx1"/>
                </a:solidFill>
              </a:rPr>
              <a:t>832 deleted PUB posts, recovered from web captures</a:t>
            </a:r>
            <a:endParaRPr lang="en-MY"/>
          </a:p>
        </p:txBody>
      </p:sp>
      <p:sp>
        <p:nvSpPr>
          <p:cNvPr id="14" name="Rectangle: Rounded Corners 13">
            <a:extLst>
              <a:ext uri="{FF2B5EF4-FFF2-40B4-BE49-F238E27FC236}">
                <a16:creationId xmlns:a16="http://schemas.microsoft.com/office/drawing/2014/main" id="{E4B3039E-A658-7120-6456-291EBFFCEFAA}"/>
              </a:ext>
            </a:extLst>
          </p:cNvPr>
          <p:cNvSpPr/>
          <p:nvPr/>
        </p:nvSpPr>
        <p:spPr>
          <a:xfrm>
            <a:off x="177800" y="3419475"/>
            <a:ext cx="1752600" cy="80645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NEA weather</a:t>
            </a:r>
          </a:p>
          <a:p>
            <a:r>
              <a:rPr lang="en-US" sz="1100">
                <a:solidFill>
                  <a:schemeClr val="tx1"/>
                </a:solidFill>
              </a:rPr>
              <a:t>5-min rain, 2-h forecast, wind, humidity (data.gov.sg)</a:t>
            </a:r>
            <a:endParaRPr lang="en-MY"/>
          </a:p>
        </p:txBody>
      </p:sp>
      <p:sp>
        <p:nvSpPr>
          <p:cNvPr id="15" name="Rectangle: Rounded Corners 14">
            <a:extLst>
              <a:ext uri="{FF2B5EF4-FFF2-40B4-BE49-F238E27FC236}">
                <a16:creationId xmlns:a16="http://schemas.microsoft.com/office/drawing/2014/main" id="{901351E1-664C-B6A4-620D-6F699654A1F3}"/>
              </a:ext>
            </a:extLst>
          </p:cNvPr>
          <p:cNvSpPr/>
          <p:nvPr/>
        </p:nvSpPr>
        <p:spPr>
          <a:xfrm>
            <a:off x="177800" y="4251325"/>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Tides</a:t>
            </a:r>
          </a:p>
          <a:p>
            <a:r>
              <a:rPr lang="en-MY" sz="1100">
                <a:solidFill>
                  <a:schemeClr val="tx1"/>
                </a:solidFill>
              </a:rPr>
              <a:t>NEA tide table; UHSLC hourly sea level at Tanjong Pagar</a:t>
            </a:r>
          </a:p>
        </p:txBody>
      </p:sp>
      <p:sp>
        <p:nvSpPr>
          <p:cNvPr id="16" name="Rectangle: Rounded Corners 15">
            <a:extLst>
              <a:ext uri="{FF2B5EF4-FFF2-40B4-BE49-F238E27FC236}">
                <a16:creationId xmlns:a16="http://schemas.microsoft.com/office/drawing/2014/main" id="{F4870098-AEA6-A0C6-53BA-779ADCA3B971}"/>
              </a:ext>
            </a:extLst>
          </p:cNvPr>
          <p:cNvSpPr/>
          <p:nvPr/>
        </p:nvSpPr>
        <p:spPr>
          <a:xfrm>
            <a:off x="177800" y="5084763"/>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Maps, sensors</a:t>
            </a:r>
          </a:p>
          <a:p>
            <a:r>
              <a:rPr lang="en-MY" sz="1100">
                <a:solidFill>
                  <a:schemeClr val="tx1"/>
                </a:solidFill>
              </a:rPr>
              <a:t>328 PUB water-level sensors, URA land use, SLA, OneMap</a:t>
            </a:r>
          </a:p>
        </p:txBody>
      </p:sp>
      <p:sp>
        <p:nvSpPr>
          <p:cNvPr id="17" name="Rectangle: Rounded Corners 16">
            <a:extLst>
              <a:ext uri="{FF2B5EF4-FFF2-40B4-BE49-F238E27FC236}">
                <a16:creationId xmlns:a16="http://schemas.microsoft.com/office/drawing/2014/main" id="{3513DECA-4733-5F77-30A4-C3EC8BCD54A0}"/>
              </a:ext>
            </a:extLst>
          </p:cNvPr>
          <p:cNvSpPr/>
          <p:nvPr/>
        </p:nvSpPr>
        <p:spPr>
          <a:xfrm>
            <a:off x="2336800" y="1752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Jobs</a:t>
            </a:r>
          </a:p>
          <a:p>
            <a:r>
              <a:rPr lang="en-US" sz="1100">
                <a:solidFill>
                  <a:schemeClr val="tx1"/>
                </a:solidFill>
              </a:rPr>
              <a:t>Python fetchers on serverless: new data every 5 min, a nightly repair, one-off backfills</a:t>
            </a:r>
            <a:endParaRPr lang="en-MY"/>
          </a:p>
        </p:txBody>
      </p:sp>
      <p:sp>
        <p:nvSpPr>
          <p:cNvPr id="18" name="Rectangle: Rounded Corners 17">
            <a:extLst>
              <a:ext uri="{FF2B5EF4-FFF2-40B4-BE49-F238E27FC236}">
                <a16:creationId xmlns:a16="http://schemas.microsoft.com/office/drawing/2014/main" id="{6E13DC92-8154-B4F4-7B34-B5C0A17238E7}"/>
              </a:ext>
            </a:extLst>
          </p:cNvPr>
          <p:cNvSpPr/>
          <p:nvPr/>
        </p:nvSpPr>
        <p:spPr>
          <a:xfrm>
            <a:off x="2336800" y="3911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Auto Loader</a:t>
            </a:r>
          </a:p>
          <a:p>
            <a:r>
              <a:rPr lang="en-US" sz="1100">
                <a:solidFill>
                  <a:schemeClr val="tx1"/>
                </a:solidFill>
              </a:rPr>
              <a:t>Each fetch lands as a new file in a UC Volume and streams into bronze once</a:t>
            </a:r>
            <a:endParaRPr lang="en-MY"/>
          </a:p>
        </p:txBody>
      </p:sp>
      <p:sp>
        <p:nvSpPr>
          <p:cNvPr id="19" name="Rectangle: Rounded Corners 18">
            <a:extLst>
              <a:ext uri="{FF2B5EF4-FFF2-40B4-BE49-F238E27FC236}">
                <a16:creationId xmlns:a16="http://schemas.microsoft.com/office/drawing/2014/main" id="{2916347C-7888-FFC9-6445-1988F4667E19}"/>
              </a:ext>
            </a:extLst>
          </p:cNvPr>
          <p:cNvSpPr/>
          <p:nvPr/>
        </p:nvSpPr>
        <p:spPr>
          <a:xfrm>
            <a:off x="4064000" y="1752600"/>
            <a:ext cx="1066800" cy="2540000"/>
          </a:xfrm>
          <a:prstGeom prst="roundRect">
            <a:avLst>
              <a:gd name="adj" fmla="val 8000"/>
            </a:avLst>
          </a:prstGeom>
          <a:solidFill>
            <a:schemeClr val="accent1">
              <a:lumMod val="20000"/>
              <a:lumOff val="80000"/>
            </a:schemeClr>
          </a:solidFill>
          <a:ln w="12700" cap="flat" cmpd="sng" algn="ctr">
            <a:solidFill>
              <a:schemeClr val="accent1">
                <a:lumMod val="60000"/>
                <a:lumOff val="4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Bronze</a:t>
            </a:r>
          </a:p>
          <a:p>
            <a:pPr algn="ctr"/>
            <a:r>
              <a:rPr lang="en-US" sz="1100">
                <a:solidFill>
                  <a:schemeClr val="tx1"/>
                </a:solidFill>
              </a:rPr>
              <a:t>Every API page, post and file as received; full history</a:t>
            </a:r>
            <a:endParaRPr lang="en-MY"/>
          </a:p>
        </p:txBody>
      </p:sp>
      <p:sp>
        <p:nvSpPr>
          <p:cNvPr id="20" name="Rectangle: Rounded Corners 19">
            <a:extLst>
              <a:ext uri="{FF2B5EF4-FFF2-40B4-BE49-F238E27FC236}">
                <a16:creationId xmlns:a16="http://schemas.microsoft.com/office/drawing/2014/main" id="{12554BA9-DE4C-2C8B-6230-B726BB3A45DA}"/>
              </a:ext>
            </a:extLst>
          </p:cNvPr>
          <p:cNvSpPr/>
          <p:nvPr/>
        </p:nvSpPr>
        <p:spPr>
          <a:xfrm>
            <a:off x="5283200" y="1752600"/>
            <a:ext cx="1066800" cy="2540000"/>
          </a:xfrm>
          <a:prstGeom prst="roundRect">
            <a:avLst>
              <a:gd name="adj" fmla="val 8000"/>
            </a:avLst>
          </a:prstGeom>
          <a:solidFill>
            <a:schemeClr val="bg2">
              <a:lumMod val="90000"/>
            </a:schemeClr>
          </a:solidFill>
          <a:ln w="12700" cap="flat" cmpd="sng" algn="ctr">
            <a:solidFill>
              <a:schemeClr val="bg2">
                <a:lumMod val="6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Silver</a:t>
            </a:r>
          </a:p>
          <a:p>
            <a:pPr algn="ctr"/>
            <a:r>
              <a:rPr lang="en-US" sz="1100">
                <a:solidFill>
                  <a:schemeClr val="tx1"/>
                </a:solidFill>
              </a:rPr>
              <a:t>Readings cleaned, posts parsed, alerts placed in NEA's 47 areas</a:t>
            </a:r>
            <a:endParaRPr lang="en-MY" dirty="0"/>
          </a:p>
        </p:txBody>
      </p:sp>
      <p:sp>
        <p:nvSpPr>
          <p:cNvPr id="21" name="Rectangle: Rounded Corners 20">
            <a:extLst>
              <a:ext uri="{FF2B5EF4-FFF2-40B4-BE49-F238E27FC236}">
                <a16:creationId xmlns:a16="http://schemas.microsoft.com/office/drawing/2014/main" id="{FF37447D-2A0E-CC0F-BF30-7D7E6886A9E1}"/>
              </a:ext>
            </a:extLst>
          </p:cNvPr>
          <p:cNvSpPr/>
          <p:nvPr/>
        </p:nvSpPr>
        <p:spPr>
          <a:xfrm>
            <a:off x="6502400" y="1752600"/>
            <a:ext cx="1066800" cy="2540000"/>
          </a:xfrm>
          <a:prstGeom prst="roundRect">
            <a:avLst>
              <a:gd name="adj" fmla="val 8000"/>
            </a:avLst>
          </a:prstGeom>
          <a:solidFill>
            <a:schemeClr val="accent2">
              <a:lumMod val="20000"/>
              <a:lumOff val="80000"/>
            </a:schemeClr>
          </a:solidFill>
          <a:ln w="12700" cap="flat" cmpd="sng" algn="ctr">
            <a:solidFill>
              <a:schemeClr val="accent2">
                <a:lumMod val="70000"/>
                <a:lumOff val="3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Gold</a:t>
            </a:r>
          </a:p>
          <a:p>
            <a:pPr algn="ctr"/>
            <a:r>
              <a:rPr lang="en-US" sz="1100">
                <a:solidFill>
                  <a:schemeClr val="tx1"/>
                </a:solidFill>
              </a:rPr>
              <a:t>Each area, every 5 min: rain, forecast, tide, label</a:t>
            </a:r>
            <a:endParaRPr lang="en-MY"/>
          </a:p>
        </p:txBody>
      </p:sp>
      <p:sp>
        <p:nvSpPr>
          <p:cNvPr id="22" name="Rectangle: Rounded Corners 21">
            <a:extLst>
              <a:ext uri="{FF2B5EF4-FFF2-40B4-BE49-F238E27FC236}">
                <a16:creationId xmlns:a16="http://schemas.microsoft.com/office/drawing/2014/main" id="{5ED86575-15A9-8588-6D73-9C7AC1B4DE5D}"/>
              </a:ext>
            </a:extLst>
          </p:cNvPr>
          <p:cNvSpPr/>
          <p:nvPr/>
        </p:nvSpPr>
        <p:spPr>
          <a:xfrm>
            <a:off x="4064000" y="4521200"/>
            <a:ext cx="35052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Spark Declarative Pipelines</a:t>
            </a:r>
          </a:p>
          <a:p>
            <a:r>
              <a:rPr lang="en-US" sz="1100">
                <a:solidFill>
                  <a:schemeClr val="tx1"/>
                </a:solidFill>
              </a:rPr>
              <a:t>Two serverless pipelines. Expectations drop bad readings; unplaceable alerts are quarantined. Hours with lost posts or feed outages count as missing, never as quiet.</a:t>
            </a:r>
            <a:endParaRPr lang="en-MY"/>
          </a:p>
        </p:txBody>
      </p:sp>
      <p:sp>
        <p:nvSpPr>
          <p:cNvPr id="23" name="Rectangle: Rounded Corners 22">
            <a:extLst>
              <a:ext uri="{FF2B5EF4-FFF2-40B4-BE49-F238E27FC236}">
                <a16:creationId xmlns:a16="http://schemas.microsoft.com/office/drawing/2014/main" id="{F7309D4F-5AC1-2B8C-B1EA-092C79448159}"/>
              </a:ext>
            </a:extLst>
          </p:cNvPr>
          <p:cNvSpPr/>
          <p:nvPr/>
        </p:nvSpPr>
        <p:spPr>
          <a:xfrm>
            <a:off x="7874000" y="1752600"/>
            <a:ext cx="1701800" cy="1422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dirty="0" err="1">
                <a:solidFill>
                  <a:schemeClr val="tx1">
                    <a:lumMod val="75000"/>
                    <a:lumOff val="25000"/>
                  </a:schemeClr>
                </a:solidFill>
              </a:rPr>
              <a:t>MLflow</a:t>
            </a:r>
            <a:r>
              <a:rPr lang="en-US" sz="1300" b="1" dirty="0">
                <a:solidFill>
                  <a:schemeClr val="tx1">
                    <a:lumMod val="75000"/>
                    <a:lumOff val="25000"/>
                  </a:schemeClr>
                </a:solidFill>
              </a:rPr>
              <a:t> · Unity Catalog</a:t>
            </a:r>
          </a:p>
          <a:p>
            <a:r>
              <a:rPr lang="en-US" sz="1100" dirty="0">
                <a:solidFill>
                  <a:schemeClr val="tx1"/>
                </a:solidFill>
              </a:rPr>
              <a:t>Gated </a:t>
            </a:r>
            <a:r>
              <a:rPr lang="en-US" sz="1100" dirty="0" err="1">
                <a:solidFill>
                  <a:schemeClr val="tx1"/>
                </a:solidFill>
              </a:rPr>
              <a:t>LightGBM</a:t>
            </a:r>
            <a:r>
              <a:rPr lang="en-US" sz="1100" dirty="0">
                <a:solidFill>
                  <a:schemeClr val="tx1"/>
                </a:solidFill>
              </a:rPr>
              <a:t> pair: each area's chance of a PUB alert within 1 h. 7 checks before @champion moves.</a:t>
            </a:r>
            <a:endParaRPr lang="en-MY" dirty="0"/>
          </a:p>
        </p:txBody>
      </p:sp>
      <p:sp>
        <p:nvSpPr>
          <p:cNvPr id="24" name="Rectangle: Rounded Corners 23">
            <a:extLst>
              <a:ext uri="{FF2B5EF4-FFF2-40B4-BE49-F238E27FC236}">
                <a16:creationId xmlns:a16="http://schemas.microsoft.com/office/drawing/2014/main" id="{FB5C75C9-5A00-C332-1D02-02CEBB01DA5F}"/>
              </a:ext>
            </a:extLst>
          </p:cNvPr>
          <p:cNvSpPr/>
          <p:nvPr/>
        </p:nvSpPr>
        <p:spPr>
          <a:xfrm>
            <a:off x="7874000" y="3276600"/>
            <a:ext cx="17018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dirty="0">
                <a:solidFill>
                  <a:schemeClr val="tx1">
                    <a:lumMod val="75000"/>
                    <a:lumOff val="25000"/>
                  </a:schemeClr>
                </a:solidFill>
              </a:rPr>
              <a:t>Live scoring</a:t>
            </a:r>
          </a:p>
          <a:p>
            <a:r>
              <a:rPr lang="en-US" sz="1100" dirty="0">
                <a:solidFill>
                  <a:schemeClr val="tx1"/>
                </a:solidFill>
              </a:rPr>
              <a:t>Every 5 min, @champion rates all 47 areas into a Delta table. New warnings go out by Telegram, email.</a:t>
            </a:r>
            <a:endParaRPr lang="en-MY" dirty="0"/>
          </a:p>
        </p:txBody>
      </p:sp>
      <p:sp>
        <p:nvSpPr>
          <p:cNvPr id="25" name="Rectangle: Rounded Corners 24">
            <a:extLst>
              <a:ext uri="{FF2B5EF4-FFF2-40B4-BE49-F238E27FC236}">
                <a16:creationId xmlns:a16="http://schemas.microsoft.com/office/drawing/2014/main" id="{CDFC1A7A-F190-471E-3931-B06127874B99}"/>
              </a:ext>
            </a:extLst>
          </p:cNvPr>
          <p:cNvSpPr/>
          <p:nvPr/>
        </p:nvSpPr>
        <p:spPr>
          <a:xfrm>
            <a:off x="7874000" y="4699000"/>
            <a:ext cx="1701800" cy="11430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MY" sz="1300" b="1" dirty="0">
                <a:solidFill>
                  <a:schemeClr val="tx1">
                    <a:lumMod val="75000"/>
                    <a:lumOff val="25000"/>
                  </a:schemeClr>
                </a:solidFill>
              </a:rPr>
              <a:t>Databricks SQL · AI/BI</a:t>
            </a:r>
          </a:p>
          <a:p>
            <a:r>
              <a:rPr lang="en-MY" sz="1100" dirty="0">
                <a:solidFill>
                  <a:schemeClr val="tx1"/>
                </a:solidFill>
              </a:rPr>
              <a:t>Serverless warehouse for the app, Genie, agencies' scoreboard</a:t>
            </a:r>
          </a:p>
        </p:txBody>
      </p:sp>
      <p:sp>
        <p:nvSpPr>
          <p:cNvPr id="26" name="Rectangle: Rounded Corners 25">
            <a:extLst>
              <a:ext uri="{FF2B5EF4-FFF2-40B4-BE49-F238E27FC236}">
                <a16:creationId xmlns:a16="http://schemas.microsoft.com/office/drawing/2014/main" id="{19E67871-5EEA-FD02-AD6C-7C1951F1EEF7}"/>
              </a:ext>
            </a:extLst>
          </p:cNvPr>
          <p:cNvSpPr/>
          <p:nvPr/>
        </p:nvSpPr>
        <p:spPr>
          <a:xfrm>
            <a:off x="9880600" y="1879600"/>
            <a:ext cx="1879600" cy="1727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Databricks App</a:t>
            </a:r>
          </a:p>
          <a:p>
            <a:r>
              <a:rPr lang="en-US" sz="1100">
                <a:solidFill>
                  <a:schemeClr val="tx1"/>
                </a:solidFill>
              </a:rPr>
              <a:t>Live map of 47 areas: what to do on foot, driving or at home. Storm replays, warning sign-ups.</a:t>
            </a:r>
            <a:endParaRPr lang="en-MY" dirty="0"/>
          </a:p>
        </p:txBody>
      </p:sp>
      <p:sp>
        <p:nvSpPr>
          <p:cNvPr id="27" name="Rectangle: Rounded Corners 26">
            <a:extLst>
              <a:ext uri="{FF2B5EF4-FFF2-40B4-BE49-F238E27FC236}">
                <a16:creationId xmlns:a16="http://schemas.microsoft.com/office/drawing/2014/main" id="{7DBF5573-1F21-CB83-74F2-1CA762C03138}"/>
              </a:ext>
            </a:extLst>
          </p:cNvPr>
          <p:cNvSpPr/>
          <p:nvPr/>
        </p:nvSpPr>
        <p:spPr>
          <a:xfrm>
            <a:off x="9880600" y="3733800"/>
            <a:ext cx="1879600" cy="2108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Genie Agent</a:t>
            </a:r>
          </a:p>
          <a:p>
            <a:r>
              <a:rPr lang="en-US" sz="1100">
                <a:solidFill>
                  <a:schemeClr val="tx1"/>
                </a:solidFill>
              </a:rPr>
              <a:t>"FloodSense for agencies": ask in plain English how it did against PUB, flood by flood. Also in the app.</a:t>
            </a:r>
            <a:endParaRPr lang="en-MY"/>
          </a:p>
        </p:txBody>
      </p:sp>
      <p:sp>
        <p:nvSpPr>
          <p:cNvPr id="28" name="Rectangle: Rounded Corners 27">
            <a:extLst>
              <a:ext uri="{FF2B5EF4-FFF2-40B4-BE49-F238E27FC236}">
                <a16:creationId xmlns:a16="http://schemas.microsoft.com/office/drawing/2014/main" id="{80B4C8D1-0989-4303-B26C-28EDCF866CE3}"/>
              </a:ext>
            </a:extLst>
          </p:cNvPr>
          <p:cNvSpPr/>
          <p:nvPr/>
        </p:nvSpPr>
        <p:spPr>
          <a:xfrm>
            <a:off x="9982200" y="2946400"/>
            <a:ext cx="7366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Residents</a:t>
            </a:r>
          </a:p>
        </p:txBody>
      </p:sp>
      <p:sp>
        <p:nvSpPr>
          <p:cNvPr id="29" name="Rectangle: Rounded Corners 28">
            <a:extLst>
              <a:ext uri="{FF2B5EF4-FFF2-40B4-BE49-F238E27FC236}">
                <a16:creationId xmlns:a16="http://schemas.microsoft.com/office/drawing/2014/main" id="{3F942C16-4A77-CAD9-4661-2798A765C6E4}"/>
              </a:ext>
            </a:extLst>
          </p:cNvPr>
          <p:cNvSpPr/>
          <p:nvPr/>
        </p:nvSpPr>
        <p:spPr>
          <a:xfrm>
            <a:off x="10795000" y="2946400"/>
            <a:ext cx="7874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Commuters</a:t>
            </a:r>
          </a:p>
        </p:txBody>
      </p:sp>
      <p:sp>
        <p:nvSpPr>
          <p:cNvPr id="30" name="Rectangle: Rounded Corners 29">
            <a:extLst>
              <a:ext uri="{FF2B5EF4-FFF2-40B4-BE49-F238E27FC236}">
                <a16:creationId xmlns:a16="http://schemas.microsoft.com/office/drawing/2014/main" id="{948D0E61-8935-6A6F-EA60-13D9DF6A5F2C}"/>
              </a:ext>
            </a:extLst>
          </p:cNvPr>
          <p:cNvSpPr/>
          <p:nvPr/>
        </p:nvSpPr>
        <p:spPr>
          <a:xfrm>
            <a:off x="9982200" y="3251200"/>
            <a:ext cx="9652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Town councils</a:t>
            </a:r>
          </a:p>
        </p:txBody>
      </p:sp>
      <p:sp>
        <p:nvSpPr>
          <p:cNvPr id="31" name="Rectangle: Rounded Corners 30">
            <a:extLst>
              <a:ext uri="{FF2B5EF4-FFF2-40B4-BE49-F238E27FC236}">
                <a16:creationId xmlns:a16="http://schemas.microsoft.com/office/drawing/2014/main" id="{632650C1-E8D2-4440-8A5F-CB0F5D415104}"/>
              </a:ext>
            </a:extLst>
          </p:cNvPr>
          <p:cNvSpPr/>
          <p:nvPr/>
        </p:nvSpPr>
        <p:spPr>
          <a:xfrm>
            <a:off x="11023600" y="3251200"/>
            <a:ext cx="6350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Agencies</a:t>
            </a:r>
          </a:p>
        </p:txBody>
      </p:sp>
      <p:sp>
        <p:nvSpPr>
          <p:cNvPr id="33" name="Rectangle: Rounded Corners 32">
            <a:extLst>
              <a:ext uri="{FF2B5EF4-FFF2-40B4-BE49-F238E27FC236}">
                <a16:creationId xmlns:a16="http://schemas.microsoft.com/office/drawing/2014/main" id="{2A384D70-021D-5EB6-B192-DC2721129A43}"/>
              </a:ext>
            </a:extLst>
          </p:cNvPr>
          <p:cNvSpPr/>
          <p:nvPr>
            <p:custDataLst>
              <p:tags r:id="rId2"/>
            </p:custDataLst>
          </p:nvPr>
        </p:nvSpPr>
        <p:spPr>
          <a:xfrm>
            <a:off x="2235200" y="6070600"/>
            <a:ext cx="9626600" cy="355600"/>
          </a:xfrm>
          <a:prstGeom prst="roundRect">
            <a:avLst>
              <a:gd name="adj" fmla="val 12000"/>
            </a:avLst>
          </a:prstGeom>
          <a:solidFill>
            <a:schemeClr val="bg1"/>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66700" tIns="12700" rIns="50800" bIns="12700" rtlCol="0" anchor="ctr">
            <a:noAutofit/>
          </a:bodyPr>
          <a:lstStyle/>
          <a:p>
            <a:pPr algn="ctr"/>
            <a:r>
              <a:rPr lang="en-MY" sz="1100" b="1" dirty="0">
                <a:solidFill>
                  <a:schemeClr val="tx1"/>
                </a:solidFill>
              </a:rPr>
              <a:t>Unity </a:t>
            </a:r>
            <a:r>
              <a:rPr lang="en-MY" sz="1100" b="1" dirty="0" err="1">
                <a:solidFill>
                  <a:schemeClr val="tx1"/>
                </a:solidFill>
              </a:rPr>
              <a:t>Catalog</a:t>
            </a:r>
            <a:endParaRPr lang="en-MY" sz="1100" b="1" dirty="0">
              <a:solidFill>
                <a:schemeClr val="tx1"/>
              </a:solidFill>
            </a:endParaRPr>
          </a:p>
        </p:txBody>
      </p:sp>
      <p:cxnSp>
        <p:nvCxnSpPr>
          <p:cNvPr id="42" name="Connector: Elbow 41">
            <a:extLst>
              <a:ext uri="{FF2B5EF4-FFF2-40B4-BE49-F238E27FC236}">
                <a16:creationId xmlns:a16="http://schemas.microsoft.com/office/drawing/2014/main" id="{D2EAF9B8-0F8F-755B-0D8A-607321742828}"/>
              </a:ext>
            </a:extLst>
          </p:cNvPr>
          <p:cNvCxnSpPr>
            <a:cxnSpLocks/>
          </p:cNvCxnSpPr>
          <p:nvPr/>
        </p:nvCxnSpPr>
        <p:spPr>
          <a:xfrm>
            <a:off x="51308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3438168A-3362-16CF-7E3B-47ED33EC7AFF}"/>
              </a:ext>
            </a:extLst>
          </p:cNvPr>
          <p:cNvCxnSpPr>
            <a:cxnSpLocks/>
          </p:cNvCxnSpPr>
          <p:nvPr/>
        </p:nvCxnSpPr>
        <p:spPr>
          <a:xfrm>
            <a:off x="63500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54" name="IconTile_12">
            <a:extLst>
              <a:ext uri="{FF2B5EF4-FFF2-40B4-BE49-F238E27FC236}">
                <a16:creationId xmlns:a16="http://schemas.microsoft.com/office/drawing/2014/main" id="{76701233-1098-5964-5C3D-BB7F129741B4}"/>
              </a:ext>
            </a:extLst>
          </p:cNvPr>
          <p:cNvSpPr/>
          <p:nvPr/>
        </p:nvSpPr>
        <p:spPr>
          <a:xfrm>
            <a:off x="241300" y="17907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5" name="IconTile_13">
            <a:extLst>
              <a:ext uri="{FF2B5EF4-FFF2-40B4-BE49-F238E27FC236}">
                <a16:creationId xmlns:a16="http://schemas.microsoft.com/office/drawing/2014/main" id="{2E39F024-1127-56CC-B2E0-43C01A7A91C1}"/>
              </a:ext>
            </a:extLst>
          </p:cNvPr>
          <p:cNvSpPr/>
          <p:nvPr/>
        </p:nvSpPr>
        <p:spPr>
          <a:xfrm>
            <a:off x="241300" y="2624138"/>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6" name="IconTile_14">
            <a:extLst>
              <a:ext uri="{FF2B5EF4-FFF2-40B4-BE49-F238E27FC236}">
                <a16:creationId xmlns:a16="http://schemas.microsoft.com/office/drawing/2014/main" id="{580E3905-004C-13FB-CC64-A89901D63E0C}"/>
              </a:ext>
            </a:extLst>
          </p:cNvPr>
          <p:cNvSpPr/>
          <p:nvPr/>
        </p:nvSpPr>
        <p:spPr>
          <a:xfrm>
            <a:off x="241300" y="345757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7" name="IconTile_15">
            <a:extLst>
              <a:ext uri="{FF2B5EF4-FFF2-40B4-BE49-F238E27FC236}">
                <a16:creationId xmlns:a16="http://schemas.microsoft.com/office/drawing/2014/main" id="{187D321F-9954-1083-4FF2-7460EC321C68}"/>
              </a:ext>
            </a:extLst>
          </p:cNvPr>
          <p:cNvSpPr/>
          <p:nvPr/>
        </p:nvSpPr>
        <p:spPr>
          <a:xfrm>
            <a:off x="241300" y="428942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8" name="IconTile_16">
            <a:extLst>
              <a:ext uri="{FF2B5EF4-FFF2-40B4-BE49-F238E27FC236}">
                <a16:creationId xmlns:a16="http://schemas.microsoft.com/office/drawing/2014/main" id="{BC4FAD98-BE1C-C689-E2B6-673AB39ACAB6}"/>
              </a:ext>
            </a:extLst>
          </p:cNvPr>
          <p:cNvSpPr/>
          <p:nvPr/>
        </p:nvSpPr>
        <p:spPr>
          <a:xfrm>
            <a:off x="241300" y="5122863"/>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9" name="IconTile_17">
            <a:extLst>
              <a:ext uri="{FF2B5EF4-FFF2-40B4-BE49-F238E27FC236}">
                <a16:creationId xmlns:a16="http://schemas.microsoft.com/office/drawing/2014/main" id="{0CF9D19F-EDDC-4BC9-663B-9FCBD688DC41}"/>
              </a:ext>
            </a:extLst>
          </p:cNvPr>
          <p:cNvSpPr/>
          <p:nvPr/>
        </p:nvSpPr>
        <p:spPr>
          <a:xfrm>
            <a:off x="2400300" y="1835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0" name="IconTile_18">
            <a:extLst>
              <a:ext uri="{FF2B5EF4-FFF2-40B4-BE49-F238E27FC236}">
                <a16:creationId xmlns:a16="http://schemas.microsoft.com/office/drawing/2014/main" id="{E1BF5525-E31A-A22E-C5A9-B5E08F236B57}"/>
              </a:ext>
            </a:extLst>
          </p:cNvPr>
          <p:cNvSpPr/>
          <p:nvPr/>
        </p:nvSpPr>
        <p:spPr>
          <a:xfrm>
            <a:off x="2400300" y="3994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1" name="IconTile_22">
            <a:extLst>
              <a:ext uri="{FF2B5EF4-FFF2-40B4-BE49-F238E27FC236}">
                <a16:creationId xmlns:a16="http://schemas.microsoft.com/office/drawing/2014/main" id="{49507B09-85AD-8985-AC58-01DB5A18201E}"/>
              </a:ext>
            </a:extLst>
          </p:cNvPr>
          <p:cNvSpPr/>
          <p:nvPr/>
        </p:nvSpPr>
        <p:spPr>
          <a:xfrm>
            <a:off x="4127500" y="460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2" name="IconTile_23">
            <a:extLst>
              <a:ext uri="{FF2B5EF4-FFF2-40B4-BE49-F238E27FC236}">
                <a16:creationId xmlns:a16="http://schemas.microsoft.com/office/drawing/2014/main" id="{627AF49C-9EBD-C7E8-1AB7-F67847D4231B}"/>
              </a:ext>
            </a:extLst>
          </p:cNvPr>
          <p:cNvSpPr/>
          <p:nvPr/>
        </p:nvSpPr>
        <p:spPr>
          <a:xfrm>
            <a:off x="7937500" y="1809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3" name="IconTile_24">
            <a:extLst>
              <a:ext uri="{FF2B5EF4-FFF2-40B4-BE49-F238E27FC236}">
                <a16:creationId xmlns:a16="http://schemas.microsoft.com/office/drawing/2014/main" id="{D1963657-66CA-F35A-4BBB-83386AF6786D}"/>
              </a:ext>
            </a:extLst>
          </p:cNvPr>
          <p:cNvSpPr/>
          <p:nvPr/>
        </p:nvSpPr>
        <p:spPr>
          <a:xfrm>
            <a:off x="7937500" y="333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4" name="IconTile_25">
            <a:extLst>
              <a:ext uri="{FF2B5EF4-FFF2-40B4-BE49-F238E27FC236}">
                <a16:creationId xmlns:a16="http://schemas.microsoft.com/office/drawing/2014/main" id="{AB1EDD20-94D8-A836-F421-CB0ADAA1F3D9}"/>
              </a:ext>
            </a:extLst>
          </p:cNvPr>
          <p:cNvSpPr/>
          <p:nvPr/>
        </p:nvSpPr>
        <p:spPr>
          <a:xfrm>
            <a:off x="7937500" y="4756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5" name="IconTile_26">
            <a:extLst>
              <a:ext uri="{FF2B5EF4-FFF2-40B4-BE49-F238E27FC236}">
                <a16:creationId xmlns:a16="http://schemas.microsoft.com/office/drawing/2014/main" id="{22B4363C-7EFC-1BBC-E629-FA2240B49CF5}"/>
              </a:ext>
            </a:extLst>
          </p:cNvPr>
          <p:cNvSpPr/>
          <p:nvPr/>
        </p:nvSpPr>
        <p:spPr>
          <a:xfrm>
            <a:off x="9944100" y="1962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6" name="IconTile_27">
            <a:extLst>
              <a:ext uri="{FF2B5EF4-FFF2-40B4-BE49-F238E27FC236}">
                <a16:creationId xmlns:a16="http://schemas.microsoft.com/office/drawing/2014/main" id="{71D06D08-5575-A060-A169-4AE5BCEE3C91}"/>
              </a:ext>
            </a:extLst>
          </p:cNvPr>
          <p:cNvSpPr/>
          <p:nvPr/>
        </p:nvSpPr>
        <p:spPr>
          <a:xfrm>
            <a:off x="9944100" y="38163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72" name="Pic">
            <a:extLst>
              <a:ext uri="{FF2B5EF4-FFF2-40B4-BE49-F238E27FC236}">
                <a16:creationId xmlns:a16="http://schemas.microsoft.com/office/drawing/2014/main" id="{4460B2BD-7B7F-2E88-3CC6-58C705B4C9DB}"/>
              </a:ext>
            </a:extLst>
          </p:cNvPr>
          <p:cNvPicPr>
            <a:picLocks/>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7"/>
              </a:ext>
              <a:ext uri="{6F801314-5768-4EAC-8CED-0F2297F94238}"/>
            </a:extLst>
          </a:blip>
          <a:stretch>
            <a:fillRect/>
          </a:stretch>
        </p:blipFill>
        <p:spPr bwMode="auto">
          <a:xfrm>
            <a:off x="7975600" y="1854200"/>
            <a:ext cx="152400" cy="152400"/>
          </a:xfrm>
          <a:prstGeom prst="rect">
            <a:avLst/>
          </a:prstGeom>
          <a:noFill/>
          <a:effectLst/>
        </p:spPr>
      </p:pic>
      <p:pic>
        <p:nvPicPr>
          <p:cNvPr id="71" name="Pic">
            <a:extLst>
              <a:ext uri="{FF2B5EF4-FFF2-40B4-BE49-F238E27FC236}">
                <a16:creationId xmlns:a16="http://schemas.microsoft.com/office/drawing/2014/main" id="{4B036650-B3B0-6224-C00D-A8EB81E40D84}"/>
              </a:ext>
            </a:extLst>
          </p:cNvPr>
          <p:cNvPicPr>
            <a:picLocks/>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 uri="{6F801314-5768-4EAC-8CED-0F2297F94238}"/>
            </a:extLst>
          </a:blip>
          <a:stretch>
            <a:fillRect/>
          </a:stretch>
        </p:blipFill>
        <p:spPr bwMode="auto">
          <a:xfrm>
            <a:off x="9982200" y="3860800"/>
            <a:ext cx="152400" cy="152400"/>
          </a:xfrm>
          <a:prstGeom prst="rect">
            <a:avLst/>
          </a:prstGeom>
          <a:noFill/>
          <a:effectLst/>
        </p:spPr>
      </p:pic>
      <p:pic>
        <p:nvPicPr>
          <p:cNvPr id="79" name="Pic">
            <a:extLst>
              <a:ext uri="{FF2B5EF4-FFF2-40B4-BE49-F238E27FC236}">
                <a16:creationId xmlns:a16="http://schemas.microsoft.com/office/drawing/2014/main" id="{4B7FBE65-B471-B63E-06F2-BF420C19704E}"/>
              </a:ext>
            </a:extLst>
          </p:cNvPr>
          <p:cNvPicPr>
            <a:picLocks/>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9"/>
              </a:ext>
              <a:ext uri="{6F801314-5768-4EAC-8CED-0F2297F94238}"/>
            </a:extLst>
          </a:blip>
          <a:stretch>
            <a:fillRect/>
          </a:stretch>
        </p:blipFill>
        <p:spPr bwMode="auto">
          <a:xfrm>
            <a:off x="4165600" y="4648200"/>
            <a:ext cx="152400" cy="152400"/>
          </a:xfrm>
          <a:prstGeom prst="rect">
            <a:avLst/>
          </a:prstGeom>
          <a:noFill/>
          <a:effectLst/>
        </p:spPr>
      </p:pic>
      <p:pic>
        <p:nvPicPr>
          <p:cNvPr id="80" name="Pic">
            <a:extLst>
              <a:ext uri="{FF2B5EF4-FFF2-40B4-BE49-F238E27FC236}">
                <a16:creationId xmlns:a16="http://schemas.microsoft.com/office/drawing/2014/main" id="{F2E2ABCB-E4AA-B5DB-805B-31ED84FCEA36}"/>
              </a:ext>
            </a:extLst>
          </p:cNvPr>
          <p:cNvPicPr>
            <a:picLocks/>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 uri="{6F801314-5768-4EAC-8CED-0F2297F94238}"/>
            </a:extLst>
          </a:blip>
          <a:stretch>
            <a:fillRect/>
          </a:stretch>
        </p:blipFill>
        <p:spPr bwMode="auto">
          <a:xfrm>
            <a:off x="7975600" y="4800600"/>
            <a:ext cx="152400" cy="152400"/>
          </a:xfrm>
          <a:prstGeom prst="rect">
            <a:avLst/>
          </a:prstGeom>
          <a:noFill/>
          <a:effectLst/>
        </p:spPr>
      </p:pic>
      <p:pic>
        <p:nvPicPr>
          <p:cNvPr id="81" name="Pic">
            <a:extLst>
              <a:ext uri="{FF2B5EF4-FFF2-40B4-BE49-F238E27FC236}">
                <a16:creationId xmlns:a16="http://schemas.microsoft.com/office/drawing/2014/main" id="{29D2368C-8EB8-DFAD-2F2F-2C8D9E237016}"/>
              </a:ext>
            </a:extLst>
          </p:cNvPr>
          <p:cNvPicPr>
            <a:picLocks/>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1"/>
              </a:ext>
              <a:ext uri="{6F801314-5768-4EAC-8CED-0F2297F94238}"/>
            </a:extLst>
          </a:blip>
          <a:stretch>
            <a:fillRect/>
          </a:stretch>
        </p:blipFill>
        <p:spPr bwMode="auto">
          <a:xfrm>
            <a:off x="6502400" y="6210300"/>
            <a:ext cx="152400" cy="152400"/>
          </a:xfrm>
          <a:prstGeom prst="rect">
            <a:avLst/>
          </a:prstGeom>
          <a:noFill/>
          <a:effectLst/>
        </p:spPr>
      </p:pic>
      <p:pic>
        <p:nvPicPr>
          <p:cNvPr id="86" name="Pic">
            <a:extLst>
              <a:ext uri="{FF2B5EF4-FFF2-40B4-BE49-F238E27FC236}">
                <a16:creationId xmlns:a16="http://schemas.microsoft.com/office/drawing/2014/main" id="{C8D76E5A-244F-9EE5-1914-7778595B763C}"/>
              </a:ext>
            </a:extLst>
          </p:cNvPr>
          <p:cNvPicPr>
            <a:picLocks/>
          </p:cNvPicPr>
          <p:nvPr>
            <p:custDataLst>
              <p:tags r:id="rId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 uri="{6F801314-5768-4EAC-8CED-0F2297F94238}"/>
            </a:extLst>
          </a:blip>
          <a:stretch>
            <a:fillRect/>
          </a:stretch>
        </p:blipFill>
        <p:spPr bwMode="auto">
          <a:xfrm>
            <a:off x="2438400" y="4038600"/>
            <a:ext cx="152400" cy="152400"/>
          </a:xfrm>
          <a:prstGeom prst="rect">
            <a:avLst/>
          </a:prstGeom>
          <a:noFill/>
          <a:effectLst/>
        </p:spPr>
      </p:pic>
      <p:pic>
        <p:nvPicPr>
          <p:cNvPr id="87" name="Pic">
            <a:extLst>
              <a:ext uri="{FF2B5EF4-FFF2-40B4-BE49-F238E27FC236}">
                <a16:creationId xmlns:a16="http://schemas.microsoft.com/office/drawing/2014/main" id="{69ED9269-B805-D8B4-5BDD-17D9C60F25E8}"/>
              </a:ext>
            </a:extLst>
          </p:cNvPr>
          <p:cNvPicPr>
            <a:picLocks/>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3"/>
              </a:ext>
              <a:ext uri="{6F801314-5768-4EAC-8CED-0F2297F94238}"/>
            </a:extLst>
          </a:blip>
          <a:stretch>
            <a:fillRect/>
          </a:stretch>
        </p:blipFill>
        <p:spPr bwMode="auto">
          <a:xfrm>
            <a:off x="9982200" y="2006600"/>
            <a:ext cx="152400" cy="152400"/>
          </a:xfrm>
          <a:prstGeom prst="rect">
            <a:avLst/>
          </a:prstGeom>
          <a:noFill/>
          <a:effectLst/>
        </p:spPr>
      </p:pic>
      <p:cxnSp>
        <p:nvCxnSpPr>
          <p:cNvPr id="41" name="Connector: Elbow 40">
            <a:extLst>
              <a:ext uri="{FF2B5EF4-FFF2-40B4-BE49-F238E27FC236}">
                <a16:creationId xmlns:a16="http://schemas.microsoft.com/office/drawing/2014/main" id="{82AFE0BC-DA9A-3040-A0CA-C1C6E059AD21}"/>
              </a:ext>
            </a:extLst>
          </p:cNvPr>
          <p:cNvCxnSpPr>
            <a:cxnSpLocks/>
            <a:stCxn id="12" idx="3"/>
            <a:endCxn id="17" idx="1"/>
          </p:cNvCxnSpPr>
          <p:nvPr/>
        </p:nvCxnSpPr>
        <p:spPr>
          <a:xfrm>
            <a:off x="1930400" y="2156619"/>
            <a:ext cx="406400" cy="56118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81339848-9D89-41B8-4530-120A487C4A96}"/>
              </a:ext>
            </a:extLst>
          </p:cNvPr>
          <p:cNvCxnSpPr>
            <a:cxnSpLocks/>
            <a:stCxn id="12" idx="3"/>
            <a:endCxn id="17" idx="1"/>
          </p:cNvCxnSpPr>
          <p:nvPr/>
        </p:nvCxnSpPr>
        <p:spPr>
          <a:xfrm>
            <a:off x="1930400" y="2156619"/>
            <a:ext cx="406400" cy="561181"/>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Elbow 73">
            <a:extLst>
              <a:ext uri="{FF2B5EF4-FFF2-40B4-BE49-F238E27FC236}">
                <a16:creationId xmlns:a16="http://schemas.microsoft.com/office/drawing/2014/main" id="{EA8B3935-8F9D-AEA1-68F0-BCB6421E484B}"/>
              </a:ext>
            </a:extLst>
          </p:cNvPr>
          <p:cNvCxnSpPr>
            <a:cxnSpLocks/>
            <a:stCxn id="13" idx="3"/>
            <a:endCxn id="17" idx="1"/>
          </p:cNvCxnSpPr>
          <p:nvPr/>
        </p:nvCxnSpPr>
        <p:spPr>
          <a:xfrm flipV="1">
            <a:off x="1930400" y="2717800"/>
            <a:ext cx="406400" cy="272257"/>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Elbow 74">
            <a:extLst>
              <a:ext uri="{FF2B5EF4-FFF2-40B4-BE49-F238E27FC236}">
                <a16:creationId xmlns:a16="http://schemas.microsoft.com/office/drawing/2014/main" id="{9EFC13A4-8A67-F4DE-1F12-171A1E7AA92E}"/>
              </a:ext>
            </a:extLst>
          </p:cNvPr>
          <p:cNvCxnSpPr>
            <a:cxnSpLocks/>
            <a:stCxn id="14" idx="3"/>
            <a:endCxn id="17" idx="1"/>
          </p:cNvCxnSpPr>
          <p:nvPr/>
        </p:nvCxnSpPr>
        <p:spPr>
          <a:xfrm flipV="1">
            <a:off x="1930400" y="2717800"/>
            <a:ext cx="406400" cy="11049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Elbow 75">
            <a:extLst>
              <a:ext uri="{FF2B5EF4-FFF2-40B4-BE49-F238E27FC236}">
                <a16:creationId xmlns:a16="http://schemas.microsoft.com/office/drawing/2014/main" id="{48F04F9C-D02D-6926-5FE7-49BAB0B86208}"/>
              </a:ext>
            </a:extLst>
          </p:cNvPr>
          <p:cNvCxnSpPr>
            <a:cxnSpLocks/>
            <a:stCxn id="15" idx="3"/>
            <a:endCxn id="17" idx="1"/>
          </p:cNvCxnSpPr>
          <p:nvPr/>
        </p:nvCxnSpPr>
        <p:spPr>
          <a:xfrm flipV="1">
            <a:off x="1930400" y="2717800"/>
            <a:ext cx="406400" cy="1937544"/>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Elbow 76">
            <a:extLst>
              <a:ext uri="{FF2B5EF4-FFF2-40B4-BE49-F238E27FC236}">
                <a16:creationId xmlns:a16="http://schemas.microsoft.com/office/drawing/2014/main" id="{5F67D489-C5CC-7148-CB85-8B6B60341BE5}"/>
              </a:ext>
            </a:extLst>
          </p:cNvPr>
          <p:cNvCxnSpPr>
            <a:cxnSpLocks/>
            <a:stCxn id="16" idx="3"/>
            <a:endCxn id="17" idx="1"/>
          </p:cNvCxnSpPr>
          <p:nvPr/>
        </p:nvCxnSpPr>
        <p:spPr>
          <a:xfrm flipV="1">
            <a:off x="1930400" y="2717800"/>
            <a:ext cx="406400" cy="2770982"/>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25F57843-BC72-DD33-4B4A-CC111C90E43A}"/>
              </a:ext>
            </a:extLst>
          </p:cNvPr>
          <p:cNvCxnSpPr>
            <a:cxnSpLocks/>
            <a:stCxn id="17" idx="2"/>
            <a:endCxn id="18" idx="0"/>
          </p:cNvCxnSpPr>
          <p:nvPr/>
        </p:nvCxnSpPr>
        <p:spPr>
          <a:xfrm>
            <a:off x="3048000" y="3683000"/>
            <a:ext cx="0" cy="228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Elbow 81">
            <a:extLst>
              <a:ext uri="{FF2B5EF4-FFF2-40B4-BE49-F238E27FC236}">
                <a16:creationId xmlns:a16="http://schemas.microsoft.com/office/drawing/2014/main" id="{54A17D00-302C-8785-CDE8-7988D52753DD}"/>
              </a:ext>
            </a:extLst>
          </p:cNvPr>
          <p:cNvCxnSpPr>
            <a:cxnSpLocks/>
            <a:stCxn id="18" idx="3"/>
            <a:endCxn id="19" idx="1"/>
          </p:cNvCxnSpPr>
          <p:nvPr/>
        </p:nvCxnSpPr>
        <p:spPr>
          <a:xfrm flipV="1">
            <a:off x="3759200" y="3022600"/>
            <a:ext cx="304800" cy="18542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Elbow 82">
            <a:extLst>
              <a:ext uri="{FF2B5EF4-FFF2-40B4-BE49-F238E27FC236}">
                <a16:creationId xmlns:a16="http://schemas.microsoft.com/office/drawing/2014/main" id="{F4E5FD1F-8030-EAD8-4E7B-76007538DC5B}"/>
              </a:ext>
            </a:extLst>
          </p:cNvPr>
          <p:cNvCxnSpPr>
            <a:cxnSpLocks/>
            <a:stCxn id="21" idx="3"/>
            <a:endCxn id="23" idx="1"/>
          </p:cNvCxnSpPr>
          <p:nvPr/>
        </p:nvCxnSpPr>
        <p:spPr>
          <a:xfrm flipV="1">
            <a:off x="7569200" y="2463800"/>
            <a:ext cx="304800" cy="5588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0372031D-2679-0AA3-4C26-98F1941A470A}"/>
              </a:ext>
            </a:extLst>
          </p:cNvPr>
          <p:cNvCxnSpPr>
            <a:cxnSpLocks/>
            <a:stCxn id="23" idx="2"/>
            <a:endCxn id="24" idx="0"/>
          </p:cNvCxnSpPr>
          <p:nvPr/>
        </p:nvCxnSpPr>
        <p:spPr>
          <a:xfrm>
            <a:off x="8724900" y="3175000"/>
            <a:ext cx="0" cy="101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Elbow 89">
            <a:extLst>
              <a:ext uri="{FF2B5EF4-FFF2-40B4-BE49-F238E27FC236}">
                <a16:creationId xmlns:a16="http://schemas.microsoft.com/office/drawing/2014/main" id="{EC3E9954-644F-3201-D124-79AF4742BD39}"/>
              </a:ext>
            </a:extLst>
          </p:cNvPr>
          <p:cNvCxnSpPr>
            <a:cxnSpLocks/>
            <a:stCxn id="25" idx="3"/>
            <a:endCxn id="26" idx="1"/>
          </p:cNvCxnSpPr>
          <p:nvPr/>
        </p:nvCxnSpPr>
        <p:spPr>
          <a:xfrm flipV="1">
            <a:off x="9575800" y="2743200"/>
            <a:ext cx="304800" cy="25273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Elbow 90">
            <a:extLst>
              <a:ext uri="{FF2B5EF4-FFF2-40B4-BE49-F238E27FC236}">
                <a16:creationId xmlns:a16="http://schemas.microsoft.com/office/drawing/2014/main" id="{0A2422EE-5CA2-3C94-CEBC-19A3ACB1547A}"/>
              </a:ext>
            </a:extLst>
          </p:cNvPr>
          <p:cNvCxnSpPr>
            <a:cxnSpLocks/>
            <a:stCxn id="25" idx="3"/>
            <a:endCxn id="27" idx="1"/>
          </p:cNvCxnSpPr>
          <p:nvPr/>
        </p:nvCxnSpPr>
        <p:spPr>
          <a:xfrm flipV="1">
            <a:off x="9575800" y="4787900"/>
            <a:ext cx="304800" cy="4826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Freeform: Shape 91">
            <a:extLst>
              <a:ext uri="{FF2B5EF4-FFF2-40B4-BE49-F238E27FC236}">
                <a16:creationId xmlns:a16="http://schemas.microsoft.com/office/drawing/2014/main" id="{F7C3C680-D901-4332-E106-741A2091803F}"/>
              </a:ext>
            </a:extLst>
          </p:cNvPr>
          <p:cNvSpPr/>
          <p:nvPr/>
        </p:nvSpPr>
        <p:spPr>
          <a:xfrm>
            <a:off x="7366000" y="4292600"/>
            <a:ext cx="508001" cy="114301"/>
          </a:xfrm>
          <a:custGeom>
            <a:avLst/>
            <a:gdLst/>
            <a:ahLst/>
            <a:cxnLst/>
            <a:rect l="0" t="0" r="0" b="0"/>
            <a:pathLst>
              <a:path w="508001" h="114301">
                <a:moveTo>
                  <a:pt x="0" y="0"/>
                </a:moveTo>
                <a:lnTo>
                  <a:pt x="0" y="114300"/>
                </a:lnTo>
                <a:lnTo>
                  <a:pt x="508000" y="114300"/>
                </a:ln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pic>
        <p:nvPicPr>
          <p:cNvPr id="94" name="Pic">
            <a:extLst>
              <a:ext uri="{FF2B5EF4-FFF2-40B4-BE49-F238E27FC236}">
                <a16:creationId xmlns:a16="http://schemas.microsoft.com/office/drawing/2014/main" id="{02E20024-711D-1616-DEE1-9D7227B1A78B}"/>
              </a:ext>
            </a:extLst>
          </p:cNvPr>
          <p:cNvPicPr>
            <a:picLocks/>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4"/>
              </a:ext>
              <a:ext uri="{6F801314-5768-4EAC-8CED-0F2297F94238}"/>
            </a:extLst>
          </a:blip>
          <a:stretch>
            <a:fillRect/>
          </a:stretch>
        </p:blipFill>
        <p:spPr bwMode="auto">
          <a:xfrm>
            <a:off x="279400" y="1828800"/>
            <a:ext cx="152400" cy="152400"/>
          </a:xfrm>
          <a:prstGeom prst="rect">
            <a:avLst/>
          </a:prstGeom>
          <a:noFill/>
          <a:effectLst/>
        </p:spPr>
      </p:pic>
      <p:pic>
        <p:nvPicPr>
          <p:cNvPr id="95" name="Pic">
            <a:extLst>
              <a:ext uri="{FF2B5EF4-FFF2-40B4-BE49-F238E27FC236}">
                <a16:creationId xmlns:a16="http://schemas.microsoft.com/office/drawing/2014/main" id="{1A036E0F-9022-DC2A-2109-91A98FDE0A8A}"/>
              </a:ext>
            </a:extLst>
          </p:cNvPr>
          <p:cNvPicPr>
            <a:picLocks/>
          </p:cNvPicPr>
          <p:nvPr>
            <p:custDataLst>
              <p:tags r:id="rId1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5"/>
              </a:ext>
              <a:ext uri="{6F801314-5768-4EAC-8CED-0F2297F94238}"/>
            </a:extLst>
          </a:blip>
          <a:stretch>
            <a:fillRect/>
          </a:stretch>
        </p:blipFill>
        <p:spPr bwMode="auto">
          <a:xfrm>
            <a:off x="279400" y="2667000"/>
            <a:ext cx="152400" cy="152400"/>
          </a:xfrm>
          <a:prstGeom prst="rect">
            <a:avLst/>
          </a:prstGeom>
          <a:noFill/>
          <a:effectLst/>
        </p:spPr>
      </p:pic>
      <p:pic>
        <p:nvPicPr>
          <p:cNvPr id="97" name="Pic">
            <a:extLst>
              <a:ext uri="{FF2B5EF4-FFF2-40B4-BE49-F238E27FC236}">
                <a16:creationId xmlns:a16="http://schemas.microsoft.com/office/drawing/2014/main" id="{90496524-1B05-26FB-01C1-2ACAD4C1DA37}"/>
              </a:ext>
            </a:extLst>
          </p:cNvPr>
          <p:cNvPicPr>
            <a:picLocks/>
          </p:cNvPicPr>
          <p:nvPr>
            <p:custDataLst>
              <p:tags r:id="rId1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6"/>
              </a:ext>
              <a:ext uri="{6F801314-5768-4EAC-8CED-0F2297F94238}"/>
            </a:extLst>
          </a:blip>
          <a:stretch>
            <a:fillRect/>
          </a:stretch>
        </p:blipFill>
        <p:spPr bwMode="auto">
          <a:xfrm>
            <a:off x="279400" y="3505200"/>
            <a:ext cx="152400" cy="152400"/>
          </a:xfrm>
          <a:prstGeom prst="rect">
            <a:avLst/>
          </a:prstGeom>
          <a:noFill/>
          <a:effectLst/>
        </p:spPr>
      </p:pic>
      <p:pic>
        <p:nvPicPr>
          <p:cNvPr id="98" name="Pic">
            <a:extLst>
              <a:ext uri="{FF2B5EF4-FFF2-40B4-BE49-F238E27FC236}">
                <a16:creationId xmlns:a16="http://schemas.microsoft.com/office/drawing/2014/main" id="{AF445E77-6C5E-2099-0983-13A15503242A}"/>
              </a:ext>
            </a:extLst>
          </p:cNvPr>
          <p:cNvPicPr>
            <a:picLocks/>
          </p:cNvPicPr>
          <p:nvPr>
            <p:custDataLst>
              <p:tags r:id="rId1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7"/>
              </a:ext>
              <a:ext uri="{6F801314-5768-4EAC-8CED-0F2297F94238}"/>
            </a:extLst>
          </a:blip>
          <a:stretch>
            <a:fillRect/>
          </a:stretch>
        </p:blipFill>
        <p:spPr bwMode="auto">
          <a:xfrm>
            <a:off x="279400" y="5168900"/>
            <a:ext cx="152400" cy="152400"/>
          </a:xfrm>
          <a:prstGeom prst="rect">
            <a:avLst/>
          </a:prstGeom>
          <a:noFill/>
          <a:effectLst/>
        </p:spPr>
      </p:pic>
      <p:pic>
        <p:nvPicPr>
          <p:cNvPr id="96" name="Pic">
            <a:extLst>
              <a:ext uri="{FF2B5EF4-FFF2-40B4-BE49-F238E27FC236}">
                <a16:creationId xmlns:a16="http://schemas.microsoft.com/office/drawing/2014/main" id="{6B0BEB4E-939D-1CBA-9FAE-E4EFA2C99DB9}"/>
              </a:ext>
            </a:extLst>
          </p:cNvPr>
          <p:cNvPicPr>
            <a:picLocks/>
          </p:cNvPicPr>
          <p:nvPr>
            <p:custDataLst>
              <p:tags r:id="rId1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8"/>
              </a:ext>
              <a:ext uri="{6F801314-5768-4EAC-8CED-0F2297F94238}"/>
            </a:extLst>
          </a:blip>
          <a:stretch>
            <a:fillRect/>
          </a:stretch>
        </p:blipFill>
        <p:spPr bwMode="auto">
          <a:xfrm>
            <a:off x="2438400" y="1879600"/>
            <a:ext cx="152400" cy="152400"/>
          </a:xfrm>
          <a:prstGeom prst="rect">
            <a:avLst/>
          </a:prstGeom>
          <a:noFill/>
          <a:effectLst/>
        </p:spPr>
      </p:pic>
      <p:pic>
        <p:nvPicPr>
          <p:cNvPr id="99" name="Pic">
            <a:extLst>
              <a:ext uri="{FF2B5EF4-FFF2-40B4-BE49-F238E27FC236}">
                <a16:creationId xmlns:a16="http://schemas.microsoft.com/office/drawing/2014/main" id="{CBA7679E-0735-69B3-088D-0131E23219A6}"/>
              </a:ext>
            </a:extLst>
          </p:cNvPr>
          <p:cNvPicPr>
            <a:picLocks/>
          </p:cNvPicPr>
          <p:nvPr>
            <p:custDataLst>
              <p:tags r:id="rId1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9"/>
              </a:ext>
              <a:ext uri="{6F801314-5768-4EAC-8CED-0F2297F94238}"/>
            </a:extLst>
          </a:blip>
          <a:stretch>
            <a:fillRect/>
          </a:stretch>
        </p:blipFill>
        <p:spPr bwMode="auto">
          <a:xfrm>
            <a:off x="7975600" y="3378200"/>
            <a:ext cx="152400" cy="152400"/>
          </a:xfrm>
          <a:prstGeom prst="rect">
            <a:avLst/>
          </a:prstGeom>
          <a:noFill/>
          <a:effectLst/>
        </p:spPr>
      </p:pic>
      <p:pic>
        <p:nvPicPr>
          <p:cNvPr id="101" name="Pic">
            <a:extLst>
              <a:ext uri="{FF2B5EF4-FFF2-40B4-BE49-F238E27FC236}">
                <a16:creationId xmlns:a16="http://schemas.microsoft.com/office/drawing/2014/main" id="{25854CB8-CD75-B74A-E404-DDEA46309116}"/>
              </a:ext>
            </a:extLst>
          </p:cNvPr>
          <p:cNvPicPr>
            <a:picLocks/>
          </p:cNvPicPr>
          <p:nvPr>
            <p:custDataLst>
              <p:tags r:id="rId1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0"/>
              </a:ext>
              <a:ext uri="{6F801314-5768-4EAC-8CED-0F2297F94238}"/>
            </a:extLst>
          </a:blip>
          <a:stretch>
            <a:fillRect/>
          </a:stretch>
        </p:blipFill>
        <p:spPr bwMode="auto">
          <a:xfrm>
            <a:off x="279400" y="4330700"/>
            <a:ext cx="152400" cy="152400"/>
          </a:xfrm>
          <a:prstGeom prst="rect">
            <a:avLst/>
          </a:prstGeom>
          <a:noFill/>
          <a:effectLst/>
        </p:spPr>
      </p:pic>
      <p:cxnSp>
        <p:nvCxnSpPr>
          <p:cNvPr id="105" name="Straight Arrow Connector 104">
            <a:extLst>
              <a:ext uri="{FF2B5EF4-FFF2-40B4-BE49-F238E27FC236}">
                <a16:creationId xmlns:a16="http://schemas.microsoft.com/office/drawing/2014/main" id="{4566E500-C597-1E4C-02A7-C968C07B404E}"/>
              </a:ext>
            </a:extLst>
          </p:cNvPr>
          <p:cNvCxnSpPr>
            <a:cxnSpLocks/>
            <a:stCxn id="24" idx="2"/>
            <a:endCxn id="25" idx="0"/>
          </p:cNvCxnSpPr>
          <p:nvPr/>
        </p:nvCxnSpPr>
        <p:spPr>
          <a:xfrm>
            <a:off x="8724900" y="4597400"/>
            <a:ext cx="0" cy="101600"/>
          </a:xfrm>
          <a:prstGeom prst="straightConnector1">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E6F69260-9C6C-9471-6253-58F608D11112}"/>
              </a:ext>
            </a:extLst>
          </p:cNvPr>
          <p:cNvSpPr/>
          <p:nvPr/>
        </p:nvSpPr>
        <p:spPr>
          <a:xfrm>
            <a:off x="3924300" y="4457700"/>
            <a:ext cx="3746500" cy="1517651"/>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4" name="Rectangle 33">
            <a:extLst>
              <a:ext uri="{FF2B5EF4-FFF2-40B4-BE49-F238E27FC236}">
                <a16:creationId xmlns:a16="http://schemas.microsoft.com/office/drawing/2014/main" id="{4CB02E9E-5054-D535-FDB2-FE8D2B99C754}"/>
              </a:ext>
            </a:extLst>
          </p:cNvPr>
          <p:cNvSpPr/>
          <p:nvPr/>
        </p:nvSpPr>
        <p:spPr>
          <a:xfrm>
            <a:off x="3937001" y="1363756"/>
            <a:ext cx="3822700" cy="313690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6" name="Rectangle 35">
            <a:extLst>
              <a:ext uri="{FF2B5EF4-FFF2-40B4-BE49-F238E27FC236}">
                <a16:creationId xmlns:a16="http://schemas.microsoft.com/office/drawing/2014/main" id="{CD6C9AC4-79E6-86E9-0970-C90F8B073222}"/>
              </a:ext>
            </a:extLst>
          </p:cNvPr>
          <p:cNvSpPr/>
          <p:nvPr/>
        </p:nvSpPr>
        <p:spPr>
          <a:xfrm>
            <a:off x="63500" y="1272989"/>
            <a:ext cx="3873500" cy="47023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5" name="Rectangle 34">
            <a:extLst>
              <a:ext uri="{FF2B5EF4-FFF2-40B4-BE49-F238E27FC236}">
                <a16:creationId xmlns:a16="http://schemas.microsoft.com/office/drawing/2014/main" id="{D93687A7-F884-B391-5FBA-EB2523039A6F}"/>
              </a:ext>
            </a:extLst>
          </p:cNvPr>
          <p:cNvSpPr/>
          <p:nvPr/>
        </p:nvSpPr>
        <p:spPr>
          <a:xfrm>
            <a:off x="9677400" y="1346201"/>
            <a:ext cx="2184400" cy="465455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9" name="Rectangle: Rounded Corners 38">
            <a:extLst>
              <a:ext uri="{FF2B5EF4-FFF2-40B4-BE49-F238E27FC236}">
                <a16:creationId xmlns:a16="http://schemas.microsoft.com/office/drawing/2014/main" id="{4A401854-D61D-34BD-E2F5-A0EF9F8E92FB}"/>
              </a:ext>
            </a:extLst>
          </p:cNvPr>
          <p:cNvSpPr/>
          <p:nvPr/>
        </p:nvSpPr>
        <p:spPr>
          <a:xfrm>
            <a:off x="406400" y="1371600"/>
            <a:ext cx="7264400" cy="4572000"/>
          </a:xfrm>
          <a:prstGeom prst="roundRect">
            <a:avLst>
              <a:gd name="adj" fmla="val 3000"/>
            </a:avLst>
          </a:prstGeom>
          <a:solidFill>
            <a:schemeClr val="tx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0" name="Rectangle: Rounded Corners 39">
            <a:extLst>
              <a:ext uri="{FF2B5EF4-FFF2-40B4-BE49-F238E27FC236}">
                <a16:creationId xmlns:a16="http://schemas.microsoft.com/office/drawing/2014/main" id="{16E9717C-088E-71E1-DCEB-10054AA9F9B0}"/>
              </a:ext>
            </a:extLst>
          </p:cNvPr>
          <p:cNvSpPr/>
          <p:nvPr/>
        </p:nvSpPr>
        <p:spPr>
          <a:xfrm>
            <a:off x="533400" y="1905000"/>
            <a:ext cx="7010400" cy="2184400"/>
          </a:xfrm>
          <a:prstGeom prst="roundRect">
            <a:avLst>
              <a:gd name="adj" fmla="val 3500"/>
            </a:avLst>
          </a:prstGeom>
          <a:noFill/>
          <a:ln w="9525" cap="flat" cmpd="sng" algn="ctr">
            <a:noFill/>
            <a:prstDash val="solid"/>
            <a:miter lim="800000"/>
          </a:ln>
          <a:effectLst/>
          <a:extLst>
            <a:ext uri="{909E8E84-426E-40DD-AFC4-6F175D3DCCD1}">
              <a14:hiddenFill xmlns:a14="http://schemas.microsoft.com/office/drawing/2010/main">
                <a:solidFill>
                  <a:schemeClr val="tx2">
                    <a:lumMod val="88000"/>
                    <a:lumOff val="12000"/>
                  </a:schemeClr>
                </a:solidFill>
              </a14:hiddenFill>
            </a:ext>
            <a:ext uri="{91240B29-F687-4F45-9708-019B960494DF}">
              <a14:hiddenLine xmlns:a14="http://schemas.microsoft.com/office/drawing/2010/main" w="9525" cap="flat" cmpd="sng" algn="ctr">
                <a:solidFill>
                  <a:schemeClr val="bg2">
                    <a:lumMod val="9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88900" bIns="63500" rtlCol="0" anchor="t">
            <a:noAutofit/>
          </a:bodyPr>
          <a:lstStyle/>
          <a:p>
            <a:r>
              <a:rPr lang="en-MY" sz="1200" b="1">
                <a:solidFill>
                  <a:schemeClr val="bg1"/>
                </a:solidFill>
              </a:rPr>
              <a:t>Train · Log · Register · Verify</a:t>
            </a:r>
          </a:p>
        </p:txBody>
      </p:sp>
      <p:sp>
        <p:nvSpPr>
          <p:cNvPr id="44" name="TextBox 43">
            <a:extLst>
              <a:ext uri="{FF2B5EF4-FFF2-40B4-BE49-F238E27FC236}">
                <a16:creationId xmlns:a16="http://schemas.microsoft.com/office/drawing/2014/main" id="{F09B6662-3FDB-2836-4EA4-554B3DB0DF15}"/>
              </a:ext>
            </a:extLst>
          </p:cNvPr>
          <p:cNvSpPr txBox="1"/>
          <p:nvPr/>
        </p:nvSpPr>
        <p:spPr>
          <a:xfrm>
            <a:off x="533400" y="1447800"/>
            <a:ext cx="7010400" cy="381000"/>
          </a:xfrm>
          <a:prstGeom prst="rect">
            <a:avLst/>
          </a:prstGeom>
          <a:noFill/>
        </p:spPr>
        <p:txBody>
          <a:bodyPr vert="horz" rtlCol="0">
            <a:noAutofit/>
          </a:bodyPr>
          <a:lstStyle/>
          <a:p>
            <a:r>
              <a:rPr lang="en-US" b="1">
                <a:solidFill>
                  <a:schemeClr val="bg1"/>
                </a:solidFill>
              </a:rPr>
              <a:t>MLflow tracks every model; an alias picks the live one</a:t>
            </a:r>
            <a:endParaRPr lang="en-MY"/>
          </a:p>
        </p:txBody>
      </p:sp>
      <p:sp>
        <p:nvSpPr>
          <p:cNvPr id="45" name="Rectangle: Rounded Corners 44">
            <a:extLst>
              <a:ext uri="{FF2B5EF4-FFF2-40B4-BE49-F238E27FC236}">
                <a16:creationId xmlns:a16="http://schemas.microsoft.com/office/drawing/2014/main" id="{8C92586F-FB3C-321D-7FFB-D6D0A2E88A96}"/>
              </a:ext>
            </a:extLst>
          </p:cNvPr>
          <p:cNvSpPr/>
          <p:nvPr/>
        </p:nvSpPr>
        <p:spPr>
          <a:xfrm>
            <a:off x="533400" y="4191000"/>
            <a:ext cx="7010400" cy="1651000"/>
          </a:xfrm>
          <a:prstGeom prst="roundRect">
            <a:avLst>
              <a:gd name="adj" fmla="val 3500"/>
            </a:avLst>
          </a:prstGeom>
          <a:noFill/>
          <a:ln w="9525" cap="flat" cmpd="sng" algn="ctr">
            <a:noFill/>
            <a:prstDash val="solid"/>
            <a:miter lim="800000"/>
          </a:ln>
          <a:effectLst/>
          <a:extLst>
            <a:ext uri="{909E8E84-426E-40DD-AFC4-6F175D3DCCD1}">
              <a14:hiddenFill xmlns:a14="http://schemas.microsoft.com/office/drawing/2010/main">
                <a:solidFill>
                  <a:schemeClr val="tx2">
                    <a:lumMod val="88000"/>
                    <a:lumOff val="12000"/>
                  </a:schemeClr>
                </a:solidFill>
              </a14:hiddenFill>
            </a:ext>
            <a:ext uri="{91240B29-F687-4F45-9708-019B960494DF}">
              <a14:hiddenLine xmlns:a14="http://schemas.microsoft.com/office/drawing/2010/main" w="9525" cap="flat" cmpd="sng" algn="ctr">
                <a:solidFill>
                  <a:schemeClr val="bg2">
                    <a:lumMod val="9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88900" bIns="63500" rtlCol="0" anchor="t">
            <a:noAutofit/>
          </a:bodyPr>
          <a:lstStyle/>
          <a:p>
            <a:r>
              <a:rPr lang="en-MY" sz="1200" b="1">
                <a:solidFill>
                  <a:schemeClr val="bg1"/>
                </a:solidFill>
              </a:rPr>
              <a:t>Serve: switching models means moving an alias</a:t>
            </a:r>
          </a:p>
        </p:txBody>
      </p:sp>
      <p:sp>
        <p:nvSpPr>
          <p:cNvPr id="46" name="Rectangle: Rounded Corners 45">
            <a:extLst>
              <a:ext uri="{FF2B5EF4-FFF2-40B4-BE49-F238E27FC236}">
                <a16:creationId xmlns:a16="http://schemas.microsoft.com/office/drawing/2014/main" id="{09A6BF9C-F24A-4B64-A731-D1BCC77594CB}"/>
              </a:ext>
            </a:extLst>
          </p:cNvPr>
          <p:cNvSpPr/>
          <p:nvPr/>
        </p:nvSpPr>
        <p:spPr>
          <a:xfrm>
            <a:off x="533400" y="2235200"/>
            <a:ext cx="1662113" cy="1854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Train</a:t>
            </a:r>
          </a:p>
          <a:p>
            <a:pPr marL="171450" indent="-171450">
              <a:spcBef>
                <a:spcPts val="600"/>
              </a:spcBef>
              <a:buFont typeface="Arial" panose="020B0604020202020204" pitchFamily="34" charset="0"/>
              <a:buChar char="•"/>
            </a:pPr>
            <a:r>
              <a:rPr lang="en-US" sz="1100">
                <a:solidFill>
                  <a:schemeClr val="bg1"/>
                </a:solidFill>
              </a:rPr>
              <a:t>One run per training, each design nested</a:t>
            </a:r>
            <a:endParaRPr lang="en-MY"/>
          </a:p>
          <a:p>
            <a:pPr marL="171450" indent="-171450">
              <a:spcBef>
                <a:spcPts val="600"/>
              </a:spcBef>
              <a:buFont typeface="Arial" panose="020B0604020202020204" pitchFamily="34" charset="0"/>
              <a:buChar char="•"/>
            </a:pPr>
            <a:r>
              <a:rPr lang="en-US" sz="1100">
                <a:solidFill>
                  <a:schemeClr val="bg1"/>
                </a:solidFill>
              </a:rPr>
              <a:t>Scored out of fold on 5 day-blocks</a:t>
            </a:r>
            <a:endParaRPr lang="en-MY"/>
          </a:p>
        </p:txBody>
      </p:sp>
      <p:sp>
        <p:nvSpPr>
          <p:cNvPr id="47" name="IconTile_17">
            <a:extLst>
              <a:ext uri="{FF2B5EF4-FFF2-40B4-BE49-F238E27FC236}">
                <a16:creationId xmlns:a16="http://schemas.microsoft.com/office/drawing/2014/main" id="{ECC0FA17-49B4-C29B-B2AC-80B483657821}"/>
              </a:ext>
            </a:extLst>
          </p:cNvPr>
          <p:cNvSpPr/>
          <p:nvPr/>
        </p:nvSpPr>
        <p:spPr>
          <a:xfrm>
            <a:off x="647700" y="2349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8" name="Rectangle: Rounded Corners 47">
            <a:extLst>
              <a:ext uri="{FF2B5EF4-FFF2-40B4-BE49-F238E27FC236}">
                <a16:creationId xmlns:a16="http://schemas.microsoft.com/office/drawing/2014/main" id="{ACF6B384-7E37-FC02-A4A6-3FF81ED3DFAE}"/>
              </a:ext>
            </a:extLst>
          </p:cNvPr>
          <p:cNvSpPr/>
          <p:nvPr/>
        </p:nvSpPr>
        <p:spPr>
          <a:xfrm>
            <a:off x="2317750" y="2235200"/>
            <a:ext cx="1660525" cy="1854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Log</a:t>
            </a:r>
          </a:p>
          <a:p>
            <a:pPr marL="171450" indent="-171450">
              <a:spcBef>
                <a:spcPts val="600"/>
              </a:spcBef>
              <a:buFont typeface="Arial" panose="020B0604020202020204" pitchFamily="34" charset="0"/>
              <a:buChar char="•"/>
            </a:pPr>
            <a:r>
              <a:rPr lang="en-US" sz="1100">
                <a:solidFill>
                  <a:schemeClr val="bg1"/>
                </a:solidFill>
              </a:rPr>
              <a:t>Metrics with 95% intervals</a:t>
            </a:r>
            <a:endParaRPr lang="en-MY"/>
          </a:p>
          <a:p>
            <a:pPr marL="171450" indent="-171450">
              <a:spcBef>
                <a:spcPts val="600"/>
              </a:spcBef>
              <a:buFont typeface="Arial" panose="020B0604020202020204" pitchFamily="34" charset="0"/>
              <a:buChar char="•"/>
            </a:pPr>
            <a:r>
              <a:rPr lang="en-US" sz="1100">
                <a:solidFill>
                  <a:schemeClr val="bg1"/>
                </a:solidFill>
              </a:rPr>
              <a:t>Feature importance, flood-by-flood table</a:t>
            </a:r>
            <a:endParaRPr lang="en-MY"/>
          </a:p>
        </p:txBody>
      </p:sp>
      <p:sp>
        <p:nvSpPr>
          <p:cNvPr id="49" name="IconTile_17">
            <a:extLst>
              <a:ext uri="{FF2B5EF4-FFF2-40B4-BE49-F238E27FC236}">
                <a16:creationId xmlns:a16="http://schemas.microsoft.com/office/drawing/2014/main" id="{8881B6B1-6542-E84E-7F25-5CF3B855CB0C}"/>
              </a:ext>
            </a:extLst>
          </p:cNvPr>
          <p:cNvSpPr/>
          <p:nvPr/>
        </p:nvSpPr>
        <p:spPr>
          <a:xfrm>
            <a:off x="2430463" y="2349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0" name="Rectangle: Rounded Corners 49">
            <a:extLst>
              <a:ext uri="{FF2B5EF4-FFF2-40B4-BE49-F238E27FC236}">
                <a16:creationId xmlns:a16="http://schemas.microsoft.com/office/drawing/2014/main" id="{38421B98-CC11-489B-C4B9-CB8FD511734F}"/>
              </a:ext>
            </a:extLst>
          </p:cNvPr>
          <p:cNvSpPr/>
          <p:nvPr/>
        </p:nvSpPr>
        <p:spPr>
          <a:xfrm>
            <a:off x="4098925" y="2235200"/>
            <a:ext cx="1662113" cy="1854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Register</a:t>
            </a:r>
          </a:p>
          <a:p>
            <a:pPr marL="171450" indent="-171450">
              <a:spcBef>
                <a:spcPts val="600"/>
              </a:spcBef>
              <a:buFont typeface="Arial" panose="020B0604020202020204" pitchFamily="34" charset="0"/>
              <a:buChar char="•"/>
            </a:pPr>
            <a:r>
              <a:rPr lang="en-US" sz="1100">
                <a:solidFill>
                  <a:schemeClr val="bg1"/>
                </a:solidFill>
              </a:rPr>
              <a:t>Best fit logged as pyfunc with code</a:t>
            </a:r>
            <a:endParaRPr lang="en-MY"/>
          </a:p>
          <a:p>
            <a:pPr marL="171450" indent="-171450">
              <a:spcBef>
                <a:spcPts val="600"/>
              </a:spcBef>
              <a:buFont typeface="Arial" panose="020B0604020202020204" pitchFamily="34" charset="0"/>
              <a:buChar char="•"/>
            </a:pPr>
            <a:r>
              <a:rPr lang="en-US" sz="1100">
                <a:solidFill>
                  <a:schemeClr val="bg1"/>
                </a:solidFill>
              </a:rPr>
              <a:t>Saved as @challenger, 14 versions</a:t>
            </a:r>
            <a:endParaRPr lang="en-MY"/>
          </a:p>
        </p:txBody>
      </p:sp>
      <p:sp>
        <p:nvSpPr>
          <p:cNvPr id="51" name="IconTile_17">
            <a:extLst>
              <a:ext uri="{FF2B5EF4-FFF2-40B4-BE49-F238E27FC236}">
                <a16:creationId xmlns:a16="http://schemas.microsoft.com/office/drawing/2014/main" id="{01198A48-1E17-2531-876B-5D4A1615988C}"/>
              </a:ext>
            </a:extLst>
          </p:cNvPr>
          <p:cNvSpPr/>
          <p:nvPr/>
        </p:nvSpPr>
        <p:spPr>
          <a:xfrm>
            <a:off x="4213225" y="2349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2" name="Rectangle: Rounded Corners 51">
            <a:extLst>
              <a:ext uri="{FF2B5EF4-FFF2-40B4-BE49-F238E27FC236}">
                <a16:creationId xmlns:a16="http://schemas.microsoft.com/office/drawing/2014/main" id="{B562F306-212A-AE87-6F5B-EBE40C53DD6D}"/>
              </a:ext>
            </a:extLst>
          </p:cNvPr>
          <p:cNvSpPr/>
          <p:nvPr/>
        </p:nvSpPr>
        <p:spPr>
          <a:xfrm>
            <a:off x="5883275" y="2235200"/>
            <a:ext cx="1660525" cy="1854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Verify</a:t>
            </a:r>
          </a:p>
          <a:p>
            <a:pPr marL="171450" indent="-171450">
              <a:spcBef>
                <a:spcPts val="600"/>
              </a:spcBef>
              <a:buFont typeface="Arial" panose="020B0604020202020204" pitchFamily="34" charset="0"/>
              <a:buChar char="•"/>
            </a:pPr>
            <a:r>
              <a:rPr lang="en-US" sz="1100">
                <a:solidFill>
                  <a:schemeClr val="bg1"/>
                </a:solidFill>
              </a:rPr>
              <a:t>7 checks before @champion moves</a:t>
            </a:r>
            <a:endParaRPr lang="en-MY"/>
          </a:p>
          <a:p>
            <a:pPr marL="171450" indent="-171450">
              <a:spcBef>
                <a:spcPts val="600"/>
              </a:spcBef>
              <a:buFont typeface="Arial" panose="020B0604020202020204" pitchFamily="34" charset="0"/>
              <a:buChar char="•"/>
            </a:pPr>
            <a:r>
              <a:rPr lang="en-US" sz="1100">
                <a:solidFill>
                  <a:schemeClr val="bg1"/>
                </a:solidFill>
              </a:rPr>
              <a:t>E.g. more rain never lowers risk</a:t>
            </a:r>
            <a:endParaRPr lang="en-MY"/>
          </a:p>
        </p:txBody>
      </p:sp>
      <p:sp>
        <p:nvSpPr>
          <p:cNvPr id="67" name="IconTile_17">
            <a:extLst>
              <a:ext uri="{FF2B5EF4-FFF2-40B4-BE49-F238E27FC236}">
                <a16:creationId xmlns:a16="http://schemas.microsoft.com/office/drawing/2014/main" id="{A6143527-7CB5-DB56-4F39-639DED097182}"/>
              </a:ext>
            </a:extLst>
          </p:cNvPr>
          <p:cNvSpPr/>
          <p:nvPr/>
        </p:nvSpPr>
        <p:spPr>
          <a:xfrm>
            <a:off x="5997575" y="2349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8" name="Rectangle: Rounded Corners 67">
            <a:extLst>
              <a:ext uri="{FF2B5EF4-FFF2-40B4-BE49-F238E27FC236}">
                <a16:creationId xmlns:a16="http://schemas.microsoft.com/office/drawing/2014/main" id="{20811257-9B2C-8DAD-38A1-FA4CB3E863F9}"/>
              </a:ext>
            </a:extLst>
          </p:cNvPr>
          <p:cNvSpPr/>
          <p:nvPr/>
        </p:nvSpPr>
        <p:spPr>
          <a:xfrm>
            <a:off x="533400" y="4521200"/>
            <a:ext cx="3444875" cy="13208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Load @champion</a:t>
            </a:r>
          </a:p>
          <a:p>
            <a:pPr marL="171450" indent="-171450">
              <a:spcBef>
                <a:spcPts val="600"/>
              </a:spcBef>
              <a:buFont typeface="Arial" panose="020B0604020202020204" pitchFamily="34" charset="0"/>
              <a:buChar char="•"/>
            </a:pPr>
            <a:r>
              <a:rPr lang="en-US" sz="1100">
                <a:solidFill>
                  <a:schemeClr val="bg1"/>
                </a:solidFill>
              </a:rPr>
              <a:t>Live scoring, replays and scoreboard</a:t>
            </a:r>
            <a:endParaRPr lang="en-MY"/>
          </a:p>
          <a:p>
            <a:pPr marL="171450" indent="-171450">
              <a:spcBef>
                <a:spcPts val="600"/>
              </a:spcBef>
              <a:buFont typeface="Arial" panose="020B0604020202020204" pitchFamily="34" charset="0"/>
              <a:buChar char="•"/>
            </a:pPr>
            <a:r>
              <a:rPr lang="en-US" sz="1100">
                <a:solidFill>
                  <a:schemeClr val="bg1"/>
                </a:solidFill>
              </a:rPr>
              <a:t>All load the same alias</a:t>
            </a:r>
            <a:endParaRPr lang="en-MY"/>
          </a:p>
        </p:txBody>
      </p:sp>
      <p:sp>
        <p:nvSpPr>
          <p:cNvPr id="69" name="IconTile_17">
            <a:extLst>
              <a:ext uri="{FF2B5EF4-FFF2-40B4-BE49-F238E27FC236}">
                <a16:creationId xmlns:a16="http://schemas.microsoft.com/office/drawing/2014/main" id="{44741013-3E1E-02CF-49AE-C4196E11F56A}"/>
              </a:ext>
            </a:extLst>
          </p:cNvPr>
          <p:cNvSpPr/>
          <p:nvPr/>
        </p:nvSpPr>
        <p:spPr>
          <a:xfrm>
            <a:off x="647700" y="4635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0" name="Rectangle: Rounded Corners 69">
            <a:extLst>
              <a:ext uri="{FF2B5EF4-FFF2-40B4-BE49-F238E27FC236}">
                <a16:creationId xmlns:a16="http://schemas.microsoft.com/office/drawing/2014/main" id="{8DB65E5B-DABD-A84C-08EC-B3705F70EF4D}"/>
              </a:ext>
            </a:extLst>
          </p:cNvPr>
          <p:cNvSpPr/>
          <p:nvPr/>
        </p:nvSpPr>
        <p:spPr>
          <a:xfrm>
            <a:off x="4098925" y="4521200"/>
            <a:ext cx="3444875" cy="13208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Traceable</a:t>
            </a:r>
          </a:p>
          <a:p>
            <a:pPr marL="171450" indent="-171450">
              <a:spcBef>
                <a:spcPts val="600"/>
              </a:spcBef>
              <a:buFont typeface="Arial" panose="020B0604020202020204" pitchFamily="34" charset="0"/>
              <a:buChar char="•"/>
            </a:pPr>
            <a:r>
              <a:rPr lang="en-US" sz="1100">
                <a:solidFill>
                  <a:schemeClr val="bg1"/>
                </a:solidFill>
              </a:rPr>
              <a:t>Every prediction records its model version</a:t>
            </a:r>
            <a:endParaRPr lang="en-MY"/>
          </a:p>
        </p:txBody>
      </p:sp>
      <p:sp>
        <p:nvSpPr>
          <p:cNvPr id="73" name="IconTile_17">
            <a:extLst>
              <a:ext uri="{FF2B5EF4-FFF2-40B4-BE49-F238E27FC236}">
                <a16:creationId xmlns:a16="http://schemas.microsoft.com/office/drawing/2014/main" id="{AC9CFE83-B1BB-0788-64E3-08FE8035D592}"/>
              </a:ext>
            </a:extLst>
          </p:cNvPr>
          <p:cNvSpPr/>
          <p:nvPr/>
        </p:nvSpPr>
        <p:spPr>
          <a:xfrm>
            <a:off x="4213225" y="4635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85" name="Pic">
            <a:extLst>
              <a:ext uri="{FF2B5EF4-FFF2-40B4-BE49-F238E27FC236}">
                <a16:creationId xmlns:a16="http://schemas.microsoft.com/office/drawing/2014/main" id="{4E46A9AC-5C78-C24B-9E01-8DFBAFAB5FF5}"/>
              </a:ext>
            </a:extLst>
          </p:cNvPr>
          <p:cNvPicPr>
            <a:picLocks/>
          </p:cNvPicPr>
          <p:nvPr>
            <p:custDataLst>
              <p:tags r:id="rId1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1"/>
              </a:ext>
              <a:ext uri="{6F801314-5768-4EAC-8CED-0F2297F94238}"/>
            </a:extLst>
          </a:blip>
          <a:stretch>
            <a:fillRect/>
          </a:stretch>
        </p:blipFill>
        <p:spPr bwMode="auto">
          <a:xfrm>
            <a:off x="685800" y="2387600"/>
            <a:ext cx="152400" cy="152400"/>
          </a:xfrm>
          <a:prstGeom prst="rect">
            <a:avLst/>
          </a:prstGeom>
          <a:noFill/>
          <a:effectLst/>
        </p:spPr>
      </p:pic>
      <p:pic>
        <p:nvPicPr>
          <p:cNvPr id="89" name="Pic">
            <a:extLst>
              <a:ext uri="{FF2B5EF4-FFF2-40B4-BE49-F238E27FC236}">
                <a16:creationId xmlns:a16="http://schemas.microsoft.com/office/drawing/2014/main" id="{DDC0651B-8855-0B79-AC68-CD50CFBF6B3A}"/>
              </a:ext>
            </a:extLst>
          </p:cNvPr>
          <p:cNvPicPr>
            <a:picLocks/>
          </p:cNvPicPr>
          <p:nvPr>
            <p:custDataLst>
              <p:tags r:id="rId1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2"/>
              </a:ext>
              <a:ext uri="{6F801314-5768-4EAC-8CED-0F2297F94238}"/>
            </a:extLst>
          </a:blip>
          <a:stretch>
            <a:fillRect/>
          </a:stretch>
        </p:blipFill>
        <p:spPr bwMode="auto">
          <a:xfrm>
            <a:off x="2476500" y="2387600"/>
            <a:ext cx="152400" cy="152400"/>
          </a:xfrm>
          <a:prstGeom prst="rect">
            <a:avLst/>
          </a:prstGeom>
          <a:noFill/>
          <a:effectLst/>
        </p:spPr>
      </p:pic>
      <p:pic>
        <p:nvPicPr>
          <p:cNvPr id="93" name="Pic">
            <a:extLst>
              <a:ext uri="{FF2B5EF4-FFF2-40B4-BE49-F238E27FC236}">
                <a16:creationId xmlns:a16="http://schemas.microsoft.com/office/drawing/2014/main" id="{16482D56-A53C-8B1D-23A3-F839556E4CE3}"/>
              </a:ext>
            </a:extLst>
          </p:cNvPr>
          <p:cNvPicPr>
            <a:picLocks/>
          </p:cNvPicPr>
          <p:nvPr>
            <p:custDataLst>
              <p:tags r:id="rId1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3"/>
              </a:ext>
              <a:ext uri="{6F801314-5768-4EAC-8CED-0F2297F94238}"/>
            </a:extLst>
          </a:blip>
          <a:stretch>
            <a:fillRect/>
          </a:stretch>
        </p:blipFill>
        <p:spPr bwMode="auto">
          <a:xfrm>
            <a:off x="4251325" y="2387600"/>
            <a:ext cx="152400" cy="152400"/>
          </a:xfrm>
          <a:prstGeom prst="rect">
            <a:avLst/>
          </a:prstGeom>
          <a:noFill/>
          <a:effectLst/>
        </p:spPr>
      </p:pic>
      <p:pic>
        <p:nvPicPr>
          <p:cNvPr id="102" name="Pic">
            <a:extLst>
              <a:ext uri="{FF2B5EF4-FFF2-40B4-BE49-F238E27FC236}">
                <a16:creationId xmlns:a16="http://schemas.microsoft.com/office/drawing/2014/main" id="{413474DB-26E1-DBBD-E003-C5E138DDD3B9}"/>
              </a:ext>
            </a:extLst>
          </p:cNvPr>
          <p:cNvPicPr>
            <a:picLocks/>
          </p:cNvPicPr>
          <p:nvPr>
            <p:custDataLst>
              <p:tags r:id="rId2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4"/>
              </a:ext>
              <a:ext uri="{6F801314-5768-4EAC-8CED-0F2297F94238}"/>
            </a:extLst>
          </a:blip>
          <a:stretch>
            <a:fillRect/>
          </a:stretch>
        </p:blipFill>
        <p:spPr bwMode="auto">
          <a:xfrm>
            <a:off x="6042025" y="2387600"/>
            <a:ext cx="152400" cy="152400"/>
          </a:xfrm>
          <a:prstGeom prst="rect">
            <a:avLst/>
          </a:prstGeom>
          <a:noFill/>
          <a:effectLst/>
        </p:spPr>
      </p:pic>
      <p:pic>
        <p:nvPicPr>
          <p:cNvPr id="100" name="Pic">
            <a:extLst>
              <a:ext uri="{FF2B5EF4-FFF2-40B4-BE49-F238E27FC236}">
                <a16:creationId xmlns:a16="http://schemas.microsoft.com/office/drawing/2014/main" id="{79AF2E10-101D-496A-4029-53A06F518823}"/>
              </a:ext>
            </a:extLst>
          </p:cNvPr>
          <p:cNvPicPr>
            <a:picLocks/>
          </p:cNvPicPr>
          <p:nvPr>
            <p:custDataLst>
              <p:tags r:id="rId2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5"/>
              </a:ext>
              <a:ext uri="{6F801314-5768-4EAC-8CED-0F2297F94238}"/>
            </a:extLst>
          </a:blip>
          <a:stretch>
            <a:fillRect/>
          </a:stretch>
        </p:blipFill>
        <p:spPr bwMode="auto">
          <a:xfrm>
            <a:off x="685800" y="4673600"/>
            <a:ext cx="152400" cy="152400"/>
          </a:xfrm>
          <a:prstGeom prst="rect">
            <a:avLst/>
          </a:prstGeom>
          <a:noFill/>
          <a:effectLst/>
        </p:spPr>
      </p:pic>
      <p:pic>
        <p:nvPicPr>
          <p:cNvPr id="103" name="Pic">
            <a:extLst>
              <a:ext uri="{FF2B5EF4-FFF2-40B4-BE49-F238E27FC236}">
                <a16:creationId xmlns:a16="http://schemas.microsoft.com/office/drawing/2014/main" id="{5BA443B2-2E72-3FC0-AD9D-94561DF4E927}"/>
              </a:ext>
            </a:extLst>
          </p:cNvPr>
          <p:cNvPicPr>
            <a:picLocks/>
          </p:cNvPicPr>
          <p:nvPr>
            <p:custDataLst>
              <p:tags r:id="rId2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6"/>
              </a:ext>
              <a:ext uri="{6F801314-5768-4EAC-8CED-0F2297F94238}"/>
            </a:extLst>
          </a:blip>
          <a:stretch>
            <a:fillRect/>
          </a:stretch>
        </p:blipFill>
        <p:spPr bwMode="auto">
          <a:xfrm>
            <a:off x="4251325" y="4673600"/>
            <a:ext cx="152400" cy="152400"/>
          </a:xfrm>
          <a:prstGeom prst="rect">
            <a:avLst/>
          </a:prstGeom>
          <a:noFill/>
          <a:effectLst/>
        </p:spPr>
      </p:pic>
      <p:sp>
        <p:nvSpPr>
          <p:cNvPr id="104" name="Rectangle 103">
            <a:extLst>
              <a:ext uri="{FF2B5EF4-FFF2-40B4-BE49-F238E27FC236}">
                <a16:creationId xmlns:a16="http://schemas.microsoft.com/office/drawing/2014/main" id="{D363F1E0-1AA0-3AE7-7087-A89BF8609AA8}"/>
              </a:ext>
            </a:extLst>
          </p:cNvPr>
          <p:cNvSpPr/>
          <p:nvPr/>
        </p:nvSpPr>
        <p:spPr>
          <a:xfrm>
            <a:off x="2006601" y="5988050"/>
            <a:ext cx="10041964" cy="678408"/>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600"/>
          </a:p>
        </p:txBody>
      </p:sp>
    </p:spTree>
    <p:extLst>
      <p:ext uri="{BB962C8B-B14F-4D97-AF65-F5344CB8AC3E}">
        <p14:creationId xmlns:p14="http://schemas.microsoft.com/office/powerpoint/2010/main" val="2549857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p:bldP spid="44" grpId="0"/>
      <p:bldP spid="45" grpId="0"/>
      <p:bldP spid="46" grpId="0" animBg="1"/>
      <p:bldP spid="47" grpId="0" animBg="1"/>
      <p:bldP spid="48" grpId="0" animBg="1"/>
      <p:bldP spid="49" grpId="0" animBg="1"/>
      <p:bldP spid="50" grpId="0" animBg="1"/>
      <p:bldP spid="51" grpId="0" animBg="1"/>
      <p:bldP spid="52" grpId="0" animBg="1"/>
      <p:bldP spid="67" grpId="0" animBg="1"/>
      <p:bldP spid="68" grpId="0" animBg="1"/>
      <p:bldP spid="69" grpId="0" animBg="1"/>
      <p:bldP spid="70" grpId="0" animBg="1"/>
      <p:bldP spid="73"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9155F33-DB12-3F64-1DD9-2BD1D58E6F41}"/>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22E3C1B-FF59-D9A2-9230-AF2E6FE520C4}"/>
              </a:ext>
            </a:extLst>
          </p:cNvPr>
          <p:cNvGraphicFramePr>
            <a:graphicFrameLocks/>
          </p:cNvGraphicFramePr>
          <p:nvPr>
            <p:custDataLst>
              <p:tags r:id="rId1"/>
            </p:custDataLst>
            <p:extLst>
              <p:ext uri="{D42A27DB-BD31-4B8C-83A1-F6EECF244321}">
                <p14:modId xmlns:p14="http://schemas.microsoft.com/office/powerpoint/2010/main" val="7622099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443" imgH="443" progId="TCLayout.ActiveDocument.1">
                  <p:embed/>
                </p:oleObj>
              </mc:Choice>
              <mc:Fallback>
                <p:oleObj name="thinkcell Slide" r:id="rId24" imgW="443" imgH="443" progId="TCLayout.ActiveDocument.1">
                  <p:embed/>
                  <p:pic>
                    <p:nvPicPr>
                      <p:cNvPr id="3" name="thinkcell data - do not delete" hidden="1">
                        <a:extLst>
                          <a:ext uri="{FF2B5EF4-FFF2-40B4-BE49-F238E27FC236}">
                            <a16:creationId xmlns:a16="http://schemas.microsoft.com/office/drawing/2014/main" id="{522E3C1B-FF59-D9A2-9230-AF2E6FE520C4}"/>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5FFC460-AA2D-436A-2DFD-3A0A5D6C9C3D}"/>
              </a:ext>
            </a:extLst>
          </p:cNvPr>
          <p:cNvSpPr>
            <a:spLocks noGrp="1"/>
          </p:cNvSpPr>
          <p:nvPr>
            <p:ph type="title"/>
          </p:nvPr>
        </p:nvSpPr>
        <p:spPr>
          <a:xfrm>
            <a:off x="254000" y="177800"/>
            <a:ext cx="11684000" cy="787400"/>
          </a:xfrm>
        </p:spPr>
        <p:txBody>
          <a:bodyPr/>
          <a:lstStyle/>
          <a:p>
            <a:r>
              <a:rPr lang="en-US" dirty="0"/>
              <a:t>ML Schema, AI/BI dashboard, SQL Warehouse</a:t>
            </a:r>
          </a:p>
        </p:txBody>
      </p:sp>
      <p:sp>
        <p:nvSpPr>
          <p:cNvPr id="4" name="Rectangle: Rounded Corners 3">
            <a:extLst>
              <a:ext uri="{FF2B5EF4-FFF2-40B4-BE49-F238E27FC236}">
                <a16:creationId xmlns:a16="http://schemas.microsoft.com/office/drawing/2014/main" id="{CD0B8D1C-5395-3FCD-DDA9-019629A43FEF}"/>
              </a:ext>
            </a:extLst>
          </p:cNvPr>
          <p:cNvSpPr/>
          <p:nvPr/>
        </p:nvSpPr>
        <p:spPr>
          <a:xfrm>
            <a:off x="2108200" y="1016000"/>
            <a:ext cx="9880600" cy="5613400"/>
          </a:xfrm>
          <a:prstGeom prst="roundRect">
            <a:avLst>
              <a:gd name="adj" fmla="val 3000"/>
            </a:avLst>
          </a:prstGeom>
          <a:noFill/>
          <a:ln w="9525" cap="flat" cmpd="sng" algn="ctr">
            <a:solidFill>
              <a:schemeClr val="bg2">
                <a:lumMod val="85000"/>
              </a:schemeClr>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88900" tIns="76200" rIns="88900" bIns="76200" rtlCol="0" anchor="t">
            <a:noAutofit/>
          </a:bodyPr>
          <a:lstStyle/>
          <a:p>
            <a:r>
              <a:rPr lang="en-MY"/>
              <a:t> </a:t>
            </a:r>
          </a:p>
        </p:txBody>
      </p:sp>
      <p:sp>
        <p:nvSpPr>
          <p:cNvPr id="5" name="Rectangle 4">
            <a:extLst>
              <a:ext uri="{FF2B5EF4-FFF2-40B4-BE49-F238E27FC236}">
                <a16:creationId xmlns:a16="http://schemas.microsoft.com/office/drawing/2014/main" id="{05B4732D-DF9D-C3F7-98D0-3D3322489172}"/>
              </a:ext>
            </a:extLst>
          </p:cNvPr>
          <p:cNvSpPr/>
          <p:nvPr/>
        </p:nvSpPr>
        <p:spPr>
          <a:xfrm>
            <a:off x="2235200" y="1066800"/>
            <a:ext cx="53340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r>
              <a:rPr lang="en-MY" sz="1400" b="1" dirty="0">
                <a:solidFill>
                  <a:schemeClr val="tx1"/>
                </a:solidFill>
              </a:rPr>
              <a:t>Databricks  Data Intelligence Platform</a:t>
            </a:r>
          </a:p>
        </p:txBody>
      </p:sp>
      <p:sp>
        <p:nvSpPr>
          <p:cNvPr id="6" name="Rectangle 5">
            <a:extLst>
              <a:ext uri="{FF2B5EF4-FFF2-40B4-BE49-F238E27FC236}">
                <a16:creationId xmlns:a16="http://schemas.microsoft.com/office/drawing/2014/main" id="{B58B4FE8-63E6-B9E1-D6CE-367EC4F9B4CE}"/>
              </a:ext>
            </a:extLst>
          </p:cNvPr>
          <p:cNvSpPr/>
          <p:nvPr/>
        </p:nvSpPr>
        <p:spPr>
          <a:xfrm>
            <a:off x="8890000" y="1066800"/>
            <a:ext cx="29718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MY" sz="1000" b="1" dirty="0">
                <a:solidFill>
                  <a:schemeClr val="bg1">
                    <a:lumMod val="50000"/>
                  </a:schemeClr>
                </a:solidFill>
              </a:rPr>
              <a:t>ARCHITECTURE</a:t>
            </a:r>
          </a:p>
        </p:txBody>
      </p:sp>
      <p:sp>
        <p:nvSpPr>
          <p:cNvPr id="7" name="Rectangle: Rounded Corners 6">
            <a:extLst>
              <a:ext uri="{FF2B5EF4-FFF2-40B4-BE49-F238E27FC236}">
                <a16:creationId xmlns:a16="http://schemas.microsoft.com/office/drawing/2014/main" id="{444D7190-EA25-8D37-68B8-B9F6CEBB66EF}"/>
              </a:ext>
            </a:extLst>
          </p:cNvPr>
          <p:cNvSpPr/>
          <p:nvPr/>
        </p:nvSpPr>
        <p:spPr>
          <a:xfrm>
            <a:off x="1016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Public data sources</a:t>
            </a:r>
          </a:p>
        </p:txBody>
      </p:sp>
      <p:sp>
        <p:nvSpPr>
          <p:cNvPr id="8" name="Rectangle: Rounded Corners 7">
            <a:extLst>
              <a:ext uri="{FF2B5EF4-FFF2-40B4-BE49-F238E27FC236}">
                <a16:creationId xmlns:a16="http://schemas.microsoft.com/office/drawing/2014/main" id="{AED72431-998A-4163-4AB4-A0399E20641A}"/>
              </a:ext>
            </a:extLst>
          </p:cNvPr>
          <p:cNvSpPr/>
          <p:nvPr/>
        </p:nvSpPr>
        <p:spPr>
          <a:xfrm>
            <a:off x="2235200" y="1371600"/>
            <a:ext cx="16256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Data ingestion</a:t>
            </a:r>
          </a:p>
        </p:txBody>
      </p:sp>
      <p:sp>
        <p:nvSpPr>
          <p:cNvPr id="9" name="Rectangle: Rounded Corners 8">
            <a:extLst>
              <a:ext uri="{FF2B5EF4-FFF2-40B4-BE49-F238E27FC236}">
                <a16:creationId xmlns:a16="http://schemas.microsoft.com/office/drawing/2014/main" id="{60F85B85-FFEF-E066-E2AC-95237DF5809B}"/>
              </a:ext>
            </a:extLst>
          </p:cNvPr>
          <p:cNvSpPr/>
          <p:nvPr/>
        </p:nvSpPr>
        <p:spPr>
          <a:xfrm>
            <a:off x="3962400" y="1371600"/>
            <a:ext cx="37084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Lakehouse · Medallion architecture</a:t>
            </a:r>
          </a:p>
        </p:txBody>
      </p:sp>
      <p:sp>
        <p:nvSpPr>
          <p:cNvPr id="10" name="Rectangle: Rounded Corners 9">
            <a:extLst>
              <a:ext uri="{FF2B5EF4-FFF2-40B4-BE49-F238E27FC236}">
                <a16:creationId xmlns:a16="http://schemas.microsoft.com/office/drawing/2014/main" id="{875DF0A5-E882-0C35-FC05-9608D814B073}"/>
              </a:ext>
            </a:extLst>
          </p:cNvPr>
          <p:cNvSpPr/>
          <p:nvPr/>
        </p:nvSpPr>
        <p:spPr>
          <a:xfrm>
            <a:off x="77724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Intelligence · Serving</a:t>
            </a:r>
          </a:p>
        </p:txBody>
      </p:sp>
      <p:sp>
        <p:nvSpPr>
          <p:cNvPr id="11" name="Rectangle: Rounded Corners 10">
            <a:extLst>
              <a:ext uri="{FF2B5EF4-FFF2-40B4-BE49-F238E27FC236}">
                <a16:creationId xmlns:a16="http://schemas.microsoft.com/office/drawing/2014/main" id="{F944CA32-3699-F35C-A411-692AF6F7BBA9}"/>
              </a:ext>
            </a:extLst>
          </p:cNvPr>
          <p:cNvSpPr/>
          <p:nvPr/>
        </p:nvSpPr>
        <p:spPr>
          <a:xfrm>
            <a:off x="9779000" y="1371600"/>
            <a:ext cx="2082800" cy="4572000"/>
          </a:xfrm>
          <a:prstGeom prst="roundRect">
            <a:avLst>
              <a:gd name="adj" fmla="val 3500"/>
            </a:avLst>
          </a:prstGeom>
          <a:solidFill>
            <a:schemeClr val="accent1">
              <a:lumMod val="8000"/>
              <a:lumOff val="92000"/>
            </a:schemeClr>
          </a:solidFill>
          <a:ln w="9525" cap="flat" cmpd="sng" algn="ctr">
            <a:solidFill>
              <a:schemeClr val="accent1">
                <a:lumMod val="40000"/>
                <a:lumOff val="6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Residents and agencies · AI agents</a:t>
            </a:r>
          </a:p>
        </p:txBody>
      </p:sp>
      <p:sp>
        <p:nvSpPr>
          <p:cNvPr id="12" name="Rectangle: Rounded Corners 11">
            <a:extLst>
              <a:ext uri="{FF2B5EF4-FFF2-40B4-BE49-F238E27FC236}">
                <a16:creationId xmlns:a16="http://schemas.microsoft.com/office/drawing/2014/main" id="{98BF7A1F-544C-C031-8C73-8145B1E19A85}"/>
              </a:ext>
            </a:extLst>
          </p:cNvPr>
          <p:cNvSpPr/>
          <p:nvPr/>
        </p:nvSpPr>
        <p:spPr>
          <a:xfrm>
            <a:off x="177800" y="1752600"/>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PUB Flood Alerts</a:t>
            </a:r>
          </a:p>
          <a:p>
            <a:r>
              <a:rPr lang="en-US" sz="1100">
                <a:solidFill>
                  <a:schemeClr val="tx1"/>
                </a:solidFill>
              </a:rPr>
              <a:t>Drains 90% full, flash floods; Telegram posts since 2021</a:t>
            </a:r>
            <a:endParaRPr lang="en-MY"/>
          </a:p>
        </p:txBody>
      </p:sp>
      <p:sp>
        <p:nvSpPr>
          <p:cNvPr id="13" name="Rectangle: Rounded Corners 12">
            <a:extLst>
              <a:ext uri="{FF2B5EF4-FFF2-40B4-BE49-F238E27FC236}">
                <a16:creationId xmlns:a16="http://schemas.microsoft.com/office/drawing/2014/main" id="{BDE26262-0083-1D13-0291-46B1DFAC671C}"/>
              </a:ext>
            </a:extLst>
          </p:cNvPr>
          <p:cNvSpPr/>
          <p:nvPr/>
        </p:nvSpPr>
        <p:spPr>
          <a:xfrm>
            <a:off x="177800" y="2586038"/>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Internet Archive</a:t>
            </a:r>
          </a:p>
          <a:p>
            <a:r>
              <a:rPr lang="en-US" sz="1100">
                <a:solidFill>
                  <a:schemeClr val="tx1"/>
                </a:solidFill>
              </a:rPr>
              <a:t>832 deleted PUB posts, recovered from web captures</a:t>
            </a:r>
            <a:endParaRPr lang="en-MY"/>
          </a:p>
        </p:txBody>
      </p:sp>
      <p:sp>
        <p:nvSpPr>
          <p:cNvPr id="14" name="Rectangle: Rounded Corners 13">
            <a:extLst>
              <a:ext uri="{FF2B5EF4-FFF2-40B4-BE49-F238E27FC236}">
                <a16:creationId xmlns:a16="http://schemas.microsoft.com/office/drawing/2014/main" id="{A62E6A6F-BBE8-5526-4756-FAE2C26B5267}"/>
              </a:ext>
            </a:extLst>
          </p:cNvPr>
          <p:cNvSpPr/>
          <p:nvPr/>
        </p:nvSpPr>
        <p:spPr>
          <a:xfrm>
            <a:off x="177800" y="3419475"/>
            <a:ext cx="1752600" cy="80645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NEA weather</a:t>
            </a:r>
          </a:p>
          <a:p>
            <a:r>
              <a:rPr lang="en-US" sz="1100">
                <a:solidFill>
                  <a:schemeClr val="tx1"/>
                </a:solidFill>
              </a:rPr>
              <a:t>5-min rain, 2-h forecast, wind, humidity (data.gov.sg)</a:t>
            </a:r>
            <a:endParaRPr lang="en-MY"/>
          </a:p>
        </p:txBody>
      </p:sp>
      <p:sp>
        <p:nvSpPr>
          <p:cNvPr id="15" name="Rectangle: Rounded Corners 14">
            <a:extLst>
              <a:ext uri="{FF2B5EF4-FFF2-40B4-BE49-F238E27FC236}">
                <a16:creationId xmlns:a16="http://schemas.microsoft.com/office/drawing/2014/main" id="{688FCDD8-71A6-D5C6-CFFD-A26809D8A9B6}"/>
              </a:ext>
            </a:extLst>
          </p:cNvPr>
          <p:cNvSpPr/>
          <p:nvPr/>
        </p:nvSpPr>
        <p:spPr>
          <a:xfrm>
            <a:off x="177800" y="4251325"/>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Tides</a:t>
            </a:r>
          </a:p>
          <a:p>
            <a:r>
              <a:rPr lang="en-MY" sz="1100">
                <a:solidFill>
                  <a:schemeClr val="tx1"/>
                </a:solidFill>
              </a:rPr>
              <a:t>NEA tide table; UHSLC hourly sea level at Tanjong Pagar</a:t>
            </a:r>
          </a:p>
        </p:txBody>
      </p:sp>
      <p:sp>
        <p:nvSpPr>
          <p:cNvPr id="16" name="Rectangle: Rounded Corners 15">
            <a:extLst>
              <a:ext uri="{FF2B5EF4-FFF2-40B4-BE49-F238E27FC236}">
                <a16:creationId xmlns:a16="http://schemas.microsoft.com/office/drawing/2014/main" id="{D04D99F9-16EC-0A49-1C5F-1A61AD6B6B01}"/>
              </a:ext>
            </a:extLst>
          </p:cNvPr>
          <p:cNvSpPr/>
          <p:nvPr/>
        </p:nvSpPr>
        <p:spPr>
          <a:xfrm>
            <a:off x="177800" y="5084763"/>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Maps, sensors</a:t>
            </a:r>
          </a:p>
          <a:p>
            <a:r>
              <a:rPr lang="en-MY" sz="1100">
                <a:solidFill>
                  <a:schemeClr val="tx1"/>
                </a:solidFill>
              </a:rPr>
              <a:t>328 PUB water-level sensors, URA land use, SLA, OneMap</a:t>
            </a:r>
          </a:p>
        </p:txBody>
      </p:sp>
      <p:sp>
        <p:nvSpPr>
          <p:cNvPr id="17" name="Rectangle: Rounded Corners 16">
            <a:extLst>
              <a:ext uri="{FF2B5EF4-FFF2-40B4-BE49-F238E27FC236}">
                <a16:creationId xmlns:a16="http://schemas.microsoft.com/office/drawing/2014/main" id="{77E1B2C4-B072-026C-F313-0CB0FA2BF9F3}"/>
              </a:ext>
            </a:extLst>
          </p:cNvPr>
          <p:cNvSpPr/>
          <p:nvPr/>
        </p:nvSpPr>
        <p:spPr>
          <a:xfrm>
            <a:off x="2336800" y="1752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Jobs</a:t>
            </a:r>
          </a:p>
          <a:p>
            <a:r>
              <a:rPr lang="en-US" sz="1100">
                <a:solidFill>
                  <a:schemeClr val="tx1"/>
                </a:solidFill>
              </a:rPr>
              <a:t>Python fetchers on serverless: new data every 5 min, a nightly repair, one-off backfills</a:t>
            </a:r>
            <a:endParaRPr lang="en-MY"/>
          </a:p>
        </p:txBody>
      </p:sp>
      <p:sp>
        <p:nvSpPr>
          <p:cNvPr id="18" name="Rectangle: Rounded Corners 17">
            <a:extLst>
              <a:ext uri="{FF2B5EF4-FFF2-40B4-BE49-F238E27FC236}">
                <a16:creationId xmlns:a16="http://schemas.microsoft.com/office/drawing/2014/main" id="{7A6E6F58-E8B5-C84C-D9C7-684082072DCF}"/>
              </a:ext>
            </a:extLst>
          </p:cNvPr>
          <p:cNvSpPr/>
          <p:nvPr/>
        </p:nvSpPr>
        <p:spPr>
          <a:xfrm>
            <a:off x="2336800" y="3911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Auto Loader</a:t>
            </a:r>
          </a:p>
          <a:p>
            <a:r>
              <a:rPr lang="en-US" sz="1100">
                <a:solidFill>
                  <a:schemeClr val="tx1"/>
                </a:solidFill>
              </a:rPr>
              <a:t>Each fetch lands as a new file in a UC Volume and streams into bronze once</a:t>
            </a:r>
            <a:endParaRPr lang="en-MY"/>
          </a:p>
        </p:txBody>
      </p:sp>
      <p:sp>
        <p:nvSpPr>
          <p:cNvPr id="19" name="Rectangle: Rounded Corners 18">
            <a:extLst>
              <a:ext uri="{FF2B5EF4-FFF2-40B4-BE49-F238E27FC236}">
                <a16:creationId xmlns:a16="http://schemas.microsoft.com/office/drawing/2014/main" id="{78BF2850-4C7F-B8B2-69C8-A5BFCAA0E204}"/>
              </a:ext>
            </a:extLst>
          </p:cNvPr>
          <p:cNvSpPr/>
          <p:nvPr/>
        </p:nvSpPr>
        <p:spPr>
          <a:xfrm>
            <a:off x="4064000" y="1752600"/>
            <a:ext cx="1066800" cy="2540000"/>
          </a:xfrm>
          <a:prstGeom prst="roundRect">
            <a:avLst>
              <a:gd name="adj" fmla="val 8000"/>
            </a:avLst>
          </a:prstGeom>
          <a:solidFill>
            <a:schemeClr val="accent1">
              <a:lumMod val="20000"/>
              <a:lumOff val="80000"/>
            </a:schemeClr>
          </a:solidFill>
          <a:ln w="12700" cap="flat" cmpd="sng" algn="ctr">
            <a:solidFill>
              <a:schemeClr val="accent1">
                <a:lumMod val="60000"/>
                <a:lumOff val="4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Bronze</a:t>
            </a:r>
          </a:p>
          <a:p>
            <a:pPr algn="ctr"/>
            <a:r>
              <a:rPr lang="en-US" sz="1100">
                <a:solidFill>
                  <a:schemeClr val="tx1"/>
                </a:solidFill>
              </a:rPr>
              <a:t>Every API page, post and file as received; full history</a:t>
            </a:r>
            <a:endParaRPr lang="en-MY"/>
          </a:p>
        </p:txBody>
      </p:sp>
      <p:sp>
        <p:nvSpPr>
          <p:cNvPr id="20" name="Rectangle: Rounded Corners 19">
            <a:extLst>
              <a:ext uri="{FF2B5EF4-FFF2-40B4-BE49-F238E27FC236}">
                <a16:creationId xmlns:a16="http://schemas.microsoft.com/office/drawing/2014/main" id="{C5D329BC-A86A-A633-D122-6EAB4A330B21}"/>
              </a:ext>
            </a:extLst>
          </p:cNvPr>
          <p:cNvSpPr/>
          <p:nvPr/>
        </p:nvSpPr>
        <p:spPr>
          <a:xfrm>
            <a:off x="5283200" y="1752600"/>
            <a:ext cx="1066800" cy="2540000"/>
          </a:xfrm>
          <a:prstGeom prst="roundRect">
            <a:avLst>
              <a:gd name="adj" fmla="val 8000"/>
            </a:avLst>
          </a:prstGeom>
          <a:solidFill>
            <a:schemeClr val="bg2">
              <a:lumMod val="90000"/>
            </a:schemeClr>
          </a:solidFill>
          <a:ln w="12700" cap="flat" cmpd="sng" algn="ctr">
            <a:solidFill>
              <a:schemeClr val="bg2">
                <a:lumMod val="6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Silver</a:t>
            </a:r>
          </a:p>
          <a:p>
            <a:pPr algn="ctr"/>
            <a:r>
              <a:rPr lang="en-US" sz="1100">
                <a:solidFill>
                  <a:schemeClr val="tx1"/>
                </a:solidFill>
              </a:rPr>
              <a:t>Readings cleaned, posts parsed, alerts placed in NEA's 47 areas</a:t>
            </a:r>
            <a:endParaRPr lang="en-MY" dirty="0"/>
          </a:p>
        </p:txBody>
      </p:sp>
      <p:sp>
        <p:nvSpPr>
          <p:cNvPr id="21" name="Rectangle: Rounded Corners 20">
            <a:extLst>
              <a:ext uri="{FF2B5EF4-FFF2-40B4-BE49-F238E27FC236}">
                <a16:creationId xmlns:a16="http://schemas.microsoft.com/office/drawing/2014/main" id="{D70224C4-9988-114A-D95D-BCCC4F396C51}"/>
              </a:ext>
            </a:extLst>
          </p:cNvPr>
          <p:cNvSpPr/>
          <p:nvPr/>
        </p:nvSpPr>
        <p:spPr>
          <a:xfrm>
            <a:off x="6502400" y="1752600"/>
            <a:ext cx="1066800" cy="2540000"/>
          </a:xfrm>
          <a:prstGeom prst="roundRect">
            <a:avLst>
              <a:gd name="adj" fmla="val 8000"/>
            </a:avLst>
          </a:prstGeom>
          <a:solidFill>
            <a:schemeClr val="accent2">
              <a:lumMod val="20000"/>
              <a:lumOff val="80000"/>
            </a:schemeClr>
          </a:solidFill>
          <a:ln w="12700" cap="flat" cmpd="sng" algn="ctr">
            <a:solidFill>
              <a:schemeClr val="accent2">
                <a:lumMod val="70000"/>
                <a:lumOff val="3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Gold</a:t>
            </a:r>
          </a:p>
          <a:p>
            <a:pPr algn="ctr"/>
            <a:r>
              <a:rPr lang="en-US" sz="1100">
                <a:solidFill>
                  <a:schemeClr val="tx1"/>
                </a:solidFill>
              </a:rPr>
              <a:t>Each area, every 5 min: rain, forecast, tide, label</a:t>
            </a:r>
            <a:endParaRPr lang="en-MY"/>
          </a:p>
        </p:txBody>
      </p:sp>
      <p:sp>
        <p:nvSpPr>
          <p:cNvPr id="22" name="Rectangle: Rounded Corners 21">
            <a:extLst>
              <a:ext uri="{FF2B5EF4-FFF2-40B4-BE49-F238E27FC236}">
                <a16:creationId xmlns:a16="http://schemas.microsoft.com/office/drawing/2014/main" id="{E8E6C887-2EC8-BA7F-7EEE-A466A8E9B3E6}"/>
              </a:ext>
            </a:extLst>
          </p:cNvPr>
          <p:cNvSpPr/>
          <p:nvPr/>
        </p:nvSpPr>
        <p:spPr>
          <a:xfrm>
            <a:off x="4064000" y="4521200"/>
            <a:ext cx="35052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Spark Declarative Pipelines</a:t>
            </a:r>
          </a:p>
          <a:p>
            <a:r>
              <a:rPr lang="en-US" sz="1100">
                <a:solidFill>
                  <a:schemeClr val="tx1"/>
                </a:solidFill>
              </a:rPr>
              <a:t>Two serverless pipelines. Expectations drop bad readings; unplaceable alerts are quarantined. Hours with lost posts or feed outages count as missing, never as quiet.</a:t>
            </a:r>
            <a:endParaRPr lang="en-MY"/>
          </a:p>
        </p:txBody>
      </p:sp>
      <p:sp>
        <p:nvSpPr>
          <p:cNvPr id="23" name="Rectangle: Rounded Corners 22">
            <a:extLst>
              <a:ext uri="{FF2B5EF4-FFF2-40B4-BE49-F238E27FC236}">
                <a16:creationId xmlns:a16="http://schemas.microsoft.com/office/drawing/2014/main" id="{0261B30A-D673-FD66-5169-CB06554E9662}"/>
              </a:ext>
            </a:extLst>
          </p:cNvPr>
          <p:cNvSpPr/>
          <p:nvPr/>
        </p:nvSpPr>
        <p:spPr>
          <a:xfrm>
            <a:off x="7874000" y="1752600"/>
            <a:ext cx="1701800" cy="1422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dirty="0" err="1">
                <a:solidFill>
                  <a:schemeClr val="tx1">
                    <a:lumMod val="75000"/>
                    <a:lumOff val="25000"/>
                  </a:schemeClr>
                </a:solidFill>
              </a:rPr>
              <a:t>MLflow</a:t>
            </a:r>
            <a:r>
              <a:rPr lang="en-US" sz="1300" b="1" dirty="0">
                <a:solidFill>
                  <a:schemeClr val="tx1">
                    <a:lumMod val="75000"/>
                    <a:lumOff val="25000"/>
                  </a:schemeClr>
                </a:solidFill>
              </a:rPr>
              <a:t> · Unity Catalog</a:t>
            </a:r>
          </a:p>
          <a:p>
            <a:r>
              <a:rPr lang="en-US" sz="1100" dirty="0">
                <a:solidFill>
                  <a:schemeClr val="tx1"/>
                </a:solidFill>
              </a:rPr>
              <a:t>Gated </a:t>
            </a:r>
            <a:r>
              <a:rPr lang="en-US" sz="1100" dirty="0" err="1">
                <a:solidFill>
                  <a:schemeClr val="tx1"/>
                </a:solidFill>
              </a:rPr>
              <a:t>LightGBM</a:t>
            </a:r>
            <a:r>
              <a:rPr lang="en-US" sz="1100" dirty="0">
                <a:solidFill>
                  <a:schemeClr val="tx1"/>
                </a:solidFill>
              </a:rPr>
              <a:t> pair: each area's chance of a PUB alert within 1 h. 7 checks before @champion moves.</a:t>
            </a:r>
            <a:endParaRPr lang="en-MY" dirty="0"/>
          </a:p>
        </p:txBody>
      </p:sp>
      <p:sp>
        <p:nvSpPr>
          <p:cNvPr id="24" name="Rectangle: Rounded Corners 23">
            <a:extLst>
              <a:ext uri="{FF2B5EF4-FFF2-40B4-BE49-F238E27FC236}">
                <a16:creationId xmlns:a16="http://schemas.microsoft.com/office/drawing/2014/main" id="{AC58F187-6116-FA20-6678-8AC54434901C}"/>
              </a:ext>
            </a:extLst>
          </p:cNvPr>
          <p:cNvSpPr/>
          <p:nvPr/>
        </p:nvSpPr>
        <p:spPr>
          <a:xfrm>
            <a:off x="7874000" y="3276600"/>
            <a:ext cx="17018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dirty="0">
                <a:solidFill>
                  <a:schemeClr val="tx1">
                    <a:lumMod val="75000"/>
                    <a:lumOff val="25000"/>
                  </a:schemeClr>
                </a:solidFill>
              </a:rPr>
              <a:t>Live scoring</a:t>
            </a:r>
          </a:p>
          <a:p>
            <a:r>
              <a:rPr lang="en-US" sz="1100" dirty="0">
                <a:solidFill>
                  <a:schemeClr val="tx1"/>
                </a:solidFill>
              </a:rPr>
              <a:t>Every 5 min, @champion rates all 47 areas into a Delta table. New warnings go out by Telegram, email.</a:t>
            </a:r>
            <a:endParaRPr lang="en-MY" dirty="0"/>
          </a:p>
        </p:txBody>
      </p:sp>
      <p:sp>
        <p:nvSpPr>
          <p:cNvPr id="25" name="Rectangle: Rounded Corners 24">
            <a:extLst>
              <a:ext uri="{FF2B5EF4-FFF2-40B4-BE49-F238E27FC236}">
                <a16:creationId xmlns:a16="http://schemas.microsoft.com/office/drawing/2014/main" id="{D2281C7A-8E4E-3414-E670-85014FE34C6E}"/>
              </a:ext>
            </a:extLst>
          </p:cNvPr>
          <p:cNvSpPr/>
          <p:nvPr/>
        </p:nvSpPr>
        <p:spPr>
          <a:xfrm>
            <a:off x="7874000" y="4699000"/>
            <a:ext cx="1701800" cy="11430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MY" sz="1300" b="1" dirty="0">
                <a:solidFill>
                  <a:schemeClr val="tx1">
                    <a:lumMod val="75000"/>
                    <a:lumOff val="25000"/>
                  </a:schemeClr>
                </a:solidFill>
              </a:rPr>
              <a:t>Databricks SQL · AI/BI</a:t>
            </a:r>
          </a:p>
          <a:p>
            <a:r>
              <a:rPr lang="en-MY" sz="1100" dirty="0">
                <a:solidFill>
                  <a:schemeClr val="tx1"/>
                </a:solidFill>
              </a:rPr>
              <a:t>Serverless warehouse for the app, Genie, agencies' scoreboard</a:t>
            </a:r>
          </a:p>
        </p:txBody>
      </p:sp>
      <p:sp>
        <p:nvSpPr>
          <p:cNvPr id="26" name="Rectangle: Rounded Corners 25">
            <a:extLst>
              <a:ext uri="{FF2B5EF4-FFF2-40B4-BE49-F238E27FC236}">
                <a16:creationId xmlns:a16="http://schemas.microsoft.com/office/drawing/2014/main" id="{A15EFF27-7BD9-57C0-2025-C048480E7769}"/>
              </a:ext>
            </a:extLst>
          </p:cNvPr>
          <p:cNvSpPr/>
          <p:nvPr/>
        </p:nvSpPr>
        <p:spPr>
          <a:xfrm>
            <a:off x="9880600" y="1879600"/>
            <a:ext cx="1879600" cy="1727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Databricks App</a:t>
            </a:r>
          </a:p>
          <a:p>
            <a:r>
              <a:rPr lang="en-US" sz="1100">
                <a:solidFill>
                  <a:schemeClr val="tx1"/>
                </a:solidFill>
              </a:rPr>
              <a:t>Live map of 47 areas: what to do on foot, driving or at home. Storm replays, warning sign-ups.</a:t>
            </a:r>
            <a:endParaRPr lang="en-MY" dirty="0"/>
          </a:p>
        </p:txBody>
      </p:sp>
      <p:sp>
        <p:nvSpPr>
          <p:cNvPr id="27" name="Rectangle: Rounded Corners 26">
            <a:extLst>
              <a:ext uri="{FF2B5EF4-FFF2-40B4-BE49-F238E27FC236}">
                <a16:creationId xmlns:a16="http://schemas.microsoft.com/office/drawing/2014/main" id="{A9969722-FA7B-8B13-C7D4-11169D152229}"/>
              </a:ext>
            </a:extLst>
          </p:cNvPr>
          <p:cNvSpPr/>
          <p:nvPr/>
        </p:nvSpPr>
        <p:spPr>
          <a:xfrm>
            <a:off x="9880600" y="3733800"/>
            <a:ext cx="1879600" cy="2108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Genie Agent</a:t>
            </a:r>
          </a:p>
          <a:p>
            <a:r>
              <a:rPr lang="en-US" sz="1100">
                <a:solidFill>
                  <a:schemeClr val="tx1"/>
                </a:solidFill>
              </a:rPr>
              <a:t>"FloodSense for agencies": ask in plain English how it did against PUB, flood by flood. Also in the app.</a:t>
            </a:r>
            <a:endParaRPr lang="en-MY"/>
          </a:p>
        </p:txBody>
      </p:sp>
      <p:sp>
        <p:nvSpPr>
          <p:cNvPr id="28" name="Rectangle: Rounded Corners 27">
            <a:extLst>
              <a:ext uri="{FF2B5EF4-FFF2-40B4-BE49-F238E27FC236}">
                <a16:creationId xmlns:a16="http://schemas.microsoft.com/office/drawing/2014/main" id="{D6E23B7E-EA58-69A5-5A4D-906BB89BBC91}"/>
              </a:ext>
            </a:extLst>
          </p:cNvPr>
          <p:cNvSpPr/>
          <p:nvPr/>
        </p:nvSpPr>
        <p:spPr>
          <a:xfrm>
            <a:off x="9982200" y="2946400"/>
            <a:ext cx="7366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Residents</a:t>
            </a:r>
          </a:p>
        </p:txBody>
      </p:sp>
      <p:sp>
        <p:nvSpPr>
          <p:cNvPr id="29" name="Rectangle: Rounded Corners 28">
            <a:extLst>
              <a:ext uri="{FF2B5EF4-FFF2-40B4-BE49-F238E27FC236}">
                <a16:creationId xmlns:a16="http://schemas.microsoft.com/office/drawing/2014/main" id="{529A0331-3095-A602-169F-962951C0ED69}"/>
              </a:ext>
            </a:extLst>
          </p:cNvPr>
          <p:cNvSpPr/>
          <p:nvPr/>
        </p:nvSpPr>
        <p:spPr>
          <a:xfrm>
            <a:off x="10795000" y="2946400"/>
            <a:ext cx="7874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Commuters</a:t>
            </a:r>
          </a:p>
        </p:txBody>
      </p:sp>
      <p:sp>
        <p:nvSpPr>
          <p:cNvPr id="30" name="Rectangle: Rounded Corners 29">
            <a:extLst>
              <a:ext uri="{FF2B5EF4-FFF2-40B4-BE49-F238E27FC236}">
                <a16:creationId xmlns:a16="http://schemas.microsoft.com/office/drawing/2014/main" id="{D578B203-0733-DE88-4BDA-2641438F9F75}"/>
              </a:ext>
            </a:extLst>
          </p:cNvPr>
          <p:cNvSpPr/>
          <p:nvPr/>
        </p:nvSpPr>
        <p:spPr>
          <a:xfrm>
            <a:off x="9982200" y="3251200"/>
            <a:ext cx="9652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Town councils</a:t>
            </a:r>
          </a:p>
        </p:txBody>
      </p:sp>
      <p:sp>
        <p:nvSpPr>
          <p:cNvPr id="31" name="Rectangle: Rounded Corners 30">
            <a:extLst>
              <a:ext uri="{FF2B5EF4-FFF2-40B4-BE49-F238E27FC236}">
                <a16:creationId xmlns:a16="http://schemas.microsoft.com/office/drawing/2014/main" id="{02C4ED14-3C89-542C-2979-610DCEF8B3EC}"/>
              </a:ext>
            </a:extLst>
          </p:cNvPr>
          <p:cNvSpPr/>
          <p:nvPr/>
        </p:nvSpPr>
        <p:spPr>
          <a:xfrm>
            <a:off x="11023600" y="3251200"/>
            <a:ext cx="6350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Agencies</a:t>
            </a:r>
          </a:p>
        </p:txBody>
      </p:sp>
      <p:sp>
        <p:nvSpPr>
          <p:cNvPr id="33" name="Rectangle: Rounded Corners 32">
            <a:extLst>
              <a:ext uri="{FF2B5EF4-FFF2-40B4-BE49-F238E27FC236}">
                <a16:creationId xmlns:a16="http://schemas.microsoft.com/office/drawing/2014/main" id="{67DFB46A-8019-AAD0-C0EC-E666ABD9B8C9}"/>
              </a:ext>
            </a:extLst>
          </p:cNvPr>
          <p:cNvSpPr/>
          <p:nvPr>
            <p:custDataLst>
              <p:tags r:id="rId2"/>
            </p:custDataLst>
          </p:nvPr>
        </p:nvSpPr>
        <p:spPr>
          <a:xfrm>
            <a:off x="2235200" y="6070600"/>
            <a:ext cx="9626600" cy="355600"/>
          </a:xfrm>
          <a:prstGeom prst="roundRect">
            <a:avLst>
              <a:gd name="adj" fmla="val 12000"/>
            </a:avLst>
          </a:prstGeom>
          <a:solidFill>
            <a:schemeClr val="bg1"/>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66700" tIns="12700" rIns="50800" bIns="12700" rtlCol="0" anchor="ctr">
            <a:noAutofit/>
          </a:bodyPr>
          <a:lstStyle/>
          <a:p>
            <a:pPr algn="ctr"/>
            <a:r>
              <a:rPr lang="en-MY" sz="1100" b="1" dirty="0">
                <a:solidFill>
                  <a:schemeClr val="tx1"/>
                </a:solidFill>
              </a:rPr>
              <a:t>Unity </a:t>
            </a:r>
            <a:r>
              <a:rPr lang="en-MY" sz="1100" b="1" dirty="0" err="1">
                <a:solidFill>
                  <a:schemeClr val="tx1"/>
                </a:solidFill>
              </a:rPr>
              <a:t>Catalog</a:t>
            </a:r>
            <a:endParaRPr lang="en-MY" sz="1100" b="1" dirty="0">
              <a:solidFill>
                <a:schemeClr val="tx1"/>
              </a:solidFill>
            </a:endParaRPr>
          </a:p>
        </p:txBody>
      </p:sp>
      <p:cxnSp>
        <p:nvCxnSpPr>
          <p:cNvPr id="42" name="Connector: Elbow 41">
            <a:extLst>
              <a:ext uri="{FF2B5EF4-FFF2-40B4-BE49-F238E27FC236}">
                <a16:creationId xmlns:a16="http://schemas.microsoft.com/office/drawing/2014/main" id="{7CAB9B2F-5D7F-183C-995B-D57D2D8E3554}"/>
              </a:ext>
            </a:extLst>
          </p:cNvPr>
          <p:cNvCxnSpPr>
            <a:cxnSpLocks/>
          </p:cNvCxnSpPr>
          <p:nvPr/>
        </p:nvCxnSpPr>
        <p:spPr>
          <a:xfrm>
            <a:off x="51308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03CAB5C1-6CBE-0412-31F5-0A8F9B7EE845}"/>
              </a:ext>
            </a:extLst>
          </p:cNvPr>
          <p:cNvCxnSpPr>
            <a:cxnSpLocks/>
          </p:cNvCxnSpPr>
          <p:nvPr/>
        </p:nvCxnSpPr>
        <p:spPr>
          <a:xfrm>
            <a:off x="63500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54" name="IconTile_12">
            <a:extLst>
              <a:ext uri="{FF2B5EF4-FFF2-40B4-BE49-F238E27FC236}">
                <a16:creationId xmlns:a16="http://schemas.microsoft.com/office/drawing/2014/main" id="{329A9722-44BD-2A89-45F6-62A7CBE15D13}"/>
              </a:ext>
            </a:extLst>
          </p:cNvPr>
          <p:cNvSpPr/>
          <p:nvPr/>
        </p:nvSpPr>
        <p:spPr>
          <a:xfrm>
            <a:off x="241300" y="17907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5" name="IconTile_13">
            <a:extLst>
              <a:ext uri="{FF2B5EF4-FFF2-40B4-BE49-F238E27FC236}">
                <a16:creationId xmlns:a16="http://schemas.microsoft.com/office/drawing/2014/main" id="{431B3E86-2823-601D-2BB9-C35BA89C430B}"/>
              </a:ext>
            </a:extLst>
          </p:cNvPr>
          <p:cNvSpPr/>
          <p:nvPr/>
        </p:nvSpPr>
        <p:spPr>
          <a:xfrm>
            <a:off x="241300" y="2624138"/>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6" name="IconTile_14">
            <a:extLst>
              <a:ext uri="{FF2B5EF4-FFF2-40B4-BE49-F238E27FC236}">
                <a16:creationId xmlns:a16="http://schemas.microsoft.com/office/drawing/2014/main" id="{21E9378B-2E06-361C-7810-767B8A90FA09}"/>
              </a:ext>
            </a:extLst>
          </p:cNvPr>
          <p:cNvSpPr/>
          <p:nvPr/>
        </p:nvSpPr>
        <p:spPr>
          <a:xfrm>
            <a:off x="241300" y="345757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7" name="IconTile_15">
            <a:extLst>
              <a:ext uri="{FF2B5EF4-FFF2-40B4-BE49-F238E27FC236}">
                <a16:creationId xmlns:a16="http://schemas.microsoft.com/office/drawing/2014/main" id="{59108069-F7B2-737B-F9E3-07F4A8AB1310}"/>
              </a:ext>
            </a:extLst>
          </p:cNvPr>
          <p:cNvSpPr/>
          <p:nvPr/>
        </p:nvSpPr>
        <p:spPr>
          <a:xfrm>
            <a:off x="241300" y="428942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8" name="IconTile_16">
            <a:extLst>
              <a:ext uri="{FF2B5EF4-FFF2-40B4-BE49-F238E27FC236}">
                <a16:creationId xmlns:a16="http://schemas.microsoft.com/office/drawing/2014/main" id="{9513C110-1DA4-CEE2-516F-BE7D305D9592}"/>
              </a:ext>
            </a:extLst>
          </p:cNvPr>
          <p:cNvSpPr/>
          <p:nvPr/>
        </p:nvSpPr>
        <p:spPr>
          <a:xfrm>
            <a:off x="241300" y="5122863"/>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9" name="IconTile_17">
            <a:extLst>
              <a:ext uri="{FF2B5EF4-FFF2-40B4-BE49-F238E27FC236}">
                <a16:creationId xmlns:a16="http://schemas.microsoft.com/office/drawing/2014/main" id="{7155B581-7C0C-A00F-C7D2-2812EB299988}"/>
              </a:ext>
            </a:extLst>
          </p:cNvPr>
          <p:cNvSpPr/>
          <p:nvPr/>
        </p:nvSpPr>
        <p:spPr>
          <a:xfrm>
            <a:off x="2400300" y="1835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0" name="IconTile_18">
            <a:extLst>
              <a:ext uri="{FF2B5EF4-FFF2-40B4-BE49-F238E27FC236}">
                <a16:creationId xmlns:a16="http://schemas.microsoft.com/office/drawing/2014/main" id="{3FF0ED4F-0258-83AC-62AC-597CB422D21E}"/>
              </a:ext>
            </a:extLst>
          </p:cNvPr>
          <p:cNvSpPr/>
          <p:nvPr/>
        </p:nvSpPr>
        <p:spPr>
          <a:xfrm>
            <a:off x="2400300" y="3994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1" name="IconTile_22">
            <a:extLst>
              <a:ext uri="{FF2B5EF4-FFF2-40B4-BE49-F238E27FC236}">
                <a16:creationId xmlns:a16="http://schemas.microsoft.com/office/drawing/2014/main" id="{A9ADA3BF-AE49-ED9A-B56B-505748A5DC0D}"/>
              </a:ext>
            </a:extLst>
          </p:cNvPr>
          <p:cNvSpPr/>
          <p:nvPr/>
        </p:nvSpPr>
        <p:spPr>
          <a:xfrm>
            <a:off x="4127500" y="460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2" name="IconTile_23">
            <a:extLst>
              <a:ext uri="{FF2B5EF4-FFF2-40B4-BE49-F238E27FC236}">
                <a16:creationId xmlns:a16="http://schemas.microsoft.com/office/drawing/2014/main" id="{5B45065B-E522-09CC-7265-EE0627EB6F24}"/>
              </a:ext>
            </a:extLst>
          </p:cNvPr>
          <p:cNvSpPr/>
          <p:nvPr/>
        </p:nvSpPr>
        <p:spPr>
          <a:xfrm>
            <a:off x="7937500" y="1809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3" name="IconTile_24">
            <a:extLst>
              <a:ext uri="{FF2B5EF4-FFF2-40B4-BE49-F238E27FC236}">
                <a16:creationId xmlns:a16="http://schemas.microsoft.com/office/drawing/2014/main" id="{F9A62E51-7E1F-6F35-16BA-B4D01E29FEF6}"/>
              </a:ext>
            </a:extLst>
          </p:cNvPr>
          <p:cNvSpPr/>
          <p:nvPr/>
        </p:nvSpPr>
        <p:spPr>
          <a:xfrm>
            <a:off x="7937500" y="333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4" name="IconTile_25">
            <a:extLst>
              <a:ext uri="{FF2B5EF4-FFF2-40B4-BE49-F238E27FC236}">
                <a16:creationId xmlns:a16="http://schemas.microsoft.com/office/drawing/2014/main" id="{1DD7A564-FE7C-371C-649E-B62E86D646AE}"/>
              </a:ext>
            </a:extLst>
          </p:cNvPr>
          <p:cNvSpPr/>
          <p:nvPr/>
        </p:nvSpPr>
        <p:spPr>
          <a:xfrm>
            <a:off x="7937500" y="4756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5" name="IconTile_26">
            <a:extLst>
              <a:ext uri="{FF2B5EF4-FFF2-40B4-BE49-F238E27FC236}">
                <a16:creationId xmlns:a16="http://schemas.microsoft.com/office/drawing/2014/main" id="{59786A2F-35A0-B418-072E-127012DBAB27}"/>
              </a:ext>
            </a:extLst>
          </p:cNvPr>
          <p:cNvSpPr/>
          <p:nvPr/>
        </p:nvSpPr>
        <p:spPr>
          <a:xfrm>
            <a:off x="9944100" y="1962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6" name="IconTile_27">
            <a:extLst>
              <a:ext uri="{FF2B5EF4-FFF2-40B4-BE49-F238E27FC236}">
                <a16:creationId xmlns:a16="http://schemas.microsoft.com/office/drawing/2014/main" id="{0F20179F-8A99-F0A2-3244-C778AC4B1778}"/>
              </a:ext>
            </a:extLst>
          </p:cNvPr>
          <p:cNvSpPr/>
          <p:nvPr/>
        </p:nvSpPr>
        <p:spPr>
          <a:xfrm>
            <a:off x="9944100" y="38163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72" name="Pic">
            <a:extLst>
              <a:ext uri="{FF2B5EF4-FFF2-40B4-BE49-F238E27FC236}">
                <a16:creationId xmlns:a16="http://schemas.microsoft.com/office/drawing/2014/main" id="{C39A0139-620E-1267-537F-B56ADAD4C185}"/>
              </a:ext>
            </a:extLst>
          </p:cNvPr>
          <p:cNvPicPr>
            <a:picLocks/>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 uri="{6F801314-5768-4EAC-8CED-0F2297F94238}"/>
            </a:extLst>
          </a:blip>
          <a:stretch>
            <a:fillRect/>
          </a:stretch>
        </p:blipFill>
        <p:spPr bwMode="auto">
          <a:xfrm>
            <a:off x="7975600" y="1854200"/>
            <a:ext cx="152400" cy="152400"/>
          </a:xfrm>
          <a:prstGeom prst="rect">
            <a:avLst/>
          </a:prstGeom>
          <a:noFill/>
          <a:effectLst/>
        </p:spPr>
      </p:pic>
      <p:pic>
        <p:nvPicPr>
          <p:cNvPr id="71" name="Pic">
            <a:extLst>
              <a:ext uri="{FF2B5EF4-FFF2-40B4-BE49-F238E27FC236}">
                <a16:creationId xmlns:a16="http://schemas.microsoft.com/office/drawing/2014/main" id="{37DF2BDB-76EC-397D-DAE5-9740A6760493}"/>
              </a:ext>
            </a:extLst>
          </p:cNvPr>
          <p:cNvPicPr>
            <a:picLocks/>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7"/>
              </a:ext>
              <a:ext uri="{6F801314-5768-4EAC-8CED-0F2297F94238}"/>
            </a:extLst>
          </a:blip>
          <a:stretch>
            <a:fillRect/>
          </a:stretch>
        </p:blipFill>
        <p:spPr bwMode="auto">
          <a:xfrm>
            <a:off x="9982200" y="3860800"/>
            <a:ext cx="152400" cy="152400"/>
          </a:xfrm>
          <a:prstGeom prst="rect">
            <a:avLst/>
          </a:prstGeom>
          <a:noFill/>
          <a:effectLst/>
        </p:spPr>
      </p:pic>
      <p:pic>
        <p:nvPicPr>
          <p:cNvPr id="79" name="Pic">
            <a:extLst>
              <a:ext uri="{FF2B5EF4-FFF2-40B4-BE49-F238E27FC236}">
                <a16:creationId xmlns:a16="http://schemas.microsoft.com/office/drawing/2014/main" id="{3524AD12-E31C-1279-5B32-379D4B8CB526}"/>
              </a:ext>
            </a:extLst>
          </p:cNvPr>
          <p:cNvPicPr>
            <a:picLocks/>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 uri="{6F801314-5768-4EAC-8CED-0F2297F94238}"/>
            </a:extLst>
          </a:blip>
          <a:stretch>
            <a:fillRect/>
          </a:stretch>
        </p:blipFill>
        <p:spPr bwMode="auto">
          <a:xfrm>
            <a:off x="4165600" y="4648200"/>
            <a:ext cx="152400" cy="152400"/>
          </a:xfrm>
          <a:prstGeom prst="rect">
            <a:avLst/>
          </a:prstGeom>
          <a:noFill/>
          <a:effectLst/>
        </p:spPr>
      </p:pic>
      <p:pic>
        <p:nvPicPr>
          <p:cNvPr id="80" name="Pic">
            <a:extLst>
              <a:ext uri="{FF2B5EF4-FFF2-40B4-BE49-F238E27FC236}">
                <a16:creationId xmlns:a16="http://schemas.microsoft.com/office/drawing/2014/main" id="{26287F84-C77C-D9A7-22CD-8D5FCDD796A1}"/>
              </a:ext>
            </a:extLst>
          </p:cNvPr>
          <p:cNvPicPr>
            <a:picLocks/>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9"/>
              </a:ext>
              <a:ext uri="{6F801314-5768-4EAC-8CED-0F2297F94238}"/>
            </a:extLst>
          </a:blip>
          <a:stretch>
            <a:fillRect/>
          </a:stretch>
        </p:blipFill>
        <p:spPr bwMode="auto">
          <a:xfrm>
            <a:off x="7975600" y="4800600"/>
            <a:ext cx="152400" cy="152400"/>
          </a:xfrm>
          <a:prstGeom prst="rect">
            <a:avLst/>
          </a:prstGeom>
          <a:noFill/>
          <a:effectLst/>
        </p:spPr>
      </p:pic>
      <p:pic>
        <p:nvPicPr>
          <p:cNvPr id="81" name="Pic">
            <a:extLst>
              <a:ext uri="{FF2B5EF4-FFF2-40B4-BE49-F238E27FC236}">
                <a16:creationId xmlns:a16="http://schemas.microsoft.com/office/drawing/2014/main" id="{F03E908B-1EB8-8ACF-7290-9B1C6B2C3B48}"/>
              </a:ext>
            </a:extLst>
          </p:cNvPr>
          <p:cNvPicPr>
            <a:picLocks/>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 uri="{6F801314-5768-4EAC-8CED-0F2297F94238}"/>
            </a:extLst>
          </a:blip>
          <a:stretch>
            <a:fillRect/>
          </a:stretch>
        </p:blipFill>
        <p:spPr bwMode="auto">
          <a:xfrm>
            <a:off x="6502400" y="6210300"/>
            <a:ext cx="152400" cy="152400"/>
          </a:xfrm>
          <a:prstGeom prst="rect">
            <a:avLst/>
          </a:prstGeom>
          <a:noFill/>
          <a:effectLst/>
        </p:spPr>
      </p:pic>
      <p:pic>
        <p:nvPicPr>
          <p:cNvPr id="86" name="Pic">
            <a:extLst>
              <a:ext uri="{FF2B5EF4-FFF2-40B4-BE49-F238E27FC236}">
                <a16:creationId xmlns:a16="http://schemas.microsoft.com/office/drawing/2014/main" id="{4E4CDEDD-70B1-BBCC-8388-51793DA3F92F}"/>
              </a:ext>
            </a:extLst>
          </p:cNvPr>
          <p:cNvPicPr>
            <a:picLocks/>
          </p:cNvPicPr>
          <p:nvPr>
            <p:custDataLst>
              <p:tags r:id="rId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1"/>
              </a:ext>
              <a:ext uri="{6F801314-5768-4EAC-8CED-0F2297F94238}"/>
            </a:extLst>
          </a:blip>
          <a:stretch>
            <a:fillRect/>
          </a:stretch>
        </p:blipFill>
        <p:spPr bwMode="auto">
          <a:xfrm>
            <a:off x="2438400" y="4038600"/>
            <a:ext cx="152400" cy="152400"/>
          </a:xfrm>
          <a:prstGeom prst="rect">
            <a:avLst/>
          </a:prstGeom>
          <a:noFill/>
          <a:effectLst/>
        </p:spPr>
      </p:pic>
      <p:pic>
        <p:nvPicPr>
          <p:cNvPr id="87" name="Pic">
            <a:extLst>
              <a:ext uri="{FF2B5EF4-FFF2-40B4-BE49-F238E27FC236}">
                <a16:creationId xmlns:a16="http://schemas.microsoft.com/office/drawing/2014/main" id="{5BE48025-3C17-FBBE-E43D-6A835C37751E}"/>
              </a:ext>
            </a:extLst>
          </p:cNvPr>
          <p:cNvPicPr>
            <a:picLocks/>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 uri="{6F801314-5768-4EAC-8CED-0F2297F94238}"/>
            </a:extLst>
          </a:blip>
          <a:stretch>
            <a:fillRect/>
          </a:stretch>
        </p:blipFill>
        <p:spPr bwMode="auto">
          <a:xfrm>
            <a:off x="9982200" y="2006600"/>
            <a:ext cx="152400" cy="152400"/>
          </a:xfrm>
          <a:prstGeom prst="rect">
            <a:avLst/>
          </a:prstGeom>
          <a:noFill/>
          <a:effectLst/>
        </p:spPr>
      </p:pic>
      <p:cxnSp>
        <p:nvCxnSpPr>
          <p:cNvPr id="41" name="Connector: Elbow 40">
            <a:extLst>
              <a:ext uri="{FF2B5EF4-FFF2-40B4-BE49-F238E27FC236}">
                <a16:creationId xmlns:a16="http://schemas.microsoft.com/office/drawing/2014/main" id="{DB156361-8081-FF64-6FC3-726DEB927B4F}"/>
              </a:ext>
            </a:extLst>
          </p:cNvPr>
          <p:cNvCxnSpPr>
            <a:cxnSpLocks/>
            <a:stCxn id="12" idx="3"/>
            <a:endCxn id="17" idx="1"/>
          </p:cNvCxnSpPr>
          <p:nvPr/>
        </p:nvCxnSpPr>
        <p:spPr>
          <a:xfrm>
            <a:off x="1930400" y="2156619"/>
            <a:ext cx="406400" cy="56118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55CB8A0B-769C-1200-F277-4FA61D8E7E61}"/>
              </a:ext>
            </a:extLst>
          </p:cNvPr>
          <p:cNvCxnSpPr>
            <a:cxnSpLocks/>
            <a:stCxn id="12" idx="3"/>
            <a:endCxn id="17" idx="1"/>
          </p:cNvCxnSpPr>
          <p:nvPr/>
        </p:nvCxnSpPr>
        <p:spPr>
          <a:xfrm>
            <a:off x="1930400" y="2156619"/>
            <a:ext cx="406400" cy="561181"/>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Elbow 73">
            <a:extLst>
              <a:ext uri="{FF2B5EF4-FFF2-40B4-BE49-F238E27FC236}">
                <a16:creationId xmlns:a16="http://schemas.microsoft.com/office/drawing/2014/main" id="{ADEFBCF3-12F2-0DD8-BE76-90DD3C070E7B}"/>
              </a:ext>
            </a:extLst>
          </p:cNvPr>
          <p:cNvCxnSpPr>
            <a:cxnSpLocks/>
            <a:stCxn id="13" idx="3"/>
            <a:endCxn id="17" idx="1"/>
          </p:cNvCxnSpPr>
          <p:nvPr/>
        </p:nvCxnSpPr>
        <p:spPr>
          <a:xfrm flipV="1">
            <a:off x="1930400" y="2717800"/>
            <a:ext cx="406400" cy="272257"/>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Elbow 74">
            <a:extLst>
              <a:ext uri="{FF2B5EF4-FFF2-40B4-BE49-F238E27FC236}">
                <a16:creationId xmlns:a16="http://schemas.microsoft.com/office/drawing/2014/main" id="{B0884655-1DF7-0486-A0E5-C80A6C47492C}"/>
              </a:ext>
            </a:extLst>
          </p:cNvPr>
          <p:cNvCxnSpPr>
            <a:cxnSpLocks/>
            <a:stCxn id="14" idx="3"/>
            <a:endCxn id="17" idx="1"/>
          </p:cNvCxnSpPr>
          <p:nvPr/>
        </p:nvCxnSpPr>
        <p:spPr>
          <a:xfrm flipV="1">
            <a:off x="1930400" y="2717800"/>
            <a:ext cx="406400" cy="11049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Elbow 75">
            <a:extLst>
              <a:ext uri="{FF2B5EF4-FFF2-40B4-BE49-F238E27FC236}">
                <a16:creationId xmlns:a16="http://schemas.microsoft.com/office/drawing/2014/main" id="{7AE5EA80-5B28-76D1-BD08-88FA0C3BC845}"/>
              </a:ext>
            </a:extLst>
          </p:cNvPr>
          <p:cNvCxnSpPr>
            <a:cxnSpLocks/>
            <a:stCxn id="15" idx="3"/>
            <a:endCxn id="17" idx="1"/>
          </p:cNvCxnSpPr>
          <p:nvPr/>
        </p:nvCxnSpPr>
        <p:spPr>
          <a:xfrm flipV="1">
            <a:off x="1930400" y="2717800"/>
            <a:ext cx="406400" cy="1937544"/>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Elbow 76">
            <a:extLst>
              <a:ext uri="{FF2B5EF4-FFF2-40B4-BE49-F238E27FC236}">
                <a16:creationId xmlns:a16="http://schemas.microsoft.com/office/drawing/2014/main" id="{F41D82A2-E615-BDFF-B943-3BCC4855FFAB}"/>
              </a:ext>
            </a:extLst>
          </p:cNvPr>
          <p:cNvCxnSpPr>
            <a:cxnSpLocks/>
            <a:stCxn id="16" idx="3"/>
            <a:endCxn id="17" idx="1"/>
          </p:cNvCxnSpPr>
          <p:nvPr/>
        </p:nvCxnSpPr>
        <p:spPr>
          <a:xfrm flipV="1">
            <a:off x="1930400" y="2717800"/>
            <a:ext cx="406400" cy="2770982"/>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6D33058A-56CB-D334-C421-C6F424D8A4D6}"/>
              </a:ext>
            </a:extLst>
          </p:cNvPr>
          <p:cNvCxnSpPr>
            <a:cxnSpLocks/>
            <a:stCxn id="17" idx="2"/>
            <a:endCxn id="18" idx="0"/>
          </p:cNvCxnSpPr>
          <p:nvPr/>
        </p:nvCxnSpPr>
        <p:spPr>
          <a:xfrm>
            <a:off x="3048000" y="3683000"/>
            <a:ext cx="0" cy="228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Elbow 81">
            <a:extLst>
              <a:ext uri="{FF2B5EF4-FFF2-40B4-BE49-F238E27FC236}">
                <a16:creationId xmlns:a16="http://schemas.microsoft.com/office/drawing/2014/main" id="{E2ADF2D8-4BAA-8124-85B2-4A825FC6C7D1}"/>
              </a:ext>
            </a:extLst>
          </p:cNvPr>
          <p:cNvCxnSpPr>
            <a:cxnSpLocks/>
            <a:stCxn id="18" idx="3"/>
            <a:endCxn id="19" idx="1"/>
          </p:cNvCxnSpPr>
          <p:nvPr/>
        </p:nvCxnSpPr>
        <p:spPr>
          <a:xfrm flipV="1">
            <a:off x="3759200" y="3022600"/>
            <a:ext cx="304800" cy="18542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Elbow 82">
            <a:extLst>
              <a:ext uri="{FF2B5EF4-FFF2-40B4-BE49-F238E27FC236}">
                <a16:creationId xmlns:a16="http://schemas.microsoft.com/office/drawing/2014/main" id="{A3E27DC0-EC28-51A2-8F21-D5BEE9E95B71}"/>
              </a:ext>
            </a:extLst>
          </p:cNvPr>
          <p:cNvCxnSpPr>
            <a:cxnSpLocks/>
            <a:stCxn id="21" idx="3"/>
            <a:endCxn id="23" idx="1"/>
          </p:cNvCxnSpPr>
          <p:nvPr/>
        </p:nvCxnSpPr>
        <p:spPr>
          <a:xfrm flipV="1">
            <a:off x="7569200" y="2463800"/>
            <a:ext cx="304800" cy="5588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6683E96A-F261-F59B-5A04-7F6109A4B55B}"/>
              </a:ext>
            </a:extLst>
          </p:cNvPr>
          <p:cNvCxnSpPr>
            <a:cxnSpLocks/>
            <a:stCxn id="23" idx="2"/>
            <a:endCxn id="24" idx="0"/>
          </p:cNvCxnSpPr>
          <p:nvPr/>
        </p:nvCxnSpPr>
        <p:spPr>
          <a:xfrm>
            <a:off x="8724900" y="3175000"/>
            <a:ext cx="0" cy="101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Elbow 89">
            <a:extLst>
              <a:ext uri="{FF2B5EF4-FFF2-40B4-BE49-F238E27FC236}">
                <a16:creationId xmlns:a16="http://schemas.microsoft.com/office/drawing/2014/main" id="{1D4F8251-2968-061D-D6A6-DBB5679D19F6}"/>
              </a:ext>
            </a:extLst>
          </p:cNvPr>
          <p:cNvCxnSpPr>
            <a:cxnSpLocks/>
            <a:stCxn id="25" idx="3"/>
            <a:endCxn id="26" idx="1"/>
          </p:cNvCxnSpPr>
          <p:nvPr/>
        </p:nvCxnSpPr>
        <p:spPr>
          <a:xfrm flipV="1">
            <a:off x="9575800" y="2743200"/>
            <a:ext cx="304800" cy="25273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Elbow 90">
            <a:extLst>
              <a:ext uri="{FF2B5EF4-FFF2-40B4-BE49-F238E27FC236}">
                <a16:creationId xmlns:a16="http://schemas.microsoft.com/office/drawing/2014/main" id="{86F0BB7C-0C01-D4D8-CB7D-54BBF0E2DD7D}"/>
              </a:ext>
            </a:extLst>
          </p:cNvPr>
          <p:cNvCxnSpPr>
            <a:cxnSpLocks/>
            <a:stCxn id="25" idx="3"/>
            <a:endCxn id="27" idx="1"/>
          </p:cNvCxnSpPr>
          <p:nvPr/>
        </p:nvCxnSpPr>
        <p:spPr>
          <a:xfrm flipV="1">
            <a:off x="9575800" y="4787900"/>
            <a:ext cx="304800" cy="4826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Freeform: Shape 91">
            <a:extLst>
              <a:ext uri="{FF2B5EF4-FFF2-40B4-BE49-F238E27FC236}">
                <a16:creationId xmlns:a16="http://schemas.microsoft.com/office/drawing/2014/main" id="{7EC9AA4F-5645-BCBE-E65D-456D06637762}"/>
              </a:ext>
            </a:extLst>
          </p:cNvPr>
          <p:cNvSpPr/>
          <p:nvPr/>
        </p:nvSpPr>
        <p:spPr>
          <a:xfrm>
            <a:off x="7366000" y="4292600"/>
            <a:ext cx="508001" cy="114301"/>
          </a:xfrm>
          <a:custGeom>
            <a:avLst/>
            <a:gdLst/>
            <a:ahLst/>
            <a:cxnLst/>
            <a:rect l="0" t="0" r="0" b="0"/>
            <a:pathLst>
              <a:path w="508001" h="114301">
                <a:moveTo>
                  <a:pt x="0" y="0"/>
                </a:moveTo>
                <a:lnTo>
                  <a:pt x="0" y="114300"/>
                </a:lnTo>
                <a:lnTo>
                  <a:pt x="508000" y="114300"/>
                </a:ln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pic>
        <p:nvPicPr>
          <p:cNvPr id="94" name="Pic">
            <a:extLst>
              <a:ext uri="{FF2B5EF4-FFF2-40B4-BE49-F238E27FC236}">
                <a16:creationId xmlns:a16="http://schemas.microsoft.com/office/drawing/2014/main" id="{54E2C1FF-759D-865F-EDAF-A9A0A30DF4C9}"/>
              </a:ext>
            </a:extLst>
          </p:cNvPr>
          <p:cNvPicPr>
            <a:picLocks/>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3"/>
              </a:ext>
              <a:ext uri="{6F801314-5768-4EAC-8CED-0F2297F94238}"/>
            </a:extLst>
          </a:blip>
          <a:stretch>
            <a:fillRect/>
          </a:stretch>
        </p:blipFill>
        <p:spPr bwMode="auto">
          <a:xfrm>
            <a:off x="279400" y="1828800"/>
            <a:ext cx="152400" cy="152400"/>
          </a:xfrm>
          <a:prstGeom prst="rect">
            <a:avLst/>
          </a:prstGeom>
          <a:noFill/>
          <a:effectLst/>
        </p:spPr>
      </p:pic>
      <p:pic>
        <p:nvPicPr>
          <p:cNvPr id="95" name="Pic">
            <a:extLst>
              <a:ext uri="{FF2B5EF4-FFF2-40B4-BE49-F238E27FC236}">
                <a16:creationId xmlns:a16="http://schemas.microsoft.com/office/drawing/2014/main" id="{FB0C5953-FBE9-7F6B-8BBF-E3C3353976CF}"/>
              </a:ext>
            </a:extLst>
          </p:cNvPr>
          <p:cNvPicPr>
            <a:picLocks/>
          </p:cNvPicPr>
          <p:nvPr>
            <p:custDataLst>
              <p:tags r:id="rId1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4"/>
              </a:ext>
              <a:ext uri="{6F801314-5768-4EAC-8CED-0F2297F94238}"/>
            </a:extLst>
          </a:blip>
          <a:stretch>
            <a:fillRect/>
          </a:stretch>
        </p:blipFill>
        <p:spPr bwMode="auto">
          <a:xfrm>
            <a:off x="279400" y="2667000"/>
            <a:ext cx="152400" cy="152400"/>
          </a:xfrm>
          <a:prstGeom prst="rect">
            <a:avLst/>
          </a:prstGeom>
          <a:noFill/>
          <a:effectLst/>
        </p:spPr>
      </p:pic>
      <p:pic>
        <p:nvPicPr>
          <p:cNvPr id="97" name="Pic">
            <a:extLst>
              <a:ext uri="{FF2B5EF4-FFF2-40B4-BE49-F238E27FC236}">
                <a16:creationId xmlns:a16="http://schemas.microsoft.com/office/drawing/2014/main" id="{F50D2D73-5F70-13C8-B0E1-EA6D76712953}"/>
              </a:ext>
            </a:extLst>
          </p:cNvPr>
          <p:cNvPicPr>
            <a:picLocks/>
          </p:cNvPicPr>
          <p:nvPr>
            <p:custDataLst>
              <p:tags r:id="rId1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5"/>
              </a:ext>
              <a:ext uri="{6F801314-5768-4EAC-8CED-0F2297F94238}"/>
            </a:extLst>
          </a:blip>
          <a:stretch>
            <a:fillRect/>
          </a:stretch>
        </p:blipFill>
        <p:spPr bwMode="auto">
          <a:xfrm>
            <a:off x="279400" y="3505200"/>
            <a:ext cx="152400" cy="152400"/>
          </a:xfrm>
          <a:prstGeom prst="rect">
            <a:avLst/>
          </a:prstGeom>
          <a:noFill/>
          <a:effectLst/>
        </p:spPr>
      </p:pic>
      <p:pic>
        <p:nvPicPr>
          <p:cNvPr id="98" name="Pic">
            <a:extLst>
              <a:ext uri="{FF2B5EF4-FFF2-40B4-BE49-F238E27FC236}">
                <a16:creationId xmlns:a16="http://schemas.microsoft.com/office/drawing/2014/main" id="{3D820A64-21D7-D321-9FEA-A615AB8B2FA7}"/>
              </a:ext>
            </a:extLst>
          </p:cNvPr>
          <p:cNvPicPr>
            <a:picLocks/>
          </p:cNvPicPr>
          <p:nvPr>
            <p:custDataLst>
              <p:tags r:id="rId1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6"/>
              </a:ext>
              <a:ext uri="{6F801314-5768-4EAC-8CED-0F2297F94238}"/>
            </a:extLst>
          </a:blip>
          <a:stretch>
            <a:fillRect/>
          </a:stretch>
        </p:blipFill>
        <p:spPr bwMode="auto">
          <a:xfrm>
            <a:off x="279400" y="5168900"/>
            <a:ext cx="152400" cy="152400"/>
          </a:xfrm>
          <a:prstGeom prst="rect">
            <a:avLst/>
          </a:prstGeom>
          <a:noFill/>
          <a:effectLst/>
        </p:spPr>
      </p:pic>
      <p:pic>
        <p:nvPicPr>
          <p:cNvPr id="96" name="Pic">
            <a:extLst>
              <a:ext uri="{FF2B5EF4-FFF2-40B4-BE49-F238E27FC236}">
                <a16:creationId xmlns:a16="http://schemas.microsoft.com/office/drawing/2014/main" id="{010F4496-E7EE-990A-CBFC-42B81573A481}"/>
              </a:ext>
            </a:extLst>
          </p:cNvPr>
          <p:cNvPicPr>
            <a:picLocks/>
          </p:cNvPicPr>
          <p:nvPr>
            <p:custDataLst>
              <p:tags r:id="rId1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7"/>
              </a:ext>
              <a:ext uri="{6F801314-5768-4EAC-8CED-0F2297F94238}"/>
            </a:extLst>
          </a:blip>
          <a:stretch>
            <a:fillRect/>
          </a:stretch>
        </p:blipFill>
        <p:spPr bwMode="auto">
          <a:xfrm>
            <a:off x="2438400" y="1879600"/>
            <a:ext cx="152400" cy="152400"/>
          </a:xfrm>
          <a:prstGeom prst="rect">
            <a:avLst/>
          </a:prstGeom>
          <a:noFill/>
          <a:effectLst/>
        </p:spPr>
      </p:pic>
      <p:pic>
        <p:nvPicPr>
          <p:cNvPr id="99" name="Pic">
            <a:extLst>
              <a:ext uri="{FF2B5EF4-FFF2-40B4-BE49-F238E27FC236}">
                <a16:creationId xmlns:a16="http://schemas.microsoft.com/office/drawing/2014/main" id="{E0CF80E6-E265-7E02-CA8B-7DADEDD384EB}"/>
              </a:ext>
            </a:extLst>
          </p:cNvPr>
          <p:cNvPicPr>
            <a:picLocks/>
          </p:cNvPicPr>
          <p:nvPr>
            <p:custDataLst>
              <p:tags r:id="rId1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8"/>
              </a:ext>
              <a:ext uri="{6F801314-5768-4EAC-8CED-0F2297F94238}"/>
            </a:extLst>
          </a:blip>
          <a:stretch>
            <a:fillRect/>
          </a:stretch>
        </p:blipFill>
        <p:spPr bwMode="auto">
          <a:xfrm>
            <a:off x="7975600" y="3378200"/>
            <a:ext cx="152400" cy="152400"/>
          </a:xfrm>
          <a:prstGeom prst="rect">
            <a:avLst/>
          </a:prstGeom>
          <a:noFill/>
          <a:effectLst/>
        </p:spPr>
      </p:pic>
      <p:pic>
        <p:nvPicPr>
          <p:cNvPr id="101" name="Pic">
            <a:extLst>
              <a:ext uri="{FF2B5EF4-FFF2-40B4-BE49-F238E27FC236}">
                <a16:creationId xmlns:a16="http://schemas.microsoft.com/office/drawing/2014/main" id="{952AEBD9-198B-594F-A9B6-13BE13BABECB}"/>
              </a:ext>
            </a:extLst>
          </p:cNvPr>
          <p:cNvPicPr>
            <a:picLocks/>
          </p:cNvPicPr>
          <p:nvPr>
            <p:custDataLst>
              <p:tags r:id="rId1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9"/>
              </a:ext>
              <a:ext uri="{6F801314-5768-4EAC-8CED-0F2297F94238}"/>
            </a:extLst>
          </a:blip>
          <a:stretch>
            <a:fillRect/>
          </a:stretch>
        </p:blipFill>
        <p:spPr bwMode="auto">
          <a:xfrm>
            <a:off x="279400" y="4330700"/>
            <a:ext cx="152400" cy="152400"/>
          </a:xfrm>
          <a:prstGeom prst="rect">
            <a:avLst/>
          </a:prstGeom>
          <a:noFill/>
          <a:effectLst/>
        </p:spPr>
      </p:pic>
      <p:cxnSp>
        <p:nvCxnSpPr>
          <p:cNvPr id="105" name="Straight Arrow Connector 104">
            <a:extLst>
              <a:ext uri="{FF2B5EF4-FFF2-40B4-BE49-F238E27FC236}">
                <a16:creationId xmlns:a16="http://schemas.microsoft.com/office/drawing/2014/main" id="{B7975C9E-37F9-A9A1-C3C5-7458E27B6EAD}"/>
              </a:ext>
            </a:extLst>
          </p:cNvPr>
          <p:cNvCxnSpPr>
            <a:cxnSpLocks/>
            <a:stCxn id="24" idx="2"/>
            <a:endCxn id="25" idx="0"/>
          </p:cNvCxnSpPr>
          <p:nvPr/>
        </p:nvCxnSpPr>
        <p:spPr>
          <a:xfrm>
            <a:off x="8724900" y="4597400"/>
            <a:ext cx="0" cy="101600"/>
          </a:xfrm>
          <a:prstGeom prst="straightConnector1">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9612EE6E-08C6-5E26-F454-6045AF88CD1E}"/>
              </a:ext>
            </a:extLst>
          </p:cNvPr>
          <p:cNvSpPr/>
          <p:nvPr/>
        </p:nvSpPr>
        <p:spPr>
          <a:xfrm>
            <a:off x="3924300" y="4457700"/>
            <a:ext cx="3746500" cy="1517651"/>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4" name="Rectangle 33">
            <a:extLst>
              <a:ext uri="{FF2B5EF4-FFF2-40B4-BE49-F238E27FC236}">
                <a16:creationId xmlns:a16="http://schemas.microsoft.com/office/drawing/2014/main" id="{EC25C6DD-BCFA-F4FD-7863-C130B427F52E}"/>
              </a:ext>
            </a:extLst>
          </p:cNvPr>
          <p:cNvSpPr/>
          <p:nvPr/>
        </p:nvSpPr>
        <p:spPr>
          <a:xfrm>
            <a:off x="3937001" y="1363756"/>
            <a:ext cx="3822700" cy="313690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6" name="Rectangle 35">
            <a:extLst>
              <a:ext uri="{FF2B5EF4-FFF2-40B4-BE49-F238E27FC236}">
                <a16:creationId xmlns:a16="http://schemas.microsoft.com/office/drawing/2014/main" id="{0A0713AC-0B2F-EDB1-DECD-62257556CDAE}"/>
              </a:ext>
            </a:extLst>
          </p:cNvPr>
          <p:cNvSpPr/>
          <p:nvPr/>
        </p:nvSpPr>
        <p:spPr>
          <a:xfrm>
            <a:off x="63500" y="1272989"/>
            <a:ext cx="3873500" cy="47023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5" name="Rectangle 34">
            <a:extLst>
              <a:ext uri="{FF2B5EF4-FFF2-40B4-BE49-F238E27FC236}">
                <a16:creationId xmlns:a16="http://schemas.microsoft.com/office/drawing/2014/main" id="{101C6B5E-19FF-FD1C-AC4D-518CAA1B315F}"/>
              </a:ext>
            </a:extLst>
          </p:cNvPr>
          <p:cNvSpPr/>
          <p:nvPr/>
        </p:nvSpPr>
        <p:spPr>
          <a:xfrm>
            <a:off x="9690099" y="1346201"/>
            <a:ext cx="2171701" cy="465455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7" name="Rectangle: Rounded Corners 36">
            <a:extLst>
              <a:ext uri="{FF2B5EF4-FFF2-40B4-BE49-F238E27FC236}">
                <a16:creationId xmlns:a16="http://schemas.microsoft.com/office/drawing/2014/main" id="{E801E8CC-35C5-0ACA-6066-4DADF028018A}"/>
              </a:ext>
            </a:extLst>
          </p:cNvPr>
          <p:cNvSpPr/>
          <p:nvPr/>
        </p:nvSpPr>
        <p:spPr>
          <a:xfrm>
            <a:off x="406400" y="1371600"/>
            <a:ext cx="7264400" cy="4572000"/>
          </a:xfrm>
          <a:prstGeom prst="roundRect">
            <a:avLst>
              <a:gd name="adj" fmla="val 3000"/>
            </a:avLst>
          </a:prstGeom>
          <a:solidFill>
            <a:schemeClr val="tx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8" name="Rectangle: Rounded Corners 37">
            <a:extLst>
              <a:ext uri="{FF2B5EF4-FFF2-40B4-BE49-F238E27FC236}">
                <a16:creationId xmlns:a16="http://schemas.microsoft.com/office/drawing/2014/main" id="{3FDA5809-3626-9AB1-2939-4C92617E2270}"/>
              </a:ext>
            </a:extLst>
          </p:cNvPr>
          <p:cNvSpPr/>
          <p:nvPr/>
        </p:nvSpPr>
        <p:spPr>
          <a:xfrm>
            <a:off x="533400" y="1905000"/>
            <a:ext cx="7010400" cy="2184400"/>
          </a:xfrm>
          <a:prstGeom prst="roundRect">
            <a:avLst>
              <a:gd name="adj" fmla="val 3500"/>
            </a:avLst>
          </a:prstGeom>
          <a:noFill/>
          <a:ln w="9525" cap="flat" cmpd="sng" algn="ctr">
            <a:noFill/>
            <a:prstDash val="solid"/>
            <a:miter lim="800000"/>
          </a:ln>
          <a:effectLst/>
          <a:extLst>
            <a:ext uri="{909E8E84-426E-40DD-AFC4-6F175D3DCCD1}">
              <a14:hiddenFill xmlns:a14="http://schemas.microsoft.com/office/drawing/2010/main">
                <a:solidFill>
                  <a:schemeClr val="tx2">
                    <a:lumMod val="88000"/>
                    <a:lumOff val="12000"/>
                  </a:schemeClr>
                </a:solidFill>
              </a14:hiddenFill>
            </a:ext>
            <a:ext uri="{91240B29-F687-4F45-9708-019B960494DF}">
              <a14:hiddenLine xmlns:a14="http://schemas.microsoft.com/office/drawing/2010/main" w="9525" cap="flat" cmpd="sng" algn="ctr">
                <a:solidFill>
                  <a:schemeClr val="bg2">
                    <a:lumMod val="9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88900" bIns="63500" rtlCol="0" anchor="t">
            <a:noAutofit/>
          </a:bodyPr>
          <a:lstStyle/>
          <a:p>
            <a:r>
              <a:rPr lang="en-MY" sz="1200" b="1">
                <a:solidFill>
                  <a:schemeClr val="bg1"/>
                </a:solidFill>
              </a:rPr>
              <a:t>Score · Publish · Visualize</a:t>
            </a:r>
          </a:p>
        </p:txBody>
      </p:sp>
      <p:sp>
        <p:nvSpPr>
          <p:cNvPr id="39" name="TextBox 38">
            <a:extLst>
              <a:ext uri="{FF2B5EF4-FFF2-40B4-BE49-F238E27FC236}">
                <a16:creationId xmlns:a16="http://schemas.microsoft.com/office/drawing/2014/main" id="{C4CB13B1-4BCC-A8AF-1552-1A251188B143}"/>
              </a:ext>
            </a:extLst>
          </p:cNvPr>
          <p:cNvSpPr txBox="1"/>
          <p:nvPr/>
        </p:nvSpPr>
        <p:spPr>
          <a:xfrm>
            <a:off x="533400" y="1447800"/>
            <a:ext cx="7010400" cy="381000"/>
          </a:xfrm>
          <a:prstGeom prst="rect">
            <a:avLst/>
          </a:prstGeom>
          <a:noFill/>
        </p:spPr>
        <p:txBody>
          <a:bodyPr vert="horz" rtlCol="0">
            <a:noAutofit/>
          </a:bodyPr>
          <a:lstStyle/>
          <a:p>
            <a:r>
              <a:rPr lang="en-US" b="1">
                <a:solidFill>
                  <a:schemeClr val="bg1"/>
                </a:solidFill>
              </a:rPr>
              <a:t>A scoreboard compares FloodSense with PUB</a:t>
            </a:r>
            <a:endParaRPr lang="en-MY"/>
          </a:p>
        </p:txBody>
      </p:sp>
      <p:sp>
        <p:nvSpPr>
          <p:cNvPr id="40" name="Rectangle: Rounded Corners 39">
            <a:extLst>
              <a:ext uri="{FF2B5EF4-FFF2-40B4-BE49-F238E27FC236}">
                <a16:creationId xmlns:a16="http://schemas.microsoft.com/office/drawing/2014/main" id="{D3C5F95B-AC99-C20B-2BAD-304F31ECCDEF}"/>
              </a:ext>
            </a:extLst>
          </p:cNvPr>
          <p:cNvSpPr/>
          <p:nvPr/>
        </p:nvSpPr>
        <p:spPr>
          <a:xfrm>
            <a:off x="533400" y="4191000"/>
            <a:ext cx="7010400" cy="1651000"/>
          </a:xfrm>
          <a:prstGeom prst="roundRect">
            <a:avLst>
              <a:gd name="adj" fmla="val 3500"/>
            </a:avLst>
          </a:prstGeom>
          <a:noFill/>
          <a:ln w="9525" cap="flat" cmpd="sng" algn="ctr">
            <a:noFill/>
            <a:prstDash val="solid"/>
            <a:miter lim="800000"/>
          </a:ln>
          <a:effectLst/>
          <a:extLst>
            <a:ext uri="{909E8E84-426E-40DD-AFC4-6F175D3DCCD1}">
              <a14:hiddenFill xmlns:a14="http://schemas.microsoft.com/office/drawing/2010/main">
                <a:solidFill>
                  <a:schemeClr val="tx2">
                    <a:lumMod val="88000"/>
                    <a:lumOff val="12000"/>
                  </a:schemeClr>
                </a:solidFill>
              </a14:hiddenFill>
            </a:ext>
            <a:ext uri="{91240B29-F687-4F45-9708-019B960494DF}">
              <a14:hiddenLine xmlns:a14="http://schemas.microsoft.com/office/drawing/2010/main" w="9525" cap="flat" cmpd="sng" algn="ctr">
                <a:solidFill>
                  <a:schemeClr val="bg2">
                    <a:lumMod val="9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88900" bIns="63500" rtlCol="0" anchor="t">
            <a:noAutofit/>
          </a:bodyPr>
          <a:lstStyle/>
          <a:p>
            <a:r>
              <a:rPr lang="en-MY" sz="1200" b="1">
                <a:solidFill>
                  <a:schemeClr val="bg1"/>
                </a:solidFill>
              </a:rPr>
              <a:t>Why the numbers can be trusted</a:t>
            </a:r>
          </a:p>
        </p:txBody>
      </p:sp>
      <p:sp>
        <p:nvSpPr>
          <p:cNvPr id="44" name="Rectangle: Rounded Corners 43">
            <a:extLst>
              <a:ext uri="{FF2B5EF4-FFF2-40B4-BE49-F238E27FC236}">
                <a16:creationId xmlns:a16="http://schemas.microsoft.com/office/drawing/2014/main" id="{84F21D5A-0390-25C3-B47C-30F9EF9D4F64}"/>
              </a:ext>
            </a:extLst>
          </p:cNvPr>
          <p:cNvSpPr/>
          <p:nvPr/>
        </p:nvSpPr>
        <p:spPr>
          <a:xfrm>
            <a:off x="533400" y="2235200"/>
            <a:ext cx="2255838" cy="1854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flood-scoreboard</a:t>
            </a:r>
          </a:p>
          <a:p>
            <a:pPr marL="171450" indent="-171450">
              <a:spcBef>
                <a:spcPts val="600"/>
              </a:spcBef>
              <a:buFont typeface="Arial" panose="020B0604020202020204" pitchFamily="34" charset="0"/>
              <a:buChar char="•"/>
            </a:pPr>
            <a:r>
              <a:rPr lang="en-US" sz="1100">
                <a:solidFill>
                  <a:schemeClr val="bg1"/>
                </a:solidFill>
              </a:rPr>
              <a:t>Scores ~4M area-ticks since training ended</a:t>
            </a:r>
            <a:endParaRPr lang="en-MY"/>
          </a:p>
          <a:p>
            <a:pPr marL="171450" indent="-171450">
              <a:spcBef>
                <a:spcPts val="600"/>
              </a:spcBef>
              <a:buFont typeface="Arial" panose="020B0604020202020204" pitchFamily="34" charset="0"/>
              <a:buChar char="•"/>
            </a:pPr>
            <a:r>
              <a:rPr lang="en-US" sz="1100">
                <a:solidFill>
                  <a:schemeClr val="bg1"/>
                </a:solidFill>
              </a:rPr>
              <a:t>Model vs. simple rainfall rule</a:t>
            </a:r>
            <a:endParaRPr lang="en-MY"/>
          </a:p>
        </p:txBody>
      </p:sp>
      <p:sp>
        <p:nvSpPr>
          <p:cNvPr id="45" name="IconTile_17">
            <a:extLst>
              <a:ext uri="{FF2B5EF4-FFF2-40B4-BE49-F238E27FC236}">
                <a16:creationId xmlns:a16="http://schemas.microsoft.com/office/drawing/2014/main" id="{BFB73617-2CC0-1F7C-081C-EC69EF790681}"/>
              </a:ext>
            </a:extLst>
          </p:cNvPr>
          <p:cNvSpPr/>
          <p:nvPr/>
        </p:nvSpPr>
        <p:spPr>
          <a:xfrm>
            <a:off x="647700" y="2349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6" name="Rectangle: Rounded Corners 45">
            <a:extLst>
              <a:ext uri="{FF2B5EF4-FFF2-40B4-BE49-F238E27FC236}">
                <a16:creationId xmlns:a16="http://schemas.microsoft.com/office/drawing/2014/main" id="{9E87BC6F-DC5E-B895-9660-A611AC25EF1E}"/>
              </a:ext>
            </a:extLst>
          </p:cNvPr>
          <p:cNvSpPr/>
          <p:nvPr/>
        </p:nvSpPr>
        <p:spPr>
          <a:xfrm>
            <a:off x="2911475" y="2235200"/>
            <a:ext cx="2254250" cy="1854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4 tables + 3 views</a:t>
            </a:r>
          </a:p>
          <a:p>
            <a:pPr marL="171450" indent="-171450">
              <a:spcBef>
                <a:spcPts val="600"/>
              </a:spcBef>
              <a:buFont typeface="Arial" panose="020B0604020202020204" pitchFamily="34" charset="0"/>
              <a:buChar char="•"/>
            </a:pPr>
            <a:r>
              <a:rPr lang="en-US" sz="1100">
                <a:solidFill>
                  <a:schemeClr val="bg1"/>
                </a:solidFill>
              </a:rPr>
              <a:t>Published to the ML schema</a:t>
            </a:r>
            <a:endParaRPr lang="en-MY"/>
          </a:p>
        </p:txBody>
      </p:sp>
      <p:sp>
        <p:nvSpPr>
          <p:cNvPr id="47" name="IconTile_17">
            <a:extLst>
              <a:ext uri="{FF2B5EF4-FFF2-40B4-BE49-F238E27FC236}">
                <a16:creationId xmlns:a16="http://schemas.microsoft.com/office/drawing/2014/main" id="{8B884281-22DA-D230-1DFE-44B2F975C045}"/>
              </a:ext>
            </a:extLst>
          </p:cNvPr>
          <p:cNvSpPr/>
          <p:nvPr/>
        </p:nvSpPr>
        <p:spPr>
          <a:xfrm>
            <a:off x="3025775" y="2349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8" name="Rectangle: Rounded Corners 47">
            <a:extLst>
              <a:ext uri="{FF2B5EF4-FFF2-40B4-BE49-F238E27FC236}">
                <a16:creationId xmlns:a16="http://schemas.microsoft.com/office/drawing/2014/main" id="{BB509535-B58B-D560-949B-122934463279}"/>
              </a:ext>
            </a:extLst>
          </p:cNvPr>
          <p:cNvSpPr/>
          <p:nvPr/>
        </p:nvSpPr>
        <p:spPr>
          <a:xfrm>
            <a:off x="5287963" y="2235200"/>
            <a:ext cx="2255838" cy="1854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AI/BI dashboard</a:t>
            </a:r>
          </a:p>
          <a:p>
            <a:pPr marL="171450" indent="-171450">
              <a:spcBef>
                <a:spcPts val="600"/>
              </a:spcBef>
              <a:buFont typeface="Arial" panose="020B0604020202020204" pitchFamily="34" charset="0"/>
              <a:buChar char="•"/>
            </a:pPr>
            <a:r>
              <a:rPr lang="en-US" sz="1100">
                <a:solidFill>
                  <a:schemeClr val="bg1"/>
                </a:solidFill>
              </a:rPr>
              <a:t>4 pages on serverless SQL</a:t>
            </a:r>
            <a:endParaRPr lang="en-MY"/>
          </a:p>
          <a:p>
            <a:pPr marL="171450" indent="-171450">
              <a:spcBef>
                <a:spcPts val="600"/>
              </a:spcBef>
              <a:buFont typeface="Arial" panose="020B0604020202020204" pitchFamily="34" charset="0"/>
              <a:buChar char="•"/>
            </a:pPr>
            <a:r>
              <a:rPr lang="en-US" sz="1100">
                <a:solidFill>
                  <a:schemeClr val="bg1"/>
                </a:solidFill>
              </a:rPr>
              <a:t>Scoreboard, flash floods, warnings by area, PUB alerts since 2022</a:t>
            </a:r>
            <a:endParaRPr lang="en-MY"/>
          </a:p>
        </p:txBody>
      </p:sp>
      <p:sp>
        <p:nvSpPr>
          <p:cNvPr id="49" name="IconTile_17">
            <a:extLst>
              <a:ext uri="{FF2B5EF4-FFF2-40B4-BE49-F238E27FC236}">
                <a16:creationId xmlns:a16="http://schemas.microsoft.com/office/drawing/2014/main" id="{816A6A1A-0692-217A-6DFA-6CCEC6FC6024}"/>
              </a:ext>
            </a:extLst>
          </p:cNvPr>
          <p:cNvSpPr/>
          <p:nvPr/>
        </p:nvSpPr>
        <p:spPr>
          <a:xfrm>
            <a:off x="5402263" y="2349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0" name="Rectangle: Rounded Corners 49">
            <a:extLst>
              <a:ext uri="{FF2B5EF4-FFF2-40B4-BE49-F238E27FC236}">
                <a16:creationId xmlns:a16="http://schemas.microsoft.com/office/drawing/2014/main" id="{E012EF67-477C-A66C-D9B1-CA872438A28B}"/>
              </a:ext>
            </a:extLst>
          </p:cNvPr>
          <p:cNvSpPr/>
          <p:nvPr/>
        </p:nvSpPr>
        <p:spPr>
          <a:xfrm>
            <a:off x="533400" y="4521200"/>
            <a:ext cx="3444875" cy="13208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95% intervals, honest gaps</a:t>
            </a:r>
          </a:p>
          <a:p>
            <a:pPr marL="171450" indent="-171450">
              <a:spcBef>
                <a:spcPts val="600"/>
              </a:spcBef>
              <a:buFont typeface="Arial" panose="020B0604020202020204" pitchFamily="34" charset="0"/>
              <a:buChar char="•"/>
            </a:pPr>
            <a:r>
              <a:rPr lang="en-US" sz="1100">
                <a:solidFill>
                  <a:schemeClr val="bg1"/>
                </a:solidFill>
              </a:rPr>
              <a:t>Main shares carry 95% intervals</a:t>
            </a:r>
            <a:endParaRPr lang="en-MY"/>
          </a:p>
          <a:p>
            <a:pPr marL="171450" indent="-171450">
              <a:spcBef>
                <a:spcPts val="600"/>
              </a:spcBef>
              <a:buFont typeface="Arial" panose="020B0604020202020204" pitchFamily="34" charset="0"/>
              <a:buChar char="•"/>
            </a:pPr>
            <a:r>
              <a:rPr lang="en-US" sz="1100">
                <a:solidFill>
                  <a:schemeClr val="bg1"/>
                </a:solidFill>
              </a:rPr>
              <a:t>Lost-post hours excluded, not scored as quiet</a:t>
            </a:r>
            <a:endParaRPr lang="en-MY"/>
          </a:p>
        </p:txBody>
      </p:sp>
      <p:sp>
        <p:nvSpPr>
          <p:cNvPr id="51" name="IconTile_17">
            <a:extLst>
              <a:ext uri="{FF2B5EF4-FFF2-40B4-BE49-F238E27FC236}">
                <a16:creationId xmlns:a16="http://schemas.microsoft.com/office/drawing/2014/main" id="{BAB0F87E-3204-F106-7463-6A618035B5F3}"/>
              </a:ext>
            </a:extLst>
          </p:cNvPr>
          <p:cNvSpPr/>
          <p:nvPr/>
        </p:nvSpPr>
        <p:spPr>
          <a:xfrm>
            <a:off x="647700" y="4635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2" name="Rectangle: Rounded Corners 51">
            <a:extLst>
              <a:ext uri="{FF2B5EF4-FFF2-40B4-BE49-F238E27FC236}">
                <a16:creationId xmlns:a16="http://schemas.microsoft.com/office/drawing/2014/main" id="{8EDC6126-5EBA-2EC9-2F6E-E3A4460C3AC7}"/>
              </a:ext>
            </a:extLst>
          </p:cNvPr>
          <p:cNvSpPr/>
          <p:nvPr/>
        </p:nvSpPr>
        <p:spPr>
          <a:xfrm>
            <a:off x="4098925" y="4521200"/>
            <a:ext cx="3444875" cy="13208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Embedded credentials</a:t>
            </a:r>
          </a:p>
          <a:p>
            <a:pPr marL="171450" indent="-171450">
              <a:spcBef>
                <a:spcPts val="600"/>
              </a:spcBef>
              <a:buFont typeface="Arial" panose="020B0604020202020204" pitchFamily="34" charset="0"/>
              <a:buChar char="•"/>
            </a:pPr>
            <a:r>
              <a:rPr lang="en-US" sz="1100">
                <a:solidFill>
                  <a:schemeClr val="bg1"/>
                </a:solidFill>
              </a:rPr>
              <a:t>Viewers need no table access</a:t>
            </a:r>
            <a:endParaRPr lang="en-MY"/>
          </a:p>
          <a:p>
            <a:pPr marL="171450" indent="-171450">
              <a:spcBef>
                <a:spcPts val="600"/>
              </a:spcBef>
              <a:buFont typeface="Arial" panose="020B0604020202020204" pitchFamily="34" charset="0"/>
              <a:buChar char="•"/>
            </a:pPr>
            <a:r>
              <a:rPr lang="en-US" sz="1100">
                <a:solidFill>
                  <a:schemeClr val="bg1"/>
                </a:solidFill>
              </a:rPr>
              <a:t>Shown in the app's For agencies view</a:t>
            </a:r>
            <a:endParaRPr lang="en-MY"/>
          </a:p>
        </p:txBody>
      </p:sp>
      <p:sp>
        <p:nvSpPr>
          <p:cNvPr id="67" name="IconTile_17">
            <a:extLst>
              <a:ext uri="{FF2B5EF4-FFF2-40B4-BE49-F238E27FC236}">
                <a16:creationId xmlns:a16="http://schemas.microsoft.com/office/drawing/2014/main" id="{C1358BDC-3A89-6609-6B81-F71CB904AD04}"/>
              </a:ext>
            </a:extLst>
          </p:cNvPr>
          <p:cNvSpPr/>
          <p:nvPr/>
        </p:nvSpPr>
        <p:spPr>
          <a:xfrm>
            <a:off x="4213225" y="4635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68" name="Pic">
            <a:extLst>
              <a:ext uri="{FF2B5EF4-FFF2-40B4-BE49-F238E27FC236}">
                <a16:creationId xmlns:a16="http://schemas.microsoft.com/office/drawing/2014/main" id="{15DCA7FF-FEDE-ECD3-3CBE-FD4FBE639A70}"/>
              </a:ext>
            </a:extLst>
          </p:cNvPr>
          <p:cNvPicPr>
            <a:picLocks/>
          </p:cNvPicPr>
          <p:nvPr>
            <p:custDataLst>
              <p:tags r:id="rId1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0"/>
              </a:ext>
              <a:ext uri="{6F801314-5768-4EAC-8CED-0F2297F94238}"/>
            </a:extLst>
          </a:blip>
          <a:stretch>
            <a:fillRect/>
          </a:stretch>
        </p:blipFill>
        <p:spPr bwMode="auto">
          <a:xfrm>
            <a:off x="685800" y="2387600"/>
            <a:ext cx="152400" cy="152400"/>
          </a:xfrm>
          <a:prstGeom prst="rect">
            <a:avLst/>
          </a:prstGeom>
          <a:noFill/>
          <a:effectLst/>
        </p:spPr>
      </p:pic>
      <p:pic>
        <p:nvPicPr>
          <p:cNvPr id="69" name="Pic">
            <a:extLst>
              <a:ext uri="{FF2B5EF4-FFF2-40B4-BE49-F238E27FC236}">
                <a16:creationId xmlns:a16="http://schemas.microsoft.com/office/drawing/2014/main" id="{B319F4E3-B35A-7586-CD40-CE049ACDC1C5}"/>
              </a:ext>
            </a:extLst>
          </p:cNvPr>
          <p:cNvPicPr>
            <a:picLocks/>
          </p:cNvPicPr>
          <p:nvPr>
            <p:custDataLst>
              <p:tags r:id="rId1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1"/>
              </a:ext>
              <a:ext uri="{6F801314-5768-4EAC-8CED-0F2297F94238}"/>
            </a:extLst>
          </a:blip>
          <a:stretch>
            <a:fillRect/>
          </a:stretch>
        </p:blipFill>
        <p:spPr bwMode="auto">
          <a:xfrm>
            <a:off x="3059113" y="2387600"/>
            <a:ext cx="152400" cy="152400"/>
          </a:xfrm>
          <a:prstGeom prst="rect">
            <a:avLst/>
          </a:prstGeom>
          <a:noFill/>
          <a:effectLst/>
        </p:spPr>
      </p:pic>
      <p:pic>
        <p:nvPicPr>
          <p:cNvPr id="70" name="Pic">
            <a:extLst>
              <a:ext uri="{FF2B5EF4-FFF2-40B4-BE49-F238E27FC236}">
                <a16:creationId xmlns:a16="http://schemas.microsoft.com/office/drawing/2014/main" id="{2CFB4820-8C89-07D1-25F5-463A484953D7}"/>
              </a:ext>
            </a:extLst>
          </p:cNvPr>
          <p:cNvPicPr>
            <a:picLocks/>
          </p:cNvPicPr>
          <p:nvPr>
            <p:custDataLst>
              <p:tags r:id="rId1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2"/>
              </a:ext>
              <a:ext uri="{6F801314-5768-4EAC-8CED-0F2297F94238}"/>
            </a:extLst>
          </a:blip>
          <a:stretch>
            <a:fillRect/>
          </a:stretch>
        </p:blipFill>
        <p:spPr bwMode="auto">
          <a:xfrm>
            <a:off x="5445125" y="2387600"/>
            <a:ext cx="152400" cy="152400"/>
          </a:xfrm>
          <a:prstGeom prst="rect">
            <a:avLst/>
          </a:prstGeom>
          <a:noFill/>
          <a:effectLst/>
        </p:spPr>
      </p:pic>
      <p:pic>
        <p:nvPicPr>
          <p:cNvPr id="85" name="Pic">
            <a:extLst>
              <a:ext uri="{FF2B5EF4-FFF2-40B4-BE49-F238E27FC236}">
                <a16:creationId xmlns:a16="http://schemas.microsoft.com/office/drawing/2014/main" id="{CA9BE52D-078D-1B77-D245-B6A85AD05C8E}"/>
              </a:ext>
            </a:extLst>
          </p:cNvPr>
          <p:cNvPicPr>
            <a:picLocks/>
          </p:cNvPicPr>
          <p:nvPr>
            <p:custDataLst>
              <p:tags r:id="rId2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3"/>
              </a:ext>
              <a:ext uri="{6F801314-5768-4EAC-8CED-0F2297F94238}"/>
            </a:extLst>
          </a:blip>
          <a:stretch>
            <a:fillRect/>
          </a:stretch>
        </p:blipFill>
        <p:spPr bwMode="auto">
          <a:xfrm>
            <a:off x="685800" y="4673600"/>
            <a:ext cx="152400" cy="152400"/>
          </a:xfrm>
          <a:prstGeom prst="rect">
            <a:avLst/>
          </a:prstGeom>
          <a:noFill/>
          <a:effectLst/>
        </p:spPr>
      </p:pic>
      <p:pic>
        <p:nvPicPr>
          <p:cNvPr id="88" name="Pic">
            <a:extLst>
              <a:ext uri="{FF2B5EF4-FFF2-40B4-BE49-F238E27FC236}">
                <a16:creationId xmlns:a16="http://schemas.microsoft.com/office/drawing/2014/main" id="{29A4DBCA-B395-BBD9-89E8-2F33F55BEECA}"/>
              </a:ext>
            </a:extLst>
          </p:cNvPr>
          <p:cNvPicPr>
            <a:picLocks/>
          </p:cNvPicPr>
          <p:nvPr>
            <p:custDataLst>
              <p:tags r:id="rId2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4"/>
              </a:ext>
              <a:ext uri="{6F801314-5768-4EAC-8CED-0F2297F94238}"/>
            </a:extLst>
          </a:blip>
          <a:stretch>
            <a:fillRect/>
          </a:stretch>
        </p:blipFill>
        <p:spPr bwMode="auto">
          <a:xfrm>
            <a:off x="4251325" y="4673600"/>
            <a:ext cx="152400" cy="152400"/>
          </a:xfrm>
          <a:prstGeom prst="rect">
            <a:avLst/>
          </a:prstGeom>
          <a:noFill/>
          <a:effectLst/>
        </p:spPr>
      </p:pic>
      <p:sp>
        <p:nvSpPr>
          <p:cNvPr id="89" name="Rectangle 88">
            <a:extLst>
              <a:ext uri="{FF2B5EF4-FFF2-40B4-BE49-F238E27FC236}">
                <a16:creationId xmlns:a16="http://schemas.microsoft.com/office/drawing/2014/main" id="{D0B00798-885B-4573-C6A2-608EA5D3A66D}"/>
              </a:ext>
            </a:extLst>
          </p:cNvPr>
          <p:cNvSpPr/>
          <p:nvPr/>
        </p:nvSpPr>
        <p:spPr>
          <a:xfrm>
            <a:off x="2006601" y="5988050"/>
            <a:ext cx="10041964" cy="678408"/>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600"/>
          </a:p>
        </p:txBody>
      </p:sp>
    </p:spTree>
    <p:extLst>
      <p:ext uri="{BB962C8B-B14F-4D97-AF65-F5344CB8AC3E}">
        <p14:creationId xmlns:p14="http://schemas.microsoft.com/office/powerpoint/2010/main" val="2670357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P spid="39" grpId="0"/>
      <p:bldP spid="40" grpId="0"/>
      <p:bldP spid="44" grpId="0" animBg="1"/>
      <p:bldP spid="45" grpId="0" animBg="1"/>
      <p:bldP spid="46" grpId="0" animBg="1"/>
      <p:bldP spid="47" grpId="0" animBg="1"/>
      <p:bldP spid="48" grpId="0" animBg="1"/>
      <p:bldP spid="49" grpId="0" animBg="1"/>
      <p:bldP spid="50" grpId="0" animBg="1"/>
      <p:bldP spid="51" grpId="0" animBg="1"/>
      <p:bldP spid="52" grpId="0" animBg="1"/>
      <p:bldP spid="67"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5DE235A-8A28-DF98-562D-8C0C714571FD}"/>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C71E426-E6AE-4991-8CAB-B5645A206EEA}"/>
              </a:ext>
            </a:extLst>
          </p:cNvPr>
          <p:cNvGraphicFramePr>
            <a:graphicFrameLocks/>
          </p:cNvGraphicFramePr>
          <p:nvPr>
            <p:custDataLst>
              <p:tags r:id="rId1"/>
            </p:custDataLst>
            <p:extLst>
              <p:ext uri="{D42A27DB-BD31-4B8C-83A1-F6EECF244321}">
                <p14:modId xmlns:p14="http://schemas.microsoft.com/office/powerpoint/2010/main" val="12654283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43" imgH="443" progId="TCLayout.ActiveDocument.1">
                  <p:embed/>
                </p:oleObj>
              </mc:Choice>
              <mc:Fallback>
                <p:oleObj name="thinkcell Slide" r:id="rId25" imgW="443" imgH="443" progId="TCLayout.ActiveDocument.1">
                  <p:embed/>
                  <p:pic>
                    <p:nvPicPr>
                      <p:cNvPr id="3" name="thinkcell data - do not delete" hidden="1">
                        <a:extLst>
                          <a:ext uri="{FF2B5EF4-FFF2-40B4-BE49-F238E27FC236}">
                            <a16:creationId xmlns:a16="http://schemas.microsoft.com/office/drawing/2014/main" id="{9C71E426-E6AE-4991-8CAB-B5645A206EEA}"/>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F31A948-68E1-44CE-1690-9C6A7EFE04B3}"/>
              </a:ext>
            </a:extLst>
          </p:cNvPr>
          <p:cNvSpPr>
            <a:spLocks noGrp="1"/>
          </p:cNvSpPr>
          <p:nvPr>
            <p:ph type="title"/>
          </p:nvPr>
        </p:nvSpPr>
        <p:spPr>
          <a:xfrm>
            <a:off x="254000" y="177800"/>
            <a:ext cx="11684000" cy="787400"/>
          </a:xfrm>
        </p:spPr>
        <p:txBody>
          <a:bodyPr/>
          <a:lstStyle/>
          <a:p>
            <a:r>
              <a:rPr lang="en-US" dirty="0"/>
              <a:t>Databricks Apps, AI/BI Dashboard </a:t>
            </a:r>
          </a:p>
        </p:txBody>
      </p:sp>
      <p:sp>
        <p:nvSpPr>
          <p:cNvPr id="4" name="Rectangle: Rounded Corners 3">
            <a:extLst>
              <a:ext uri="{FF2B5EF4-FFF2-40B4-BE49-F238E27FC236}">
                <a16:creationId xmlns:a16="http://schemas.microsoft.com/office/drawing/2014/main" id="{128F0DD7-EA7B-1350-57EE-5BAA35C82D06}"/>
              </a:ext>
            </a:extLst>
          </p:cNvPr>
          <p:cNvSpPr/>
          <p:nvPr/>
        </p:nvSpPr>
        <p:spPr>
          <a:xfrm>
            <a:off x="2108200" y="1016000"/>
            <a:ext cx="9880600" cy="5613400"/>
          </a:xfrm>
          <a:prstGeom prst="roundRect">
            <a:avLst>
              <a:gd name="adj" fmla="val 3000"/>
            </a:avLst>
          </a:prstGeom>
          <a:noFill/>
          <a:ln w="9525" cap="flat" cmpd="sng" algn="ctr">
            <a:solidFill>
              <a:schemeClr val="bg2">
                <a:lumMod val="85000"/>
              </a:schemeClr>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88900" tIns="76200" rIns="88900" bIns="76200" rtlCol="0" anchor="t">
            <a:noAutofit/>
          </a:bodyPr>
          <a:lstStyle/>
          <a:p>
            <a:r>
              <a:rPr lang="en-MY"/>
              <a:t> </a:t>
            </a:r>
          </a:p>
        </p:txBody>
      </p:sp>
      <p:sp>
        <p:nvSpPr>
          <p:cNvPr id="5" name="Rectangle 4">
            <a:extLst>
              <a:ext uri="{FF2B5EF4-FFF2-40B4-BE49-F238E27FC236}">
                <a16:creationId xmlns:a16="http://schemas.microsoft.com/office/drawing/2014/main" id="{7ABE1CE8-010E-C37E-831D-66B54274E2F6}"/>
              </a:ext>
            </a:extLst>
          </p:cNvPr>
          <p:cNvSpPr/>
          <p:nvPr/>
        </p:nvSpPr>
        <p:spPr>
          <a:xfrm>
            <a:off x="2235200" y="1066800"/>
            <a:ext cx="53340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r>
              <a:rPr lang="en-MY" sz="1400" b="1" dirty="0">
                <a:solidFill>
                  <a:schemeClr val="tx1"/>
                </a:solidFill>
              </a:rPr>
              <a:t>Databricks  Data Intelligence Platform</a:t>
            </a:r>
          </a:p>
        </p:txBody>
      </p:sp>
      <p:sp>
        <p:nvSpPr>
          <p:cNvPr id="6" name="Rectangle 5">
            <a:extLst>
              <a:ext uri="{FF2B5EF4-FFF2-40B4-BE49-F238E27FC236}">
                <a16:creationId xmlns:a16="http://schemas.microsoft.com/office/drawing/2014/main" id="{7C9299F1-7DDD-F011-9FBD-69A688A4841A}"/>
              </a:ext>
            </a:extLst>
          </p:cNvPr>
          <p:cNvSpPr/>
          <p:nvPr/>
        </p:nvSpPr>
        <p:spPr>
          <a:xfrm>
            <a:off x="8890000" y="1066800"/>
            <a:ext cx="29718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MY" sz="1000" b="1" dirty="0">
                <a:solidFill>
                  <a:schemeClr val="bg1">
                    <a:lumMod val="50000"/>
                  </a:schemeClr>
                </a:solidFill>
              </a:rPr>
              <a:t>ARCHITECTURE</a:t>
            </a:r>
          </a:p>
        </p:txBody>
      </p:sp>
      <p:sp>
        <p:nvSpPr>
          <p:cNvPr id="7" name="Rectangle: Rounded Corners 6">
            <a:extLst>
              <a:ext uri="{FF2B5EF4-FFF2-40B4-BE49-F238E27FC236}">
                <a16:creationId xmlns:a16="http://schemas.microsoft.com/office/drawing/2014/main" id="{E72E77D4-217F-49CB-784E-FFC8B2CA4D81}"/>
              </a:ext>
            </a:extLst>
          </p:cNvPr>
          <p:cNvSpPr/>
          <p:nvPr/>
        </p:nvSpPr>
        <p:spPr>
          <a:xfrm>
            <a:off x="1016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Public data sources</a:t>
            </a:r>
          </a:p>
        </p:txBody>
      </p:sp>
      <p:sp>
        <p:nvSpPr>
          <p:cNvPr id="8" name="Rectangle: Rounded Corners 7">
            <a:extLst>
              <a:ext uri="{FF2B5EF4-FFF2-40B4-BE49-F238E27FC236}">
                <a16:creationId xmlns:a16="http://schemas.microsoft.com/office/drawing/2014/main" id="{74C11F7E-AFA3-7867-BFA5-7ADDB6FBC5CB}"/>
              </a:ext>
            </a:extLst>
          </p:cNvPr>
          <p:cNvSpPr/>
          <p:nvPr/>
        </p:nvSpPr>
        <p:spPr>
          <a:xfrm>
            <a:off x="2235200" y="1371600"/>
            <a:ext cx="16256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Data ingestion</a:t>
            </a:r>
          </a:p>
        </p:txBody>
      </p:sp>
      <p:sp>
        <p:nvSpPr>
          <p:cNvPr id="9" name="Rectangle: Rounded Corners 8">
            <a:extLst>
              <a:ext uri="{FF2B5EF4-FFF2-40B4-BE49-F238E27FC236}">
                <a16:creationId xmlns:a16="http://schemas.microsoft.com/office/drawing/2014/main" id="{40B0E45A-359E-3405-38DF-6CE03E9A9C65}"/>
              </a:ext>
            </a:extLst>
          </p:cNvPr>
          <p:cNvSpPr/>
          <p:nvPr/>
        </p:nvSpPr>
        <p:spPr>
          <a:xfrm>
            <a:off x="3962400" y="1371600"/>
            <a:ext cx="37084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Lakehouse · Medallion architecture</a:t>
            </a:r>
          </a:p>
        </p:txBody>
      </p:sp>
      <p:sp>
        <p:nvSpPr>
          <p:cNvPr id="10" name="Rectangle: Rounded Corners 9">
            <a:extLst>
              <a:ext uri="{FF2B5EF4-FFF2-40B4-BE49-F238E27FC236}">
                <a16:creationId xmlns:a16="http://schemas.microsoft.com/office/drawing/2014/main" id="{828FCE29-F4C2-162B-2772-1A0CC57C071A}"/>
              </a:ext>
            </a:extLst>
          </p:cNvPr>
          <p:cNvSpPr/>
          <p:nvPr/>
        </p:nvSpPr>
        <p:spPr>
          <a:xfrm>
            <a:off x="77724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Intelligence · Serving</a:t>
            </a:r>
          </a:p>
        </p:txBody>
      </p:sp>
      <p:sp>
        <p:nvSpPr>
          <p:cNvPr id="11" name="Rectangle: Rounded Corners 10">
            <a:extLst>
              <a:ext uri="{FF2B5EF4-FFF2-40B4-BE49-F238E27FC236}">
                <a16:creationId xmlns:a16="http://schemas.microsoft.com/office/drawing/2014/main" id="{E37C5711-C110-E016-B965-718C3463CE91}"/>
              </a:ext>
            </a:extLst>
          </p:cNvPr>
          <p:cNvSpPr/>
          <p:nvPr/>
        </p:nvSpPr>
        <p:spPr>
          <a:xfrm>
            <a:off x="9779000" y="1371600"/>
            <a:ext cx="2082800" cy="4572000"/>
          </a:xfrm>
          <a:prstGeom prst="roundRect">
            <a:avLst>
              <a:gd name="adj" fmla="val 3500"/>
            </a:avLst>
          </a:prstGeom>
          <a:solidFill>
            <a:schemeClr val="accent1">
              <a:lumMod val="8000"/>
              <a:lumOff val="92000"/>
            </a:schemeClr>
          </a:solidFill>
          <a:ln w="9525" cap="flat" cmpd="sng" algn="ctr">
            <a:solidFill>
              <a:schemeClr val="accent1">
                <a:lumMod val="40000"/>
                <a:lumOff val="6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Residents and agencies · AI agents</a:t>
            </a:r>
          </a:p>
        </p:txBody>
      </p:sp>
      <p:sp>
        <p:nvSpPr>
          <p:cNvPr id="12" name="Rectangle: Rounded Corners 11">
            <a:extLst>
              <a:ext uri="{FF2B5EF4-FFF2-40B4-BE49-F238E27FC236}">
                <a16:creationId xmlns:a16="http://schemas.microsoft.com/office/drawing/2014/main" id="{895B09A9-3406-FA9F-8E26-38CD599FCD39}"/>
              </a:ext>
            </a:extLst>
          </p:cNvPr>
          <p:cNvSpPr/>
          <p:nvPr/>
        </p:nvSpPr>
        <p:spPr>
          <a:xfrm>
            <a:off x="177800" y="1752600"/>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PUB Flood Alerts</a:t>
            </a:r>
          </a:p>
          <a:p>
            <a:r>
              <a:rPr lang="en-US" sz="1100">
                <a:solidFill>
                  <a:schemeClr val="tx1"/>
                </a:solidFill>
              </a:rPr>
              <a:t>Drains 90% full, flash floods; Telegram posts since 2021</a:t>
            </a:r>
            <a:endParaRPr lang="en-MY"/>
          </a:p>
        </p:txBody>
      </p:sp>
      <p:sp>
        <p:nvSpPr>
          <p:cNvPr id="13" name="Rectangle: Rounded Corners 12">
            <a:extLst>
              <a:ext uri="{FF2B5EF4-FFF2-40B4-BE49-F238E27FC236}">
                <a16:creationId xmlns:a16="http://schemas.microsoft.com/office/drawing/2014/main" id="{51297E65-C1E4-B470-F55B-1977B974AAB4}"/>
              </a:ext>
            </a:extLst>
          </p:cNvPr>
          <p:cNvSpPr/>
          <p:nvPr/>
        </p:nvSpPr>
        <p:spPr>
          <a:xfrm>
            <a:off x="177800" y="2586038"/>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Internet Archive</a:t>
            </a:r>
          </a:p>
          <a:p>
            <a:r>
              <a:rPr lang="en-US" sz="1100">
                <a:solidFill>
                  <a:schemeClr val="tx1"/>
                </a:solidFill>
              </a:rPr>
              <a:t>832 deleted PUB posts, recovered from web captures</a:t>
            </a:r>
            <a:endParaRPr lang="en-MY"/>
          </a:p>
        </p:txBody>
      </p:sp>
      <p:sp>
        <p:nvSpPr>
          <p:cNvPr id="14" name="Rectangle: Rounded Corners 13">
            <a:extLst>
              <a:ext uri="{FF2B5EF4-FFF2-40B4-BE49-F238E27FC236}">
                <a16:creationId xmlns:a16="http://schemas.microsoft.com/office/drawing/2014/main" id="{E17E07CD-1374-34D0-EF5F-9DABC2BC6294}"/>
              </a:ext>
            </a:extLst>
          </p:cNvPr>
          <p:cNvSpPr/>
          <p:nvPr/>
        </p:nvSpPr>
        <p:spPr>
          <a:xfrm>
            <a:off x="177800" y="3419475"/>
            <a:ext cx="1752600" cy="80645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NEA weather</a:t>
            </a:r>
          </a:p>
          <a:p>
            <a:r>
              <a:rPr lang="en-US" sz="1100">
                <a:solidFill>
                  <a:schemeClr val="tx1"/>
                </a:solidFill>
              </a:rPr>
              <a:t>5-min rain, 2-h forecast, wind, humidity (data.gov.sg)</a:t>
            </a:r>
            <a:endParaRPr lang="en-MY"/>
          </a:p>
        </p:txBody>
      </p:sp>
      <p:sp>
        <p:nvSpPr>
          <p:cNvPr id="15" name="Rectangle: Rounded Corners 14">
            <a:extLst>
              <a:ext uri="{FF2B5EF4-FFF2-40B4-BE49-F238E27FC236}">
                <a16:creationId xmlns:a16="http://schemas.microsoft.com/office/drawing/2014/main" id="{BBFC593E-B9B7-23C7-1F5C-320D80CA1C63}"/>
              </a:ext>
            </a:extLst>
          </p:cNvPr>
          <p:cNvSpPr/>
          <p:nvPr/>
        </p:nvSpPr>
        <p:spPr>
          <a:xfrm>
            <a:off x="177800" y="4251325"/>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Tides</a:t>
            </a:r>
          </a:p>
          <a:p>
            <a:r>
              <a:rPr lang="en-MY" sz="1100">
                <a:solidFill>
                  <a:schemeClr val="tx1"/>
                </a:solidFill>
              </a:rPr>
              <a:t>NEA tide table; UHSLC hourly sea level at Tanjong Pagar</a:t>
            </a:r>
          </a:p>
        </p:txBody>
      </p:sp>
      <p:sp>
        <p:nvSpPr>
          <p:cNvPr id="16" name="Rectangle: Rounded Corners 15">
            <a:extLst>
              <a:ext uri="{FF2B5EF4-FFF2-40B4-BE49-F238E27FC236}">
                <a16:creationId xmlns:a16="http://schemas.microsoft.com/office/drawing/2014/main" id="{DFD12DE4-EAAC-5EE4-3903-D7758358D48D}"/>
              </a:ext>
            </a:extLst>
          </p:cNvPr>
          <p:cNvSpPr/>
          <p:nvPr/>
        </p:nvSpPr>
        <p:spPr>
          <a:xfrm>
            <a:off x="177800" y="5084763"/>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Maps, sensors</a:t>
            </a:r>
          </a:p>
          <a:p>
            <a:r>
              <a:rPr lang="en-MY" sz="1100">
                <a:solidFill>
                  <a:schemeClr val="tx1"/>
                </a:solidFill>
              </a:rPr>
              <a:t>328 PUB water-level sensors, URA land use, SLA, OneMap</a:t>
            </a:r>
          </a:p>
        </p:txBody>
      </p:sp>
      <p:sp>
        <p:nvSpPr>
          <p:cNvPr id="17" name="Rectangle: Rounded Corners 16">
            <a:extLst>
              <a:ext uri="{FF2B5EF4-FFF2-40B4-BE49-F238E27FC236}">
                <a16:creationId xmlns:a16="http://schemas.microsoft.com/office/drawing/2014/main" id="{AD4A40A7-D17F-8A75-E29C-CD4A96E3F6D7}"/>
              </a:ext>
            </a:extLst>
          </p:cNvPr>
          <p:cNvSpPr/>
          <p:nvPr/>
        </p:nvSpPr>
        <p:spPr>
          <a:xfrm>
            <a:off x="2336800" y="1752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Jobs</a:t>
            </a:r>
          </a:p>
          <a:p>
            <a:r>
              <a:rPr lang="en-US" sz="1100">
                <a:solidFill>
                  <a:schemeClr val="tx1"/>
                </a:solidFill>
              </a:rPr>
              <a:t>Python fetchers on serverless: new data every 5 min, a nightly repair, one-off backfills</a:t>
            </a:r>
            <a:endParaRPr lang="en-MY"/>
          </a:p>
        </p:txBody>
      </p:sp>
      <p:sp>
        <p:nvSpPr>
          <p:cNvPr id="18" name="Rectangle: Rounded Corners 17">
            <a:extLst>
              <a:ext uri="{FF2B5EF4-FFF2-40B4-BE49-F238E27FC236}">
                <a16:creationId xmlns:a16="http://schemas.microsoft.com/office/drawing/2014/main" id="{B278FF8E-257D-611B-C06D-CEBEB3A70860}"/>
              </a:ext>
            </a:extLst>
          </p:cNvPr>
          <p:cNvSpPr/>
          <p:nvPr/>
        </p:nvSpPr>
        <p:spPr>
          <a:xfrm>
            <a:off x="2336800" y="3911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Auto Loader</a:t>
            </a:r>
          </a:p>
          <a:p>
            <a:r>
              <a:rPr lang="en-US" sz="1100">
                <a:solidFill>
                  <a:schemeClr val="tx1"/>
                </a:solidFill>
              </a:rPr>
              <a:t>Each fetch lands as a new file in a UC Volume and streams into bronze once</a:t>
            </a:r>
            <a:endParaRPr lang="en-MY"/>
          </a:p>
        </p:txBody>
      </p:sp>
      <p:sp>
        <p:nvSpPr>
          <p:cNvPr id="19" name="Rectangle: Rounded Corners 18">
            <a:extLst>
              <a:ext uri="{FF2B5EF4-FFF2-40B4-BE49-F238E27FC236}">
                <a16:creationId xmlns:a16="http://schemas.microsoft.com/office/drawing/2014/main" id="{438904FA-857C-412C-86A4-EDA41A4088EC}"/>
              </a:ext>
            </a:extLst>
          </p:cNvPr>
          <p:cNvSpPr/>
          <p:nvPr/>
        </p:nvSpPr>
        <p:spPr>
          <a:xfrm>
            <a:off x="4064000" y="1752600"/>
            <a:ext cx="1066800" cy="2540000"/>
          </a:xfrm>
          <a:prstGeom prst="roundRect">
            <a:avLst>
              <a:gd name="adj" fmla="val 8000"/>
            </a:avLst>
          </a:prstGeom>
          <a:solidFill>
            <a:schemeClr val="accent1">
              <a:lumMod val="20000"/>
              <a:lumOff val="80000"/>
            </a:schemeClr>
          </a:solidFill>
          <a:ln w="12700" cap="flat" cmpd="sng" algn="ctr">
            <a:solidFill>
              <a:schemeClr val="accent1">
                <a:lumMod val="60000"/>
                <a:lumOff val="4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Bronze</a:t>
            </a:r>
          </a:p>
          <a:p>
            <a:pPr algn="ctr"/>
            <a:r>
              <a:rPr lang="en-US" sz="1100">
                <a:solidFill>
                  <a:schemeClr val="tx1"/>
                </a:solidFill>
              </a:rPr>
              <a:t>Every API page, post and file as received; full history</a:t>
            </a:r>
            <a:endParaRPr lang="en-MY"/>
          </a:p>
        </p:txBody>
      </p:sp>
      <p:sp>
        <p:nvSpPr>
          <p:cNvPr id="20" name="Rectangle: Rounded Corners 19">
            <a:extLst>
              <a:ext uri="{FF2B5EF4-FFF2-40B4-BE49-F238E27FC236}">
                <a16:creationId xmlns:a16="http://schemas.microsoft.com/office/drawing/2014/main" id="{3CCEE438-6E43-48CE-0A2F-2B2CE8AC0739}"/>
              </a:ext>
            </a:extLst>
          </p:cNvPr>
          <p:cNvSpPr/>
          <p:nvPr/>
        </p:nvSpPr>
        <p:spPr>
          <a:xfrm>
            <a:off x="5283200" y="1752600"/>
            <a:ext cx="1066800" cy="2540000"/>
          </a:xfrm>
          <a:prstGeom prst="roundRect">
            <a:avLst>
              <a:gd name="adj" fmla="val 8000"/>
            </a:avLst>
          </a:prstGeom>
          <a:solidFill>
            <a:schemeClr val="bg2">
              <a:lumMod val="90000"/>
            </a:schemeClr>
          </a:solidFill>
          <a:ln w="12700" cap="flat" cmpd="sng" algn="ctr">
            <a:solidFill>
              <a:schemeClr val="bg2">
                <a:lumMod val="6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Silver</a:t>
            </a:r>
          </a:p>
          <a:p>
            <a:pPr algn="ctr"/>
            <a:r>
              <a:rPr lang="en-US" sz="1100">
                <a:solidFill>
                  <a:schemeClr val="tx1"/>
                </a:solidFill>
              </a:rPr>
              <a:t>Readings cleaned, posts parsed, alerts placed in NEA's 47 areas</a:t>
            </a:r>
            <a:endParaRPr lang="en-MY" dirty="0"/>
          </a:p>
        </p:txBody>
      </p:sp>
      <p:sp>
        <p:nvSpPr>
          <p:cNvPr id="21" name="Rectangle: Rounded Corners 20">
            <a:extLst>
              <a:ext uri="{FF2B5EF4-FFF2-40B4-BE49-F238E27FC236}">
                <a16:creationId xmlns:a16="http://schemas.microsoft.com/office/drawing/2014/main" id="{CA4C03DA-427A-6DD9-8539-9E5D958D7F7B}"/>
              </a:ext>
            </a:extLst>
          </p:cNvPr>
          <p:cNvSpPr/>
          <p:nvPr/>
        </p:nvSpPr>
        <p:spPr>
          <a:xfrm>
            <a:off x="6502400" y="1752600"/>
            <a:ext cx="1066800" cy="2540000"/>
          </a:xfrm>
          <a:prstGeom prst="roundRect">
            <a:avLst>
              <a:gd name="adj" fmla="val 8000"/>
            </a:avLst>
          </a:prstGeom>
          <a:solidFill>
            <a:schemeClr val="accent2">
              <a:lumMod val="20000"/>
              <a:lumOff val="80000"/>
            </a:schemeClr>
          </a:solidFill>
          <a:ln w="12700" cap="flat" cmpd="sng" algn="ctr">
            <a:solidFill>
              <a:schemeClr val="accent2">
                <a:lumMod val="70000"/>
                <a:lumOff val="3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Gold</a:t>
            </a:r>
          </a:p>
          <a:p>
            <a:pPr algn="ctr"/>
            <a:r>
              <a:rPr lang="en-US" sz="1100">
                <a:solidFill>
                  <a:schemeClr val="tx1"/>
                </a:solidFill>
              </a:rPr>
              <a:t>Each area, every 5 min: rain, forecast, tide, label</a:t>
            </a:r>
            <a:endParaRPr lang="en-MY"/>
          </a:p>
        </p:txBody>
      </p:sp>
      <p:sp>
        <p:nvSpPr>
          <p:cNvPr id="22" name="Rectangle: Rounded Corners 21">
            <a:extLst>
              <a:ext uri="{FF2B5EF4-FFF2-40B4-BE49-F238E27FC236}">
                <a16:creationId xmlns:a16="http://schemas.microsoft.com/office/drawing/2014/main" id="{9763D668-9B6A-6090-D9BA-706E17813F7C}"/>
              </a:ext>
            </a:extLst>
          </p:cNvPr>
          <p:cNvSpPr/>
          <p:nvPr/>
        </p:nvSpPr>
        <p:spPr>
          <a:xfrm>
            <a:off x="4064000" y="4521200"/>
            <a:ext cx="35052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Spark Declarative Pipelines</a:t>
            </a:r>
          </a:p>
          <a:p>
            <a:r>
              <a:rPr lang="en-US" sz="1100">
                <a:solidFill>
                  <a:schemeClr val="tx1"/>
                </a:solidFill>
              </a:rPr>
              <a:t>Two serverless pipelines. Expectations drop bad readings; unplaceable alerts are quarantined. Hours with lost posts or feed outages count as missing, never as quiet.</a:t>
            </a:r>
            <a:endParaRPr lang="en-MY"/>
          </a:p>
        </p:txBody>
      </p:sp>
      <p:sp>
        <p:nvSpPr>
          <p:cNvPr id="23" name="Rectangle: Rounded Corners 22">
            <a:extLst>
              <a:ext uri="{FF2B5EF4-FFF2-40B4-BE49-F238E27FC236}">
                <a16:creationId xmlns:a16="http://schemas.microsoft.com/office/drawing/2014/main" id="{69E41B4E-4493-9D75-3528-F85E3BB72862}"/>
              </a:ext>
            </a:extLst>
          </p:cNvPr>
          <p:cNvSpPr/>
          <p:nvPr/>
        </p:nvSpPr>
        <p:spPr>
          <a:xfrm>
            <a:off x="7874000" y="1752600"/>
            <a:ext cx="1701800" cy="1422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a:solidFill>
                  <a:schemeClr val="tx1"/>
                </a:solidFill>
              </a:rPr>
              <a:t>MLflow · Unity Catalog</a:t>
            </a:r>
          </a:p>
          <a:p>
            <a:r>
              <a:rPr lang="en-US" sz="1100">
                <a:solidFill>
                  <a:schemeClr val="tx1"/>
                </a:solidFill>
              </a:rPr>
              <a:t>Gated LightGBM pair: each area's chance of a PUB alert within 1 h. 7 checks before @champion moves.</a:t>
            </a:r>
            <a:endParaRPr lang="en-MY" dirty="0"/>
          </a:p>
        </p:txBody>
      </p:sp>
      <p:sp>
        <p:nvSpPr>
          <p:cNvPr id="24" name="Rectangle: Rounded Corners 23">
            <a:extLst>
              <a:ext uri="{FF2B5EF4-FFF2-40B4-BE49-F238E27FC236}">
                <a16:creationId xmlns:a16="http://schemas.microsoft.com/office/drawing/2014/main" id="{1D7906A6-8839-C401-A102-24D245D00390}"/>
              </a:ext>
            </a:extLst>
          </p:cNvPr>
          <p:cNvSpPr/>
          <p:nvPr/>
        </p:nvSpPr>
        <p:spPr>
          <a:xfrm>
            <a:off x="7874000" y="3276600"/>
            <a:ext cx="17018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a:solidFill>
                  <a:schemeClr val="tx1"/>
                </a:solidFill>
              </a:rPr>
              <a:t>Live scoring</a:t>
            </a:r>
          </a:p>
          <a:p>
            <a:r>
              <a:rPr lang="en-US" sz="1100">
                <a:solidFill>
                  <a:schemeClr val="tx1"/>
                </a:solidFill>
              </a:rPr>
              <a:t>Every 5 min, @champion rates all 47 areas into a Delta table. New warnings go out by Telegram, email.</a:t>
            </a:r>
            <a:endParaRPr lang="en-MY"/>
          </a:p>
        </p:txBody>
      </p:sp>
      <p:sp>
        <p:nvSpPr>
          <p:cNvPr id="25" name="Rectangle: Rounded Corners 24">
            <a:extLst>
              <a:ext uri="{FF2B5EF4-FFF2-40B4-BE49-F238E27FC236}">
                <a16:creationId xmlns:a16="http://schemas.microsoft.com/office/drawing/2014/main" id="{AD977A41-030C-491B-6263-A7DF14B98E4A}"/>
              </a:ext>
            </a:extLst>
          </p:cNvPr>
          <p:cNvSpPr/>
          <p:nvPr/>
        </p:nvSpPr>
        <p:spPr>
          <a:xfrm>
            <a:off x="7874000" y="4699000"/>
            <a:ext cx="1701800" cy="11430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MY" sz="1300" b="1">
                <a:solidFill>
                  <a:schemeClr val="tx1"/>
                </a:solidFill>
              </a:rPr>
              <a:t>Databricks SQL · AI/BI</a:t>
            </a:r>
          </a:p>
          <a:p>
            <a:r>
              <a:rPr lang="en-MY" sz="1100">
                <a:solidFill>
                  <a:schemeClr val="tx1"/>
                </a:solidFill>
              </a:rPr>
              <a:t>Serverless warehouse for the app, Genie, agencies' scoreboard</a:t>
            </a:r>
          </a:p>
        </p:txBody>
      </p:sp>
      <p:sp>
        <p:nvSpPr>
          <p:cNvPr id="26" name="Rectangle: Rounded Corners 25">
            <a:extLst>
              <a:ext uri="{FF2B5EF4-FFF2-40B4-BE49-F238E27FC236}">
                <a16:creationId xmlns:a16="http://schemas.microsoft.com/office/drawing/2014/main" id="{DE41EF73-64B1-F69F-9FF7-C0287F99C3B2}"/>
              </a:ext>
            </a:extLst>
          </p:cNvPr>
          <p:cNvSpPr/>
          <p:nvPr/>
        </p:nvSpPr>
        <p:spPr>
          <a:xfrm>
            <a:off x="9880600" y="1879600"/>
            <a:ext cx="1879600" cy="1727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dirty="0">
                <a:solidFill>
                  <a:schemeClr val="tx1">
                    <a:lumMod val="75000"/>
                    <a:lumOff val="25000"/>
                  </a:schemeClr>
                </a:solidFill>
              </a:rPr>
              <a:t>Databricks App</a:t>
            </a:r>
          </a:p>
          <a:p>
            <a:r>
              <a:rPr lang="en-US" sz="1100" dirty="0">
                <a:solidFill>
                  <a:schemeClr val="tx1"/>
                </a:solidFill>
              </a:rPr>
              <a:t>Live map of 47 areas: what to do on foot, driving or at home. Storm replays, warning sign-ups.</a:t>
            </a:r>
            <a:endParaRPr lang="en-MY" dirty="0"/>
          </a:p>
        </p:txBody>
      </p:sp>
      <p:sp>
        <p:nvSpPr>
          <p:cNvPr id="27" name="Rectangle: Rounded Corners 26">
            <a:extLst>
              <a:ext uri="{FF2B5EF4-FFF2-40B4-BE49-F238E27FC236}">
                <a16:creationId xmlns:a16="http://schemas.microsoft.com/office/drawing/2014/main" id="{F6736102-D395-12EA-8F18-DA1D5DDEA847}"/>
              </a:ext>
            </a:extLst>
          </p:cNvPr>
          <p:cNvSpPr/>
          <p:nvPr/>
        </p:nvSpPr>
        <p:spPr>
          <a:xfrm>
            <a:off x="9880600" y="3733800"/>
            <a:ext cx="1879600" cy="2108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Genie Agent</a:t>
            </a:r>
          </a:p>
          <a:p>
            <a:r>
              <a:rPr lang="en-US" sz="1100">
                <a:solidFill>
                  <a:schemeClr val="tx1"/>
                </a:solidFill>
              </a:rPr>
              <a:t>"FloodSense for agencies": ask in plain English how it did against PUB, flood by flood. Also in the app.</a:t>
            </a:r>
            <a:endParaRPr lang="en-MY"/>
          </a:p>
        </p:txBody>
      </p:sp>
      <p:sp>
        <p:nvSpPr>
          <p:cNvPr id="28" name="Rectangle: Rounded Corners 27">
            <a:extLst>
              <a:ext uri="{FF2B5EF4-FFF2-40B4-BE49-F238E27FC236}">
                <a16:creationId xmlns:a16="http://schemas.microsoft.com/office/drawing/2014/main" id="{8DBD9D86-8609-8A52-E667-F3D4673A33C1}"/>
              </a:ext>
            </a:extLst>
          </p:cNvPr>
          <p:cNvSpPr/>
          <p:nvPr/>
        </p:nvSpPr>
        <p:spPr>
          <a:xfrm>
            <a:off x="9982200" y="2946400"/>
            <a:ext cx="7366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Residents</a:t>
            </a:r>
          </a:p>
        </p:txBody>
      </p:sp>
      <p:sp>
        <p:nvSpPr>
          <p:cNvPr id="29" name="Rectangle: Rounded Corners 28">
            <a:extLst>
              <a:ext uri="{FF2B5EF4-FFF2-40B4-BE49-F238E27FC236}">
                <a16:creationId xmlns:a16="http://schemas.microsoft.com/office/drawing/2014/main" id="{6225B327-69D9-3B44-0F0E-4E5FD8EE254F}"/>
              </a:ext>
            </a:extLst>
          </p:cNvPr>
          <p:cNvSpPr/>
          <p:nvPr/>
        </p:nvSpPr>
        <p:spPr>
          <a:xfrm>
            <a:off x="10795000" y="2946400"/>
            <a:ext cx="7874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Commuters</a:t>
            </a:r>
          </a:p>
        </p:txBody>
      </p:sp>
      <p:sp>
        <p:nvSpPr>
          <p:cNvPr id="30" name="Rectangle: Rounded Corners 29">
            <a:extLst>
              <a:ext uri="{FF2B5EF4-FFF2-40B4-BE49-F238E27FC236}">
                <a16:creationId xmlns:a16="http://schemas.microsoft.com/office/drawing/2014/main" id="{634820AE-E736-1FBA-D4B6-99D7BA7AC3DC}"/>
              </a:ext>
            </a:extLst>
          </p:cNvPr>
          <p:cNvSpPr/>
          <p:nvPr/>
        </p:nvSpPr>
        <p:spPr>
          <a:xfrm>
            <a:off x="9982200" y="3251200"/>
            <a:ext cx="9652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Town councils</a:t>
            </a:r>
          </a:p>
        </p:txBody>
      </p:sp>
      <p:sp>
        <p:nvSpPr>
          <p:cNvPr id="31" name="Rectangle: Rounded Corners 30">
            <a:extLst>
              <a:ext uri="{FF2B5EF4-FFF2-40B4-BE49-F238E27FC236}">
                <a16:creationId xmlns:a16="http://schemas.microsoft.com/office/drawing/2014/main" id="{1D38899E-97E6-339B-0720-2373C2FEFE2A}"/>
              </a:ext>
            </a:extLst>
          </p:cNvPr>
          <p:cNvSpPr/>
          <p:nvPr/>
        </p:nvSpPr>
        <p:spPr>
          <a:xfrm>
            <a:off x="11023600" y="3251200"/>
            <a:ext cx="6350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Agencies</a:t>
            </a:r>
          </a:p>
        </p:txBody>
      </p:sp>
      <p:sp>
        <p:nvSpPr>
          <p:cNvPr id="33" name="Rectangle: Rounded Corners 32">
            <a:extLst>
              <a:ext uri="{FF2B5EF4-FFF2-40B4-BE49-F238E27FC236}">
                <a16:creationId xmlns:a16="http://schemas.microsoft.com/office/drawing/2014/main" id="{6CD9775E-1993-AA37-ADCF-6E24E4481EFE}"/>
              </a:ext>
            </a:extLst>
          </p:cNvPr>
          <p:cNvSpPr/>
          <p:nvPr>
            <p:custDataLst>
              <p:tags r:id="rId2"/>
            </p:custDataLst>
          </p:nvPr>
        </p:nvSpPr>
        <p:spPr>
          <a:xfrm>
            <a:off x="2235200" y="6070600"/>
            <a:ext cx="9626600" cy="355600"/>
          </a:xfrm>
          <a:prstGeom prst="roundRect">
            <a:avLst>
              <a:gd name="adj" fmla="val 12000"/>
            </a:avLst>
          </a:prstGeom>
          <a:solidFill>
            <a:schemeClr val="bg1"/>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66700" tIns="12700" rIns="50800" bIns="12700" rtlCol="0" anchor="ctr">
            <a:noAutofit/>
          </a:bodyPr>
          <a:lstStyle/>
          <a:p>
            <a:pPr algn="ctr"/>
            <a:r>
              <a:rPr lang="en-MY" sz="1100" b="1" dirty="0">
                <a:solidFill>
                  <a:schemeClr val="tx1"/>
                </a:solidFill>
              </a:rPr>
              <a:t>Unity </a:t>
            </a:r>
            <a:r>
              <a:rPr lang="en-MY" sz="1100" b="1" dirty="0" err="1">
                <a:solidFill>
                  <a:schemeClr val="tx1"/>
                </a:solidFill>
              </a:rPr>
              <a:t>Catalog</a:t>
            </a:r>
            <a:endParaRPr lang="en-MY" sz="1100" b="1" dirty="0">
              <a:solidFill>
                <a:schemeClr val="tx1"/>
              </a:solidFill>
            </a:endParaRPr>
          </a:p>
        </p:txBody>
      </p:sp>
      <p:cxnSp>
        <p:nvCxnSpPr>
          <p:cNvPr id="42" name="Connector: Elbow 41">
            <a:extLst>
              <a:ext uri="{FF2B5EF4-FFF2-40B4-BE49-F238E27FC236}">
                <a16:creationId xmlns:a16="http://schemas.microsoft.com/office/drawing/2014/main" id="{40423568-D134-776F-E00A-5464D75AFCE3}"/>
              </a:ext>
            </a:extLst>
          </p:cNvPr>
          <p:cNvCxnSpPr>
            <a:cxnSpLocks/>
          </p:cNvCxnSpPr>
          <p:nvPr/>
        </p:nvCxnSpPr>
        <p:spPr>
          <a:xfrm>
            <a:off x="51308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4C2B5D8C-7455-8AD6-9DFC-57C2F94CD718}"/>
              </a:ext>
            </a:extLst>
          </p:cNvPr>
          <p:cNvCxnSpPr>
            <a:cxnSpLocks/>
          </p:cNvCxnSpPr>
          <p:nvPr/>
        </p:nvCxnSpPr>
        <p:spPr>
          <a:xfrm>
            <a:off x="63500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54" name="IconTile_12">
            <a:extLst>
              <a:ext uri="{FF2B5EF4-FFF2-40B4-BE49-F238E27FC236}">
                <a16:creationId xmlns:a16="http://schemas.microsoft.com/office/drawing/2014/main" id="{0057B953-5A96-EEDD-B6BB-2B04862EC464}"/>
              </a:ext>
            </a:extLst>
          </p:cNvPr>
          <p:cNvSpPr/>
          <p:nvPr/>
        </p:nvSpPr>
        <p:spPr>
          <a:xfrm>
            <a:off x="241300" y="17907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5" name="IconTile_13">
            <a:extLst>
              <a:ext uri="{FF2B5EF4-FFF2-40B4-BE49-F238E27FC236}">
                <a16:creationId xmlns:a16="http://schemas.microsoft.com/office/drawing/2014/main" id="{E1440930-FE0F-BD4F-4078-524EA992C31F}"/>
              </a:ext>
            </a:extLst>
          </p:cNvPr>
          <p:cNvSpPr/>
          <p:nvPr/>
        </p:nvSpPr>
        <p:spPr>
          <a:xfrm>
            <a:off x="241300" y="2624138"/>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6" name="IconTile_14">
            <a:extLst>
              <a:ext uri="{FF2B5EF4-FFF2-40B4-BE49-F238E27FC236}">
                <a16:creationId xmlns:a16="http://schemas.microsoft.com/office/drawing/2014/main" id="{6F5F806B-07DF-4787-E39F-FCB7E6FA3B7D}"/>
              </a:ext>
            </a:extLst>
          </p:cNvPr>
          <p:cNvSpPr/>
          <p:nvPr/>
        </p:nvSpPr>
        <p:spPr>
          <a:xfrm>
            <a:off x="241300" y="345757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7" name="IconTile_15">
            <a:extLst>
              <a:ext uri="{FF2B5EF4-FFF2-40B4-BE49-F238E27FC236}">
                <a16:creationId xmlns:a16="http://schemas.microsoft.com/office/drawing/2014/main" id="{17E4A6DF-E85E-4BEE-127B-61DA8C415D23}"/>
              </a:ext>
            </a:extLst>
          </p:cNvPr>
          <p:cNvSpPr/>
          <p:nvPr/>
        </p:nvSpPr>
        <p:spPr>
          <a:xfrm>
            <a:off x="241300" y="428942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8" name="IconTile_16">
            <a:extLst>
              <a:ext uri="{FF2B5EF4-FFF2-40B4-BE49-F238E27FC236}">
                <a16:creationId xmlns:a16="http://schemas.microsoft.com/office/drawing/2014/main" id="{54F966F7-1B13-46CD-4B8A-88372F5CAE81}"/>
              </a:ext>
            </a:extLst>
          </p:cNvPr>
          <p:cNvSpPr/>
          <p:nvPr/>
        </p:nvSpPr>
        <p:spPr>
          <a:xfrm>
            <a:off x="241300" y="5122863"/>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9" name="IconTile_17">
            <a:extLst>
              <a:ext uri="{FF2B5EF4-FFF2-40B4-BE49-F238E27FC236}">
                <a16:creationId xmlns:a16="http://schemas.microsoft.com/office/drawing/2014/main" id="{EE4BFA34-C332-4525-4980-9A5B4F9C16CB}"/>
              </a:ext>
            </a:extLst>
          </p:cNvPr>
          <p:cNvSpPr/>
          <p:nvPr/>
        </p:nvSpPr>
        <p:spPr>
          <a:xfrm>
            <a:off x="2400300" y="1835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0" name="IconTile_18">
            <a:extLst>
              <a:ext uri="{FF2B5EF4-FFF2-40B4-BE49-F238E27FC236}">
                <a16:creationId xmlns:a16="http://schemas.microsoft.com/office/drawing/2014/main" id="{8C7CD89E-B727-FFDB-B184-AED1A027A241}"/>
              </a:ext>
            </a:extLst>
          </p:cNvPr>
          <p:cNvSpPr/>
          <p:nvPr/>
        </p:nvSpPr>
        <p:spPr>
          <a:xfrm>
            <a:off x="2400300" y="3994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1" name="IconTile_22">
            <a:extLst>
              <a:ext uri="{FF2B5EF4-FFF2-40B4-BE49-F238E27FC236}">
                <a16:creationId xmlns:a16="http://schemas.microsoft.com/office/drawing/2014/main" id="{8A031825-2838-361D-FD00-A1D6BE95EB32}"/>
              </a:ext>
            </a:extLst>
          </p:cNvPr>
          <p:cNvSpPr/>
          <p:nvPr/>
        </p:nvSpPr>
        <p:spPr>
          <a:xfrm>
            <a:off x="4127500" y="460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2" name="IconTile_23">
            <a:extLst>
              <a:ext uri="{FF2B5EF4-FFF2-40B4-BE49-F238E27FC236}">
                <a16:creationId xmlns:a16="http://schemas.microsoft.com/office/drawing/2014/main" id="{D047DFA5-3866-F2EC-8D46-0C9D1B3447E5}"/>
              </a:ext>
            </a:extLst>
          </p:cNvPr>
          <p:cNvSpPr/>
          <p:nvPr/>
        </p:nvSpPr>
        <p:spPr>
          <a:xfrm>
            <a:off x="7937500" y="1809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3" name="IconTile_24">
            <a:extLst>
              <a:ext uri="{FF2B5EF4-FFF2-40B4-BE49-F238E27FC236}">
                <a16:creationId xmlns:a16="http://schemas.microsoft.com/office/drawing/2014/main" id="{06B5E531-D5D8-AE7E-CE96-15C4474405B6}"/>
              </a:ext>
            </a:extLst>
          </p:cNvPr>
          <p:cNvSpPr/>
          <p:nvPr/>
        </p:nvSpPr>
        <p:spPr>
          <a:xfrm>
            <a:off x="7937500" y="333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4" name="IconTile_25">
            <a:extLst>
              <a:ext uri="{FF2B5EF4-FFF2-40B4-BE49-F238E27FC236}">
                <a16:creationId xmlns:a16="http://schemas.microsoft.com/office/drawing/2014/main" id="{F7D648B7-BA3B-CF7B-6C4E-6496EFE5DEE7}"/>
              </a:ext>
            </a:extLst>
          </p:cNvPr>
          <p:cNvSpPr/>
          <p:nvPr/>
        </p:nvSpPr>
        <p:spPr>
          <a:xfrm>
            <a:off x="7937500" y="4756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5" name="IconTile_26">
            <a:extLst>
              <a:ext uri="{FF2B5EF4-FFF2-40B4-BE49-F238E27FC236}">
                <a16:creationId xmlns:a16="http://schemas.microsoft.com/office/drawing/2014/main" id="{39383A31-1E72-8EF4-ED42-AF8B7060E9C3}"/>
              </a:ext>
            </a:extLst>
          </p:cNvPr>
          <p:cNvSpPr/>
          <p:nvPr/>
        </p:nvSpPr>
        <p:spPr>
          <a:xfrm>
            <a:off x="9944100" y="1962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6" name="IconTile_27">
            <a:extLst>
              <a:ext uri="{FF2B5EF4-FFF2-40B4-BE49-F238E27FC236}">
                <a16:creationId xmlns:a16="http://schemas.microsoft.com/office/drawing/2014/main" id="{2D1FD9E5-C6F7-DE96-5A0A-85998D2CA017}"/>
              </a:ext>
            </a:extLst>
          </p:cNvPr>
          <p:cNvSpPr/>
          <p:nvPr/>
        </p:nvSpPr>
        <p:spPr>
          <a:xfrm>
            <a:off x="9944100" y="38163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72" name="Pic">
            <a:extLst>
              <a:ext uri="{FF2B5EF4-FFF2-40B4-BE49-F238E27FC236}">
                <a16:creationId xmlns:a16="http://schemas.microsoft.com/office/drawing/2014/main" id="{042F07B0-3699-0165-73A7-4F5F0D08D42A}"/>
              </a:ext>
            </a:extLst>
          </p:cNvPr>
          <p:cNvPicPr>
            <a:picLocks/>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7"/>
              </a:ext>
              <a:ext uri="{6F801314-5768-4EAC-8CED-0F2297F94238}"/>
            </a:extLst>
          </a:blip>
          <a:stretch>
            <a:fillRect/>
          </a:stretch>
        </p:blipFill>
        <p:spPr bwMode="auto">
          <a:xfrm>
            <a:off x="7975600" y="1854200"/>
            <a:ext cx="152400" cy="152400"/>
          </a:xfrm>
          <a:prstGeom prst="rect">
            <a:avLst/>
          </a:prstGeom>
          <a:noFill/>
          <a:effectLst/>
        </p:spPr>
      </p:pic>
      <p:pic>
        <p:nvPicPr>
          <p:cNvPr id="71" name="Pic">
            <a:extLst>
              <a:ext uri="{FF2B5EF4-FFF2-40B4-BE49-F238E27FC236}">
                <a16:creationId xmlns:a16="http://schemas.microsoft.com/office/drawing/2014/main" id="{56DF2831-32E2-BE7E-F710-0F03B5ABAE86}"/>
              </a:ext>
            </a:extLst>
          </p:cNvPr>
          <p:cNvPicPr>
            <a:picLocks/>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 uri="{6F801314-5768-4EAC-8CED-0F2297F94238}"/>
            </a:extLst>
          </a:blip>
          <a:stretch>
            <a:fillRect/>
          </a:stretch>
        </p:blipFill>
        <p:spPr bwMode="auto">
          <a:xfrm>
            <a:off x="9982200" y="3860800"/>
            <a:ext cx="152400" cy="152400"/>
          </a:xfrm>
          <a:prstGeom prst="rect">
            <a:avLst/>
          </a:prstGeom>
          <a:noFill/>
          <a:effectLst/>
        </p:spPr>
      </p:pic>
      <p:pic>
        <p:nvPicPr>
          <p:cNvPr id="79" name="Pic">
            <a:extLst>
              <a:ext uri="{FF2B5EF4-FFF2-40B4-BE49-F238E27FC236}">
                <a16:creationId xmlns:a16="http://schemas.microsoft.com/office/drawing/2014/main" id="{86A1C9A9-7834-97FE-921F-AF94F3CAC33D}"/>
              </a:ext>
            </a:extLst>
          </p:cNvPr>
          <p:cNvPicPr>
            <a:picLocks/>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9"/>
              </a:ext>
              <a:ext uri="{6F801314-5768-4EAC-8CED-0F2297F94238}"/>
            </a:extLst>
          </a:blip>
          <a:stretch>
            <a:fillRect/>
          </a:stretch>
        </p:blipFill>
        <p:spPr bwMode="auto">
          <a:xfrm>
            <a:off x="4165600" y="4648200"/>
            <a:ext cx="152400" cy="152400"/>
          </a:xfrm>
          <a:prstGeom prst="rect">
            <a:avLst/>
          </a:prstGeom>
          <a:noFill/>
          <a:effectLst/>
        </p:spPr>
      </p:pic>
      <p:pic>
        <p:nvPicPr>
          <p:cNvPr id="80" name="Pic">
            <a:extLst>
              <a:ext uri="{FF2B5EF4-FFF2-40B4-BE49-F238E27FC236}">
                <a16:creationId xmlns:a16="http://schemas.microsoft.com/office/drawing/2014/main" id="{A18445DC-9417-E12E-CE89-9CA066AC962F}"/>
              </a:ext>
            </a:extLst>
          </p:cNvPr>
          <p:cNvPicPr>
            <a:picLocks/>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 uri="{6F801314-5768-4EAC-8CED-0F2297F94238}"/>
            </a:extLst>
          </a:blip>
          <a:stretch>
            <a:fillRect/>
          </a:stretch>
        </p:blipFill>
        <p:spPr bwMode="auto">
          <a:xfrm>
            <a:off x="7975600" y="4800600"/>
            <a:ext cx="152400" cy="152400"/>
          </a:xfrm>
          <a:prstGeom prst="rect">
            <a:avLst/>
          </a:prstGeom>
          <a:noFill/>
          <a:effectLst/>
        </p:spPr>
      </p:pic>
      <p:pic>
        <p:nvPicPr>
          <p:cNvPr id="81" name="Pic">
            <a:extLst>
              <a:ext uri="{FF2B5EF4-FFF2-40B4-BE49-F238E27FC236}">
                <a16:creationId xmlns:a16="http://schemas.microsoft.com/office/drawing/2014/main" id="{93E2605E-D7D9-46B7-9C43-DB48C685B2B2}"/>
              </a:ext>
            </a:extLst>
          </p:cNvPr>
          <p:cNvPicPr>
            <a:picLocks/>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1"/>
              </a:ext>
              <a:ext uri="{6F801314-5768-4EAC-8CED-0F2297F94238}"/>
            </a:extLst>
          </a:blip>
          <a:stretch>
            <a:fillRect/>
          </a:stretch>
        </p:blipFill>
        <p:spPr bwMode="auto">
          <a:xfrm>
            <a:off x="6502400" y="6210300"/>
            <a:ext cx="152400" cy="152400"/>
          </a:xfrm>
          <a:prstGeom prst="rect">
            <a:avLst/>
          </a:prstGeom>
          <a:noFill/>
          <a:effectLst/>
        </p:spPr>
      </p:pic>
      <p:pic>
        <p:nvPicPr>
          <p:cNvPr id="86" name="Pic">
            <a:extLst>
              <a:ext uri="{FF2B5EF4-FFF2-40B4-BE49-F238E27FC236}">
                <a16:creationId xmlns:a16="http://schemas.microsoft.com/office/drawing/2014/main" id="{B953B3C5-CF45-E276-4CB2-800ED1A08624}"/>
              </a:ext>
            </a:extLst>
          </p:cNvPr>
          <p:cNvPicPr>
            <a:picLocks/>
          </p:cNvPicPr>
          <p:nvPr>
            <p:custDataLst>
              <p:tags r:id="rId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 uri="{6F801314-5768-4EAC-8CED-0F2297F94238}"/>
            </a:extLst>
          </a:blip>
          <a:stretch>
            <a:fillRect/>
          </a:stretch>
        </p:blipFill>
        <p:spPr bwMode="auto">
          <a:xfrm>
            <a:off x="2438400" y="4038600"/>
            <a:ext cx="152400" cy="152400"/>
          </a:xfrm>
          <a:prstGeom prst="rect">
            <a:avLst/>
          </a:prstGeom>
          <a:noFill/>
          <a:effectLst/>
        </p:spPr>
      </p:pic>
      <p:pic>
        <p:nvPicPr>
          <p:cNvPr id="87" name="Pic">
            <a:extLst>
              <a:ext uri="{FF2B5EF4-FFF2-40B4-BE49-F238E27FC236}">
                <a16:creationId xmlns:a16="http://schemas.microsoft.com/office/drawing/2014/main" id="{5033FEDC-3EEC-91C2-5929-3E86926E316D}"/>
              </a:ext>
            </a:extLst>
          </p:cNvPr>
          <p:cNvPicPr>
            <a:picLocks/>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3"/>
              </a:ext>
              <a:ext uri="{6F801314-5768-4EAC-8CED-0F2297F94238}"/>
            </a:extLst>
          </a:blip>
          <a:stretch>
            <a:fillRect/>
          </a:stretch>
        </p:blipFill>
        <p:spPr bwMode="auto">
          <a:xfrm>
            <a:off x="9982200" y="2006600"/>
            <a:ext cx="152400" cy="152400"/>
          </a:xfrm>
          <a:prstGeom prst="rect">
            <a:avLst/>
          </a:prstGeom>
          <a:noFill/>
          <a:effectLst/>
        </p:spPr>
      </p:pic>
      <p:cxnSp>
        <p:nvCxnSpPr>
          <p:cNvPr id="41" name="Connector: Elbow 40">
            <a:extLst>
              <a:ext uri="{FF2B5EF4-FFF2-40B4-BE49-F238E27FC236}">
                <a16:creationId xmlns:a16="http://schemas.microsoft.com/office/drawing/2014/main" id="{78275E7F-8180-23AA-298F-30FA3D6E4EED}"/>
              </a:ext>
            </a:extLst>
          </p:cNvPr>
          <p:cNvCxnSpPr>
            <a:cxnSpLocks/>
            <a:stCxn id="12" idx="3"/>
            <a:endCxn id="17" idx="1"/>
          </p:cNvCxnSpPr>
          <p:nvPr/>
        </p:nvCxnSpPr>
        <p:spPr>
          <a:xfrm>
            <a:off x="1930400" y="2156619"/>
            <a:ext cx="406400" cy="56118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ACF6E7A5-6E09-7963-4F84-B162758B8F64}"/>
              </a:ext>
            </a:extLst>
          </p:cNvPr>
          <p:cNvCxnSpPr>
            <a:cxnSpLocks/>
            <a:stCxn id="12" idx="3"/>
            <a:endCxn id="17" idx="1"/>
          </p:cNvCxnSpPr>
          <p:nvPr/>
        </p:nvCxnSpPr>
        <p:spPr>
          <a:xfrm>
            <a:off x="1930400" y="2156619"/>
            <a:ext cx="406400" cy="561181"/>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Elbow 73">
            <a:extLst>
              <a:ext uri="{FF2B5EF4-FFF2-40B4-BE49-F238E27FC236}">
                <a16:creationId xmlns:a16="http://schemas.microsoft.com/office/drawing/2014/main" id="{042C9071-8BCC-7F00-954E-02582234D648}"/>
              </a:ext>
            </a:extLst>
          </p:cNvPr>
          <p:cNvCxnSpPr>
            <a:cxnSpLocks/>
            <a:stCxn id="13" idx="3"/>
            <a:endCxn id="17" idx="1"/>
          </p:cNvCxnSpPr>
          <p:nvPr/>
        </p:nvCxnSpPr>
        <p:spPr>
          <a:xfrm flipV="1">
            <a:off x="1930400" y="2717800"/>
            <a:ext cx="406400" cy="272257"/>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Elbow 74">
            <a:extLst>
              <a:ext uri="{FF2B5EF4-FFF2-40B4-BE49-F238E27FC236}">
                <a16:creationId xmlns:a16="http://schemas.microsoft.com/office/drawing/2014/main" id="{DCB5153A-3342-1D38-B4A3-F67670CF1E1A}"/>
              </a:ext>
            </a:extLst>
          </p:cNvPr>
          <p:cNvCxnSpPr>
            <a:cxnSpLocks/>
            <a:stCxn id="14" idx="3"/>
            <a:endCxn id="17" idx="1"/>
          </p:cNvCxnSpPr>
          <p:nvPr/>
        </p:nvCxnSpPr>
        <p:spPr>
          <a:xfrm flipV="1">
            <a:off x="1930400" y="2717800"/>
            <a:ext cx="406400" cy="11049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Elbow 75">
            <a:extLst>
              <a:ext uri="{FF2B5EF4-FFF2-40B4-BE49-F238E27FC236}">
                <a16:creationId xmlns:a16="http://schemas.microsoft.com/office/drawing/2014/main" id="{16EAD18B-A3B2-2023-B70F-F7AA7A11B1BC}"/>
              </a:ext>
            </a:extLst>
          </p:cNvPr>
          <p:cNvCxnSpPr>
            <a:cxnSpLocks/>
            <a:stCxn id="15" idx="3"/>
            <a:endCxn id="17" idx="1"/>
          </p:cNvCxnSpPr>
          <p:nvPr/>
        </p:nvCxnSpPr>
        <p:spPr>
          <a:xfrm flipV="1">
            <a:off x="1930400" y="2717800"/>
            <a:ext cx="406400" cy="1937544"/>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Elbow 76">
            <a:extLst>
              <a:ext uri="{FF2B5EF4-FFF2-40B4-BE49-F238E27FC236}">
                <a16:creationId xmlns:a16="http://schemas.microsoft.com/office/drawing/2014/main" id="{024DEC17-A54A-4D9D-8130-D756CD04D1F5}"/>
              </a:ext>
            </a:extLst>
          </p:cNvPr>
          <p:cNvCxnSpPr>
            <a:cxnSpLocks/>
            <a:stCxn id="16" idx="3"/>
            <a:endCxn id="17" idx="1"/>
          </p:cNvCxnSpPr>
          <p:nvPr/>
        </p:nvCxnSpPr>
        <p:spPr>
          <a:xfrm flipV="1">
            <a:off x="1930400" y="2717800"/>
            <a:ext cx="406400" cy="2770982"/>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603BBEE5-E579-F4E2-8A5D-A0969CED074B}"/>
              </a:ext>
            </a:extLst>
          </p:cNvPr>
          <p:cNvCxnSpPr>
            <a:cxnSpLocks/>
            <a:stCxn id="17" idx="2"/>
            <a:endCxn id="18" idx="0"/>
          </p:cNvCxnSpPr>
          <p:nvPr/>
        </p:nvCxnSpPr>
        <p:spPr>
          <a:xfrm>
            <a:off x="3048000" y="3683000"/>
            <a:ext cx="0" cy="228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Elbow 81">
            <a:extLst>
              <a:ext uri="{FF2B5EF4-FFF2-40B4-BE49-F238E27FC236}">
                <a16:creationId xmlns:a16="http://schemas.microsoft.com/office/drawing/2014/main" id="{4D2C4102-9740-5A22-73B2-599B91BAD5FE}"/>
              </a:ext>
            </a:extLst>
          </p:cNvPr>
          <p:cNvCxnSpPr>
            <a:cxnSpLocks/>
            <a:stCxn id="18" idx="3"/>
            <a:endCxn id="19" idx="1"/>
          </p:cNvCxnSpPr>
          <p:nvPr/>
        </p:nvCxnSpPr>
        <p:spPr>
          <a:xfrm flipV="1">
            <a:off x="3759200" y="3022600"/>
            <a:ext cx="304800" cy="18542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Elbow 82">
            <a:extLst>
              <a:ext uri="{FF2B5EF4-FFF2-40B4-BE49-F238E27FC236}">
                <a16:creationId xmlns:a16="http://schemas.microsoft.com/office/drawing/2014/main" id="{829FBA94-BE0E-017A-C6B3-189D98B37547}"/>
              </a:ext>
            </a:extLst>
          </p:cNvPr>
          <p:cNvCxnSpPr>
            <a:cxnSpLocks/>
            <a:stCxn id="21" idx="3"/>
            <a:endCxn id="23" idx="1"/>
          </p:cNvCxnSpPr>
          <p:nvPr/>
        </p:nvCxnSpPr>
        <p:spPr>
          <a:xfrm flipV="1">
            <a:off x="7569200" y="2463800"/>
            <a:ext cx="304800" cy="5588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E14787C3-3744-74A3-D6DC-BD3349F986A5}"/>
              </a:ext>
            </a:extLst>
          </p:cNvPr>
          <p:cNvCxnSpPr>
            <a:cxnSpLocks/>
            <a:stCxn id="23" idx="2"/>
            <a:endCxn id="24" idx="0"/>
          </p:cNvCxnSpPr>
          <p:nvPr/>
        </p:nvCxnSpPr>
        <p:spPr>
          <a:xfrm>
            <a:off x="8724900" y="3175000"/>
            <a:ext cx="0" cy="101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Elbow 89">
            <a:extLst>
              <a:ext uri="{FF2B5EF4-FFF2-40B4-BE49-F238E27FC236}">
                <a16:creationId xmlns:a16="http://schemas.microsoft.com/office/drawing/2014/main" id="{5DC20A62-737C-E63B-CA19-A4247C4B86FB}"/>
              </a:ext>
            </a:extLst>
          </p:cNvPr>
          <p:cNvCxnSpPr>
            <a:cxnSpLocks/>
            <a:stCxn id="25" idx="3"/>
            <a:endCxn id="26" idx="1"/>
          </p:cNvCxnSpPr>
          <p:nvPr/>
        </p:nvCxnSpPr>
        <p:spPr>
          <a:xfrm flipV="1">
            <a:off x="9575800" y="2743200"/>
            <a:ext cx="304800" cy="25273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Elbow 90">
            <a:extLst>
              <a:ext uri="{FF2B5EF4-FFF2-40B4-BE49-F238E27FC236}">
                <a16:creationId xmlns:a16="http://schemas.microsoft.com/office/drawing/2014/main" id="{AEBDF894-0F40-F2B6-7765-BE9866DDE688}"/>
              </a:ext>
            </a:extLst>
          </p:cNvPr>
          <p:cNvCxnSpPr>
            <a:cxnSpLocks/>
            <a:stCxn id="25" idx="3"/>
            <a:endCxn id="27" idx="1"/>
          </p:cNvCxnSpPr>
          <p:nvPr/>
        </p:nvCxnSpPr>
        <p:spPr>
          <a:xfrm flipV="1">
            <a:off x="9575800" y="4787900"/>
            <a:ext cx="304800" cy="4826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Freeform: Shape 91">
            <a:extLst>
              <a:ext uri="{FF2B5EF4-FFF2-40B4-BE49-F238E27FC236}">
                <a16:creationId xmlns:a16="http://schemas.microsoft.com/office/drawing/2014/main" id="{C291EEBB-ECB9-EAF6-C395-60AD357923C3}"/>
              </a:ext>
            </a:extLst>
          </p:cNvPr>
          <p:cNvSpPr/>
          <p:nvPr/>
        </p:nvSpPr>
        <p:spPr>
          <a:xfrm>
            <a:off x="7366000" y="4292600"/>
            <a:ext cx="508001" cy="114301"/>
          </a:xfrm>
          <a:custGeom>
            <a:avLst/>
            <a:gdLst/>
            <a:ahLst/>
            <a:cxnLst/>
            <a:rect l="0" t="0" r="0" b="0"/>
            <a:pathLst>
              <a:path w="508001" h="114301">
                <a:moveTo>
                  <a:pt x="0" y="0"/>
                </a:moveTo>
                <a:lnTo>
                  <a:pt x="0" y="114300"/>
                </a:lnTo>
                <a:lnTo>
                  <a:pt x="508000" y="114300"/>
                </a:ln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pic>
        <p:nvPicPr>
          <p:cNvPr id="94" name="Pic">
            <a:extLst>
              <a:ext uri="{FF2B5EF4-FFF2-40B4-BE49-F238E27FC236}">
                <a16:creationId xmlns:a16="http://schemas.microsoft.com/office/drawing/2014/main" id="{286DE1FF-EB47-6CC4-6463-A79B90130A90}"/>
              </a:ext>
            </a:extLst>
          </p:cNvPr>
          <p:cNvPicPr>
            <a:picLocks/>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4"/>
              </a:ext>
              <a:ext uri="{6F801314-5768-4EAC-8CED-0F2297F94238}"/>
            </a:extLst>
          </a:blip>
          <a:stretch>
            <a:fillRect/>
          </a:stretch>
        </p:blipFill>
        <p:spPr bwMode="auto">
          <a:xfrm>
            <a:off x="279400" y="1828800"/>
            <a:ext cx="152400" cy="152400"/>
          </a:xfrm>
          <a:prstGeom prst="rect">
            <a:avLst/>
          </a:prstGeom>
          <a:noFill/>
          <a:effectLst/>
        </p:spPr>
      </p:pic>
      <p:pic>
        <p:nvPicPr>
          <p:cNvPr id="95" name="Pic">
            <a:extLst>
              <a:ext uri="{FF2B5EF4-FFF2-40B4-BE49-F238E27FC236}">
                <a16:creationId xmlns:a16="http://schemas.microsoft.com/office/drawing/2014/main" id="{1F7890DD-8B3A-4E98-BE98-12F6ED66934C}"/>
              </a:ext>
            </a:extLst>
          </p:cNvPr>
          <p:cNvPicPr>
            <a:picLocks/>
          </p:cNvPicPr>
          <p:nvPr>
            <p:custDataLst>
              <p:tags r:id="rId1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5"/>
              </a:ext>
              <a:ext uri="{6F801314-5768-4EAC-8CED-0F2297F94238}"/>
            </a:extLst>
          </a:blip>
          <a:stretch>
            <a:fillRect/>
          </a:stretch>
        </p:blipFill>
        <p:spPr bwMode="auto">
          <a:xfrm>
            <a:off x="279400" y="2667000"/>
            <a:ext cx="152400" cy="152400"/>
          </a:xfrm>
          <a:prstGeom prst="rect">
            <a:avLst/>
          </a:prstGeom>
          <a:noFill/>
          <a:effectLst/>
        </p:spPr>
      </p:pic>
      <p:pic>
        <p:nvPicPr>
          <p:cNvPr id="97" name="Pic">
            <a:extLst>
              <a:ext uri="{FF2B5EF4-FFF2-40B4-BE49-F238E27FC236}">
                <a16:creationId xmlns:a16="http://schemas.microsoft.com/office/drawing/2014/main" id="{E65744CF-E72A-38DC-3BD1-870AD24DCE1F}"/>
              </a:ext>
            </a:extLst>
          </p:cNvPr>
          <p:cNvPicPr>
            <a:picLocks/>
          </p:cNvPicPr>
          <p:nvPr>
            <p:custDataLst>
              <p:tags r:id="rId1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6"/>
              </a:ext>
              <a:ext uri="{6F801314-5768-4EAC-8CED-0F2297F94238}"/>
            </a:extLst>
          </a:blip>
          <a:stretch>
            <a:fillRect/>
          </a:stretch>
        </p:blipFill>
        <p:spPr bwMode="auto">
          <a:xfrm>
            <a:off x="279400" y="3505200"/>
            <a:ext cx="152400" cy="152400"/>
          </a:xfrm>
          <a:prstGeom prst="rect">
            <a:avLst/>
          </a:prstGeom>
          <a:noFill/>
          <a:effectLst/>
        </p:spPr>
      </p:pic>
      <p:pic>
        <p:nvPicPr>
          <p:cNvPr id="98" name="Pic">
            <a:extLst>
              <a:ext uri="{FF2B5EF4-FFF2-40B4-BE49-F238E27FC236}">
                <a16:creationId xmlns:a16="http://schemas.microsoft.com/office/drawing/2014/main" id="{AE5309ED-8A64-14E2-F5DE-CFE609AFF2A9}"/>
              </a:ext>
            </a:extLst>
          </p:cNvPr>
          <p:cNvPicPr>
            <a:picLocks/>
          </p:cNvPicPr>
          <p:nvPr>
            <p:custDataLst>
              <p:tags r:id="rId1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7"/>
              </a:ext>
              <a:ext uri="{6F801314-5768-4EAC-8CED-0F2297F94238}"/>
            </a:extLst>
          </a:blip>
          <a:stretch>
            <a:fillRect/>
          </a:stretch>
        </p:blipFill>
        <p:spPr bwMode="auto">
          <a:xfrm>
            <a:off x="279400" y="5168900"/>
            <a:ext cx="152400" cy="152400"/>
          </a:xfrm>
          <a:prstGeom prst="rect">
            <a:avLst/>
          </a:prstGeom>
          <a:noFill/>
          <a:effectLst/>
        </p:spPr>
      </p:pic>
      <p:pic>
        <p:nvPicPr>
          <p:cNvPr id="96" name="Pic">
            <a:extLst>
              <a:ext uri="{FF2B5EF4-FFF2-40B4-BE49-F238E27FC236}">
                <a16:creationId xmlns:a16="http://schemas.microsoft.com/office/drawing/2014/main" id="{FCC8723C-3D68-369D-DD60-69A1EEE244B8}"/>
              </a:ext>
            </a:extLst>
          </p:cNvPr>
          <p:cNvPicPr>
            <a:picLocks/>
          </p:cNvPicPr>
          <p:nvPr>
            <p:custDataLst>
              <p:tags r:id="rId1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8"/>
              </a:ext>
              <a:ext uri="{6F801314-5768-4EAC-8CED-0F2297F94238}"/>
            </a:extLst>
          </a:blip>
          <a:stretch>
            <a:fillRect/>
          </a:stretch>
        </p:blipFill>
        <p:spPr bwMode="auto">
          <a:xfrm>
            <a:off x="2438400" y="1879600"/>
            <a:ext cx="152400" cy="152400"/>
          </a:xfrm>
          <a:prstGeom prst="rect">
            <a:avLst/>
          </a:prstGeom>
          <a:noFill/>
          <a:effectLst/>
        </p:spPr>
      </p:pic>
      <p:pic>
        <p:nvPicPr>
          <p:cNvPr id="99" name="Pic">
            <a:extLst>
              <a:ext uri="{FF2B5EF4-FFF2-40B4-BE49-F238E27FC236}">
                <a16:creationId xmlns:a16="http://schemas.microsoft.com/office/drawing/2014/main" id="{AC7EFDFE-7C4C-C4F9-4B29-7CA57CD6F2DE}"/>
              </a:ext>
            </a:extLst>
          </p:cNvPr>
          <p:cNvPicPr>
            <a:picLocks/>
          </p:cNvPicPr>
          <p:nvPr>
            <p:custDataLst>
              <p:tags r:id="rId1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9"/>
              </a:ext>
              <a:ext uri="{6F801314-5768-4EAC-8CED-0F2297F94238}"/>
            </a:extLst>
          </a:blip>
          <a:stretch>
            <a:fillRect/>
          </a:stretch>
        </p:blipFill>
        <p:spPr bwMode="auto">
          <a:xfrm>
            <a:off x="7975600" y="3378200"/>
            <a:ext cx="152400" cy="152400"/>
          </a:xfrm>
          <a:prstGeom prst="rect">
            <a:avLst/>
          </a:prstGeom>
          <a:noFill/>
          <a:effectLst/>
        </p:spPr>
      </p:pic>
      <p:pic>
        <p:nvPicPr>
          <p:cNvPr id="101" name="Pic">
            <a:extLst>
              <a:ext uri="{FF2B5EF4-FFF2-40B4-BE49-F238E27FC236}">
                <a16:creationId xmlns:a16="http://schemas.microsoft.com/office/drawing/2014/main" id="{1894F087-B755-1519-B5A9-4B2EA3CE1C4D}"/>
              </a:ext>
            </a:extLst>
          </p:cNvPr>
          <p:cNvPicPr>
            <a:picLocks/>
          </p:cNvPicPr>
          <p:nvPr>
            <p:custDataLst>
              <p:tags r:id="rId1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0"/>
              </a:ext>
              <a:ext uri="{6F801314-5768-4EAC-8CED-0F2297F94238}"/>
            </a:extLst>
          </a:blip>
          <a:stretch>
            <a:fillRect/>
          </a:stretch>
        </p:blipFill>
        <p:spPr bwMode="auto">
          <a:xfrm>
            <a:off x="279400" y="4330700"/>
            <a:ext cx="152400" cy="152400"/>
          </a:xfrm>
          <a:prstGeom prst="rect">
            <a:avLst/>
          </a:prstGeom>
          <a:noFill/>
          <a:effectLst/>
        </p:spPr>
      </p:pic>
      <p:cxnSp>
        <p:nvCxnSpPr>
          <p:cNvPr id="105" name="Straight Arrow Connector 104">
            <a:extLst>
              <a:ext uri="{FF2B5EF4-FFF2-40B4-BE49-F238E27FC236}">
                <a16:creationId xmlns:a16="http://schemas.microsoft.com/office/drawing/2014/main" id="{F5A4C6A0-CA87-FF81-39BB-4C7DF06F5E0E}"/>
              </a:ext>
            </a:extLst>
          </p:cNvPr>
          <p:cNvCxnSpPr>
            <a:cxnSpLocks/>
            <a:stCxn id="24" idx="2"/>
            <a:endCxn id="25" idx="0"/>
          </p:cNvCxnSpPr>
          <p:nvPr/>
        </p:nvCxnSpPr>
        <p:spPr>
          <a:xfrm>
            <a:off x="8724900" y="4597400"/>
            <a:ext cx="0" cy="101600"/>
          </a:xfrm>
          <a:prstGeom prst="straightConnector1">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DCE07B73-5C0A-CB0B-FE3B-06FABEBC4BDD}"/>
              </a:ext>
            </a:extLst>
          </p:cNvPr>
          <p:cNvSpPr/>
          <p:nvPr/>
        </p:nvSpPr>
        <p:spPr>
          <a:xfrm>
            <a:off x="3924300" y="4457700"/>
            <a:ext cx="3746500" cy="1517651"/>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4" name="Rectangle 33">
            <a:extLst>
              <a:ext uri="{FF2B5EF4-FFF2-40B4-BE49-F238E27FC236}">
                <a16:creationId xmlns:a16="http://schemas.microsoft.com/office/drawing/2014/main" id="{845B1129-A063-5047-A64F-EAF1AF2EE051}"/>
              </a:ext>
            </a:extLst>
          </p:cNvPr>
          <p:cNvSpPr/>
          <p:nvPr/>
        </p:nvSpPr>
        <p:spPr>
          <a:xfrm>
            <a:off x="3937001" y="1363756"/>
            <a:ext cx="3822700" cy="313690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6" name="Rectangle 35">
            <a:extLst>
              <a:ext uri="{FF2B5EF4-FFF2-40B4-BE49-F238E27FC236}">
                <a16:creationId xmlns:a16="http://schemas.microsoft.com/office/drawing/2014/main" id="{B8F10F27-C94E-1FA0-0862-A4D104F4F06B}"/>
              </a:ext>
            </a:extLst>
          </p:cNvPr>
          <p:cNvSpPr/>
          <p:nvPr/>
        </p:nvSpPr>
        <p:spPr>
          <a:xfrm>
            <a:off x="63500" y="1272989"/>
            <a:ext cx="3873500" cy="47023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5" name="Rectangle 34">
            <a:extLst>
              <a:ext uri="{FF2B5EF4-FFF2-40B4-BE49-F238E27FC236}">
                <a16:creationId xmlns:a16="http://schemas.microsoft.com/office/drawing/2014/main" id="{CA8D6B38-2141-53FA-184F-AE3A1DD68FE5}"/>
              </a:ext>
            </a:extLst>
          </p:cNvPr>
          <p:cNvSpPr/>
          <p:nvPr/>
        </p:nvSpPr>
        <p:spPr>
          <a:xfrm>
            <a:off x="7677150" y="1358900"/>
            <a:ext cx="2082800" cy="465455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7" name="Rectangle: Rounded Corners 36">
            <a:extLst>
              <a:ext uri="{FF2B5EF4-FFF2-40B4-BE49-F238E27FC236}">
                <a16:creationId xmlns:a16="http://schemas.microsoft.com/office/drawing/2014/main" id="{0F911A35-B3EE-6B0F-383A-DCEA60DDA75D}"/>
              </a:ext>
            </a:extLst>
          </p:cNvPr>
          <p:cNvSpPr/>
          <p:nvPr/>
        </p:nvSpPr>
        <p:spPr>
          <a:xfrm>
            <a:off x="406400" y="1371600"/>
            <a:ext cx="9194800" cy="4572000"/>
          </a:xfrm>
          <a:prstGeom prst="roundRect">
            <a:avLst>
              <a:gd name="adj" fmla="val 3000"/>
            </a:avLst>
          </a:prstGeom>
          <a:solidFill>
            <a:schemeClr val="tx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8" name="Rectangle: Rounded Corners 37">
            <a:extLst>
              <a:ext uri="{FF2B5EF4-FFF2-40B4-BE49-F238E27FC236}">
                <a16:creationId xmlns:a16="http://schemas.microsoft.com/office/drawing/2014/main" id="{52F8FBCC-9664-285D-BA6D-19A19295CA2F}"/>
              </a:ext>
            </a:extLst>
          </p:cNvPr>
          <p:cNvSpPr/>
          <p:nvPr/>
        </p:nvSpPr>
        <p:spPr>
          <a:xfrm>
            <a:off x="533400" y="1905000"/>
            <a:ext cx="8940800" cy="2184400"/>
          </a:xfrm>
          <a:prstGeom prst="roundRect">
            <a:avLst>
              <a:gd name="adj" fmla="val 3500"/>
            </a:avLst>
          </a:prstGeom>
          <a:noFill/>
          <a:ln w="9525" cap="flat" cmpd="sng" algn="ctr">
            <a:noFill/>
            <a:prstDash val="solid"/>
            <a:miter lim="800000"/>
          </a:ln>
          <a:effectLst/>
          <a:extLst>
            <a:ext uri="{909E8E84-426E-40DD-AFC4-6F175D3DCCD1}">
              <a14:hiddenFill xmlns:a14="http://schemas.microsoft.com/office/drawing/2010/main">
                <a:solidFill>
                  <a:schemeClr val="tx2">
                    <a:lumMod val="88000"/>
                    <a:lumOff val="12000"/>
                  </a:schemeClr>
                </a:solidFill>
              </a14:hiddenFill>
            </a:ext>
            <a:ext uri="{91240B29-F687-4F45-9708-019B960494DF}">
              <a14:hiddenLine xmlns:a14="http://schemas.microsoft.com/office/drawing/2010/main" w="9525" cap="flat" cmpd="sng" algn="ctr">
                <a:solidFill>
                  <a:schemeClr val="bg2">
                    <a:lumMod val="9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88900" bIns="63500" rtlCol="0" anchor="t">
            <a:noAutofit/>
          </a:bodyPr>
          <a:lstStyle/>
          <a:p>
            <a:r>
              <a:rPr lang="en-MY" sz="1200" b="1">
                <a:solidFill>
                  <a:schemeClr val="bg1"/>
                </a:solidFill>
              </a:rPr>
              <a:t>Four views</a:t>
            </a:r>
          </a:p>
        </p:txBody>
      </p:sp>
      <p:sp>
        <p:nvSpPr>
          <p:cNvPr id="39" name="TextBox 38">
            <a:extLst>
              <a:ext uri="{FF2B5EF4-FFF2-40B4-BE49-F238E27FC236}">
                <a16:creationId xmlns:a16="http://schemas.microsoft.com/office/drawing/2014/main" id="{8C5FA58B-4DFC-CD23-46CC-2B1B33E18F45}"/>
              </a:ext>
            </a:extLst>
          </p:cNvPr>
          <p:cNvSpPr txBox="1"/>
          <p:nvPr/>
        </p:nvSpPr>
        <p:spPr>
          <a:xfrm>
            <a:off x="533400" y="1447800"/>
            <a:ext cx="8940800" cy="381000"/>
          </a:xfrm>
          <a:prstGeom prst="rect">
            <a:avLst/>
          </a:prstGeom>
          <a:noFill/>
        </p:spPr>
        <p:txBody>
          <a:bodyPr vert="horz" rtlCol="0">
            <a:noAutofit/>
          </a:bodyPr>
          <a:lstStyle/>
          <a:p>
            <a:r>
              <a:rPr lang="en-US" b="1">
                <a:solidFill>
                  <a:schemeClr val="bg1"/>
                </a:solidFill>
              </a:rPr>
              <a:t>FloodSense app: React on FastAPI, its own service principal</a:t>
            </a:r>
            <a:endParaRPr lang="en-MY"/>
          </a:p>
        </p:txBody>
      </p:sp>
      <p:sp>
        <p:nvSpPr>
          <p:cNvPr id="40" name="Rectangle: Rounded Corners 39">
            <a:extLst>
              <a:ext uri="{FF2B5EF4-FFF2-40B4-BE49-F238E27FC236}">
                <a16:creationId xmlns:a16="http://schemas.microsoft.com/office/drawing/2014/main" id="{39E59FA8-B9C4-7F79-07C2-034CA8B5534E}"/>
              </a:ext>
            </a:extLst>
          </p:cNvPr>
          <p:cNvSpPr/>
          <p:nvPr/>
        </p:nvSpPr>
        <p:spPr>
          <a:xfrm>
            <a:off x="533400" y="4191000"/>
            <a:ext cx="8940800" cy="1651000"/>
          </a:xfrm>
          <a:prstGeom prst="roundRect">
            <a:avLst>
              <a:gd name="adj" fmla="val 3500"/>
            </a:avLst>
          </a:prstGeom>
          <a:noFill/>
          <a:ln w="9525" cap="flat" cmpd="sng" algn="ctr">
            <a:noFill/>
            <a:prstDash val="solid"/>
            <a:miter lim="800000"/>
          </a:ln>
          <a:effectLst/>
          <a:extLst>
            <a:ext uri="{909E8E84-426E-40DD-AFC4-6F175D3DCCD1}">
              <a14:hiddenFill xmlns:a14="http://schemas.microsoft.com/office/drawing/2010/main">
                <a:solidFill>
                  <a:schemeClr val="tx2">
                    <a:lumMod val="88000"/>
                    <a:lumOff val="12000"/>
                  </a:schemeClr>
                </a:solidFill>
              </a14:hiddenFill>
            </a:ext>
            <a:ext uri="{91240B29-F687-4F45-9708-019B960494DF}">
              <a14:hiddenLine xmlns:a14="http://schemas.microsoft.com/office/drawing/2010/main" w="9525" cap="flat" cmpd="sng" algn="ctr">
                <a:solidFill>
                  <a:schemeClr val="bg2">
                    <a:lumMod val="9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88900" bIns="63500" rtlCol="0" anchor="t">
            <a:noAutofit/>
          </a:bodyPr>
          <a:lstStyle/>
          <a:p>
            <a:r>
              <a:rPr lang="en-MY" sz="1200" b="1">
                <a:solidFill>
                  <a:schemeClr val="bg1"/>
                </a:solidFill>
              </a:rPr>
              <a:t>Data and delivery · deployed from the bundle</a:t>
            </a:r>
          </a:p>
        </p:txBody>
      </p:sp>
      <p:sp>
        <p:nvSpPr>
          <p:cNvPr id="44" name="Rectangle: Rounded Corners 43">
            <a:extLst>
              <a:ext uri="{FF2B5EF4-FFF2-40B4-BE49-F238E27FC236}">
                <a16:creationId xmlns:a16="http://schemas.microsoft.com/office/drawing/2014/main" id="{6F801115-C4F2-ADE8-A4E5-07C1537CEE00}"/>
              </a:ext>
            </a:extLst>
          </p:cNvPr>
          <p:cNvSpPr/>
          <p:nvPr/>
        </p:nvSpPr>
        <p:spPr>
          <a:xfrm>
            <a:off x="533400" y="2235200"/>
            <a:ext cx="2143125" cy="1854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Now</a:t>
            </a:r>
          </a:p>
          <a:p>
            <a:pPr marL="171450" indent="-171450">
              <a:spcBef>
                <a:spcPts val="600"/>
              </a:spcBef>
              <a:buFont typeface="Arial" panose="020B0604020202020204" pitchFamily="34" charset="0"/>
              <a:buChar char="•"/>
            </a:pPr>
            <a:r>
              <a:rPr lang="en-US" sz="1100">
                <a:solidFill>
                  <a:schemeClr val="bg1"/>
                </a:solidFill>
              </a:rPr>
              <a:t>Map of 47 areas: warning, reason, advice</a:t>
            </a:r>
            <a:endParaRPr lang="en-MY"/>
          </a:p>
          <a:p>
            <a:pPr marL="171450" indent="-171450">
              <a:spcBef>
                <a:spcPts val="600"/>
              </a:spcBef>
              <a:buFont typeface="Arial" panose="020B0604020202020204" pitchFamily="34" charset="0"/>
              <a:buChar char="•"/>
            </a:pPr>
            <a:r>
              <a:rPr lang="en-US" sz="1100">
                <a:solidFill>
                  <a:schemeClr val="bg1"/>
                </a:solidFill>
              </a:rPr>
              <a:t>Address search and sign-up</a:t>
            </a:r>
            <a:endParaRPr lang="en-MY"/>
          </a:p>
        </p:txBody>
      </p:sp>
      <p:sp>
        <p:nvSpPr>
          <p:cNvPr id="45" name="IconTile_17">
            <a:extLst>
              <a:ext uri="{FF2B5EF4-FFF2-40B4-BE49-F238E27FC236}">
                <a16:creationId xmlns:a16="http://schemas.microsoft.com/office/drawing/2014/main" id="{D3771598-A803-5E65-2BE0-4BEA0A1AC02C}"/>
              </a:ext>
            </a:extLst>
          </p:cNvPr>
          <p:cNvSpPr/>
          <p:nvPr/>
        </p:nvSpPr>
        <p:spPr>
          <a:xfrm>
            <a:off x="647700" y="2349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6" name="Rectangle: Rounded Corners 45">
            <a:extLst>
              <a:ext uri="{FF2B5EF4-FFF2-40B4-BE49-F238E27FC236}">
                <a16:creationId xmlns:a16="http://schemas.microsoft.com/office/drawing/2014/main" id="{2C6425E1-68D8-74F6-D961-238A03DABD0A}"/>
              </a:ext>
            </a:extLst>
          </p:cNvPr>
          <p:cNvSpPr/>
          <p:nvPr/>
        </p:nvSpPr>
        <p:spPr>
          <a:xfrm>
            <a:off x="2800350" y="2235200"/>
            <a:ext cx="2141538" cy="1854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Replay</a:t>
            </a:r>
          </a:p>
          <a:p>
            <a:pPr marL="171450" indent="-171450">
              <a:spcBef>
                <a:spcPts val="600"/>
              </a:spcBef>
              <a:buFont typeface="Arial" panose="020B0604020202020204" pitchFamily="34" charset="0"/>
              <a:buChar char="•"/>
            </a:pPr>
            <a:r>
              <a:rPr lang="en-US" sz="1100">
                <a:solidFill>
                  <a:schemeClr val="bg1"/>
                </a:solidFill>
              </a:rPr>
              <a:t>Replays unseen storm days</a:t>
            </a:r>
            <a:endParaRPr lang="en-MY"/>
          </a:p>
          <a:p>
            <a:pPr marL="171450" indent="-171450">
              <a:spcBef>
                <a:spcPts val="600"/>
              </a:spcBef>
              <a:buFont typeface="Arial" panose="020B0604020202020204" pitchFamily="34" charset="0"/>
              <a:buChar char="•"/>
            </a:pPr>
            <a:r>
              <a:rPr lang="en-US" sz="1100">
                <a:solidFill>
                  <a:schemeClr val="bg1"/>
                </a:solidFill>
              </a:rPr>
              <a:t>13,536 area-ticks in under a minute, then cached</a:t>
            </a:r>
            <a:endParaRPr lang="en-MY"/>
          </a:p>
        </p:txBody>
      </p:sp>
      <p:sp>
        <p:nvSpPr>
          <p:cNvPr id="47" name="IconTile_17">
            <a:extLst>
              <a:ext uri="{FF2B5EF4-FFF2-40B4-BE49-F238E27FC236}">
                <a16:creationId xmlns:a16="http://schemas.microsoft.com/office/drawing/2014/main" id="{319E4E6C-16F7-300C-4F46-7F80B04315EF}"/>
              </a:ext>
            </a:extLst>
          </p:cNvPr>
          <p:cNvSpPr/>
          <p:nvPr/>
        </p:nvSpPr>
        <p:spPr>
          <a:xfrm>
            <a:off x="2913063" y="2349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8" name="Rectangle: Rounded Corners 47">
            <a:extLst>
              <a:ext uri="{FF2B5EF4-FFF2-40B4-BE49-F238E27FC236}">
                <a16:creationId xmlns:a16="http://schemas.microsoft.com/office/drawing/2014/main" id="{947E0D1F-D496-9B36-CDBA-B6049D605724}"/>
              </a:ext>
            </a:extLst>
          </p:cNvPr>
          <p:cNvSpPr/>
          <p:nvPr/>
        </p:nvSpPr>
        <p:spPr>
          <a:xfrm>
            <a:off x="5065713" y="2235200"/>
            <a:ext cx="2143125" cy="1854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Track record</a:t>
            </a:r>
          </a:p>
          <a:p>
            <a:pPr marL="171450" indent="-171450">
              <a:spcBef>
                <a:spcPts val="600"/>
              </a:spcBef>
              <a:buFont typeface="Arial" panose="020B0604020202020204" pitchFamily="34" charset="0"/>
              <a:buChar char="•"/>
            </a:pPr>
            <a:r>
              <a:rPr lang="en-US" sz="1100">
                <a:solidFill>
                  <a:schemeClr val="bg1"/>
                </a:solidFill>
              </a:rPr>
              <a:t>Read straight from the live model's MLflow run</a:t>
            </a:r>
            <a:endParaRPr lang="en-MY"/>
          </a:p>
        </p:txBody>
      </p:sp>
      <p:sp>
        <p:nvSpPr>
          <p:cNvPr id="49" name="IconTile_17">
            <a:extLst>
              <a:ext uri="{FF2B5EF4-FFF2-40B4-BE49-F238E27FC236}">
                <a16:creationId xmlns:a16="http://schemas.microsoft.com/office/drawing/2014/main" id="{8E2EC1CF-B5F5-0B72-868C-0CD73B366709}"/>
              </a:ext>
            </a:extLst>
          </p:cNvPr>
          <p:cNvSpPr/>
          <p:nvPr/>
        </p:nvSpPr>
        <p:spPr>
          <a:xfrm>
            <a:off x="5180013" y="2349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0" name="Rectangle: Rounded Corners 49">
            <a:extLst>
              <a:ext uri="{FF2B5EF4-FFF2-40B4-BE49-F238E27FC236}">
                <a16:creationId xmlns:a16="http://schemas.microsoft.com/office/drawing/2014/main" id="{696ADE95-2CD8-51E9-2985-FC52BCD973A5}"/>
              </a:ext>
            </a:extLst>
          </p:cNvPr>
          <p:cNvSpPr/>
          <p:nvPr/>
        </p:nvSpPr>
        <p:spPr>
          <a:xfrm>
            <a:off x="7331075" y="2235200"/>
            <a:ext cx="2143125" cy="18542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For agencies</a:t>
            </a:r>
          </a:p>
          <a:p>
            <a:pPr marL="171450" indent="-171450">
              <a:spcBef>
                <a:spcPts val="600"/>
              </a:spcBef>
              <a:buFont typeface="Arial" panose="020B0604020202020204" pitchFamily="34" charset="0"/>
              <a:buChar char="•"/>
            </a:pPr>
            <a:r>
              <a:rPr lang="en-US" sz="1100">
                <a:solidFill>
                  <a:schemeClr val="bg1"/>
                </a:solidFill>
              </a:rPr>
              <a:t>Embedded AI/BI scoreboard and Genie</a:t>
            </a:r>
            <a:endParaRPr lang="en-MY"/>
          </a:p>
        </p:txBody>
      </p:sp>
      <p:sp>
        <p:nvSpPr>
          <p:cNvPr id="51" name="IconTile_17">
            <a:extLst>
              <a:ext uri="{FF2B5EF4-FFF2-40B4-BE49-F238E27FC236}">
                <a16:creationId xmlns:a16="http://schemas.microsoft.com/office/drawing/2014/main" id="{300ABA1B-1EE1-795D-6B0F-13B421EAABB2}"/>
              </a:ext>
            </a:extLst>
          </p:cNvPr>
          <p:cNvSpPr/>
          <p:nvPr/>
        </p:nvSpPr>
        <p:spPr>
          <a:xfrm>
            <a:off x="7446963" y="2349500"/>
            <a:ext cx="227013"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2" name="Rectangle: Rounded Corners 51">
            <a:extLst>
              <a:ext uri="{FF2B5EF4-FFF2-40B4-BE49-F238E27FC236}">
                <a16:creationId xmlns:a16="http://schemas.microsoft.com/office/drawing/2014/main" id="{73AB4FD0-58BC-FDE8-94A3-07F497ECFFF0}"/>
              </a:ext>
            </a:extLst>
          </p:cNvPr>
          <p:cNvSpPr/>
          <p:nvPr/>
        </p:nvSpPr>
        <p:spPr>
          <a:xfrm>
            <a:off x="533400" y="4521200"/>
            <a:ext cx="4408488" cy="13208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Data</a:t>
            </a:r>
          </a:p>
          <a:p>
            <a:pPr marL="171450" indent="-171450">
              <a:spcBef>
                <a:spcPts val="600"/>
              </a:spcBef>
              <a:buFont typeface="Arial" panose="020B0604020202020204" pitchFamily="34" charset="0"/>
              <a:buChar char="•"/>
            </a:pPr>
            <a:r>
              <a:rPr lang="en-US" sz="1100">
                <a:solidFill>
                  <a:schemeClr val="bg1"/>
                </a:solidFill>
              </a:rPr>
              <a:t>Via serverless SQL warehouse</a:t>
            </a:r>
            <a:endParaRPr lang="en-MY"/>
          </a:p>
        </p:txBody>
      </p:sp>
      <p:sp>
        <p:nvSpPr>
          <p:cNvPr id="67" name="IconTile_17">
            <a:extLst>
              <a:ext uri="{FF2B5EF4-FFF2-40B4-BE49-F238E27FC236}">
                <a16:creationId xmlns:a16="http://schemas.microsoft.com/office/drawing/2014/main" id="{5B07E966-DB8E-A04B-DE23-E2CF9D7B27E2}"/>
              </a:ext>
            </a:extLst>
          </p:cNvPr>
          <p:cNvSpPr/>
          <p:nvPr/>
        </p:nvSpPr>
        <p:spPr>
          <a:xfrm>
            <a:off x="647700" y="4635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8" name="Rectangle: Rounded Corners 67">
            <a:extLst>
              <a:ext uri="{FF2B5EF4-FFF2-40B4-BE49-F238E27FC236}">
                <a16:creationId xmlns:a16="http://schemas.microsoft.com/office/drawing/2014/main" id="{711F449C-7035-F735-9733-2726E7215D98}"/>
              </a:ext>
            </a:extLst>
          </p:cNvPr>
          <p:cNvSpPr/>
          <p:nvPr/>
        </p:nvSpPr>
        <p:spPr>
          <a:xfrm>
            <a:off x="5065713" y="4521200"/>
            <a:ext cx="4408488" cy="13208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Alerts</a:t>
            </a:r>
          </a:p>
          <a:p>
            <a:pPr marL="171450" indent="-171450">
              <a:spcBef>
                <a:spcPts val="600"/>
              </a:spcBef>
              <a:buFont typeface="Arial" panose="020B0604020202020204" pitchFamily="34" charset="0"/>
              <a:buChar char="•"/>
            </a:pPr>
            <a:r>
              <a:rPr lang="en-US" sz="1100">
                <a:solidFill>
                  <a:schemeClr val="bg1"/>
                </a:solidFill>
              </a:rPr>
              <a:t>New warnings pushed to Telegram @daisi_floodsense and email</a:t>
            </a:r>
            <a:endParaRPr lang="en-MY"/>
          </a:p>
        </p:txBody>
      </p:sp>
      <p:sp>
        <p:nvSpPr>
          <p:cNvPr id="69" name="IconTile_17">
            <a:extLst>
              <a:ext uri="{FF2B5EF4-FFF2-40B4-BE49-F238E27FC236}">
                <a16:creationId xmlns:a16="http://schemas.microsoft.com/office/drawing/2014/main" id="{B1BCAADD-B587-DED8-1F38-7149C7E6E6CE}"/>
              </a:ext>
            </a:extLst>
          </p:cNvPr>
          <p:cNvSpPr/>
          <p:nvPr/>
        </p:nvSpPr>
        <p:spPr>
          <a:xfrm>
            <a:off x="5180013" y="46355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70" name="Pic">
            <a:extLst>
              <a:ext uri="{FF2B5EF4-FFF2-40B4-BE49-F238E27FC236}">
                <a16:creationId xmlns:a16="http://schemas.microsoft.com/office/drawing/2014/main" id="{CC43934E-AC5D-DCB0-D0E1-BA88B60F393E}"/>
              </a:ext>
            </a:extLst>
          </p:cNvPr>
          <p:cNvPicPr>
            <a:picLocks/>
          </p:cNvPicPr>
          <p:nvPr>
            <p:custDataLst>
              <p:tags r:id="rId1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1"/>
              </a:ext>
              <a:ext uri="{6F801314-5768-4EAC-8CED-0F2297F94238}"/>
            </a:extLst>
          </a:blip>
          <a:stretch>
            <a:fillRect/>
          </a:stretch>
        </p:blipFill>
        <p:spPr bwMode="auto">
          <a:xfrm>
            <a:off x="673100" y="2374900"/>
            <a:ext cx="177800" cy="177800"/>
          </a:xfrm>
          <a:prstGeom prst="rect">
            <a:avLst/>
          </a:prstGeom>
          <a:noFill/>
          <a:effectLst/>
        </p:spPr>
      </p:pic>
      <p:pic>
        <p:nvPicPr>
          <p:cNvPr id="73" name="Pic">
            <a:extLst>
              <a:ext uri="{FF2B5EF4-FFF2-40B4-BE49-F238E27FC236}">
                <a16:creationId xmlns:a16="http://schemas.microsoft.com/office/drawing/2014/main" id="{33230120-3053-05D9-E609-881565A2469B}"/>
              </a:ext>
            </a:extLst>
          </p:cNvPr>
          <p:cNvPicPr>
            <a:picLocks/>
          </p:cNvPicPr>
          <p:nvPr>
            <p:custDataLst>
              <p:tags r:id="rId1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2"/>
              </a:ext>
              <a:ext uri="{6F801314-5768-4EAC-8CED-0F2297F94238}"/>
            </a:extLst>
          </a:blip>
          <a:stretch>
            <a:fillRect/>
          </a:stretch>
        </p:blipFill>
        <p:spPr bwMode="auto">
          <a:xfrm>
            <a:off x="2938463" y="2374900"/>
            <a:ext cx="177800" cy="177800"/>
          </a:xfrm>
          <a:prstGeom prst="rect">
            <a:avLst/>
          </a:prstGeom>
          <a:noFill/>
          <a:effectLst/>
        </p:spPr>
      </p:pic>
      <p:pic>
        <p:nvPicPr>
          <p:cNvPr id="85" name="Pic">
            <a:extLst>
              <a:ext uri="{FF2B5EF4-FFF2-40B4-BE49-F238E27FC236}">
                <a16:creationId xmlns:a16="http://schemas.microsoft.com/office/drawing/2014/main" id="{4E3C2190-FC0D-8016-FED8-A93808226637}"/>
              </a:ext>
            </a:extLst>
          </p:cNvPr>
          <p:cNvPicPr>
            <a:picLocks/>
          </p:cNvPicPr>
          <p:nvPr>
            <p:custDataLst>
              <p:tags r:id="rId1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3"/>
              </a:ext>
              <a:ext uri="{6F801314-5768-4EAC-8CED-0F2297F94238}"/>
            </a:extLst>
          </a:blip>
          <a:stretch>
            <a:fillRect/>
          </a:stretch>
        </p:blipFill>
        <p:spPr bwMode="auto">
          <a:xfrm>
            <a:off x="5205413" y="2374900"/>
            <a:ext cx="177800" cy="177800"/>
          </a:xfrm>
          <a:prstGeom prst="rect">
            <a:avLst/>
          </a:prstGeom>
          <a:noFill/>
          <a:effectLst/>
        </p:spPr>
      </p:pic>
      <p:pic>
        <p:nvPicPr>
          <p:cNvPr id="88" name="Pic">
            <a:extLst>
              <a:ext uri="{FF2B5EF4-FFF2-40B4-BE49-F238E27FC236}">
                <a16:creationId xmlns:a16="http://schemas.microsoft.com/office/drawing/2014/main" id="{1B70109F-E73E-6E21-253F-767FD58B945D}"/>
              </a:ext>
            </a:extLst>
          </p:cNvPr>
          <p:cNvPicPr>
            <a:picLocks/>
          </p:cNvPicPr>
          <p:nvPr>
            <p:custDataLst>
              <p:tags r:id="rId2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4"/>
              </a:ext>
              <a:ext uri="{6F801314-5768-4EAC-8CED-0F2297F94238}"/>
            </a:extLst>
          </a:blip>
          <a:stretch>
            <a:fillRect/>
          </a:stretch>
        </p:blipFill>
        <p:spPr bwMode="auto">
          <a:xfrm>
            <a:off x="7470775" y="2374900"/>
            <a:ext cx="177800" cy="177800"/>
          </a:xfrm>
          <a:prstGeom prst="rect">
            <a:avLst/>
          </a:prstGeom>
          <a:noFill/>
          <a:effectLst/>
        </p:spPr>
      </p:pic>
      <p:pic>
        <p:nvPicPr>
          <p:cNvPr id="89" name="Pic">
            <a:extLst>
              <a:ext uri="{FF2B5EF4-FFF2-40B4-BE49-F238E27FC236}">
                <a16:creationId xmlns:a16="http://schemas.microsoft.com/office/drawing/2014/main" id="{2325D90D-2EAF-8322-5A27-4E9F87090FA9}"/>
              </a:ext>
            </a:extLst>
          </p:cNvPr>
          <p:cNvPicPr>
            <a:picLocks/>
          </p:cNvPicPr>
          <p:nvPr>
            <p:custDataLst>
              <p:tags r:id="rId2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5"/>
              </a:ext>
              <a:ext uri="{6F801314-5768-4EAC-8CED-0F2297F94238}"/>
            </a:extLst>
          </a:blip>
          <a:stretch>
            <a:fillRect/>
          </a:stretch>
        </p:blipFill>
        <p:spPr bwMode="auto">
          <a:xfrm>
            <a:off x="673100" y="4660900"/>
            <a:ext cx="177800" cy="177800"/>
          </a:xfrm>
          <a:prstGeom prst="rect">
            <a:avLst/>
          </a:prstGeom>
          <a:noFill/>
          <a:effectLst/>
        </p:spPr>
      </p:pic>
      <p:pic>
        <p:nvPicPr>
          <p:cNvPr id="93" name="Pic">
            <a:extLst>
              <a:ext uri="{FF2B5EF4-FFF2-40B4-BE49-F238E27FC236}">
                <a16:creationId xmlns:a16="http://schemas.microsoft.com/office/drawing/2014/main" id="{ACFA721F-8F24-6783-C7C7-A739E9F18A20}"/>
              </a:ext>
            </a:extLst>
          </p:cNvPr>
          <p:cNvPicPr>
            <a:picLocks/>
          </p:cNvPicPr>
          <p:nvPr>
            <p:custDataLst>
              <p:tags r:id="rId2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6"/>
              </a:ext>
              <a:ext uri="{6F801314-5768-4EAC-8CED-0F2297F94238}"/>
            </a:extLst>
          </a:blip>
          <a:stretch>
            <a:fillRect/>
          </a:stretch>
        </p:blipFill>
        <p:spPr bwMode="auto">
          <a:xfrm>
            <a:off x="5205413" y="4660900"/>
            <a:ext cx="177800" cy="177800"/>
          </a:xfrm>
          <a:prstGeom prst="rect">
            <a:avLst/>
          </a:prstGeom>
          <a:noFill/>
          <a:effectLst/>
        </p:spPr>
      </p:pic>
      <p:sp>
        <p:nvSpPr>
          <p:cNvPr id="100" name="Rectangle 99">
            <a:extLst>
              <a:ext uri="{FF2B5EF4-FFF2-40B4-BE49-F238E27FC236}">
                <a16:creationId xmlns:a16="http://schemas.microsoft.com/office/drawing/2014/main" id="{EF3CD147-05FA-7CF3-A864-DB26BE9FD18A}"/>
              </a:ext>
            </a:extLst>
          </p:cNvPr>
          <p:cNvSpPr/>
          <p:nvPr/>
        </p:nvSpPr>
        <p:spPr>
          <a:xfrm>
            <a:off x="2006601" y="5988050"/>
            <a:ext cx="10041964" cy="678408"/>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600"/>
          </a:p>
        </p:txBody>
      </p:sp>
      <p:sp>
        <p:nvSpPr>
          <p:cNvPr id="103" name="Rectangle 102">
            <a:extLst>
              <a:ext uri="{FF2B5EF4-FFF2-40B4-BE49-F238E27FC236}">
                <a16:creationId xmlns:a16="http://schemas.microsoft.com/office/drawing/2014/main" id="{D8D9D964-8633-EE8C-D27E-3B5CC02817DB}"/>
              </a:ext>
            </a:extLst>
          </p:cNvPr>
          <p:cNvSpPr/>
          <p:nvPr/>
        </p:nvSpPr>
        <p:spPr>
          <a:xfrm>
            <a:off x="9702800" y="3702050"/>
            <a:ext cx="2273300" cy="232410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600"/>
          </a:p>
        </p:txBody>
      </p:sp>
    </p:spTree>
    <p:extLst>
      <p:ext uri="{BB962C8B-B14F-4D97-AF65-F5344CB8AC3E}">
        <p14:creationId xmlns:p14="http://schemas.microsoft.com/office/powerpoint/2010/main" val="122684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P spid="39" grpId="0"/>
      <p:bldP spid="40" grpId="0"/>
      <p:bldP spid="44" grpId="0" animBg="1"/>
      <p:bldP spid="45" grpId="0" animBg="1"/>
      <p:bldP spid="46" grpId="0" animBg="1"/>
      <p:bldP spid="47" grpId="0" animBg="1"/>
      <p:bldP spid="48" grpId="0" animBg="1"/>
      <p:bldP spid="49" grpId="0" animBg="1"/>
      <p:bldP spid="50" grpId="0" animBg="1"/>
      <p:bldP spid="51" grpId="0" animBg="1"/>
      <p:bldP spid="52" grpId="0" animBg="1"/>
      <p:bldP spid="67" grpId="0" animBg="1"/>
      <p:bldP spid="68" grpId="0" animBg="1"/>
      <p:bldP spid="69"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8F1BBB9-0107-8D8C-AE9A-8DFACDE1E872}"/>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B80B2C2-3F97-85E8-B2A8-40DEF2E50699}"/>
              </a:ext>
            </a:extLst>
          </p:cNvPr>
          <p:cNvGraphicFramePr>
            <a:graphicFrameLocks/>
          </p:cNvGraphicFramePr>
          <p:nvPr>
            <p:custDataLst>
              <p:tags r:id="rId1"/>
            </p:custDataLst>
            <p:extLst>
              <p:ext uri="{D42A27DB-BD31-4B8C-83A1-F6EECF244321}">
                <p14:modId xmlns:p14="http://schemas.microsoft.com/office/powerpoint/2010/main" val="31182331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443" imgH="443" progId="TCLayout.ActiveDocument.1">
                  <p:embed/>
                </p:oleObj>
              </mc:Choice>
              <mc:Fallback>
                <p:oleObj name="thinkcell Slide" r:id="rId22" imgW="443" imgH="443" progId="TCLayout.ActiveDocument.1">
                  <p:embed/>
                  <p:pic>
                    <p:nvPicPr>
                      <p:cNvPr id="3" name="thinkcell data - do not delete" hidden="1">
                        <a:extLst>
                          <a:ext uri="{FF2B5EF4-FFF2-40B4-BE49-F238E27FC236}">
                            <a16:creationId xmlns:a16="http://schemas.microsoft.com/office/drawing/2014/main" id="{2B80B2C2-3F97-85E8-B2A8-40DEF2E50699}"/>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C2AF663-24D1-8CEE-1977-009AD1FC9677}"/>
              </a:ext>
            </a:extLst>
          </p:cNvPr>
          <p:cNvSpPr>
            <a:spLocks noGrp="1"/>
          </p:cNvSpPr>
          <p:nvPr>
            <p:ph type="title"/>
          </p:nvPr>
        </p:nvSpPr>
        <p:spPr>
          <a:xfrm>
            <a:off x="254000" y="177800"/>
            <a:ext cx="11684000" cy="787400"/>
          </a:xfrm>
        </p:spPr>
        <p:txBody>
          <a:bodyPr/>
          <a:lstStyle/>
          <a:p>
            <a:r>
              <a:rPr lang="en-US" dirty="0"/>
              <a:t>Genie Agent</a:t>
            </a:r>
          </a:p>
        </p:txBody>
      </p:sp>
      <p:sp>
        <p:nvSpPr>
          <p:cNvPr id="4" name="Rectangle: Rounded Corners 3">
            <a:extLst>
              <a:ext uri="{FF2B5EF4-FFF2-40B4-BE49-F238E27FC236}">
                <a16:creationId xmlns:a16="http://schemas.microsoft.com/office/drawing/2014/main" id="{A20D5DDD-C7F2-A47E-1B2B-0C14D2F0C9F3}"/>
              </a:ext>
            </a:extLst>
          </p:cNvPr>
          <p:cNvSpPr/>
          <p:nvPr/>
        </p:nvSpPr>
        <p:spPr>
          <a:xfrm>
            <a:off x="2108200" y="1016000"/>
            <a:ext cx="9880600" cy="5613400"/>
          </a:xfrm>
          <a:prstGeom prst="roundRect">
            <a:avLst>
              <a:gd name="adj" fmla="val 3000"/>
            </a:avLst>
          </a:prstGeom>
          <a:noFill/>
          <a:ln w="9525" cap="flat" cmpd="sng" algn="ctr">
            <a:solidFill>
              <a:schemeClr val="bg2">
                <a:lumMod val="85000"/>
              </a:schemeClr>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88900" tIns="76200" rIns="88900" bIns="76200" rtlCol="0" anchor="t">
            <a:noAutofit/>
          </a:bodyPr>
          <a:lstStyle/>
          <a:p>
            <a:r>
              <a:rPr lang="en-MY"/>
              <a:t> </a:t>
            </a:r>
          </a:p>
        </p:txBody>
      </p:sp>
      <p:sp>
        <p:nvSpPr>
          <p:cNvPr id="5" name="Rectangle 4">
            <a:extLst>
              <a:ext uri="{FF2B5EF4-FFF2-40B4-BE49-F238E27FC236}">
                <a16:creationId xmlns:a16="http://schemas.microsoft.com/office/drawing/2014/main" id="{156B7A8D-5176-C14B-CB3D-4B24E87D7ECA}"/>
              </a:ext>
            </a:extLst>
          </p:cNvPr>
          <p:cNvSpPr/>
          <p:nvPr/>
        </p:nvSpPr>
        <p:spPr>
          <a:xfrm>
            <a:off x="2235200" y="1066800"/>
            <a:ext cx="53340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r>
              <a:rPr lang="en-MY" sz="1400" b="1" dirty="0">
                <a:solidFill>
                  <a:schemeClr val="tx1"/>
                </a:solidFill>
              </a:rPr>
              <a:t>Databricks  Data Intelligence Platform</a:t>
            </a:r>
          </a:p>
        </p:txBody>
      </p:sp>
      <p:sp>
        <p:nvSpPr>
          <p:cNvPr id="6" name="Rectangle 5">
            <a:extLst>
              <a:ext uri="{FF2B5EF4-FFF2-40B4-BE49-F238E27FC236}">
                <a16:creationId xmlns:a16="http://schemas.microsoft.com/office/drawing/2014/main" id="{7D8147FB-3689-59AD-87F3-286F0ACF30E9}"/>
              </a:ext>
            </a:extLst>
          </p:cNvPr>
          <p:cNvSpPr/>
          <p:nvPr/>
        </p:nvSpPr>
        <p:spPr>
          <a:xfrm>
            <a:off x="8890000" y="1066800"/>
            <a:ext cx="2971800" cy="27940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oAutofit/>
          </a:bodyPr>
          <a:lstStyle/>
          <a:p>
            <a:pPr algn="r"/>
            <a:r>
              <a:rPr lang="en-MY" sz="1000" b="1" dirty="0">
                <a:solidFill>
                  <a:schemeClr val="bg1">
                    <a:lumMod val="50000"/>
                  </a:schemeClr>
                </a:solidFill>
              </a:rPr>
              <a:t>ARCHITECTURE</a:t>
            </a:r>
          </a:p>
        </p:txBody>
      </p:sp>
      <p:sp>
        <p:nvSpPr>
          <p:cNvPr id="7" name="Rectangle: Rounded Corners 6">
            <a:extLst>
              <a:ext uri="{FF2B5EF4-FFF2-40B4-BE49-F238E27FC236}">
                <a16:creationId xmlns:a16="http://schemas.microsoft.com/office/drawing/2014/main" id="{C7705609-8C34-2ECD-E773-64085B77C9E9}"/>
              </a:ext>
            </a:extLst>
          </p:cNvPr>
          <p:cNvSpPr/>
          <p:nvPr/>
        </p:nvSpPr>
        <p:spPr>
          <a:xfrm>
            <a:off x="1016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Public data sources</a:t>
            </a:r>
          </a:p>
        </p:txBody>
      </p:sp>
      <p:sp>
        <p:nvSpPr>
          <p:cNvPr id="8" name="Rectangle: Rounded Corners 7">
            <a:extLst>
              <a:ext uri="{FF2B5EF4-FFF2-40B4-BE49-F238E27FC236}">
                <a16:creationId xmlns:a16="http://schemas.microsoft.com/office/drawing/2014/main" id="{28EE3059-B24E-6038-D254-716E79FACA7E}"/>
              </a:ext>
            </a:extLst>
          </p:cNvPr>
          <p:cNvSpPr/>
          <p:nvPr/>
        </p:nvSpPr>
        <p:spPr>
          <a:xfrm>
            <a:off x="2235200" y="1371600"/>
            <a:ext cx="16256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Data ingestion</a:t>
            </a:r>
          </a:p>
        </p:txBody>
      </p:sp>
      <p:sp>
        <p:nvSpPr>
          <p:cNvPr id="9" name="Rectangle: Rounded Corners 8">
            <a:extLst>
              <a:ext uri="{FF2B5EF4-FFF2-40B4-BE49-F238E27FC236}">
                <a16:creationId xmlns:a16="http://schemas.microsoft.com/office/drawing/2014/main" id="{7E399C02-01E8-CF2A-4172-AB705E3C8C3A}"/>
              </a:ext>
            </a:extLst>
          </p:cNvPr>
          <p:cNvSpPr/>
          <p:nvPr/>
        </p:nvSpPr>
        <p:spPr>
          <a:xfrm>
            <a:off x="3962400" y="1371600"/>
            <a:ext cx="37084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Lakehouse · Medallion architecture</a:t>
            </a:r>
          </a:p>
        </p:txBody>
      </p:sp>
      <p:sp>
        <p:nvSpPr>
          <p:cNvPr id="10" name="Rectangle: Rounded Corners 9">
            <a:extLst>
              <a:ext uri="{FF2B5EF4-FFF2-40B4-BE49-F238E27FC236}">
                <a16:creationId xmlns:a16="http://schemas.microsoft.com/office/drawing/2014/main" id="{4149C387-7671-FE74-6CA3-84424A9FDCAF}"/>
              </a:ext>
            </a:extLst>
          </p:cNvPr>
          <p:cNvSpPr/>
          <p:nvPr/>
        </p:nvSpPr>
        <p:spPr>
          <a:xfrm>
            <a:off x="7772400" y="1371600"/>
            <a:ext cx="1905000" cy="45720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Intelligence · Serving</a:t>
            </a:r>
          </a:p>
        </p:txBody>
      </p:sp>
      <p:sp>
        <p:nvSpPr>
          <p:cNvPr id="11" name="Rectangle: Rounded Corners 10">
            <a:extLst>
              <a:ext uri="{FF2B5EF4-FFF2-40B4-BE49-F238E27FC236}">
                <a16:creationId xmlns:a16="http://schemas.microsoft.com/office/drawing/2014/main" id="{D75820E1-67B0-FEB2-319D-C013098589DE}"/>
              </a:ext>
            </a:extLst>
          </p:cNvPr>
          <p:cNvSpPr/>
          <p:nvPr/>
        </p:nvSpPr>
        <p:spPr>
          <a:xfrm>
            <a:off x="9779000" y="1371600"/>
            <a:ext cx="2082800" cy="4572000"/>
          </a:xfrm>
          <a:prstGeom prst="roundRect">
            <a:avLst>
              <a:gd name="adj" fmla="val 3500"/>
            </a:avLst>
          </a:prstGeom>
          <a:solidFill>
            <a:schemeClr val="accent1">
              <a:lumMod val="8000"/>
              <a:lumOff val="92000"/>
            </a:schemeClr>
          </a:solidFill>
          <a:ln w="9525" cap="flat" cmpd="sng" algn="ctr">
            <a:solidFill>
              <a:schemeClr val="accent1">
                <a:lumMod val="40000"/>
                <a:lumOff val="6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88900" tIns="63500" rIns="88900" bIns="63500" rtlCol="0" anchor="t">
            <a:noAutofit/>
          </a:bodyPr>
          <a:lstStyle/>
          <a:p>
            <a:r>
              <a:rPr lang="en-MY" sz="1200" b="1">
                <a:solidFill>
                  <a:schemeClr val="tx1"/>
                </a:solidFill>
              </a:rPr>
              <a:t>Residents and agencies · AI agents</a:t>
            </a:r>
          </a:p>
        </p:txBody>
      </p:sp>
      <p:sp>
        <p:nvSpPr>
          <p:cNvPr id="12" name="Rectangle: Rounded Corners 11">
            <a:extLst>
              <a:ext uri="{FF2B5EF4-FFF2-40B4-BE49-F238E27FC236}">
                <a16:creationId xmlns:a16="http://schemas.microsoft.com/office/drawing/2014/main" id="{6902C722-1ABA-9712-EF5E-F77E7D064C70}"/>
              </a:ext>
            </a:extLst>
          </p:cNvPr>
          <p:cNvSpPr/>
          <p:nvPr/>
        </p:nvSpPr>
        <p:spPr>
          <a:xfrm>
            <a:off x="177800" y="1752600"/>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PUB Flood Alerts</a:t>
            </a:r>
          </a:p>
          <a:p>
            <a:r>
              <a:rPr lang="en-US" sz="1100">
                <a:solidFill>
                  <a:schemeClr val="tx1"/>
                </a:solidFill>
              </a:rPr>
              <a:t>Drains 90% full, flash floods; Telegram posts since 2021</a:t>
            </a:r>
            <a:endParaRPr lang="en-MY"/>
          </a:p>
        </p:txBody>
      </p:sp>
      <p:sp>
        <p:nvSpPr>
          <p:cNvPr id="13" name="Rectangle: Rounded Corners 12">
            <a:extLst>
              <a:ext uri="{FF2B5EF4-FFF2-40B4-BE49-F238E27FC236}">
                <a16:creationId xmlns:a16="http://schemas.microsoft.com/office/drawing/2014/main" id="{00FF8FC8-335A-F26E-0FEF-15235BEE864F}"/>
              </a:ext>
            </a:extLst>
          </p:cNvPr>
          <p:cNvSpPr/>
          <p:nvPr/>
        </p:nvSpPr>
        <p:spPr>
          <a:xfrm>
            <a:off x="177800" y="2586038"/>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Internet Archive</a:t>
            </a:r>
          </a:p>
          <a:p>
            <a:r>
              <a:rPr lang="en-US" sz="1100">
                <a:solidFill>
                  <a:schemeClr val="tx1"/>
                </a:solidFill>
              </a:rPr>
              <a:t>832 deleted PUB posts, recovered from web captures</a:t>
            </a:r>
            <a:endParaRPr lang="en-MY"/>
          </a:p>
        </p:txBody>
      </p:sp>
      <p:sp>
        <p:nvSpPr>
          <p:cNvPr id="14" name="Rectangle: Rounded Corners 13">
            <a:extLst>
              <a:ext uri="{FF2B5EF4-FFF2-40B4-BE49-F238E27FC236}">
                <a16:creationId xmlns:a16="http://schemas.microsoft.com/office/drawing/2014/main" id="{FEF10AB1-EB6F-1ECB-DC56-A278E5EC20D5}"/>
              </a:ext>
            </a:extLst>
          </p:cNvPr>
          <p:cNvSpPr/>
          <p:nvPr/>
        </p:nvSpPr>
        <p:spPr>
          <a:xfrm>
            <a:off x="177800" y="3419475"/>
            <a:ext cx="1752600" cy="80645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US" sz="1300" b="1">
                <a:solidFill>
                  <a:schemeClr val="tx1"/>
                </a:solidFill>
              </a:rPr>
              <a:t>NEA weather</a:t>
            </a:r>
          </a:p>
          <a:p>
            <a:r>
              <a:rPr lang="en-US" sz="1100">
                <a:solidFill>
                  <a:schemeClr val="tx1"/>
                </a:solidFill>
              </a:rPr>
              <a:t>5-min rain, 2-h forecast, wind, humidity (data.gov.sg)</a:t>
            </a:r>
            <a:endParaRPr lang="en-MY"/>
          </a:p>
        </p:txBody>
      </p:sp>
      <p:sp>
        <p:nvSpPr>
          <p:cNvPr id="15" name="Rectangle: Rounded Corners 14">
            <a:extLst>
              <a:ext uri="{FF2B5EF4-FFF2-40B4-BE49-F238E27FC236}">
                <a16:creationId xmlns:a16="http://schemas.microsoft.com/office/drawing/2014/main" id="{7C2CC5A4-9FDC-B3A6-FD49-17BE8B0C4713}"/>
              </a:ext>
            </a:extLst>
          </p:cNvPr>
          <p:cNvSpPr/>
          <p:nvPr/>
        </p:nvSpPr>
        <p:spPr>
          <a:xfrm>
            <a:off x="177800" y="4251325"/>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Tides</a:t>
            </a:r>
          </a:p>
          <a:p>
            <a:r>
              <a:rPr lang="en-MY" sz="1100">
                <a:solidFill>
                  <a:schemeClr val="tx1"/>
                </a:solidFill>
              </a:rPr>
              <a:t>NEA tide table; UHSLC hourly sea level at Tanjong Pagar</a:t>
            </a:r>
          </a:p>
        </p:txBody>
      </p:sp>
      <p:sp>
        <p:nvSpPr>
          <p:cNvPr id="16" name="Rectangle: Rounded Corners 15">
            <a:extLst>
              <a:ext uri="{FF2B5EF4-FFF2-40B4-BE49-F238E27FC236}">
                <a16:creationId xmlns:a16="http://schemas.microsoft.com/office/drawing/2014/main" id="{F5A74F01-7327-A196-BF12-5261996901FB}"/>
              </a:ext>
            </a:extLst>
          </p:cNvPr>
          <p:cNvSpPr/>
          <p:nvPr/>
        </p:nvSpPr>
        <p:spPr>
          <a:xfrm>
            <a:off x="177800" y="5084763"/>
            <a:ext cx="1752600" cy="808038"/>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25400" rIns="50800" bIns="25400" rtlCol="0" anchor="t">
            <a:noAutofit/>
          </a:bodyPr>
          <a:lstStyle/>
          <a:p>
            <a:pPr marL="266700"/>
            <a:r>
              <a:rPr lang="en-MY" sz="1300" b="1">
                <a:solidFill>
                  <a:schemeClr val="tx1"/>
                </a:solidFill>
              </a:rPr>
              <a:t>Maps, sensors</a:t>
            </a:r>
          </a:p>
          <a:p>
            <a:r>
              <a:rPr lang="en-MY" sz="1100">
                <a:solidFill>
                  <a:schemeClr val="tx1"/>
                </a:solidFill>
              </a:rPr>
              <a:t>328 PUB water-level sensors, URA land use, SLA, OneMap</a:t>
            </a:r>
          </a:p>
        </p:txBody>
      </p:sp>
      <p:sp>
        <p:nvSpPr>
          <p:cNvPr id="17" name="Rectangle: Rounded Corners 16">
            <a:extLst>
              <a:ext uri="{FF2B5EF4-FFF2-40B4-BE49-F238E27FC236}">
                <a16:creationId xmlns:a16="http://schemas.microsoft.com/office/drawing/2014/main" id="{696742A7-1846-DC5E-D4D6-93BB1C8A9B6F}"/>
              </a:ext>
            </a:extLst>
          </p:cNvPr>
          <p:cNvSpPr/>
          <p:nvPr/>
        </p:nvSpPr>
        <p:spPr>
          <a:xfrm>
            <a:off x="2336800" y="1752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Jobs</a:t>
            </a:r>
          </a:p>
          <a:p>
            <a:r>
              <a:rPr lang="en-US" sz="1100">
                <a:solidFill>
                  <a:schemeClr val="tx1"/>
                </a:solidFill>
              </a:rPr>
              <a:t>Python fetchers on serverless: new data every 5 min, a nightly repair, one-off backfills</a:t>
            </a:r>
            <a:endParaRPr lang="en-MY"/>
          </a:p>
        </p:txBody>
      </p:sp>
      <p:sp>
        <p:nvSpPr>
          <p:cNvPr id="18" name="Rectangle: Rounded Corners 17">
            <a:extLst>
              <a:ext uri="{FF2B5EF4-FFF2-40B4-BE49-F238E27FC236}">
                <a16:creationId xmlns:a16="http://schemas.microsoft.com/office/drawing/2014/main" id="{2139397C-4CFA-8589-DFED-AE2D8AC2FE66}"/>
              </a:ext>
            </a:extLst>
          </p:cNvPr>
          <p:cNvSpPr/>
          <p:nvPr/>
        </p:nvSpPr>
        <p:spPr>
          <a:xfrm>
            <a:off x="2336800" y="3911600"/>
            <a:ext cx="1422400" cy="1930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Auto Loader</a:t>
            </a:r>
          </a:p>
          <a:p>
            <a:r>
              <a:rPr lang="en-US" sz="1100">
                <a:solidFill>
                  <a:schemeClr val="tx1"/>
                </a:solidFill>
              </a:rPr>
              <a:t>Each fetch lands as a new file in a UC Volume and streams into bronze once</a:t>
            </a:r>
            <a:endParaRPr lang="en-MY"/>
          </a:p>
        </p:txBody>
      </p:sp>
      <p:sp>
        <p:nvSpPr>
          <p:cNvPr id="19" name="Rectangle: Rounded Corners 18">
            <a:extLst>
              <a:ext uri="{FF2B5EF4-FFF2-40B4-BE49-F238E27FC236}">
                <a16:creationId xmlns:a16="http://schemas.microsoft.com/office/drawing/2014/main" id="{9919A6C1-D11B-38F1-E7C9-A8F1F86E8BD7}"/>
              </a:ext>
            </a:extLst>
          </p:cNvPr>
          <p:cNvSpPr/>
          <p:nvPr/>
        </p:nvSpPr>
        <p:spPr>
          <a:xfrm>
            <a:off x="4064000" y="1752600"/>
            <a:ext cx="1066800" cy="2540000"/>
          </a:xfrm>
          <a:prstGeom prst="roundRect">
            <a:avLst>
              <a:gd name="adj" fmla="val 8000"/>
            </a:avLst>
          </a:prstGeom>
          <a:solidFill>
            <a:schemeClr val="accent1">
              <a:lumMod val="20000"/>
              <a:lumOff val="80000"/>
            </a:schemeClr>
          </a:solidFill>
          <a:ln w="12700" cap="flat" cmpd="sng" algn="ctr">
            <a:solidFill>
              <a:schemeClr val="accent1">
                <a:lumMod val="60000"/>
                <a:lumOff val="4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Bronze</a:t>
            </a:r>
          </a:p>
          <a:p>
            <a:pPr algn="ctr"/>
            <a:r>
              <a:rPr lang="en-US" sz="1100">
                <a:solidFill>
                  <a:schemeClr val="tx1"/>
                </a:solidFill>
              </a:rPr>
              <a:t>Every API page, post and file as received; full history</a:t>
            </a:r>
            <a:endParaRPr lang="en-MY"/>
          </a:p>
        </p:txBody>
      </p:sp>
      <p:sp>
        <p:nvSpPr>
          <p:cNvPr id="20" name="Rectangle: Rounded Corners 19">
            <a:extLst>
              <a:ext uri="{FF2B5EF4-FFF2-40B4-BE49-F238E27FC236}">
                <a16:creationId xmlns:a16="http://schemas.microsoft.com/office/drawing/2014/main" id="{CF08E24B-522D-809B-BE11-795E77519CF1}"/>
              </a:ext>
            </a:extLst>
          </p:cNvPr>
          <p:cNvSpPr/>
          <p:nvPr/>
        </p:nvSpPr>
        <p:spPr>
          <a:xfrm>
            <a:off x="5283200" y="1752600"/>
            <a:ext cx="1066800" cy="2540000"/>
          </a:xfrm>
          <a:prstGeom prst="roundRect">
            <a:avLst>
              <a:gd name="adj" fmla="val 8000"/>
            </a:avLst>
          </a:prstGeom>
          <a:solidFill>
            <a:schemeClr val="bg2">
              <a:lumMod val="90000"/>
            </a:schemeClr>
          </a:solidFill>
          <a:ln w="12700" cap="flat" cmpd="sng" algn="ctr">
            <a:solidFill>
              <a:schemeClr val="bg2">
                <a:lumMod val="6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Silver</a:t>
            </a:r>
          </a:p>
          <a:p>
            <a:pPr algn="ctr"/>
            <a:r>
              <a:rPr lang="en-US" sz="1100">
                <a:solidFill>
                  <a:schemeClr val="tx1"/>
                </a:solidFill>
              </a:rPr>
              <a:t>Readings cleaned, posts parsed, alerts placed in NEA's 47 areas</a:t>
            </a:r>
            <a:endParaRPr lang="en-MY" dirty="0"/>
          </a:p>
        </p:txBody>
      </p:sp>
      <p:sp>
        <p:nvSpPr>
          <p:cNvPr id="21" name="Rectangle: Rounded Corners 20">
            <a:extLst>
              <a:ext uri="{FF2B5EF4-FFF2-40B4-BE49-F238E27FC236}">
                <a16:creationId xmlns:a16="http://schemas.microsoft.com/office/drawing/2014/main" id="{61F4C8F5-7857-DC34-70E2-E68EDC25CBB2}"/>
              </a:ext>
            </a:extLst>
          </p:cNvPr>
          <p:cNvSpPr/>
          <p:nvPr/>
        </p:nvSpPr>
        <p:spPr>
          <a:xfrm>
            <a:off x="6502400" y="1752600"/>
            <a:ext cx="1066800" cy="2540000"/>
          </a:xfrm>
          <a:prstGeom prst="roundRect">
            <a:avLst>
              <a:gd name="adj" fmla="val 8000"/>
            </a:avLst>
          </a:prstGeom>
          <a:solidFill>
            <a:schemeClr val="accent2">
              <a:lumMod val="20000"/>
              <a:lumOff val="80000"/>
            </a:schemeClr>
          </a:solidFill>
          <a:ln w="12700" cap="flat" cmpd="sng" algn="ctr">
            <a:solidFill>
              <a:schemeClr val="accent2">
                <a:lumMod val="70000"/>
                <a:lumOff val="3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63500" bIns="76200" rtlCol="0" anchor="ctr">
            <a:noAutofit/>
          </a:bodyPr>
          <a:lstStyle/>
          <a:p>
            <a:pPr algn="ctr"/>
            <a:r>
              <a:rPr lang="en-US" sz="2000" b="1">
                <a:solidFill>
                  <a:schemeClr val="tx1"/>
                </a:solidFill>
              </a:rPr>
              <a:t>Gold</a:t>
            </a:r>
          </a:p>
          <a:p>
            <a:pPr algn="ctr"/>
            <a:r>
              <a:rPr lang="en-US" sz="1100">
                <a:solidFill>
                  <a:schemeClr val="tx1"/>
                </a:solidFill>
              </a:rPr>
              <a:t>Each area, every 5 min: rain, forecast, tide, label</a:t>
            </a:r>
            <a:endParaRPr lang="en-MY"/>
          </a:p>
        </p:txBody>
      </p:sp>
      <p:sp>
        <p:nvSpPr>
          <p:cNvPr id="22" name="Rectangle: Rounded Corners 21">
            <a:extLst>
              <a:ext uri="{FF2B5EF4-FFF2-40B4-BE49-F238E27FC236}">
                <a16:creationId xmlns:a16="http://schemas.microsoft.com/office/drawing/2014/main" id="{3AC44DE2-B183-E054-49E2-BDA76ECEDDCA}"/>
              </a:ext>
            </a:extLst>
          </p:cNvPr>
          <p:cNvSpPr/>
          <p:nvPr/>
        </p:nvSpPr>
        <p:spPr>
          <a:xfrm>
            <a:off x="4064000" y="4521200"/>
            <a:ext cx="35052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Lakeflow Spark Declarative Pipelines</a:t>
            </a:r>
          </a:p>
          <a:p>
            <a:r>
              <a:rPr lang="en-US" sz="1100">
                <a:solidFill>
                  <a:schemeClr val="tx1"/>
                </a:solidFill>
              </a:rPr>
              <a:t>Two serverless pipelines. Expectations drop bad readings; unplaceable alerts are quarantined. Hours with lost posts or feed outages count as missing, never as quiet.</a:t>
            </a:r>
            <a:endParaRPr lang="en-MY"/>
          </a:p>
        </p:txBody>
      </p:sp>
      <p:sp>
        <p:nvSpPr>
          <p:cNvPr id="23" name="Rectangle: Rounded Corners 22">
            <a:extLst>
              <a:ext uri="{FF2B5EF4-FFF2-40B4-BE49-F238E27FC236}">
                <a16:creationId xmlns:a16="http://schemas.microsoft.com/office/drawing/2014/main" id="{26B7A15A-2B67-47D1-374A-4436DE5A6192}"/>
              </a:ext>
            </a:extLst>
          </p:cNvPr>
          <p:cNvSpPr/>
          <p:nvPr/>
        </p:nvSpPr>
        <p:spPr>
          <a:xfrm>
            <a:off x="7874000" y="1752600"/>
            <a:ext cx="1701800" cy="1422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a:solidFill>
                  <a:schemeClr val="tx1"/>
                </a:solidFill>
              </a:rPr>
              <a:t>MLflow · Unity Catalog</a:t>
            </a:r>
          </a:p>
          <a:p>
            <a:r>
              <a:rPr lang="en-US" sz="1100">
                <a:solidFill>
                  <a:schemeClr val="tx1"/>
                </a:solidFill>
              </a:rPr>
              <a:t>Gated LightGBM pair: each area's chance of a PUB alert within 1 h. 7 checks before @champion moves.</a:t>
            </a:r>
            <a:endParaRPr lang="en-MY" dirty="0"/>
          </a:p>
        </p:txBody>
      </p:sp>
      <p:sp>
        <p:nvSpPr>
          <p:cNvPr id="24" name="Rectangle: Rounded Corners 23">
            <a:extLst>
              <a:ext uri="{FF2B5EF4-FFF2-40B4-BE49-F238E27FC236}">
                <a16:creationId xmlns:a16="http://schemas.microsoft.com/office/drawing/2014/main" id="{9096CAED-AF4C-809C-8019-27CA96527321}"/>
              </a:ext>
            </a:extLst>
          </p:cNvPr>
          <p:cNvSpPr/>
          <p:nvPr/>
        </p:nvSpPr>
        <p:spPr>
          <a:xfrm>
            <a:off x="7874000" y="3276600"/>
            <a:ext cx="1701800" cy="13208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US" sz="1300" b="1">
                <a:solidFill>
                  <a:schemeClr val="tx1"/>
                </a:solidFill>
              </a:rPr>
              <a:t>Live scoring</a:t>
            </a:r>
          </a:p>
          <a:p>
            <a:r>
              <a:rPr lang="en-US" sz="1100">
                <a:solidFill>
                  <a:schemeClr val="tx1"/>
                </a:solidFill>
              </a:rPr>
              <a:t>Every 5 min, @champion rates all 47 areas into a Delta table. New warnings go out by Telegram, email.</a:t>
            </a:r>
            <a:endParaRPr lang="en-MY"/>
          </a:p>
        </p:txBody>
      </p:sp>
      <p:sp>
        <p:nvSpPr>
          <p:cNvPr id="25" name="Rectangle: Rounded Corners 24">
            <a:extLst>
              <a:ext uri="{FF2B5EF4-FFF2-40B4-BE49-F238E27FC236}">
                <a16:creationId xmlns:a16="http://schemas.microsoft.com/office/drawing/2014/main" id="{EB484311-6C78-071B-D4D2-59C702628888}"/>
              </a:ext>
            </a:extLst>
          </p:cNvPr>
          <p:cNvSpPr/>
          <p:nvPr/>
        </p:nvSpPr>
        <p:spPr>
          <a:xfrm>
            <a:off x="7874000" y="4699000"/>
            <a:ext cx="1701800" cy="11430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50800" rIns="50800" bIns="50800" rtlCol="0" anchor="t">
            <a:noAutofit/>
          </a:bodyPr>
          <a:lstStyle/>
          <a:p>
            <a:pPr marL="266700"/>
            <a:r>
              <a:rPr lang="en-MY" sz="1300" b="1">
                <a:solidFill>
                  <a:schemeClr val="tx1"/>
                </a:solidFill>
              </a:rPr>
              <a:t>Databricks SQL · AI/BI</a:t>
            </a:r>
          </a:p>
          <a:p>
            <a:r>
              <a:rPr lang="en-MY" sz="1100">
                <a:solidFill>
                  <a:schemeClr val="tx1"/>
                </a:solidFill>
              </a:rPr>
              <a:t>Serverless warehouse for the app, Genie, agencies' scoreboard</a:t>
            </a:r>
          </a:p>
        </p:txBody>
      </p:sp>
      <p:sp>
        <p:nvSpPr>
          <p:cNvPr id="26" name="Rectangle: Rounded Corners 25">
            <a:extLst>
              <a:ext uri="{FF2B5EF4-FFF2-40B4-BE49-F238E27FC236}">
                <a16:creationId xmlns:a16="http://schemas.microsoft.com/office/drawing/2014/main" id="{438B3891-BB4B-EB09-B60A-C99F620CB817}"/>
              </a:ext>
            </a:extLst>
          </p:cNvPr>
          <p:cNvSpPr/>
          <p:nvPr/>
        </p:nvSpPr>
        <p:spPr>
          <a:xfrm>
            <a:off x="9880600" y="1879600"/>
            <a:ext cx="1879600" cy="1727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a:solidFill>
                  <a:schemeClr val="tx1"/>
                </a:solidFill>
              </a:rPr>
              <a:t>Databricks App</a:t>
            </a:r>
          </a:p>
          <a:p>
            <a:r>
              <a:rPr lang="en-US" sz="1100">
                <a:solidFill>
                  <a:schemeClr val="tx1"/>
                </a:solidFill>
              </a:rPr>
              <a:t>Live map of 47 areas: what to do on foot, driving or at home. Storm replays, warning sign-ups.</a:t>
            </a:r>
            <a:endParaRPr lang="en-MY" dirty="0"/>
          </a:p>
        </p:txBody>
      </p:sp>
      <p:sp>
        <p:nvSpPr>
          <p:cNvPr id="27" name="Rectangle: Rounded Corners 26">
            <a:extLst>
              <a:ext uri="{FF2B5EF4-FFF2-40B4-BE49-F238E27FC236}">
                <a16:creationId xmlns:a16="http://schemas.microsoft.com/office/drawing/2014/main" id="{CBAFF90A-080A-C4F1-973A-6738C5089B26}"/>
              </a:ext>
            </a:extLst>
          </p:cNvPr>
          <p:cNvSpPr/>
          <p:nvPr/>
        </p:nvSpPr>
        <p:spPr>
          <a:xfrm>
            <a:off x="9880600" y="3733800"/>
            <a:ext cx="1879600" cy="2108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63500" tIns="76200" rIns="50800" bIns="76200" rtlCol="0" anchor="t">
            <a:noAutofit/>
          </a:bodyPr>
          <a:lstStyle/>
          <a:p>
            <a:pPr marL="266700"/>
            <a:r>
              <a:rPr lang="en-US" sz="1300" b="1" dirty="0">
                <a:solidFill>
                  <a:schemeClr val="tx1">
                    <a:lumMod val="75000"/>
                    <a:lumOff val="25000"/>
                  </a:schemeClr>
                </a:solidFill>
              </a:rPr>
              <a:t>Genie Agent</a:t>
            </a:r>
          </a:p>
          <a:p>
            <a:r>
              <a:rPr lang="en-US" sz="1100" dirty="0">
                <a:solidFill>
                  <a:schemeClr val="tx1"/>
                </a:solidFill>
              </a:rPr>
              <a:t>"</a:t>
            </a:r>
            <a:r>
              <a:rPr lang="en-US" sz="1100" dirty="0" err="1">
                <a:solidFill>
                  <a:schemeClr val="tx1"/>
                </a:solidFill>
              </a:rPr>
              <a:t>FloodSense</a:t>
            </a:r>
            <a:r>
              <a:rPr lang="en-US" sz="1100" dirty="0">
                <a:solidFill>
                  <a:schemeClr val="tx1"/>
                </a:solidFill>
              </a:rPr>
              <a:t> for agencies": ask in plain English how it did against PUB, flood by flood. Also in the app.</a:t>
            </a:r>
            <a:endParaRPr lang="en-MY" dirty="0"/>
          </a:p>
        </p:txBody>
      </p:sp>
      <p:sp>
        <p:nvSpPr>
          <p:cNvPr id="28" name="Rectangle: Rounded Corners 27">
            <a:extLst>
              <a:ext uri="{FF2B5EF4-FFF2-40B4-BE49-F238E27FC236}">
                <a16:creationId xmlns:a16="http://schemas.microsoft.com/office/drawing/2014/main" id="{6DBD8B40-F5D8-B018-DF78-5E660F0E8109}"/>
              </a:ext>
            </a:extLst>
          </p:cNvPr>
          <p:cNvSpPr/>
          <p:nvPr/>
        </p:nvSpPr>
        <p:spPr>
          <a:xfrm>
            <a:off x="9982200" y="2946400"/>
            <a:ext cx="7366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Residents</a:t>
            </a:r>
          </a:p>
        </p:txBody>
      </p:sp>
      <p:sp>
        <p:nvSpPr>
          <p:cNvPr id="29" name="Rectangle: Rounded Corners 28">
            <a:extLst>
              <a:ext uri="{FF2B5EF4-FFF2-40B4-BE49-F238E27FC236}">
                <a16:creationId xmlns:a16="http://schemas.microsoft.com/office/drawing/2014/main" id="{E67010D7-BDDF-48A6-7F99-E22F87F5C882}"/>
              </a:ext>
            </a:extLst>
          </p:cNvPr>
          <p:cNvSpPr/>
          <p:nvPr/>
        </p:nvSpPr>
        <p:spPr>
          <a:xfrm>
            <a:off x="10795000" y="2946400"/>
            <a:ext cx="7874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Commuters</a:t>
            </a:r>
          </a:p>
        </p:txBody>
      </p:sp>
      <p:sp>
        <p:nvSpPr>
          <p:cNvPr id="30" name="Rectangle: Rounded Corners 29">
            <a:extLst>
              <a:ext uri="{FF2B5EF4-FFF2-40B4-BE49-F238E27FC236}">
                <a16:creationId xmlns:a16="http://schemas.microsoft.com/office/drawing/2014/main" id="{DA65C5F9-F775-122A-B4C3-19F7B4EF19CD}"/>
              </a:ext>
            </a:extLst>
          </p:cNvPr>
          <p:cNvSpPr/>
          <p:nvPr/>
        </p:nvSpPr>
        <p:spPr>
          <a:xfrm>
            <a:off x="9982200" y="3251200"/>
            <a:ext cx="9652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Town councils</a:t>
            </a:r>
          </a:p>
        </p:txBody>
      </p:sp>
      <p:sp>
        <p:nvSpPr>
          <p:cNvPr id="31" name="Rectangle: Rounded Corners 30">
            <a:extLst>
              <a:ext uri="{FF2B5EF4-FFF2-40B4-BE49-F238E27FC236}">
                <a16:creationId xmlns:a16="http://schemas.microsoft.com/office/drawing/2014/main" id="{6BC89F38-ADDB-B81E-18B6-FF3F39562A3F}"/>
              </a:ext>
            </a:extLst>
          </p:cNvPr>
          <p:cNvSpPr/>
          <p:nvPr/>
        </p:nvSpPr>
        <p:spPr>
          <a:xfrm>
            <a:off x="11023600" y="3251200"/>
            <a:ext cx="635000" cy="254000"/>
          </a:xfrm>
          <a:prstGeom prst="roundRect">
            <a:avLst>
              <a:gd name="adj" fmla="val 12000"/>
            </a:avLst>
          </a:prstGeom>
          <a:solidFill>
            <a:schemeClr val="bg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5400" tIns="12700" rIns="25400" bIns="12700" rtlCol="0" anchor="ctr">
            <a:noAutofit/>
          </a:bodyPr>
          <a:lstStyle/>
          <a:p>
            <a:pPr algn="ctr"/>
            <a:r>
              <a:rPr lang="en-MY" sz="1000" b="1">
                <a:solidFill>
                  <a:schemeClr val="tx1"/>
                </a:solidFill>
              </a:rPr>
              <a:t>Agencies</a:t>
            </a:r>
          </a:p>
        </p:txBody>
      </p:sp>
      <p:sp>
        <p:nvSpPr>
          <p:cNvPr id="33" name="Rectangle: Rounded Corners 32">
            <a:extLst>
              <a:ext uri="{FF2B5EF4-FFF2-40B4-BE49-F238E27FC236}">
                <a16:creationId xmlns:a16="http://schemas.microsoft.com/office/drawing/2014/main" id="{DEE95593-881B-4240-54FC-EEF23B9CED4E}"/>
              </a:ext>
            </a:extLst>
          </p:cNvPr>
          <p:cNvSpPr/>
          <p:nvPr>
            <p:custDataLst>
              <p:tags r:id="rId2"/>
            </p:custDataLst>
          </p:nvPr>
        </p:nvSpPr>
        <p:spPr>
          <a:xfrm>
            <a:off x="2235200" y="6070600"/>
            <a:ext cx="9626600" cy="355600"/>
          </a:xfrm>
          <a:prstGeom prst="roundRect">
            <a:avLst>
              <a:gd name="adj" fmla="val 12000"/>
            </a:avLst>
          </a:prstGeom>
          <a:solidFill>
            <a:schemeClr val="bg1"/>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266700" tIns="12700" rIns="50800" bIns="12700" rtlCol="0" anchor="ctr">
            <a:noAutofit/>
          </a:bodyPr>
          <a:lstStyle/>
          <a:p>
            <a:pPr algn="ctr"/>
            <a:r>
              <a:rPr lang="en-MY" sz="1100" b="1" dirty="0">
                <a:solidFill>
                  <a:schemeClr val="tx1"/>
                </a:solidFill>
              </a:rPr>
              <a:t>Unity </a:t>
            </a:r>
            <a:r>
              <a:rPr lang="en-MY" sz="1100" b="1" dirty="0" err="1">
                <a:solidFill>
                  <a:schemeClr val="tx1"/>
                </a:solidFill>
              </a:rPr>
              <a:t>Catalog</a:t>
            </a:r>
            <a:endParaRPr lang="en-MY" sz="1100" b="1" dirty="0">
              <a:solidFill>
                <a:schemeClr val="tx1"/>
              </a:solidFill>
            </a:endParaRPr>
          </a:p>
        </p:txBody>
      </p:sp>
      <p:cxnSp>
        <p:nvCxnSpPr>
          <p:cNvPr id="42" name="Connector: Elbow 41">
            <a:extLst>
              <a:ext uri="{FF2B5EF4-FFF2-40B4-BE49-F238E27FC236}">
                <a16:creationId xmlns:a16="http://schemas.microsoft.com/office/drawing/2014/main" id="{858EAE0C-0F83-D8BD-67D5-899A43999EC5}"/>
              </a:ext>
            </a:extLst>
          </p:cNvPr>
          <p:cNvCxnSpPr>
            <a:cxnSpLocks/>
          </p:cNvCxnSpPr>
          <p:nvPr/>
        </p:nvCxnSpPr>
        <p:spPr>
          <a:xfrm>
            <a:off x="51308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8FD60C04-AE4F-F5FB-7679-8C2BDCCDD385}"/>
              </a:ext>
            </a:extLst>
          </p:cNvPr>
          <p:cNvCxnSpPr>
            <a:cxnSpLocks/>
          </p:cNvCxnSpPr>
          <p:nvPr/>
        </p:nvCxnSpPr>
        <p:spPr>
          <a:xfrm>
            <a:off x="6350000" y="3022600"/>
            <a:ext cx="152400" cy="12700"/>
          </a:xfrm>
          <a:prstGeom prst="bentConnector3">
            <a:avLst>
              <a:gd name="adj1" fmla="val 50000"/>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54" name="IconTile_12">
            <a:extLst>
              <a:ext uri="{FF2B5EF4-FFF2-40B4-BE49-F238E27FC236}">
                <a16:creationId xmlns:a16="http://schemas.microsoft.com/office/drawing/2014/main" id="{13D0BD52-350C-2A22-6520-B89ECFC7948B}"/>
              </a:ext>
            </a:extLst>
          </p:cNvPr>
          <p:cNvSpPr/>
          <p:nvPr/>
        </p:nvSpPr>
        <p:spPr>
          <a:xfrm>
            <a:off x="241300" y="17907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5" name="IconTile_13">
            <a:extLst>
              <a:ext uri="{FF2B5EF4-FFF2-40B4-BE49-F238E27FC236}">
                <a16:creationId xmlns:a16="http://schemas.microsoft.com/office/drawing/2014/main" id="{AE283DAF-F3EC-4670-2396-307C119F94E5}"/>
              </a:ext>
            </a:extLst>
          </p:cNvPr>
          <p:cNvSpPr/>
          <p:nvPr/>
        </p:nvSpPr>
        <p:spPr>
          <a:xfrm>
            <a:off x="241300" y="2624138"/>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6" name="IconTile_14">
            <a:extLst>
              <a:ext uri="{FF2B5EF4-FFF2-40B4-BE49-F238E27FC236}">
                <a16:creationId xmlns:a16="http://schemas.microsoft.com/office/drawing/2014/main" id="{0D89E6D8-72E2-2691-1509-4BFAC6C94B65}"/>
              </a:ext>
            </a:extLst>
          </p:cNvPr>
          <p:cNvSpPr/>
          <p:nvPr/>
        </p:nvSpPr>
        <p:spPr>
          <a:xfrm>
            <a:off x="241300" y="345757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7" name="IconTile_15">
            <a:extLst>
              <a:ext uri="{FF2B5EF4-FFF2-40B4-BE49-F238E27FC236}">
                <a16:creationId xmlns:a16="http://schemas.microsoft.com/office/drawing/2014/main" id="{AA309DC4-9908-39E1-A17F-9AC780864BD4}"/>
              </a:ext>
            </a:extLst>
          </p:cNvPr>
          <p:cNvSpPr/>
          <p:nvPr/>
        </p:nvSpPr>
        <p:spPr>
          <a:xfrm>
            <a:off x="241300" y="4289425"/>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8" name="IconTile_16">
            <a:extLst>
              <a:ext uri="{FF2B5EF4-FFF2-40B4-BE49-F238E27FC236}">
                <a16:creationId xmlns:a16="http://schemas.microsoft.com/office/drawing/2014/main" id="{51AF6B9E-9E0B-3054-FA6C-578C7067A427}"/>
              </a:ext>
            </a:extLst>
          </p:cNvPr>
          <p:cNvSpPr/>
          <p:nvPr/>
        </p:nvSpPr>
        <p:spPr>
          <a:xfrm>
            <a:off x="241300" y="5122863"/>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9" name="IconTile_17">
            <a:extLst>
              <a:ext uri="{FF2B5EF4-FFF2-40B4-BE49-F238E27FC236}">
                <a16:creationId xmlns:a16="http://schemas.microsoft.com/office/drawing/2014/main" id="{68D9E285-286E-65C6-EF6A-608A36ADD578}"/>
              </a:ext>
            </a:extLst>
          </p:cNvPr>
          <p:cNvSpPr/>
          <p:nvPr/>
        </p:nvSpPr>
        <p:spPr>
          <a:xfrm>
            <a:off x="2400300" y="1835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0" name="IconTile_18">
            <a:extLst>
              <a:ext uri="{FF2B5EF4-FFF2-40B4-BE49-F238E27FC236}">
                <a16:creationId xmlns:a16="http://schemas.microsoft.com/office/drawing/2014/main" id="{ACC9808B-DEC1-01D7-67D9-DC58C86D5210}"/>
              </a:ext>
            </a:extLst>
          </p:cNvPr>
          <p:cNvSpPr/>
          <p:nvPr/>
        </p:nvSpPr>
        <p:spPr>
          <a:xfrm>
            <a:off x="2400300" y="3994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1" name="IconTile_22">
            <a:extLst>
              <a:ext uri="{FF2B5EF4-FFF2-40B4-BE49-F238E27FC236}">
                <a16:creationId xmlns:a16="http://schemas.microsoft.com/office/drawing/2014/main" id="{F13D16AA-31D2-D4C7-C5F6-EB84F23E1E37}"/>
              </a:ext>
            </a:extLst>
          </p:cNvPr>
          <p:cNvSpPr/>
          <p:nvPr/>
        </p:nvSpPr>
        <p:spPr>
          <a:xfrm>
            <a:off x="4127500" y="460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2" name="IconTile_23">
            <a:extLst>
              <a:ext uri="{FF2B5EF4-FFF2-40B4-BE49-F238E27FC236}">
                <a16:creationId xmlns:a16="http://schemas.microsoft.com/office/drawing/2014/main" id="{EEE89A3B-EDB4-4A9E-68F2-BB0CBFB9E2FB}"/>
              </a:ext>
            </a:extLst>
          </p:cNvPr>
          <p:cNvSpPr/>
          <p:nvPr/>
        </p:nvSpPr>
        <p:spPr>
          <a:xfrm>
            <a:off x="7937500" y="1809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3" name="IconTile_24">
            <a:extLst>
              <a:ext uri="{FF2B5EF4-FFF2-40B4-BE49-F238E27FC236}">
                <a16:creationId xmlns:a16="http://schemas.microsoft.com/office/drawing/2014/main" id="{D16F8EE4-74B8-2858-C498-D400975BB25C}"/>
              </a:ext>
            </a:extLst>
          </p:cNvPr>
          <p:cNvSpPr/>
          <p:nvPr/>
        </p:nvSpPr>
        <p:spPr>
          <a:xfrm>
            <a:off x="7937500" y="33337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4" name="IconTile_25">
            <a:extLst>
              <a:ext uri="{FF2B5EF4-FFF2-40B4-BE49-F238E27FC236}">
                <a16:creationId xmlns:a16="http://schemas.microsoft.com/office/drawing/2014/main" id="{6BCDFBEE-B3F4-41FE-1B1F-772FBAC835C1}"/>
              </a:ext>
            </a:extLst>
          </p:cNvPr>
          <p:cNvSpPr/>
          <p:nvPr/>
        </p:nvSpPr>
        <p:spPr>
          <a:xfrm>
            <a:off x="7937500" y="4756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5" name="IconTile_26">
            <a:extLst>
              <a:ext uri="{FF2B5EF4-FFF2-40B4-BE49-F238E27FC236}">
                <a16:creationId xmlns:a16="http://schemas.microsoft.com/office/drawing/2014/main" id="{1546B9F4-CA18-9063-6C0D-98B318985A94}"/>
              </a:ext>
            </a:extLst>
          </p:cNvPr>
          <p:cNvSpPr/>
          <p:nvPr/>
        </p:nvSpPr>
        <p:spPr>
          <a:xfrm>
            <a:off x="9944100" y="19621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6" name="IconTile_27">
            <a:extLst>
              <a:ext uri="{FF2B5EF4-FFF2-40B4-BE49-F238E27FC236}">
                <a16:creationId xmlns:a16="http://schemas.microsoft.com/office/drawing/2014/main" id="{AEE94760-C711-1014-009F-ECC6D606B7C2}"/>
              </a:ext>
            </a:extLst>
          </p:cNvPr>
          <p:cNvSpPr/>
          <p:nvPr/>
        </p:nvSpPr>
        <p:spPr>
          <a:xfrm>
            <a:off x="9944100" y="381635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72" name="Pic">
            <a:extLst>
              <a:ext uri="{FF2B5EF4-FFF2-40B4-BE49-F238E27FC236}">
                <a16:creationId xmlns:a16="http://schemas.microsoft.com/office/drawing/2014/main" id="{6B14296E-016E-E84E-C928-9983C84E5B46}"/>
              </a:ext>
            </a:extLst>
          </p:cNvPr>
          <p:cNvPicPr>
            <a:picLocks/>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 uri="{6F801314-5768-4EAC-8CED-0F2297F94238}"/>
            </a:extLst>
          </a:blip>
          <a:stretch>
            <a:fillRect/>
          </a:stretch>
        </p:blipFill>
        <p:spPr bwMode="auto">
          <a:xfrm>
            <a:off x="7975600" y="1854200"/>
            <a:ext cx="152400" cy="152400"/>
          </a:xfrm>
          <a:prstGeom prst="rect">
            <a:avLst/>
          </a:prstGeom>
          <a:noFill/>
          <a:effectLst/>
        </p:spPr>
      </p:pic>
      <p:pic>
        <p:nvPicPr>
          <p:cNvPr id="71" name="Pic">
            <a:extLst>
              <a:ext uri="{FF2B5EF4-FFF2-40B4-BE49-F238E27FC236}">
                <a16:creationId xmlns:a16="http://schemas.microsoft.com/office/drawing/2014/main" id="{C361824D-E157-6668-CD9D-A3C312E468E1}"/>
              </a:ext>
            </a:extLst>
          </p:cNvPr>
          <p:cNvPicPr>
            <a:picLocks/>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5"/>
              </a:ext>
              <a:ext uri="{6F801314-5768-4EAC-8CED-0F2297F94238}"/>
            </a:extLst>
          </a:blip>
          <a:stretch>
            <a:fillRect/>
          </a:stretch>
        </p:blipFill>
        <p:spPr bwMode="auto">
          <a:xfrm>
            <a:off x="9982200" y="3860800"/>
            <a:ext cx="152400" cy="152400"/>
          </a:xfrm>
          <a:prstGeom prst="rect">
            <a:avLst/>
          </a:prstGeom>
          <a:noFill/>
          <a:effectLst/>
        </p:spPr>
      </p:pic>
      <p:pic>
        <p:nvPicPr>
          <p:cNvPr id="79" name="Pic">
            <a:extLst>
              <a:ext uri="{FF2B5EF4-FFF2-40B4-BE49-F238E27FC236}">
                <a16:creationId xmlns:a16="http://schemas.microsoft.com/office/drawing/2014/main" id="{2AE70126-D9B1-42A8-24FC-207C55151384}"/>
              </a:ext>
            </a:extLst>
          </p:cNvPr>
          <p:cNvPicPr>
            <a:picLocks/>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 uri="{6F801314-5768-4EAC-8CED-0F2297F94238}"/>
            </a:extLst>
          </a:blip>
          <a:stretch>
            <a:fillRect/>
          </a:stretch>
        </p:blipFill>
        <p:spPr bwMode="auto">
          <a:xfrm>
            <a:off x="4165600" y="4648200"/>
            <a:ext cx="152400" cy="152400"/>
          </a:xfrm>
          <a:prstGeom prst="rect">
            <a:avLst/>
          </a:prstGeom>
          <a:noFill/>
          <a:effectLst/>
        </p:spPr>
      </p:pic>
      <p:pic>
        <p:nvPicPr>
          <p:cNvPr id="80" name="Pic">
            <a:extLst>
              <a:ext uri="{FF2B5EF4-FFF2-40B4-BE49-F238E27FC236}">
                <a16:creationId xmlns:a16="http://schemas.microsoft.com/office/drawing/2014/main" id="{0A8428D7-C139-879A-DEEE-D4015A72D670}"/>
              </a:ext>
            </a:extLst>
          </p:cNvPr>
          <p:cNvPicPr>
            <a:picLocks/>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7"/>
              </a:ext>
              <a:ext uri="{6F801314-5768-4EAC-8CED-0F2297F94238}"/>
            </a:extLst>
          </a:blip>
          <a:stretch>
            <a:fillRect/>
          </a:stretch>
        </p:blipFill>
        <p:spPr bwMode="auto">
          <a:xfrm>
            <a:off x="7975600" y="4800600"/>
            <a:ext cx="152400" cy="152400"/>
          </a:xfrm>
          <a:prstGeom prst="rect">
            <a:avLst/>
          </a:prstGeom>
          <a:noFill/>
          <a:effectLst/>
        </p:spPr>
      </p:pic>
      <p:pic>
        <p:nvPicPr>
          <p:cNvPr id="81" name="Pic">
            <a:extLst>
              <a:ext uri="{FF2B5EF4-FFF2-40B4-BE49-F238E27FC236}">
                <a16:creationId xmlns:a16="http://schemas.microsoft.com/office/drawing/2014/main" id="{92570C12-EBAE-CD2C-134C-A2EF14FD0B72}"/>
              </a:ext>
            </a:extLst>
          </p:cNvPr>
          <p:cNvPicPr>
            <a:picLocks/>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 uri="{6F801314-5768-4EAC-8CED-0F2297F94238}"/>
            </a:extLst>
          </a:blip>
          <a:stretch>
            <a:fillRect/>
          </a:stretch>
        </p:blipFill>
        <p:spPr bwMode="auto">
          <a:xfrm>
            <a:off x="6502400" y="6210300"/>
            <a:ext cx="152400" cy="152400"/>
          </a:xfrm>
          <a:prstGeom prst="rect">
            <a:avLst/>
          </a:prstGeom>
          <a:noFill/>
          <a:effectLst/>
        </p:spPr>
      </p:pic>
      <p:pic>
        <p:nvPicPr>
          <p:cNvPr id="86" name="Pic">
            <a:extLst>
              <a:ext uri="{FF2B5EF4-FFF2-40B4-BE49-F238E27FC236}">
                <a16:creationId xmlns:a16="http://schemas.microsoft.com/office/drawing/2014/main" id="{1062F7C0-69BA-3F63-2277-441628CDD0BF}"/>
              </a:ext>
            </a:extLst>
          </p:cNvPr>
          <p:cNvPicPr>
            <a:picLocks/>
          </p:cNvPicPr>
          <p:nvPr>
            <p:custDataLst>
              <p:tags r:id="rId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9"/>
              </a:ext>
              <a:ext uri="{6F801314-5768-4EAC-8CED-0F2297F94238}"/>
            </a:extLst>
          </a:blip>
          <a:stretch>
            <a:fillRect/>
          </a:stretch>
        </p:blipFill>
        <p:spPr bwMode="auto">
          <a:xfrm>
            <a:off x="2438400" y="4038600"/>
            <a:ext cx="152400" cy="152400"/>
          </a:xfrm>
          <a:prstGeom prst="rect">
            <a:avLst/>
          </a:prstGeom>
          <a:noFill/>
          <a:effectLst/>
        </p:spPr>
      </p:pic>
      <p:pic>
        <p:nvPicPr>
          <p:cNvPr id="87" name="Pic">
            <a:extLst>
              <a:ext uri="{FF2B5EF4-FFF2-40B4-BE49-F238E27FC236}">
                <a16:creationId xmlns:a16="http://schemas.microsoft.com/office/drawing/2014/main" id="{FE526780-FBA2-86F2-95CC-80C9B6A9ACE1}"/>
              </a:ext>
            </a:extLst>
          </p:cNvPr>
          <p:cNvPicPr>
            <a:picLocks/>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 uri="{6F801314-5768-4EAC-8CED-0F2297F94238}"/>
            </a:extLst>
          </a:blip>
          <a:stretch>
            <a:fillRect/>
          </a:stretch>
        </p:blipFill>
        <p:spPr bwMode="auto">
          <a:xfrm>
            <a:off x="9982200" y="2006600"/>
            <a:ext cx="152400" cy="152400"/>
          </a:xfrm>
          <a:prstGeom prst="rect">
            <a:avLst/>
          </a:prstGeom>
          <a:noFill/>
          <a:effectLst/>
        </p:spPr>
      </p:pic>
      <p:cxnSp>
        <p:nvCxnSpPr>
          <p:cNvPr id="41" name="Connector: Elbow 40">
            <a:extLst>
              <a:ext uri="{FF2B5EF4-FFF2-40B4-BE49-F238E27FC236}">
                <a16:creationId xmlns:a16="http://schemas.microsoft.com/office/drawing/2014/main" id="{A3888D7C-C6FD-4176-E65A-09C47A859509}"/>
              </a:ext>
            </a:extLst>
          </p:cNvPr>
          <p:cNvCxnSpPr>
            <a:cxnSpLocks/>
            <a:stCxn id="12" idx="3"/>
            <a:endCxn id="17" idx="1"/>
          </p:cNvCxnSpPr>
          <p:nvPr/>
        </p:nvCxnSpPr>
        <p:spPr>
          <a:xfrm>
            <a:off x="1930400" y="2156619"/>
            <a:ext cx="406400" cy="561181"/>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5287B913-5B17-1C41-5D1A-2A6E8C86F5BA}"/>
              </a:ext>
            </a:extLst>
          </p:cNvPr>
          <p:cNvCxnSpPr>
            <a:cxnSpLocks/>
            <a:stCxn id="12" idx="3"/>
            <a:endCxn id="17" idx="1"/>
          </p:cNvCxnSpPr>
          <p:nvPr/>
        </p:nvCxnSpPr>
        <p:spPr>
          <a:xfrm>
            <a:off x="1930400" y="2156619"/>
            <a:ext cx="406400" cy="561181"/>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Elbow 73">
            <a:extLst>
              <a:ext uri="{FF2B5EF4-FFF2-40B4-BE49-F238E27FC236}">
                <a16:creationId xmlns:a16="http://schemas.microsoft.com/office/drawing/2014/main" id="{EFAE07E8-4030-739B-5554-A074C2FD70FF}"/>
              </a:ext>
            </a:extLst>
          </p:cNvPr>
          <p:cNvCxnSpPr>
            <a:cxnSpLocks/>
            <a:stCxn id="13" idx="3"/>
            <a:endCxn id="17" idx="1"/>
          </p:cNvCxnSpPr>
          <p:nvPr/>
        </p:nvCxnSpPr>
        <p:spPr>
          <a:xfrm flipV="1">
            <a:off x="1930400" y="2717800"/>
            <a:ext cx="406400" cy="272257"/>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Elbow 74">
            <a:extLst>
              <a:ext uri="{FF2B5EF4-FFF2-40B4-BE49-F238E27FC236}">
                <a16:creationId xmlns:a16="http://schemas.microsoft.com/office/drawing/2014/main" id="{F2773AA2-4402-BE95-68EC-522E844660D9}"/>
              </a:ext>
            </a:extLst>
          </p:cNvPr>
          <p:cNvCxnSpPr>
            <a:cxnSpLocks/>
            <a:stCxn id="14" idx="3"/>
            <a:endCxn id="17" idx="1"/>
          </p:cNvCxnSpPr>
          <p:nvPr/>
        </p:nvCxnSpPr>
        <p:spPr>
          <a:xfrm flipV="1">
            <a:off x="1930400" y="2717800"/>
            <a:ext cx="406400" cy="11049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Elbow 75">
            <a:extLst>
              <a:ext uri="{FF2B5EF4-FFF2-40B4-BE49-F238E27FC236}">
                <a16:creationId xmlns:a16="http://schemas.microsoft.com/office/drawing/2014/main" id="{22385FD0-542D-422C-E48C-57E64522906C}"/>
              </a:ext>
            </a:extLst>
          </p:cNvPr>
          <p:cNvCxnSpPr>
            <a:cxnSpLocks/>
            <a:stCxn id="15" idx="3"/>
            <a:endCxn id="17" idx="1"/>
          </p:cNvCxnSpPr>
          <p:nvPr/>
        </p:nvCxnSpPr>
        <p:spPr>
          <a:xfrm flipV="1">
            <a:off x="1930400" y="2717800"/>
            <a:ext cx="406400" cy="1937544"/>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Elbow 76">
            <a:extLst>
              <a:ext uri="{FF2B5EF4-FFF2-40B4-BE49-F238E27FC236}">
                <a16:creationId xmlns:a16="http://schemas.microsoft.com/office/drawing/2014/main" id="{4F7B528B-A10A-4805-5EE8-69883E3935B9}"/>
              </a:ext>
            </a:extLst>
          </p:cNvPr>
          <p:cNvCxnSpPr>
            <a:cxnSpLocks/>
            <a:stCxn id="16" idx="3"/>
            <a:endCxn id="17" idx="1"/>
          </p:cNvCxnSpPr>
          <p:nvPr/>
        </p:nvCxnSpPr>
        <p:spPr>
          <a:xfrm flipV="1">
            <a:off x="1930400" y="2717800"/>
            <a:ext cx="406400" cy="2770982"/>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F8580754-EEAD-DDA7-8565-A875A836DD2A}"/>
              </a:ext>
            </a:extLst>
          </p:cNvPr>
          <p:cNvCxnSpPr>
            <a:cxnSpLocks/>
            <a:stCxn id="17" idx="2"/>
            <a:endCxn id="18" idx="0"/>
          </p:cNvCxnSpPr>
          <p:nvPr/>
        </p:nvCxnSpPr>
        <p:spPr>
          <a:xfrm>
            <a:off x="3048000" y="3683000"/>
            <a:ext cx="0" cy="228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Elbow 81">
            <a:extLst>
              <a:ext uri="{FF2B5EF4-FFF2-40B4-BE49-F238E27FC236}">
                <a16:creationId xmlns:a16="http://schemas.microsoft.com/office/drawing/2014/main" id="{A586A190-37F5-87C8-B12A-CD3A2A6AA491}"/>
              </a:ext>
            </a:extLst>
          </p:cNvPr>
          <p:cNvCxnSpPr>
            <a:cxnSpLocks/>
            <a:stCxn id="18" idx="3"/>
            <a:endCxn id="19" idx="1"/>
          </p:cNvCxnSpPr>
          <p:nvPr/>
        </p:nvCxnSpPr>
        <p:spPr>
          <a:xfrm flipV="1">
            <a:off x="3759200" y="3022600"/>
            <a:ext cx="304800" cy="18542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Elbow 82">
            <a:extLst>
              <a:ext uri="{FF2B5EF4-FFF2-40B4-BE49-F238E27FC236}">
                <a16:creationId xmlns:a16="http://schemas.microsoft.com/office/drawing/2014/main" id="{BE3B68F7-CC25-F145-85DE-B285C6F2D58C}"/>
              </a:ext>
            </a:extLst>
          </p:cNvPr>
          <p:cNvCxnSpPr>
            <a:cxnSpLocks/>
            <a:stCxn id="21" idx="3"/>
            <a:endCxn id="23" idx="1"/>
          </p:cNvCxnSpPr>
          <p:nvPr/>
        </p:nvCxnSpPr>
        <p:spPr>
          <a:xfrm flipV="1">
            <a:off x="7569200" y="2463800"/>
            <a:ext cx="304800" cy="5588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36832616-16D9-F179-ABF8-422D3D4F1762}"/>
              </a:ext>
            </a:extLst>
          </p:cNvPr>
          <p:cNvCxnSpPr>
            <a:cxnSpLocks/>
            <a:stCxn id="23" idx="2"/>
            <a:endCxn id="24" idx="0"/>
          </p:cNvCxnSpPr>
          <p:nvPr/>
        </p:nvCxnSpPr>
        <p:spPr>
          <a:xfrm>
            <a:off x="8724900" y="3175000"/>
            <a:ext cx="0" cy="101600"/>
          </a:xfrm>
          <a:prstGeom prst="straightConnector1">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Elbow 89">
            <a:extLst>
              <a:ext uri="{FF2B5EF4-FFF2-40B4-BE49-F238E27FC236}">
                <a16:creationId xmlns:a16="http://schemas.microsoft.com/office/drawing/2014/main" id="{EE5FBBB5-2838-5DFF-A298-66627CE1F057}"/>
              </a:ext>
            </a:extLst>
          </p:cNvPr>
          <p:cNvCxnSpPr>
            <a:cxnSpLocks/>
            <a:stCxn id="25" idx="3"/>
            <a:endCxn id="26" idx="1"/>
          </p:cNvCxnSpPr>
          <p:nvPr/>
        </p:nvCxnSpPr>
        <p:spPr>
          <a:xfrm flipV="1">
            <a:off x="9575800" y="2743200"/>
            <a:ext cx="304800" cy="25273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Elbow 90">
            <a:extLst>
              <a:ext uri="{FF2B5EF4-FFF2-40B4-BE49-F238E27FC236}">
                <a16:creationId xmlns:a16="http://schemas.microsoft.com/office/drawing/2014/main" id="{58E3F1AD-34C5-3443-CCE8-5F75881B8291}"/>
              </a:ext>
            </a:extLst>
          </p:cNvPr>
          <p:cNvCxnSpPr>
            <a:cxnSpLocks/>
            <a:stCxn id="25" idx="3"/>
            <a:endCxn id="27" idx="1"/>
          </p:cNvCxnSpPr>
          <p:nvPr/>
        </p:nvCxnSpPr>
        <p:spPr>
          <a:xfrm flipV="1">
            <a:off x="9575800" y="4787900"/>
            <a:ext cx="304800" cy="482600"/>
          </a:xfrm>
          <a:prstGeom prst="bentConnector3">
            <a:avLst>
              <a:gd name="adj1" fmla="val 50000"/>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Freeform: Shape 91">
            <a:extLst>
              <a:ext uri="{FF2B5EF4-FFF2-40B4-BE49-F238E27FC236}">
                <a16:creationId xmlns:a16="http://schemas.microsoft.com/office/drawing/2014/main" id="{D73B3131-D510-963A-670C-9F8088841085}"/>
              </a:ext>
            </a:extLst>
          </p:cNvPr>
          <p:cNvSpPr/>
          <p:nvPr/>
        </p:nvSpPr>
        <p:spPr>
          <a:xfrm>
            <a:off x="7366000" y="4292600"/>
            <a:ext cx="508001" cy="114301"/>
          </a:xfrm>
          <a:custGeom>
            <a:avLst/>
            <a:gdLst/>
            <a:ahLst/>
            <a:cxnLst/>
            <a:rect l="0" t="0" r="0" b="0"/>
            <a:pathLst>
              <a:path w="508001" h="114301">
                <a:moveTo>
                  <a:pt x="0" y="0"/>
                </a:moveTo>
                <a:lnTo>
                  <a:pt x="0" y="114300"/>
                </a:lnTo>
                <a:lnTo>
                  <a:pt x="508000" y="114300"/>
                </a:ln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pic>
        <p:nvPicPr>
          <p:cNvPr id="94" name="Pic">
            <a:extLst>
              <a:ext uri="{FF2B5EF4-FFF2-40B4-BE49-F238E27FC236}">
                <a16:creationId xmlns:a16="http://schemas.microsoft.com/office/drawing/2014/main" id="{CF3DDF6E-5592-7E34-3697-236EFCEDEA04}"/>
              </a:ext>
            </a:extLst>
          </p:cNvPr>
          <p:cNvPicPr>
            <a:picLocks/>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1"/>
              </a:ext>
              <a:ext uri="{6F801314-5768-4EAC-8CED-0F2297F94238}"/>
            </a:extLst>
          </a:blip>
          <a:stretch>
            <a:fillRect/>
          </a:stretch>
        </p:blipFill>
        <p:spPr bwMode="auto">
          <a:xfrm>
            <a:off x="279400" y="1828800"/>
            <a:ext cx="152400" cy="152400"/>
          </a:xfrm>
          <a:prstGeom prst="rect">
            <a:avLst/>
          </a:prstGeom>
          <a:noFill/>
          <a:effectLst/>
        </p:spPr>
      </p:pic>
      <p:pic>
        <p:nvPicPr>
          <p:cNvPr id="95" name="Pic">
            <a:extLst>
              <a:ext uri="{FF2B5EF4-FFF2-40B4-BE49-F238E27FC236}">
                <a16:creationId xmlns:a16="http://schemas.microsoft.com/office/drawing/2014/main" id="{6F82BE66-F35D-BB29-941F-01411F726ECC}"/>
              </a:ext>
            </a:extLst>
          </p:cNvPr>
          <p:cNvPicPr>
            <a:picLocks/>
          </p:cNvPicPr>
          <p:nvPr>
            <p:custDataLst>
              <p:tags r:id="rId11"/>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 uri="{6F801314-5768-4EAC-8CED-0F2297F94238}"/>
            </a:extLst>
          </a:blip>
          <a:stretch>
            <a:fillRect/>
          </a:stretch>
        </p:blipFill>
        <p:spPr bwMode="auto">
          <a:xfrm>
            <a:off x="279400" y="2667000"/>
            <a:ext cx="152400" cy="152400"/>
          </a:xfrm>
          <a:prstGeom prst="rect">
            <a:avLst/>
          </a:prstGeom>
          <a:noFill/>
          <a:effectLst/>
        </p:spPr>
      </p:pic>
      <p:pic>
        <p:nvPicPr>
          <p:cNvPr id="97" name="Pic">
            <a:extLst>
              <a:ext uri="{FF2B5EF4-FFF2-40B4-BE49-F238E27FC236}">
                <a16:creationId xmlns:a16="http://schemas.microsoft.com/office/drawing/2014/main" id="{D4CC0FF8-247C-E234-1509-B0E0FB8C6233}"/>
              </a:ext>
            </a:extLst>
          </p:cNvPr>
          <p:cNvPicPr>
            <a:picLocks/>
          </p:cNvPicPr>
          <p:nvPr>
            <p:custDataLst>
              <p:tags r:id="rId1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3"/>
              </a:ext>
              <a:ext uri="{6F801314-5768-4EAC-8CED-0F2297F94238}"/>
            </a:extLst>
          </a:blip>
          <a:stretch>
            <a:fillRect/>
          </a:stretch>
        </p:blipFill>
        <p:spPr bwMode="auto">
          <a:xfrm>
            <a:off x="279400" y="3505200"/>
            <a:ext cx="152400" cy="152400"/>
          </a:xfrm>
          <a:prstGeom prst="rect">
            <a:avLst/>
          </a:prstGeom>
          <a:noFill/>
          <a:effectLst/>
        </p:spPr>
      </p:pic>
      <p:pic>
        <p:nvPicPr>
          <p:cNvPr id="98" name="Pic">
            <a:extLst>
              <a:ext uri="{FF2B5EF4-FFF2-40B4-BE49-F238E27FC236}">
                <a16:creationId xmlns:a16="http://schemas.microsoft.com/office/drawing/2014/main" id="{44F66FD3-3D92-1004-BA93-A20B64B1A917}"/>
              </a:ext>
            </a:extLst>
          </p:cNvPr>
          <p:cNvPicPr>
            <a:picLocks/>
          </p:cNvPicPr>
          <p:nvPr>
            <p:custDataLst>
              <p:tags r:id="rId1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4"/>
              </a:ext>
              <a:ext uri="{6F801314-5768-4EAC-8CED-0F2297F94238}"/>
            </a:extLst>
          </a:blip>
          <a:stretch>
            <a:fillRect/>
          </a:stretch>
        </p:blipFill>
        <p:spPr bwMode="auto">
          <a:xfrm>
            <a:off x="279400" y="5168900"/>
            <a:ext cx="152400" cy="152400"/>
          </a:xfrm>
          <a:prstGeom prst="rect">
            <a:avLst/>
          </a:prstGeom>
          <a:noFill/>
          <a:effectLst/>
        </p:spPr>
      </p:pic>
      <p:pic>
        <p:nvPicPr>
          <p:cNvPr id="96" name="Pic">
            <a:extLst>
              <a:ext uri="{FF2B5EF4-FFF2-40B4-BE49-F238E27FC236}">
                <a16:creationId xmlns:a16="http://schemas.microsoft.com/office/drawing/2014/main" id="{CE11A1FD-BCEB-FBFC-C262-CA205A065F56}"/>
              </a:ext>
            </a:extLst>
          </p:cNvPr>
          <p:cNvPicPr>
            <a:picLocks/>
          </p:cNvPicPr>
          <p:nvPr>
            <p:custDataLst>
              <p:tags r:id="rId1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5"/>
              </a:ext>
              <a:ext uri="{6F801314-5768-4EAC-8CED-0F2297F94238}"/>
            </a:extLst>
          </a:blip>
          <a:stretch>
            <a:fillRect/>
          </a:stretch>
        </p:blipFill>
        <p:spPr bwMode="auto">
          <a:xfrm>
            <a:off x="2438400" y="1879600"/>
            <a:ext cx="152400" cy="152400"/>
          </a:xfrm>
          <a:prstGeom prst="rect">
            <a:avLst/>
          </a:prstGeom>
          <a:noFill/>
          <a:effectLst/>
        </p:spPr>
      </p:pic>
      <p:pic>
        <p:nvPicPr>
          <p:cNvPr id="99" name="Pic">
            <a:extLst>
              <a:ext uri="{FF2B5EF4-FFF2-40B4-BE49-F238E27FC236}">
                <a16:creationId xmlns:a16="http://schemas.microsoft.com/office/drawing/2014/main" id="{5540C8FB-4685-5734-2222-7C479FE7530B}"/>
              </a:ext>
            </a:extLst>
          </p:cNvPr>
          <p:cNvPicPr>
            <a:picLocks/>
          </p:cNvPicPr>
          <p:nvPr>
            <p:custDataLst>
              <p:tags r:id="rId1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6"/>
              </a:ext>
              <a:ext uri="{6F801314-5768-4EAC-8CED-0F2297F94238}"/>
            </a:extLst>
          </a:blip>
          <a:stretch>
            <a:fillRect/>
          </a:stretch>
        </p:blipFill>
        <p:spPr bwMode="auto">
          <a:xfrm>
            <a:off x="7975600" y="3378200"/>
            <a:ext cx="152400" cy="152400"/>
          </a:xfrm>
          <a:prstGeom prst="rect">
            <a:avLst/>
          </a:prstGeom>
          <a:noFill/>
          <a:effectLst/>
        </p:spPr>
      </p:pic>
      <p:pic>
        <p:nvPicPr>
          <p:cNvPr id="101" name="Pic">
            <a:extLst>
              <a:ext uri="{FF2B5EF4-FFF2-40B4-BE49-F238E27FC236}">
                <a16:creationId xmlns:a16="http://schemas.microsoft.com/office/drawing/2014/main" id="{0F7359E9-7C8B-E6D7-8D02-F88E9382C14D}"/>
              </a:ext>
            </a:extLst>
          </p:cNvPr>
          <p:cNvPicPr>
            <a:picLocks/>
          </p:cNvPicPr>
          <p:nvPr>
            <p:custDataLst>
              <p:tags r:id="rId1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7"/>
              </a:ext>
              <a:ext uri="{6F801314-5768-4EAC-8CED-0F2297F94238}"/>
            </a:extLst>
          </a:blip>
          <a:stretch>
            <a:fillRect/>
          </a:stretch>
        </p:blipFill>
        <p:spPr bwMode="auto">
          <a:xfrm>
            <a:off x="279400" y="4330700"/>
            <a:ext cx="152400" cy="152400"/>
          </a:xfrm>
          <a:prstGeom prst="rect">
            <a:avLst/>
          </a:prstGeom>
          <a:noFill/>
          <a:effectLst/>
        </p:spPr>
      </p:pic>
      <p:cxnSp>
        <p:nvCxnSpPr>
          <p:cNvPr id="105" name="Straight Arrow Connector 104">
            <a:extLst>
              <a:ext uri="{FF2B5EF4-FFF2-40B4-BE49-F238E27FC236}">
                <a16:creationId xmlns:a16="http://schemas.microsoft.com/office/drawing/2014/main" id="{F0DAD7E8-1EA9-7324-7122-DA3E25583583}"/>
              </a:ext>
            </a:extLst>
          </p:cNvPr>
          <p:cNvCxnSpPr>
            <a:cxnSpLocks/>
            <a:stCxn id="24" idx="2"/>
            <a:endCxn id="25" idx="0"/>
          </p:cNvCxnSpPr>
          <p:nvPr/>
        </p:nvCxnSpPr>
        <p:spPr>
          <a:xfrm>
            <a:off x="8724900" y="4597400"/>
            <a:ext cx="0" cy="101600"/>
          </a:xfrm>
          <a:prstGeom prst="straightConnector1">
            <a:avLst/>
          </a:prstGeom>
          <a:ln w="158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0CA7A6E5-FA76-3E38-0179-E633381D5003}"/>
              </a:ext>
            </a:extLst>
          </p:cNvPr>
          <p:cNvSpPr/>
          <p:nvPr/>
        </p:nvSpPr>
        <p:spPr>
          <a:xfrm>
            <a:off x="3924300" y="4457700"/>
            <a:ext cx="3746500" cy="1517651"/>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4" name="Rectangle 33">
            <a:extLst>
              <a:ext uri="{FF2B5EF4-FFF2-40B4-BE49-F238E27FC236}">
                <a16:creationId xmlns:a16="http://schemas.microsoft.com/office/drawing/2014/main" id="{BA05A736-5D16-5C24-E00D-191E2373F76D}"/>
              </a:ext>
            </a:extLst>
          </p:cNvPr>
          <p:cNvSpPr/>
          <p:nvPr/>
        </p:nvSpPr>
        <p:spPr>
          <a:xfrm>
            <a:off x="3937001" y="1363756"/>
            <a:ext cx="3822700" cy="313690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6" name="Rectangle 35">
            <a:extLst>
              <a:ext uri="{FF2B5EF4-FFF2-40B4-BE49-F238E27FC236}">
                <a16:creationId xmlns:a16="http://schemas.microsoft.com/office/drawing/2014/main" id="{D8F8B1E5-DCE9-DA3D-03F9-996A9BBB8981}"/>
              </a:ext>
            </a:extLst>
          </p:cNvPr>
          <p:cNvSpPr/>
          <p:nvPr/>
        </p:nvSpPr>
        <p:spPr>
          <a:xfrm>
            <a:off x="63500" y="1272989"/>
            <a:ext cx="3873500" cy="4702362"/>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5" name="Rectangle 34">
            <a:extLst>
              <a:ext uri="{FF2B5EF4-FFF2-40B4-BE49-F238E27FC236}">
                <a16:creationId xmlns:a16="http://schemas.microsoft.com/office/drawing/2014/main" id="{E02A5440-D2C8-CD04-2858-EB1E37E78D3B}"/>
              </a:ext>
            </a:extLst>
          </p:cNvPr>
          <p:cNvSpPr/>
          <p:nvPr/>
        </p:nvSpPr>
        <p:spPr>
          <a:xfrm>
            <a:off x="7677150" y="1358900"/>
            <a:ext cx="2063750" cy="465455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7" name="Rectangle: Rounded Corners 36">
            <a:extLst>
              <a:ext uri="{FF2B5EF4-FFF2-40B4-BE49-F238E27FC236}">
                <a16:creationId xmlns:a16="http://schemas.microsoft.com/office/drawing/2014/main" id="{9E6C8D49-E96C-05DA-5A32-B29DD6E40132}"/>
              </a:ext>
            </a:extLst>
          </p:cNvPr>
          <p:cNvSpPr/>
          <p:nvPr/>
        </p:nvSpPr>
        <p:spPr>
          <a:xfrm>
            <a:off x="406400" y="3429000"/>
            <a:ext cx="9194800" cy="2514600"/>
          </a:xfrm>
          <a:prstGeom prst="roundRect">
            <a:avLst>
              <a:gd name="adj" fmla="val 3000"/>
            </a:avLst>
          </a:prstGeom>
          <a:solidFill>
            <a:schemeClr val="tx2">
              <a:lumMod val="10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9" name="TextBox 38">
            <a:extLst>
              <a:ext uri="{FF2B5EF4-FFF2-40B4-BE49-F238E27FC236}">
                <a16:creationId xmlns:a16="http://schemas.microsoft.com/office/drawing/2014/main" id="{69D89181-583C-2521-11BF-6F4BD18F076F}"/>
              </a:ext>
            </a:extLst>
          </p:cNvPr>
          <p:cNvSpPr txBox="1"/>
          <p:nvPr/>
        </p:nvSpPr>
        <p:spPr>
          <a:xfrm>
            <a:off x="533400" y="3505200"/>
            <a:ext cx="8940800" cy="381000"/>
          </a:xfrm>
          <a:prstGeom prst="rect">
            <a:avLst/>
          </a:prstGeom>
          <a:noFill/>
        </p:spPr>
        <p:txBody>
          <a:bodyPr vert="horz" rtlCol="0">
            <a:noAutofit/>
          </a:bodyPr>
          <a:lstStyle/>
          <a:p>
            <a:r>
              <a:rPr lang="en-US" b="1">
                <a:solidFill>
                  <a:schemeClr val="bg1"/>
                </a:solidFill>
              </a:rPr>
              <a:t>Genie answers stakeholders in plain English</a:t>
            </a:r>
            <a:endParaRPr lang="en-MY" dirty="0"/>
          </a:p>
        </p:txBody>
      </p:sp>
      <p:sp>
        <p:nvSpPr>
          <p:cNvPr id="40" name="Rectangle: Rounded Corners 39">
            <a:extLst>
              <a:ext uri="{FF2B5EF4-FFF2-40B4-BE49-F238E27FC236}">
                <a16:creationId xmlns:a16="http://schemas.microsoft.com/office/drawing/2014/main" id="{A21C75A9-843F-A25F-C57A-422DDB7FB699}"/>
              </a:ext>
            </a:extLst>
          </p:cNvPr>
          <p:cNvSpPr/>
          <p:nvPr/>
        </p:nvSpPr>
        <p:spPr>
          <a:xfrm>
            <a:off x="533400" y="3962400"/>
            <a:ext cx="8940800" cy="1854200"/>
          </a:xfrm>
          <a:prstGeom prst="roundRect">
            <a:avLst>
              <a:gd name="adj" fmla="val 3500"/>
            </a:avLst>
          </a:prstGeom>
          <a:noFill/>
          <a:ln w="9525" cap="flat" cmpd="sng" algn="ctr">
            <a:noFill/>
            <a:prstDash val="solid"/>
            <a:miter lim="800000"/>
          </a:ln>
          <a:effectLst/>
          <a:extLst>
            <a:ext uri="{909E8E84-426E-40DD-AFC4-6F175D3DCCD1}">
              <a14:hiddenFill xmlns:a14="http://schemas.microsoft.com/office/drawing/2010/main">
                <a:solidFill>
                  <a:schemeClr val="tx2">
                    <a:lumMod val="88000"/>
                    <a:lumOff val="12000"/>
                  </a:schemeClr>
                </a:solidFill>
              </a14:hiddenFill>
            </a:ext>
            <a:ext uri="{91240B29-F687-4F45-9708-019B960494DF}">
              <a14:hiddenLine xmlns:a14="http://schemas.microsoft.com/office/drawing/2010/main" w="9525" cap="flat" cmpd="sng" algn="ctr">
                <a:solidFill>
                  <a:schemeClr val="bg2">
                    <a:lumMod val="90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88900" rIns="88900" bIns="63500" rtlCol="0" anchor="t">
            <a:noAutofit/>
          </a:bodyPr>
          <a:lstStyle/>
          <a:p>
            <a:r>
              <a:rPr lang="en-MY" sz="1200" b="1">
                <a:solidFill>
                  <a:schemeClr val="bg1"/>
                </a:solidFill>
              </a:rPr>
              <a:t>Genie Agent · "FloodSense for agencies"</a:t>
            </a:r>
          </a:p>
        </p:txBody>
      </p:sp>
      <p:sp>
        <p:nvSpPr>
          <p:cNvPr id="52" name="Rectangle: Rounded Corners 51">
            <a:extLst>
              <a:ext uri="{FF2B5EF4-FFF2-40B4-BE49-F238E27FC236}">
                <a16:creationId xmlns:a16="http://schemas.microsoft.com/office/drawing/2014/main" id="{EDE853D4-6300-3612-424C-F9004AC17965}"/>
              </a:ext>
            </a:extLst>
          </p:cNvPr>
          <p:cNvSpPr/>
          <p:nvPr/>
        </p:nvSpPr>
        <p:spPr>
          <a:xfrm>
            <a:off x="533400" y="4292600"/>
            <a:ext cx="2898775" cy="13970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7 tables, 1 bundle</a:t>
            </a:r>
          </a:p>
          <a:p>
            <a:pPr marL="171450" indent="-171450">
              <a:spcBef>
                <a:spcPts val="600"/>
              </a:spcBef>
              <a:buFont typeface="Arial" panose="020B0604020202020204" pitchFamily="34" charset="0"/>
              <a:buChar char="•"/>
            </a:pPr>
            <a:r>
              <a:rPr lang="en-US" sz="1100">
                <a:solidFill>
                  <a:schemeClr val="bg1"/>
                </a:solidFill>
              </a:rPr>
              <a:t>Reads the scoreboard's 7 tables, views</a:t>
            </a:r>
            <a:endParaRPr lang="en-MY"/>
          </a:p>
          <a:p>
            <a:pPr marL="171450" indent="-171450">
              <a:spcBef>
                <a:spcPts val="600"/>
              </a:spcBef>
              <a:buFont typeface="Arial" panose="020B0604020202020204" pitchFamily="34" charset="0"/>
              <a:buChar char="•"/>
            </a:pPr>
            <a:r>
              <a:rPr lang="en-US" sz="1100">
                <a:solidFill>
                  <a:schemeClr val="bg1"/>
                </a:solidFill>
              </a:rPr>
              <a:t>Defined in the bundle</a:t>
            </a:r>
            <a:endParaRPr lang="en-MY"/>
          </a:p>
        </p:txBody>
      </p:sp>
      <p:sp>
        <p:nvSpPr>
          <p:cNvPr id="67" name="IconTile_17">
            <a:extLst>
              <a:ext uri="{FF2B5EF4-FFF2-40B4-BE49-F238E27FC236}">
                <a16:creationId xmlns:a16="http://schemas.microsoft.com/office/drawing/2014/main" id="{55FF2ABF-CA80-4D97-0874-16F6509D9EF1}"/>
              </a:ext>
            </a:extLst>
          </p:cNvPr>
          <p:cNvSpPr/>
          <p:nvPr/>
        </p:nvSpPr>
        <p:spPr>
          <a:xfrm>
            <a:off x="647700" y="44069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8" name="Rectangle: Rounded Corners 67">
            <a:extLst>
              <a:ext uri="{FF2B5EF4-FFF2-40B4-BE49-F238E27FC236}">
                <a16:creationId xmlns:a16="http://schemas.microsoft.com/office/drawing/2014/main" id="{79BFE756-E604-000E-C894-D5EE1DDCBA0D}"/>
              </a:ext>
            </a:extLst>
          </p:cNvPr>
          <p:cNvSpPr/>
          <p:nvPr/>
        </p:nvSpPr>
        <p:spPr>
          <a:xfrm>
            <a:off x="3554413" y="4292600"/>
            <a:ext cx="2898775" cy="13970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Shared language</a:t>
            </a:r>
          </a:p>
          <a:p>
            <a:pPr marL="171450" indent="-171450">
              <a:spcBef>
                <a:spcPts val="600"/>
              </a:spcBef>
              <a:buFont typeface="Arial" panose="020B0604020202020204" pitchFamily="34" charset="0"/>
              <a:buChar char="•"/>
            </a:pPr>
            <a:r>
              <a:rPr lang="en-US" sz="1100">
                <a:solidFill>
                  <a:schemeClr val="bg1"/>
                </a:solidFill>
              </a:rPr>
              <a:t>Defines "false alarm", "2026", "right now"</a:t>
            </a:r>
            <a:endParaRPr lang="en-MY"/>
          </a:p>
          <a:p>
            <a:pPr marL="171450" indent="-171450">
              <a:spcBef>
                <a:spcPts val="600"/>
              </a:spcBef>
              <a:buFont typeface="Arial" panose="020B0604020202020204" pitchFamily="34" charset="0"/>
              <a:buChar char="•"/>
            </a:pPr>
            <a:r>
              <a:rPr lang="en-US" sz="1100">
                <a:solidFill>
                  <a:schemeClr val="bg1"/>
                </a:solidFill>
              </a:rPr>
              <a:t>Synonyms, entity matching</a:t>
            </a:r>
            <a:endParaRPr lang="en-MY"/>
          </a:p>
          <a:p>
            <a:pPr marL="171450" indent="-171450">
              <a:spcBef>
                <a:spcPts val="600"/>
              </a:spcBef>
              <a:buFont typeface="Arial" panose="020B0604020202020204" pitchFamily="34" charset="0"/>
              <a:buChar char="•"/>
            </a:pPr>
            <a:r>
              <a:rPr lang="en-US" sz="1100">
                <a:solidFill>
                  <a:schemeClr val="bg1"/>
                </a:solidFill>
              </a:rPr>
              <a:t>7 SQL examples</a:t>
            </a:r>
            <a:endParaRPr lang="en-MY"/>
          </a:p>
        </p:txBody>
      </p:sp>
      <p:sp>
        <p:nvSpPr>
          <p:cNvPr id="69" name="IconTile_17">
            <a:extLst>
              <a:ext uri="{FF2B5EF4-FFF2-40B4-BE49-F238E27FC236}">
                <a16:creationId xmlns:a16="http://schemas.microsoft.com/office/drawing/2014/main" id="{BF51216C-CACB-6568-9F01-2F9881DF8B99}"/>
              </a:ext>
            </a:extLst>
          </p:cNvPr>
          <p:cNvSpPr/>
          <p:nvPr/>
        </p:nvSpPr>
        <p:spPr>
          <a:xfrm>
            <a:off x="3668713" y="44069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3" name="Rectangle: Rounded Corners 72">
            <a:extLst>
              <a:ext uri="{FF2B5EF4-FFF2-40B4-BE49-F238E27FC236}">
                <a16:creationId xmlns:a16="http://schemas.microsoft.com/office/drawing/2014/main" id="{A761B33F-E5E6-E34B-5C40-CDB1ABA03942}"/>
              </a:ext>
            </a:extLst>
          </p:cNvPr>
          <p:cNvSpPr/>
          <p:nvPr/>
        </p:nvSpPr>
        <p:spPr>
          <a:xfrm>
            <a:off x="6575425" y="4292600"/>
            <a:ext cx="2898775" cy="1397000"/>
          </a:xfrm>
          <a:prstGeom prst="roundRect">
            <a:avLst>
              <a:gd name="adj" fmla="val 3820"/>
            </a:avLst>
          </a:prstGeom>
          <a:solidFill>
            <a:schemeClr val="tx2">
              <a:lumMod val="88000"/>
              <a:lumOff val="12000"/>
            </a:schemeClr>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300" b="1">
                <a:solidFill>
                  <a:schemeClr val="bg1"/>
                </a:solidFill>
              </a:rPr>
              <a:t>In every view</a:t>
            </a:r>
          </a:p>
          <a:p>
            <a:pPr marL="171450" indent="-171450">
              <a:spcBef>
                <a:spcPts val="600"/>
              </a:spcBef>
              <a:buFont typeface="Arial" panose="020B0604020202020204" pitchFamily="34" charset="0"/>
              <a:buChar char="•"/>
            </a:pPr>
            <a:r>
              <a:rPr lang="en-US" sz="1100">
                <a:solidFill>
                  <a:schemeClr val="bg1"/>
                </a:solidFill>
              </a:rPr>
              <a:t>Asked from every app view via the Conversation API</a:t>
            </a:r>
            <a:endParaRPr lang="en-MY"/>
          </a:p>
          <a:p>
            <a:pPr marL="171450" indent="-171450">
              <a:spcBef>
                <a:spcPts val="600"/>
              </a:spcBef>
              <a:buFont typeface="Arial" panose="020B0604020202020204" pitchFamily="34" charset="0"/>
              <a:buChar char="•"/>
            </a:pPr>
            <a:r>
              <a:rPr lang="en-US" sz="1100">
                <a:solidFill>
                  <a:schemeClr val="bg1"/>
                </a:solidFill>
              </a:rPr>
              <a:t>Answers cached 6 hours</a:t>
            </a:r>
            <a:endParaRPr lang="en-MY"/>
          </a:p>
        </p:txBody>
      </p:sp>
      <p:sp>
        <p:nvSpPr>
          <p:cNvPr id="85" name="IconTile_17">
            <a:extLst>
              <a:ext uri="{FF2B5EF4-FFF2-40B4-BE49-F238E27FC236}">
                <a16:creationId xmlns:a16="http://schemas.microsoft.com/office/drawing/2014/main" id="{C249FCBE-4253-B772-2588-EA62747F6279}"/>
              </a:ext>
            </a:extLst>
          </p:cNvPr>
          <p:cNvSpPr/>
          <p:nvPr/>
        </p:nvSpPr>
        <p:spPr>
          <a:xfrm>
            <a:off x="6689725" y="4406900"/>
            <a:ext cx="228600" cy="2286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104" name="Pic">
            <a:extLst>
              <a:ext uri="{FF2B5EF4-FFF2-40B4-BE49-F238E27FC236}">
                <a16:creationId xmlns:a16="http://schemas.microsoft.com/office/drawing/2014/main" id="{D829D3E9-AC87-FB66-E9FF-D4D1B46A14F3}"/>
              </a:ext>
            </a:extLst>
          </p:cNvPr>
          <p:cNvPicPr>
            <a:picLocks/>
          </p:cNvPicPr>
          <p:nvPr>
            <p:custDataLst>
              <p:tags r:id="rId1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8"/>
              </a:ext>
              <a:ext uri="{6F801314-5768-4EAC-8CED-0F2297F94238}"/>
            </a:extLst>
          </a:blip>
          <a:stretch>
            <a:fillRect/>
          </a:stretch>
        </p:blipFill>
        <p:spPr bwMode="auto">
          <a:xfrm>
            <a:off x="673100" y="4432300"/>
            <a:ext cx="177800" cy="177800"/>
          </a:xfrm>
          <a:prstGeom prst="rect">
            <a:avLst/>
          </a:prstGeom>
          <a:noFill/>
          <a:effectLst/>
        </p:spPr>
      </p:pic>
      <p:pic>
        <p:nvPicPr>
          <p:cNvPr id="106" name="Pic">
            <a:extLst>
              <a:ext uri="{FF2B5EF4-FFF2-40B4-BE49-F238E27FC236}">
                <a16:creationId xmlns:a16="http://schemas.microsoft.com/office/drawing/2014/main" id="{AC915342-0585-445B-3CEB-43282E9218BB}"/>
              </a:ext>
            </a:extLst>
          </p:cNvPr>
          <p:cNvPicPr>
            <a:picLocks/>
          </p:cNvPicPr>
          <p:nvPr>
            <p:custDataLst>
              <p:tags r:id="rId18"/>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9"/>
              </a:ext>
              <a:ext uri="{6F801314-5768-4EAC-8CED-0F2297F94238}"/>
            </a:extLst>
          </a:blip>
          <a:stretch>
            <a:fillRect/>
          </a:stretch>
        </p:blipFill>
        <p:spPr bwMode="auto">
          <a:xfrm>
            <a:off x="3695700" y="4432300"/>
            <a:ext cx="177800" cy="177800"/>
          </a:xfrm>
          <a:prstGeom prst="rect">
            <a:avLst/>
          </a:prstGeom>
          <a:noFill/>
          <a:effectLst/>
        </p:spPr>
      </p:pic>
      <p:pic>
        <p:nvPicPr>
          <p:cNvPr id="107" name="Pic">
            <a:extLst>
              <a:ext uri="{FF2B5EF4-FFF2-40B4-BE49-F238E27FC236}">
                <a16:creationId xmlns:a16="http://schemas.microsoft.com/office/drawing/2014/main" id="{3C59C31D-E010-4072-2DD1-C52FA9BF6E7C}"/>
              </a:ext>
            </a:extLst>
          </p:cNvPr>
          <p:cNvPicPr>
            <a:picLocks/>
          </p:cNvPicPr>
          <p:nvPr>
            <p:custDataLst>
              <p:tags r:id="rId1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40"/>
              </a:ext>
              <a:ext uri="{6F801314-5768-4EAC-8CED-0F2297F94238}"/>
            </a:extLst>
          </a:blip>
          <a:stretch>
            <a:fillRect/>
          </a:stretch>
        </p:blipFill>
        <p:spPr bwMode="auto">
          <a:xfrm>
            <a:off x="6715125" y="4432300"/>
            <a:ext cx="177800" cy="177800"/>
          </a:xfrm>
          <a:prstGeom prst="rect">
            <a:avLst/>
          </a:prstGeom>
          <a:noFill/>
          <a:effectLst/>
        </p:spPr>
      </p:pic>
      <p:sp>
        <p:nvSpPr>
          <p:cNvPr id="113" name="Rectangle 112">
            <a:extLst>
              <a:ext uri="{FF2B5EF4-FFF2-40B4-BE49-F238E27FC236}">
                <a16:creationId xmlns:a16="http://schemas.microsoft.com/office/drawing/2014/main" id="{95A18C4A-7BD4-A90D-7891-9E7F226AEB42}"/>
              </a:ext>
            </a:extLst>
          </p:cNvPr>
          <p:cNvSpPr/>
          <p:nvPr/>
        </p:nvSpPr>
        <p:spPr>
          <a:xfrm>
            <a:off x="2006601" y="5988050"/>
            <a:ext cx="10041964" cy="678408"/>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600"/>
          </a:p>
        </p:txBody>
      </p:sp>
      <p:sp>
        <p:nvSpPr>
          <p:cNvPr id="114" name="Rectangle 113">
            <a:extLst>
              <a:ext uri="{FF2B5EF4-FFF2-40B4-BE49-F238E27FC236}">
                <a16:creationId xmlns:a16="http://schemas.microsoft.com/office/drawing/2014/main" id="{B8422412-65F2-6A26-A956-8F5F16931586}"/>
              </a:ext>
            </a:extLst>
          </p:cNvPr>
          <p:cNvSpPr/>
          <p:nvPr/>
        </p:nvSpPr>
        <p:spPr>
          <a:xfrm>
            <a:off x="9677400" y="1346200"/>
            <a:ext cx="2273300" cy="2324100"/>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600"/>
          </a:p>
        </p:txBody>
      </p:sp>
    </p:spTree>
    <p:extLst>
      <p:ext uri="{BB962C8B-B14F-4D97-AF65-F5344CB8AC3E}">
        <p14:creationId xmlns:p14="http://schemas.microsoft.com/office/powerpoint/2010/main" val="2169931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9" grpId="0"/>
      <p:bldP spid="40" grpId="0"/>
      <p:bldP spid="52" grpId="0" animBg="1"/>
      <p:bldP spid="67" grpId="0" animBg="1"/>
      <p:bldP spid="68" grpId="0" animBg="1"/>
      <p:bldP spid="69" grpId="0" animBg="1"/>
      <p:bldP spid="73" grpId="0" animBg="1"/>
      <p:bldP spid="85"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5B12E739-8526-FB14-1C6E-2C54387390FF}"/>
              </a:ext>
            </a:extLst>
          </p:cNvPr>
          <p:cNvGraphicFramePr>
            <a:graphicFrameLocks/>
          </p:cNvGraphicFramePr>
          <p:nvPr>
            <p:custDataLst>
              <p:tags r:id="rId1"/>
            </p:custDataLst>
            <p:extLst>
              <p:ext uri="{D42A27DB-BD31-4B8C-83A1-F6EECF244321}">
                <p14:modId xmlns:p14="http://schemas.microsoft.com/office/powerpoint/2010/main" val="11487289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43" imgH="443" progId="TCLayout.ActiveDocument.1">
                  <p:embed/>
                </p:oleObj>
              </mc:Choice>
              <mc:Fallback>
                <p:oleObj name="thinkcell Slide" r:id="rId10" imgW="443" imgH="443" progId="TCLayout.ActiveDocument.1">
                  <p:embed/>
                  <p:pic>
                    <p:nvPicPr>
                      <p:cNvPr id="22" name="thinkcell data - do not delete" hidden="1">
                        <a:extLst>
                          <a:ext uri="{FF2B5EF4-FFF2-40B4-BE49-F238E27FC236}">
                            <a16:creationId xmlns:a16="http://schemas.microsoft.com/office/drawing/2014/main" id="{5B12E739-8526-FB14-1C6E-2C54387390FF}"/>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EB2E83-F2F9-3658-4617-D7C0FD849A78}"/>
              </a:ext>
            </a:extLst>
          </p:cNvPr>
          <p:cNvSpPr>
            <a:spLocks noGrp="1"/>
          </p:cNvSpPr>
          <p:nvPr>
            <p:ph type="title"/>
          </p:nvPr>
        </p:nvSpPr>
        <p:spPr/>
        <p:txBody>
          <a:bodyPr/>
          <a:lstStyle/>
          <a:p>
            <a:r>
              <a:rPr lang="en-MY" dirty="0"/>
              <a:t>The Champion</a:t>
            </a:r>
          </a:p>
        </p:txBody>
      </p:sp>
      <p:sp>
        <p:nvSpPr>
          <p:cNvPr id="4" name="Content Placeholder 2">
            <a:extLst>
              <a:ext uri="{FF2B5EF4-FFF2-40B4-BE49-F238E27FC236}">
                <a16:creationId xmlns:a16="http://schemas.microsoft.com/office/drawing/2014/main" id="{69A4AF0A-9DD7-4028-CBFB-7A1650718A6E}"/>
              </a:ext>
            </a:extLst>
          </p:cNvPr>
          <p:cNvSpPr txBox="1">
            <a:spLocks/>
          </p:cNvSpPr>
          <p:nvPr/>
        </p:nvSpPr>
        <p:spPr>
          <a:xfrm>
            <a:off x="838200" y="1727200"/>
            <a:ext cx="10515600" cy="406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t>Every 5 min, it rates each of NEA's 47 areas for a PUB flood alert within the hour</a:t>
            </a:r>
            <a:endParaRPr lang="en-US" dirty="0"/>
          </a:p>
        </p:txBody>
      </p:sp>
      <p:sp>
        <p:nvSpPr>
          <p:cNvPr id="5" name="Rectangle: Rounded Corners 4">
            <a:extLst>
              <a:ext uri="{FF2B5EF4-FFF2-40B4-BE49-F238E27FC236}">
                <a16:creationId xmlns:a16="http://schemas.microsoft.com/office/drawing/2014/main" id="{EF903BE8-766B-C4F0-1CB4-65C194119754}"/>
              </a:ext>
            </a:extLst>
          </p:cNvPr>
          <p:cNvSpPr/>
          <p:nvPr/>
        </p:nvSpPr>
        <p:spPr>
          <a:xfrm>
            <a:off x="838200" y="2260600"/>
            <a:ext cx="10515600" cy="25146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27000" tIns="88900" rIns="88900" bIns="63500" rtlCol="0" anchor="t">
            <a:noAutofit/>
          </a:bodyPr>
          <a:lstStyle/>
          <a:p>
            <a:r>
              <a:rPr lang="en-MY" sz="1400" b="1">
                <a:solidFill>
                  <a:schemeClr val="tx1"/>
                </a:solidFill>
              </a:rPr>
              <a:t>How a rating is made</a:t>
            </a:r>
          </a:p>
        </p:txBody>
      </p:sp>
      <p:sp>
        <p:nvSpPr>
          <p:cNvPr id="6" name="Rectangle: Rounded Corners 5">
            <a:extLst>
              <a:ext uri="{FF2B5EF4-FFF2-40B4-BE49-F238E27FC236}">
                <a16:creationId xmlns:a16="http://schemas.microsoft.com/office/drawing/2014/main" id="{2DAA6822-4FE2-24C9-B7CD-6C2235B7405C}"/>
              </a:ext>
            </a:extLst>
          </p:cNvPr>
          <p:cNvSpPr/>
          <p:nvPr/>
        </p:nvSpPr>
        <p:spPr>
          <a:xfrm>
            <a:off x="838200" y="4902200"/>
            <a:ext cx="10515600" cy="1422400"/>
          </a:xfrm>
          <a:prstGeom prst="roundRect">
            <a:avLst>
              <a:gd name="adj" fmla="val 3500"/>
            </a:avLst>
          </a:prstGeom>
          <a:solidFill>
            <a:schemeClr val="bg2">
              <a:lumMod val="100000"/>
            </a:schemeClr>
          </a:solidFill>
          <a:ln w="9525" cap="flat" cmpd="sng" algn="ctr">
            <a:solidFill>
              <a:schemeClr val="bg2">
                <a:lumMod val="90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27000" tIns="88900" rIns="88900" bIns="63500" rtlCol="0" anchor="t">
            <a:noAutofit/>
          </a:bodyPr>
          <a:lstStyle/>
          <a:p>
            <a:r>
              <a:rPr lang="en-MY" sz="1400" b="1">
                <a:solidFill>
                  <a:schemeClr val="tx1"/>
                </a:solidFill>
              </a:rPr>
              <a:t>Trained and checked before going live</a:t>
            </a:r>
          </a:p>
        </p:txBody>
      </p:sp>
      <p:sp>
        <p:nvSpPr>
          <p:cNvPr id="7" name="Rectangle: Rounded Corners 6">
            <a:extLst>
              <a:ext uri="{FF2B5EF4-FFF2-40B4-BE49-F238E27FC236}">
                <a16:creationId xmlns:a16="http://schemas.microsoft.com/office/drawing/2014/main" id="{25E86EA6-5E0D-D640-D0C1-7AE9E3CC18EF}"/>
              </a:ext>
            </a:extLst>
          </p:cNvPr>
          <p:cNvSpPr/>
          <p:nvPr/>
        </p:nvSpPr>
        <p:spPr>
          <a:xfrm>
            <a:off x="939800" y="2616200"/>
            <a:ext cx="2311400" cy="2057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600" b="1" dirty="0">
                <a:solidFill>
                  <a:schemeClr val="tx1"/>
                </a:solidFill>
              </a:rPr>
              <a:t>Inputs</a:t>
            </a:r>
          </a:p>
          <a:p>
            <a:pPr>
              <a:spcBef>
                <a:spcPts val="600"/>
              </a:spcBef>
            </a:pPr>
            <a:r>
              <a:rPr lang="en-US" sz="1400" dirty="0">
                <a:solidFill>
                  <a:schemeClr val="tx1"/>
                </a:solidFill>
              </a:rPr>
              <a:t>Rain at the area, nearby and upwind; NEA's 2-hour forecast; weather and tide</a:t>
            </a:r>
            <a:endParaRPr lang="en-MY" dirty="0"/>
          </a:p>
        </p:txBody>
      </p:sp>
      <p:sp>
        <p:nvSpPr>
          <p:cNvPr id="8" name="IconTile_17">
            <a:extLst>
              <a:ext uri="{FF2B5EF4-FFF2-40B4-BE49-F238E27FC236}">
                <a16:creationId xmlns:a16="http://schemas.microsoft.com/office/drawing/2014/main" id="{9388A0BF-84EF-A445-D555-769B889398FD}"/>
              </a:ext>
            </a:extLst>
          </p:cNvPr>
          <p:cNvSpPr/>
          <p:nvPr/>
        </p:nvSpPr>
        <p:spPr>
          <a:xfrm>
            <a:off x="1028700" y="2705100"/>
            <a:ext cx="279400" cy="2794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Rectangle: Rounded Corners 8">
            <a:extLst>
              <a:ext uri="{FF2B5EF4-FFF2-40B4-BE49-F238E27FC236}">
                <a16:creationId xmlns:a16="http://schemas.microsoft.com/office/drawing/2014/main" id="{74432530-5D5D-FC5C-7D4A-C866B29E0BF5}"/>
              </a:ext>
            </a:extLst>
          </p:cNvPr>
          <p:cNvSpPr/>
          <p:nvPr/>
        </p:nvSpPr>
        <p:spPr>
          <a:xfrm>
            <a:off x="3606800" y="2616200"/>
            <a:ext cx="2311400" cy="2057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600" b="1" dirty="0">
                <a:solidFill>
                  <a:schemeClr val="tx1"/>
                </a:solidFill>
              </a:rPr>
              <a:t>Storm memory</a:t>
            </a:r>
          </a:p>
          <a:p>
            <a:pPr>
              <a:spcBef>
                <a:spcPts val="600"/>
              </a:spcBef>
            </a:pPr>
            <a:r>
              <a:rPr lang="en-US" sz="1400" dirty="0">
                <a:solidFill>
                  <a:schemeClr val="tx1"/>
                </a:solidFill>
              </a:rPr>
              <a:t>How long the storm has lasted, rain the drains haven't cleared, plus a physics-based simple drain simulation.</a:t>
            </a:r>
            <a:endParaRPr lang="en-US" dirty="0"/>
          </a:p>
        </p:txBody>
      </p:sp>
      <p:sp>
        <p:nvSpPr>
          <p:cNvPr id="10" name="IconTile_17">
            <a:extLst>
              <a:ext uri="{FF2B5EF4-FFF2-40B4-BE49-F238E27FC236}">
                <a16:creationId xmlns:a16="http://schemas.microsoft.com/office/drawing/2014/main" id="{8B0232C3-B3A0-3502-B414-AEE04976ADEB}"/>
              </a:ext>
            </a:extLst>
          </p:cNvPr>
          <p:cNvSpPr/>
          <p:nvPr/>
        </p:nvSpPr>
        <p:spPr>
          <a:xfrm>
            <a:off x="3695700" y="2705100"/>
            <a:ext cx="279400" cy="2794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Rectangle: Rounded Corners 10">
            <a:extLst>
              <a:ext uri="{FF2B5EF4-FFF2-40B4-BE49-F238E27FC236}">
                <a16:creationId xmlns:a16="http://schemas.microsoft.com/office/drawing/2014/main" id="{DB3D649B-00CB-6B35-1D86-8DEA73E3C8D7}"/>
              </a:ext>
            </a:extLst>
          </p:cNvPr>
          <p:cNvSpPr/>
          <p:nvPr/>
        </p:nvSpPr>
        <p:spPr>
          <a:xfrm>
            <a:off x="6273800" y="2616200"/>
            <a:ext cx="2311400" cy="2057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600" b="1">
                <a:solidFill>
                  <a:schemeClr val="tx1"/>
                </a:solidFill>
              </a:rPr>
              <a:t>Two-step model</a:t>
            </a:r>
          </a:p>
          <a:p>
            <a:pPr>
              <a:spcBef>
                <a:spcPts val="600"/>
              </a:spcBef>
            </a:pPr>
            <a:r>
              <a:rPr lang="en-US" sz="1400">
                <a:solidFill>
                  <a:schemeClr val="tx1"/>
                </a:solidFill>
              </a:rPr>
              <a:t>LightGBM #1 skips quiet periods, #2 rates the rest; thin area records lean on the island-wide rate</a:t>
            </a:r>
            <a:endParaRPr lang="en-US"/>
          </a:p>
        </p:txBody>
      </p:sp>
      <p:sp>
        <p:nvSpPr>
          <p:cNvPr id="12" name="IconTile_17">
            <a:extLst>
              <a:ext uri="{FF2B5EF4-FFF2-40B4-BE49-F238E27FC236}">
                <a16:creationId xmlns:a16="http://schemas.microsoft.com/office/drawing/2014/main" id="{3E68B1BD-AB35-A4D7-9595-044CAF150469}"/>
              </a:ext>
            </a:extLst>
          </p:cNvPr>
          <p:cNvSpPr/>
          <p:nvPr/>
        </p:nvSpPr>
        <p:spPr>
          <a:xfrm>
            <a:off x="6362700" y="2705100"/>
            <a:ext cx="279400" cy="2794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Rectangle: Rounded Corners 12">
            <a:extLst>
              <a:ext uri="{FF2B5EF4-FFF2-40B4-BE49-F238E27FC236}">
                <a16:creationId xmlns:a16="http://schemas.microsoft.com/office/drawing/2014/main" id="{5F92E110-7225-5745-F308-6FD7E8ACABDD}"/>
              </a:ext>
            </a:extLst>
          </p:cNvPr>
          <p:cNvSpPr/>
          <p:nvPr/>
        </p:nvSpPr>
        <p:spPr>
          <a:xfrm>
            <a:off x="8940800" y="2616200"/>
            <a:ext cx="2311400" cy="20574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600" b="1" dirty="0">
                <a:solidFill>
                  <a:schemeClr val="tx1"/>
                </a:solidFill>
              </a:rPr>
              <a:t>Risk rating</a:t>
            </a:r>
          </a:p>
          <a:p>
            <a:pPr>
              <a:spcBef>
                <a:spcPts val="600"/>
              </a:spcBef>
            </a:pPr>
            <a:r>
              <a:rPr lang="en-US" sz="1400" dirty="0">
                <a:solidFill>
                  <a:schemeClr val="tx1"/>
                </a:solidFill>
              </a:rPr>
              <a:t>Low &lt;3%, Moderate ≥3%, Elevated ≥5%; Stays a warning for 1 hour</a:t>
            </a:r>
            <a:endParaRPr lang="en-MY" dirty="0"/>
          </a:p>
        </p:txBody>
      </p:sp>
      <p:sp>
        <p:nvSpPr>
          <p:cNvPr id="14" name="IconTile_17">
            <a:extLst>
              <a:ext uri="{FF2B5EF4-FFF2-40B4-BE49-F238E27FC236}">
                <a16:creationId xmlns:a16="http://schemas.microsoft.com/office/drawing/2014/main" id="{B3A80A2E-154E-0D4F-F865-F115487F1D5C}"/>
              </a:ext>
            </a:extLst>
          </p:cNvPr>
          <p:cNvSpPr/>
          <p:nvPr/>
        </p:nvSpPr>
        <p:spPr>
          <a:xfrm>
            <a:off x="9029700" y="2705100"/>
            <a:ext cx="279400" cy="2794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5" name="Rectangle: Rounded Corners 14">
            <a:extLst>
              <a:ext uri="{FF2B5EF4-FFF2-40B4-BE49-F238E27FC236}">
                <a16:creationId xmlns:a16="http://schemas.microsoft.com/office/drawing/2014/main" id="{39387BBA-4648-04E0-36AA-79012DD079DD}"/>
              </a:ext>
            </a:extLst>
          </p:cNvPr>
          <p:cNvSpPr/>
          <p:nvPr/>
        </p:nvSpPr>
        <p:spPr>
          <a:xfrm>
            <a:off x="939800" y="5257800"/>
            <a:ext cx="5080000" cy="965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600" b="1">
                <a:solidFill>
                  <a:schemeClr val="tx1"/>
                </a:solidFill>
              </a:rPr>
              <a:t>Oct 2021 – Dec 2025</a:t>
            </a:r>
          </a:p>
          <a:p>
            <a:pPr>
              <a:spcBef>
                <a:spcPts val="600"/>
              </a:spcBef>
            </a:pPr>
            <a:r>
              <a:rPr lang="en-US" sz="1400">
                <a:solidFill>
                  <a:schemeClr val="tx1"/>
                </a:solidFill>
              </a:rPr>
              <a:t>Trained only where PUB alert and rain data are complete</a:t>
            </a:r>
            <a:endParaRPr lang="en-MY"/>
          </a:p>
        </p:txBody>
      </p:sp>
      <p:sp>
        <p:nvSpPr>
          <p:cNvPr id="16" name="IconTile_17">
            <a:extLst>
              <a:ext uri="{FF2B5EF4-FFF2-40B4-BE49-F238E27FC236}">
                <a16:creationId xmlns:a16="http://schemas.microsoft.com/office/drawing/2014/main" id="{A1FAD49D-A53B-9AF7-C058-799104F46081}"/>
              </a:ext>
            </a:extLst>
          </p:cNvPr>
          <p:cNvSpPr/>
          <p:nvPr/>
        </p:nvSpPr>
        <p:spPr>
          <a:xfrm>
            <a:off x="1028700" y="5346700"/>
            <a:ext cx="279400" cy="2794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7" name="Rectangle: Rounded Corners 16">
            <a:extLst>
              <a:ext uri="{FF2B5EF4-FFF2-40B4-BE49-F238E27FC236}">
                <a16:creationId xmlns:a16="http://schemas.microsoft.com/office/drawing/2014/main" id="{48E7E9F2-23EA-390F-D01B-D65AE09F4FAC}"/>
              </a:ext>
            </a:extLst>
          </p:cNvPr>
          <p:cNvSpPr/>
          <p:nvPr/>
        </p:nvSpPr>
        <p:spPr>
          <a:xfrm>
            <a:off x="6172200" y="5257800"/>
            <a:ext cx="5080000" cy="965200"/>
          </a:xfrm>
          <a:prstGeom prst="roundRect">
            <a:avLst>
              <a:gd name="adj" fmla="val 8000"/>
            </a:avLst>
          </a:prstGeom>
          <a:solidFill>
            <a:schemeClr val="bg1">
              <a:lumMod val="100000"/>
            </a:schemeClr>
          </a:solidFill>
          <a:ln w="9525" cap="flat" cmpd="sng" algn="ctr">
            <a:solidFill>
              <a:schemeClr val="bg2">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101600" tIns="114300" rIns="101600" bIns="76200" rtlCol="0" anchor="t">
            <a:noAutofit/>
          </a:bodyPr>
          <a:lstStyle/>
          <a:p>
            <a:pPr marL="355600"/>
            <a:r>
              <a:rPr lang="en-US" sz="1600" b="1">
                <a:solidFill>
                  <a:schemeClr val="tx1"/>
                </a:solidFill>
              </a:rPr>
              <a:t>MLflow + Unity Catalog</a:t>
            </a:r>
          </a:p>
          <a:p>
            <a:pPr>
              <a:spcBef>
                <a:spcPts val="600"/>
              </a:spcBef>
            </a:pPr>
            <a:r>
              <a:rPr lang="en-US" sz="1400">
                <a:solidFill>
                  <a:schemeClr val="tx1"/>
                </a:solidFill>
              </a:rPr>
              <a:t>Tracked, registered, passed 7 automated checks to go live</a:t>
            </a:r>
            <a:endParaRPr lang="en-MY"/>
          </a:p>
        </p:txBody>
      </p:sp>
      <p:sp>
        <p:nvSpPr>
          <p:cNvPr id="18" name="IconTile_17">
            <a:extLst>
              <a:ext uri="{FF2B5EF4-FFF2-40B4-BE49-F238E27FC236}">
                <a16:creationId xmlns:a16="http://schemas.microsoft.com/office/drawing/2014/main" id="{330241C0-D27B-33C4-63A6-D8FA99F6000E}"/>
              </a:ext>
            </a:extLst>
          </p:cNvPr>
          <p:cNvSpPr/>
          <p:nvPr/>
        </p:nvSpPr>
        <p:spPr>
          <a:xfrm>
            <a:off x="6261100" y="5346700"/>
            <a:ext cx="279400" cy="279400"/>
          </a:xfrm>
          <a:prstGeom prst="roundRect">
            <a:avLst>
              <a:gd name="adj" fmla="val 22000"/>
            </a:avLst>
          </a:prstGeom>
          <a:solidFill>
            <a:schemeClr val="accent1">
              <a:lumMod val="15000"/>
              <a:lumOff val="8500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19" name="Straight Arrow Connector 18">
            <a:extLst>
              <a:ext uri="{FF2B5EF4-FFF2-40B4-BE49-F238E27FC236}">
                <a16:creationId xmlns:a16="http://schemas.microsoft.com/office/drawing/2014/main" id="{F1B71351-7D77-B32F-7FBD-5A481D4FAD41}"/>
              </a:ext>
            </a:extLst>
          </p:cNvPr>
          <p:cNvCxnSpPr/>
          <p:nvPr/>
        </p:nvCxnSpPr>
        <p:spPr>
          <a:xfrm>
            <a:off x="3302000" y="3644900"/>
            <a:ext cx="254000" cy="0"/>
          </a:xfrm>
          <a:prstGeom prst="straightConnector1">
            <a:avLst/>
          </a:prstGeom>
          <a:ln w="1905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5498F87-57E0-5C42-8026-71124A60C049}"/>
              </a:ext>
            </a:extLst>
          </p:cNvPr>
          <p:cNvCxnSpPr/>
          <p:nvPr/>
        </p:nvCxnSpPr>
        <p:spPr>
          <a:xfrm>
            <a:off x="5969000" y="3644900"/>
            <a:ext cx="254000" cy="0"/>
          </a:xfrm>
          <a:prstGeom prst="straightConnector1">
            <a:avLst/>
          </a:prstGeom>
          <a:ln w="1905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2402A5FD-E5FB-2FCA-F988-251E687BA6B8}"/>
              </a:ext>
            </a:extLst>
          </p:cNvPr>
          <p:cNvCxnSpPr/>
          <p:nvPr/>
        </p:nvCxnSpPr>
        <p:spPr>
          <a:xfrm>
            <a:off x="8636000" y="3644900"/>
            <a:ext cx="254000" cy="0"/>
          </a:xfrm>
          <a:prstGeom prst="straightConnector1">
            <a:avLst/>
          </a:prstGeom>
          <a:ln w="19050">
            <a:solidFill>
              <a:schemeClr val="accent1"/>
            </a:solidFill>
            <a:tailEnd type="triangle"/>
          </a:ln>
        </p:spPr>
        <p:style>
          <a:lnRef idx="2">
            <a:schemeClr val="accent1"/>
          </a:lnRef>
          <a:fillRef idx="0">
            <a:schemeClr val="accent1"/>
          </a:fillRef>
          <a:effectRef idx="1">
            <a:schemeClr val="accent1"/>
          </a:effectRef>
          <a:fontRef idx="minor">
            <a:schemeClr val="tx1"/>
          </a:fontRef>
        </p:style>
      </p:cxnSp>
      <p:pic>
        <p:nvPicPr>
          <p:cNvPr id="23" name="Pic">
            <a:extLst>
              <a:ext uri="{FF2B5EF4-FFF2-40B4-BE49-F238E27FC236}">
                <a16:creationId xmlns:a16="http://schemas.microsoft.com/office/drawing/2014/main" id="{C77BB4EB-ACD0-749A-4651-77A6E04C5073}"/>
              </a:ext>
            </a:extLst>
          </p:cNvPr>
          <p:cNvPicPr>
            <a:picLocks/>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 uri="{6F801314-5768-4EAC-8CED-0F2297F94238}"/>
            </a:extLst>
          </a:blip>
          <a:stretch>
            <a:fillRect/>
          </a:stretch>
        </p:blipFill>
        <p:spPr bwMode="auto">
          <a:xfrm>
            <a:off x="1079500" y="2755900"/>
            <a:ext cx="177800" cy="177800"/>
          </a:xfrm>
          <a:prstGeom prst="rect">
            <a:avLst/>
          </a:prstGeom>
          <a:noFill/>
          <a:effectLst/>
        </p:spPr>
      </p:pic>
      <p:pic>
        <p:nvPicPr>
          <p:cNvPr id="25" name="Pic">
            <a:extLst>
              <a:ext uri="{FF2B5EF4-FFF2-40B4-BE49-F238E27FC236}">
                <a16:creationId xmlns:a16="http://schemas.microsoft.com/office/drawing/2014/main" id="{08E1E200-A997-1317-9199-0953BE70F9CD}"/>
              </a:ext>
            </a:extLst>
          </p:cNvPr>
          <p:cNvPicPr>
            <a:picLocks/>
          </p:cNvPicPr>
          <p:nvPr>
            <p:custDataLst>
              <p:tags r:id="rId3"/>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 uri="{6F801314-5768-4EAC-8CED-0F2297F94238}"/>
            </a:extLst>
          </a:blip>
          <a:stretch>
            <a:fillRect/>
          </a:stretch>
        </p:blipFill>
        <p:spPr bwMode="auto">
          <a:xfrm>
            <a:off x="3746500" y="2755900"/>
            <a:ext cx="177800" cy="177800"/>
          </a:xfrm>
          <a:prstGeom prst="rect">
            <a:avLst/>
          </a:prstGeom>
          <a:noFill/>
          <a:effectLst/>
        </p:spPr>
      </p:pic>
      <p:pic>
        <p:nvPicPr>
          <p:cNvPr id="26" name="Pic">
            <a:extLst>
              <a:ext uri="{FF2B5EF4-FFF2-40B4-BE49-F238E27FC236}">
                <a16:creationId xmlns:a16="http://schemas.microsoft.com/office/drawing/2014/main" id="{CD0AE863-6819-2809-065A-2BB788FF80DA}"/>
              </a:ext>
            </a:extLst>
          </p:cNvPr>
          <p:cNvPicPr>
            <a:picLocks/>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 uri="{6F801314-5768-4EAC-8CED-0F2297F94238}"/>
            </a:extLst>
          </a:blip>
          <a:stretch>
            <a:fillRect/>
          </a:stretch>
        </p:blipFill>
        <p:spPr bwMode="auto">
          <a:xfrm>
            <a:off x="6413500" y="2755900"/>
            <a:ext cx="177800" cy="177800"/>
          </a:xfrm>
          <a:prstGeom prst="rect">
            <a:avLst/>
          </a:prstGeom>
          <a:noFill/>
          <a:effectLst/>
        </p:spPr>
      </p:pic>
      <p:pic>
        <p:nvPicPr>
          <p:cNvPr id="28" name="Pic">
            <a:extLst>
              <a:ext uri="{FF2B5EF4-FFF2-40B4-BE49-F238E27FC236}">
                <a16:creationId xmlns:a16="http://schemas.microsoft.com/office/drawing/2014/main" id="{B08DF528-6B25-0FFA-FCDB-3ABF3D0813EB}"/>
              </a:ext>
            </a:extLst>
          </p:cNvPr>
          <p:cNvPicPr>
            <a:picLocks/>
          </p:cNvPicPr>
          <p:nvPr>
            <p:custDataLst>
              <p:tags r:id="rId5"/>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 uri="{6F801314-5768-4EAC-8CED-0F2297F94238}"/>
            </a:extLst>
          </a:blip>
          <a:stretch>
            <a:fillRect/>
          </a:stretch>
        </p:blipFill>
        <p:spPr bwMode="auto">
          <a:xfrm>
            <a:off x="9080500" y="2755900"/>
            <a:ext cx="177800" cy="177800"/>
          </a:xfrm>
          <a:prstGeom prst="rect">
            <a:avLst/>
          </a:prstGeom>
          <a:noFill/>
          <a:effectLst/>
        </p:spPr>
      </p:pic>
      <p:pic>
        <p:nvPicPr>
          <p:cNvPr id="24" name="Pic">
            <a:extLst>
              <a:ext uri="{FF2B5EF4-FFF2-40B4-BE49-F238E27FC236}">
                <a16:creationId xmlns:a16="http://schemas.microsoft.com/office/drawing/2014/main" id="{18B93783-593D-0A8E-3640-7E0B58D6466B}"/>
              </a:ext>
            </a:extLst>
          </p:cNvPr>
          <p:cNvPicPr>
            <a:picLocks/>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 uri="{6F801314-5768-4EAC-8CED-0F2297F94238}"/>
            </a:extLst>
          </a:blip>
          <a:stretch>
            <a:fillRect/>
          </a:stretch>
        </p:blipFill>
        <p:spPr bwMode="auto">
          <a:xfrm>
            <a:off x="1079500" y="5397500"/>
            <a:ext cx="177800" cy="177800"/>
          </a:xfrm>
          <a:prstGeom prst="rect">
            <a:avLst/>
          </a:prstGeom>
          <a:noFill/>
          <a:effectLst/>
        </p:spPr>
      </p:pic>
      <p:pic>
        <p:nvPicPr>
          <p:cNvPr id="27" name="Pic">
            <a:extLst>
              <a:ext uri="{FF2B5EF4-FFF2-40B4-BE49-F238E27FC236}">
                <a16:creationId xmlns:a16="http://schemas.microsoft.com/office/drawing/2014/main" id="{8EEEA3ED-6C49-EBAB-52E0-44C2FDA2FE0A}"/>
              </a:ext>
            </a:extLst>
          </p:cNvPr>
          <p:cNvPicPr>
            <a:picLocks/>
          </p:cNvPicPr>
          <p:nvPr>
            <p:custDataLst>
              <p:tags r:id="rId7"/>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 uri="{6F801314-5768-4EAC-8CED-0F2297F94238}"/>
            </a:extLst>
          </a:blip>
          <a:stretch>
            <a:fillRect/>
          </a:stretch>
        </p:blipFill>
        <p:spPr bwMode="auto">
          <a:xfrm>
            <a:off x="6311900" y="5397500"/>
            <a:ext cx="177800" cy="177800"/>
          </a:xfrm>
          <a:prstGeom prst="rect">
            <a:avLst/>
          </a:prstGeom>
          <a:noFill/>
          <a:effectLst/>
        </p:spPr>
      </p:pic>
    </p:spTree>
    <p:extLst>
      <p:ext uri="{BB962C8B-B14F-4D97-AF65-F5344CB8AC3E}">
        <p14:creationId xmlns:p14="http://schemas.microsoft.com/office/powerpoint/2010/main" val="25565024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7C1902-6079-4B19-E4EC-C39F4E3E4465}"/>
              </a:ext>
            </a:extLst>
          </p:cNvPr>
          <p:cNvSpPr/>
          <p:nvPr/>
        </p:nvSpPr>
        <p:spPr>
          <a:xfrm>
            <a:off x="838200" y="2095500"/>
            <a:ext cx="10515600" cy="3175000"/>
          </a:xfrm>
          <a:prstGeom prst="rect">
            <a:avLst/>
          </a:prstGeom>
          <a:solidFill>
            <a:schemeClr val="lt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77800" tIns="177800" rIns="177800" bIns="127000" rtlCol="0" anchor="t">
            <a:noAutofit/>
          </a:bodyPr>
          <a:lstStyle/>
          <a:p>
            <a:endParaRPr lang="en-MY"/>
          </a:p>
        </p:txBody>
      </p:sp>
      <p:graphicFrame>
        <p:nvGraphicFramePr>
          <p:cNvPr id="6" name="thinkcell data - do not delete" hidden="1">
            <a:extLst>
              <a:ext uri="{FF2B5EF4-FFF2-40B4-BE49-F238E27FC236}">
                <a16:creationId xmlns:a16="http://schemas.microsoft.com/office/drawing/2014/main" id="{C6F6236A-6A3D-C337-52F0-B10DBD3C5CB7}"/>
              </a:ext>
            </a:extLst>
          </p:cNvPr>
          <p:cNvGraphicFramePr>
            <a:graphicFrameLocks/>
          </p:cNvGraphicFramePr>
          <p:nvPr>
            <p:custDataLst>
              <p:tags r:id="rId1"/>
            </p:custDataLst>
            <p:extLst>
              <p:ext uri="{D42A27DB-BD31-4B8C-83A1-F6EECF244321}">
                <p14:modId xmlns:p14="http://schemas.microsoft.com/office/powerpoint/2010/main" val="10876813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43" imgH="443" progId="TCLayout.ActiveDocument.1">
                  <p:embed/>
                </p:oleObj>
              </mc:Choice>
              <mc:Fallback>
                <p:oleObj name="thinkcell Slide" r:id="rId4" imgW="443" imgH="443" progId="TCLayout.ActiveDocument.1">
                  <p:embed/>
                  <p:pic>
                    <p:nvPicPr>
                      <p:cNvPr id="6" name="thinkcell data - do not delete" hidden="1">
                        <a:extLst>
                          <a:ext uri="{FF2B5EF4-FFF2-40B4-BE49-F238E27FC236}">
                            <a16:creationId xmlns:a16="http://schemas.microsoft.com/office/drawing/2014/main" id="{C6F6236A-6A3D-C337-52F0-B10DBD3C5CB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F18BE07-D194-427B-B0E3-04DFE9AB1273}"/>
              </a:ext>
            </a:extLst>
          </p:cNvPr>
          <p:cNvSpPr>
            <a:spLocks noGrp="1"/>
          </p:cNvSpPr>
          <p:nvPr>
            <p:ph type="title"/>
          </p:nvPr>
        </p:nvSpPr>
        <p:spPr/>
        <p:txBody>
          <a:bodyPr/>
          <a:lstStyle/>
          <a:p>
            <a:r>
              <a:rPr lang="en-MY" b="1" dirty="0">
                <a:solidFill>
                  <a:schemeClr val="accent1">
                    <a:lumMod val="75000"/>
                  </a:schemeClr>
                </a:solidFill>
              </a:rPr>
              <a:t>ai-dev-kit</a:t>
            </a:r>
            <a:r>
              <a:rPr lang="en-MY" dirty="0"/>
              <a:t>: leaner builds</a:t>
            </a:r>
          </a:p>
        </p:txBody>
      </p:sp>
      <p:sp>
        <p:nvSpPr>
          <p:cNvPr id="3" name="TextBox 2">
            <a:extLst>
              <a:ext uri="{FF2B5EF4-FFF2-40B4-BE49-F238E27FC236}">
                <a16:creationId xmlns:a16="http://schemas.microsoft.com/office/drawing/2014/main" id="{041BF93E-F32C-F402-578A-7260C5FE8EC0}"/>
              </a:ext>
            </a:extLst>
          </p:cNvPr>
          <p:cNvSpPr txBox="1"/>
          <p:nvPr/>
        </p:nvSpPr>
        <p:spPr>
          <a:xfrm>
            <a:off x="1041400" y="2565400"/>
            <a:ext cx="10109200" cy="2540000"/>
          </a:xfrm>
          <a:prstGeom prst="rect">
            <a:avLst/>
          </a:prstGeom>
          <a:noFill/>
        </p:spPr>
        <p:txBody>
          <a:bodyPr vert="horz" rtlCol="0">
            <a:noAutofit/>
          </a:bodyPr>
          <a:lstStyle/>
          <a:p>
            <a:r>
              <a:rPr lang="en-US" sz="6600" b="1" dirty="0"/>
              <a:t>Cut Claude usage</a:t>
            </a:r>
            <a:endParaRPr lang="en-MY" dirty="0"/>
          </a:p>
          <a:p>
            <a:r>
              <a:rPr lang="en-US" sz="6600" b="1" dirty="0">
                <a:solidFill>
                  <a:schemeClr val="tx2">
                    <a:lumMod val="75000"/>
                    <a:lumOff val="25000"/>
                  </a:schemeClr>
                </a:solidFill>
              </a:rPr>
              <a:t>by about half</a:t>
            </a:r>
            <a:endParaRPr lang="en-MY" dirty="0">
              <a:solidFill>
                <a:schemeClr val="tx2">
                  <a:lumMod val="75000"/>
                  <a:lumOff val="25000"/>
                </a:schemeClr>
              </a:solidFill>
            </a:endParaRPr>
          </a:p>
        </p:txBody>
      </p:sp>
      <p:sp>
        <p:nvSpPr>
          <p:cNvPr id="5" name="Rectangle 4">
            <a:extLst>
              <a:ext uri="{FF2B5EF4-FFF2-40B4-BE49-F238E27FC236}">
                <a16:creationId xmlns:a16="http://schemas.microsoft.com/office/drawing/2014/main" id="{8937A39D-049B-16E5-832C-0220D053EDA9}"/>
              </a:ext>
            </a:extLst>
          </p:cNvPr>
          <p:cNvSpPr/>
          <p:nvPr/>
        </p:nvSpPr>
        <p:spPr>
          <a:xfrm>
            <a:off x="838200" y="2095500"/>
            <a:ext cx="10515600" cy="5080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40408149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wMAUAwAAAAAAAAAAAAAIAD///////////////8AAAD///////////////8DAAAAAgD///////8DAAAAAgD///////8DAAAAAgD///////8DAAAAAgD///////8DAAAAAgD///////////////////////////////////////////////////////////////////////////////////////////////////////////////////////////////////////////////////////////////////////////////////////////////////////////////////////////////////////////////////////////////////////////////////////////////////////////////////////////////////////////////////////////////////////////////////////////////////////////////////////////////////////////////8BACAA////////////////AAAO////////AwAAAAIA////////////////////////////////////////////////////////////////////////////////////////////////////////////////////////////////////////////////////////////////////////////////////////////////////////////////////////////////////////////////////////////////////////////////////////////////////////////////////////////////////////////////////////////////////////////////////////////////////////////////////////////////////////////////////////////////////////////////////////////////////////////////////////AgAFAP///////wQAAAACABAAC1pE9Ooz8ENPkdRf0y7Cj/wFAAAAAAADAAAAAAADAAAAAQADAAAAAAD///////8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pE9Ooz8ENPkdRf0y7Cj/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7590894"/>
  <p:tag name="EMPOWERCHARTSPROPERTIES_A_LENGTH" val="24576"/>
  <p:tag name="RUNTIME_ID" val="16acf1ac-cceb-491d-a6d1-e6cd071ec297"/>
</p:tagLst>
</file>

<file path=ppt/tags/tag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6.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688754"/>
  <p:tag name="EMPOWERCHARTSPROPERTIES_A_LENGTH" val="24576"/>
  <p:tag name="RUNTIME_ID" val="d5deb12e-56a9-4197-b833-8b2d72f808d2"/>
</p:tagLst>
</file>

<file path=ppt/tags/tag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9001175"/>
  <p:tag name="EMPOWERCHARTSPROPERTIES_A_LENGTH" val="24576"/>
  <p:tag name="RUNTIME_ID" val="5157e17a-719b-453a-aa1b-f7c797e9e3a2"/>
</p:tagLst>
</file>

<file path=ppt/tags/tag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1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1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12.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9001175"/>
  <p:tag name="EMPOWERCHARTSPROPERTIES_A_LENGTH" val="24576"/>
  <p:tag name="RUNTIME_ID" val="5157e17a-719b-453a-aa1b-f7c797e9e3a2"/>
</p:tagLst>
</file>

<file path=ppt/tags/tag1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wMAUAwAAAAAAAAAAAAAIAD///////////////8AAAD///////////////8DAAAAAgD///////8DAAAAAgD///////8DAAAAAgD///////8DAAAAAgD///////8DAAAAAgD///////////////////////////////////////////////////////////////////////////////////////////////////////////////////////////////////////////////////////////////////////////////////////////////////////////////////////////////////////////////////////////////////////////////////////////////////////////////////////////////////////////////////////////////////////////////////////////////////////////////////////////////////////////////8BACAA////////////////AAAO////////AwAAAAIA////////////////////////////////////////////////////////////////////////////////////////////////////////////////////////////////////////////////////////////////////////////////////////////////////////////////////////////////////////////////////////////////////////////////////////////////////////////////////////////////////////////////////////////////////////////////////////////////////////////////////////////////////////////////////////////////////////////////////////////////////////////////////////AgAFAP///////wQAAAACABAAC1pE9Ooz8ENPkdRf0y7Cj/wFAAAAAAADAAAAAAADAAAAAQADAAAAAAD///////8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pE9Ooz8ENPkdRf0y7Cj/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7590894"/>
  <p:tag name="EMPOWERCHARTSPROPERTIES_A_LENGTH" val="24576"/>
  <p:tag name="RUNTIME_ID" val="16acf1ac-cceb-491d-a6d1-e6cd071ec297"/>
</p:tagLst>
</file>

<file path=ppt/tags/tag16.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1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688754"/>
  <p:tag name="EMPOWERCHARTSPROPERTIES_A_LENGTH" val="24576"/>
  <p:tag name="RUNTIME_ID" val="d5deb12e-56a9-4197-b833-8b2d72f808d2"/>
</p:tagLst>
</file>

<file path=ppt/tags/tag1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9001175"/>
  <p:tag name="EMPOWERCHARTSPROPERTIES_A_LENGTH" val="24576"/>
  <p:tag name="RUNTIME_ID" val="5157e17a-719b-453a-aa1b-f7c797e9e3a2"/>
</p:tagLst>
</file>

<file path=ppt/tags/tag1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2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2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22.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2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24.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9001175"/>
  <p:tag name="EMPOWERCHARTSPROPERTIES_A_LENGTH" val="24576"/>
  <p:tag name="RUNTIME_ID" val="5157e17a-719b-453a-aa1b-f7c797e9e3a2"/>
</p:tagLst>
</file>

<file path=ppt/tags/tag2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2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2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3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3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32.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3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4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4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42.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4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44.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4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urLZhV6zmMhzi9wMwMvgr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_Fn8jJiee5h.NYtSZhNmP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Y6oCmra0OPDMOI.ZWtFM6Q"/>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wMAUAwAAAAAAAAAAAAAIAD///////////////8AAAD///////////////8DAAAAAgD///////8DAAAAAgD///////8DAAAAAgD///////8DAAAAAgD///////8DAAAAAgD///////////////////////////////////////////////////////////////////////////////////////////////////////////////////////////////////////////////////////////////////////////////////////////////////////////////////////////////////////////////////////////////////////////////////////////////////////////////////////////////////////////////////////////////////////////////////////////////////////////////////////////////////////////////8BACAA////////////////AAAO////////AwAAAAIA////////////////////////////////////////////////////////////////////////////////////////////////////////////////////////////////////////////////////////////////////////////////////////////////////////////////////////////////////////////////////////////////////////////////////////////////////////////////////////////////////////////////////////////////////////////////////////////////////////////////////////////////////////////////////////////////////////////////////////////////////////////////////////AgAFAP///////wQAAAACABAAC1pE9Ooz8ENPkdRf0y7Cj/wFAAAAAAADAAAAAAADAAAAAQADAAAAAAD///////8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pE9Ooz8ENPkdRf0y7Cj/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7590894"/>
  <p:tag name="EMPOWERCHARTSPROPERTIES_A_LENGTH" val="24576"/>
  <p:tag name="RUNTIME_ID" val="16acf1ac-cceb-491d-a6d1-e6cd071ec297"/>
</p:tagLst>
</file>

<file path=ppt/tags/tag5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52.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688754"/>
  <p:tag name="EMPOWERCHARTSPROPERTIES_A_LENGTH" val="24576"/>
  <p:tag name="RUNTIME_ID" val="d5deb12e-56a9-4197-b833-8b2d72f808d2"/>
</p:tagLst>
</file>

<file path=ppt/tags/tag5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9001175"/>
  <p:tag name="EMPOWERCHARTSPROPERTIES_A_LENGTH" val="24576"/>
  <p:tag name="RUNTIME_ID" val="5157e17a-719b-453a-aa1b-f7c797e9e3a2"/>
</p:tagLst>
</file>

<file path=ppt/tags/tag54.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5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56.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5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5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5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9001175"/>
  <p:tag name="EMPOWERCHARTSPROPERTIES_A_LENGTH" val="24576"/>
  <p:tag name="RUNTIME_ID" val="5157e17a-719b-453a-aa1b-f7c797e9e3a2"/>
</p:tagLst>
</file>

<file path=ppt/tags/tag6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wMAUAwAAAAAAAAAAAAAIAD///////////////8AAAD///////////////8DAAAAAgD///////8DAAAAAgD///////8DAAAAAgD///////8DAAAAAgD///////8DAAAAAgD///////////////////////////////////////////////////////////////////////////////////////////////////////////////////////////////////////////////////////////////////////////////////////////////////////////////////////////////////////////////////////////////////////////////////////////////////////////////////////////////////////////////////////////////////////////////////////////////////////////////////////////////////////////////8BACAA////////////////AAAO////////AwAAAAIA////////////////////////////////////////////////////////////////////////////////////////////////////////////////////////////////////////////////////////////////////////////////////////////////////////////////////////////////////////////////////////////////////////////////////////////////////////////////////////////////////////////////////////////////////////////////////////////////////////////////////////////////////////////////////////////////////////////////////////////////////////////////////////AgAFAP///////wQAAAACABAAC1pE9Ooz8ENPkdRf0y7Cj/wFAAAAAAADAAAAAAADAAAAAQADAAAAAAD///////8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pE9Ooz8ENPkdRf0y7Cj/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7590894"/>
  <p:tag name="EMPOWERCHARTSPROPERTIES_A_LENGTH" val="24576"/>
  <p:tag name="RUNTIME_ID" val="16acf1ac-cceb-491d-a6d1-e6cd071ec297"/>
</p:tagLst>
</file>

<file path=ppt/tags/tag66.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6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688754"/>
  <p:tag name="EMPOWERCHARTSPROPERTIES_A_LENGTH" val="24576"/>
  <p:tag name="RUNTIME_ID" val="d5deb12e-56a9-4197-b833-8b2d72f808d2"/>
</p:tagLst>
</file>

<file path=ppt/tags/tag6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9001175"/>
  <p:tag name="EMPOWERCHARTSPROPERTIES_A_LENGTH" val="24576"/>
  <p:tag name="RUNTIME_ID" val="5157e17a-719b-453a-aa1b-f7c797e9e3a2"/>
</p:tagLst>
</file>

<file path=ppt/tags/tag6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7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7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72.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7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74.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9001175"/>
  <p:tag name="EMPOWERCHARTSPROPERTIES_A_LENGTH" val="24576"/>
  <p:tag name="RUNTIME_ID" val="5157e17a-719b-453a-aa1b-f7c797e9e3a2"/>
</p:tagLst>
</file>

<file path=ppt/tags/tag7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wMAUAwAAAAAAAAAAAAAIAD///////////////8AAAD///////////////8DAAAAAgD///////8DAAAAAgD///////8DAAAAAgD///////8DAAAAAgD///////8DAAAAAgD///////////////////////////////////////////////////////////////////////////////////////////////////////////////////////////////////////////////////////////////////////////////////////////////////////////////////////////////////////////////////////////////////////////////////////////////////////////////////////////////////////////////////////////////////////////////////////////////////////////////////////////////////////////////8BACAA////////////////AAAO////////AwAAAAIA////////////////////////////////////////////////////////////////////////////////////////////////////////////////////////////////////////////////////////////////////////////////////////////////////////////////////////////////////////////////////////////////////////////////////////////////////////////////////////////////////////////////////////////////////////////////////////////////////////////////////////////////////////////////////////////////////////////////////////////////////////////////////////AgAFAP///////wQAAAACABAAC1pE9Ooz8ENPkdRf0y7Cj/wFAAAAAAADAAAAAAADAAAAAQADAAAAAAD///////8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pE9Ooz8ENPkdRf0y7Cj/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7590894"/>
  <p:tag name="EMPOWERCHARTSPROPERTIES_A_LENGTH" val="24576"/>
  <p:tag name="RUNTIME_ID" val="16acf1ac-cceb-491d-a6d1-e6cd071ec297"/>
</p:tagLst>
</file>

<file path=ppt/tags/tag7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7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688754"/>
  <p:tag name="EMPOWERCHARTSPROPERTIES_A_LENGTH" val="24576"/>
  <p:tag name="RUNTIME_ID" val="d5deb12e-56a9-4197-b833-8b2d72f808d2"/>
</p:tagLst>
</file>

<file path=ppt/tags/tag8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9001175"/>
  <p:tag name="EMPOWERCHARTSPROPERTIES_A_LENGTH" val="24576"/>
  <p:tag name="RUNTIME_ID" val="5157e17a-719b-453a-aa1b-f7c797e9e3a2"/>
</p:tagLst>
</file>

<file path=ppt/tags/tag8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82.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8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84.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8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86.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9001175"/>
  <p:tag name="EMPOWERCHARTSPROPERTIES_A_LENGTH" val="24576"/>
  <p:tag name="RUNTIME_ID" val="5157e17a-719b-453a-aa1b-f7c797e9e3a2"/>
</p:tagLst>
</file>

<file path=ppt/tags/tag8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EAAAAAAAAAAwAAAAMAAAAA/////wMAUAwAAAAAAAAAAAAAIAD///////////////8AAAD///////////////8DAAAAAgD///////8DAAAAAgD///////8DAAAAAgD///////8DAAAAAgD///////8DAAAAAgD///////////////////////////////////////////////////////////////////////////////////////////////////////////////////////////////////////////////////////////////////////////////////////////////////////////////////////////////////////////////////////////////////////////////////////////////////////////////////////////////////////////////////////////////////////////////////////////////////////////////////////////////////////////////8BACAA////////////////AAAO////////AwAAAAIA////////////////////////////////////////////////////////////////////////////////////////////////////////////////////////////////////////////////////////////////////////////////////////////////////////////////////////////////////////////////////////////////////////////////////////////////////////////////////////////////////////////////////////////////////////////////////////////////////////////////////////////////////////////////////////////////////////////////////////////////////////////////////////AgAFAP///////wQAAAACABAAC1pE9Ooz8ENPkdRf0y7Cj/wFAAAAAAADAAAAAAADAAAAAQADAAAAAAD///////8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pE9Ooz8ENPkdRf0y7Cj/wDRGF0YQAWAAAAAlBlcnNvbmFsSWQAAQAAAAAAAk5hbWUACwAAAFBlcnNvbmFsSWQAEFZlcnNpb24AAAAAAAlMYXN0V3JpdGUAfd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7590894"/>
  <p:tag name="EMPOWERCHARTSPROPERTIES_A_LENGTH" val="24576"/>
  <p:tag name="RUNTIME_ID" val="16acf1ac-cceb-491d-a6d1-e6cd071ec297"/>
</p:tagLst>
</file>

<file path=ppt/tags/tag94.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EAAAAAAAAAAwAAAAMAAAAA/////wMAXAwAAAAAAAAAAAAAIAD///////////////8AAAD///////////////8DAAAAAgD///////8DAAAAAgD///////8DAAAAAgD///////8DAAAAAgD///////////////////////////////////////////////////////////////////////////////////////////////////////////////////////////////////////////////////////////////////////////////////////////////////////////////////////////////////////////////////////////////////////////////////////////////////////////////////////////////////////////////////////////////////////////////////////////////////////////////////////////////////////////////////////////////8BACAA////////////////AAAO////////AwAAAAIA////////////////////////////////////////////////////////////////////////////////////////////////////////////////////////////////////////////////////////////////////////////////////////////////////////////////////////////////////////////////////////////////////////////////////////////////////////////////////////////////////////////////////////////////////////////////////////////////////////////////////////////////////////////////////////////////////////////////////////////////////////////////////////AgAEAP///////wQAAAACABAAC1EyNwlVm4JImabasrvuEzQFAAAAAAADAAAAAAADAAAAAQADAAAAAAD///////8DAAAAAAD///////8D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HgMAAAAAAAAAAAAACAB////////////////AAAA////////////////BAAAAAIA////////BAAAAAIA////////////////////////////////////////////////////////////////////////////////////////////////////////////////////////////////////////////////////////////////////////////////////////////////////////////////////////////////////////////////////////////////////////////////////////////////////////////////////////////////////////////////////////////////////////////////////////////////////////////////////////////////////////////////////////////////////////////////////////////////AQAgAf///////////////wAADv///////wQAAAACAP///////////////////////////////////////////////////////////////////////////////////////////////////////////////////////////////////////////////////////////////////////////////////////////////////////////////////////////////////////////////////////////////////////////////////////////////////////////////////////////////////////////////////////////////////////////////////////////////////////////////////////////////////////////////////////////////////////////////////////////////////////////////////////wIAAgEDAAAAAgD///////8MAAZQZXJzb25hbElkXzAFAAAAAAAEAAAAAAAEAAAAAQAEAAAAAAD///////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FEyNwlVm4JImabasrvuEzQDRGF0YQAWAAAAAlBlcnNvbmFsSWQAAQAAAAAAAk5hbWUACwAAAFBlcnNvbmFsSWQAEFZlcnNpb24AAAAAAAlMYXN0V3JpdGUA3t0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215908"/>
  <p:tag name="EMPOWERCHARTSPROPERTIES_A_LENGTH" val="24576"/>
  <p:tag name="RUNTIME_ID" val="d8b6bc76-88c3-4d45-bdb1-8d2d63624c32"/>
</p:tagLst>
</file>

<file path=ppt/tags/tag95.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HASSaL05CrGnSLVnyZT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HASSaL05CrGnSLVnyZTwDRGF0YQAWAAAAAlBlcnNvbmFsSWQAAQAAAAAAAk5hbWUACwAAAFBlcnNvbmFsSWQAEFZlcnNpb24AAAAAAAlMYXN0V3JpdGUALd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8688754"/>
  <p:tag name="EMPOWERCHARTSPROPERTIES_A_LENGTH" val="24576"/>
  <p:tag name="RUNTIME_ID" val="d5deb12e-56a9-4197-b833-8b2d72f808d2"/>
</p:tagLst>
</file>

<file path=ppt/tags/tag96.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9001175"/>
  <p:tag name="EMPOWERCHARTSPROPERTIES_A_LENGTH" val="24576"/>
  <p:tag name="RUNTIME_ID" val="5157e17a-719b-453a-aa1b-f7c797e9e3a2"/>
</p:tagLst>
</file>

<file path=ppt/tags/tag97.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98.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99.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100.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10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102.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yPzQ1hbclxBn7kpOLM1Bhk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CPzQ1hbclxBn7kpOLM1BhkDRGF0YQAWAAAAAlBlcnNvbmFsSWQAAQAAAAAAAk5hbWUACwAAAFBlcnNvbmFsSWQAEFZlcnNpb24AAAAAAAlMYXN0V3JpdGUATN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79001175"/>
  <p:tag name="EMPOWERCHARTSPROPERTIES_A_LENGTH" val="24576"/>
  <p:tag name="RUNTIME_ID" val="5157e17a-719b-453a-aa1b-f7c797e9e3a2"/>
</p:tagLst>
</file>

<file path=ppt/tags/tag103.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D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Q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wMAgAwAAAAAAAAAAAAAIAD///////////////8AAAD///////////////8DAAAAAgD///////////////////////////////////////////////////////////////////////////////////////////////////////////////////////////////////////////////////////////////////////////////////////////////////////////////////////////////////////////////////////////////////////////////////////////////////////////////////////////////////////////////////////////////////////////////////////////////////////////////////////////////////////////////////////////////////////////////////////////////////////////////8BACAA////////////////AAAO////////AwAAAAIA////////////////////////////////////////////////////////////////////////////////////////////////////////////////////////////////////////////////////////////////////////////////////////////////////////////////////////////////////////////////////////////////////////////////////////////////////////////////////////////////////////////////////////////////////////////////////////////////////////////////////////////////////////////////////////////////////////////////////////////////////////////////////////AgABAP///////wQAAAACABAAC0u67S5QD8dFgKzzyz3rOOY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DAIQMAAAAAAAAAAAAACAB////////////////AAAA////////////////BAAAAAIA////////////////////////////////////////////////////////////////////////////////////////////////////////////////////////////////////////////////////////////////////////////////////////////////////////////////////////////////////////////////////////////////////////////////////////////////////////////////////////////////////////////////////////////////////////////////////////////////////////////////////////////////////////////////////////////////////////////////////////////////////////////////AQAgAf///////////////wAADv///////wQAAAACAP///////////////////////////////////////////////////////////////////////////////////////////////////////////////////////////////////////////////////////////////////////////////////////////////////////////////////////////////////////////////////////////////////////////////////////////////////////////////////////////////////////////////////////////////////////////////////////////////////////////////////////////////////////////////////////////////////////////////////////////////////////////////////////wIAAQEDAAAAAgD///////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QBvDwAAAAAAAAAAAAD/////cABwAAAABV9pZAAQAAAABEu67S5QD8dFgKzzyz3rOOYDRGF0YQAWAAAAAlBlcnNvbmFsSWQAAQAAAAAAAk5hbWUACwAAAFBlcnNvbmFsSWQAEFZlcnNpb24AAAAAAAlMYXN0V3JpdGUAqt4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360703280099430"/>
  <p:tag name="EMPOWERCHARTSPROPERTIES_A_LENGTH" val="24576"/>
  <p:tag name="RUNTIME_ID" val="155d7f78-9094-4aaa-a015-edd0ac21d8b7"/>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pJUQUYLwkcNLlddGIInLhtA"/>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NgiQ9ZCBnnvEDmX.flYLMQ"/>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dUmkqJJPCUT_CyzkVBdZ1g"/>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6OgK.Cx7vplwnQueOlWDFQ"/>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cMhmwhYCW6dCVKFCyJ4PHg"/>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vpVKZLYPlFncdgWV6Rm9DQ"/>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_LEKiz8njOzdxTpgMcrIfw"/>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uTQe0rNINdb9Yg7q5KPylA"/>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TfB.8W1H1M8wg1jtA8wr0g"/>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8heaNl_AqgnkL8Mrtx1RIA"/>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2KRBhcDFWic3UtZ49AmapQ"/>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Upyqd5HNGt0ECS3i6VQJgg"/>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qQGKWt_j05x_r3Vr2NIvCw"/>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o.cwohzW4OQHLABH3p2dTQ"/>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9TSxTuvQ3Syx4EHvj5Y0_Q"/>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pJUQUYLwkcNLlddGIInLhtA"/>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NgiQ9ZCBnnvEDmX.flYLMQ"/>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dUmkqJJPCUT_CyzkVBdZ1g"/>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6OgK.Cx7vplwnQueOlWDFQ"/>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cMhmwhYCW6dCVKFCyJ4PHg"/>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zRxneDNyhgah4vlyg9WGCw"/>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vpVKZLYPlFncdgWV6Rm9DQ"/>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_LEKiz8njOzdxTpgMcrIfw"/>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uTQe0rNINdb9Yg7q5KPylA"/>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TfB.8W1H1M8wg1jtA8wr0g"/>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8heaNl_AqgnkL8Mrtx1RIA"/>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2KRBhcDFWic3UtZ49AmapQ"/>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Upyqd5HNGt0ECS3i6VQJgg"/>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qQGKWt_j05x_r3Vr2NIvCw"/>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o.cwohzW4OQHLABH3p2dTQ"/>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pJUQUYLwkcNLlddGIInLhtA"/>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NgiQ9ZCBnnvEDmX.flYLMQ"/>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dUmkqJJPCUT_CyzkVBdZ1g"/>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6OgK.Cx7vplwnQueOlWDFQ"/>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cMhmwhYCW6dCVKFCyJ4PHg"/>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zRxneDNyhgah4vlyg9WGCw"/>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vpVKZLYPlFncdgWV6Rm9DQ"/>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_LEKiz8njOzdxTpgMcrIfw"/>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uTQe0rNINdb9Yg7q5KPylA"/>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TfB.8W1H1M8wg1jtA8wr0g"/>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8heaNl_AqgnkL8Mrtx1RIA"/>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2KRBhcDFWic3UtZ49AmapQ"/>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Upyqd5HNGt0ECS3i6VQJgg"/>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qQGKWt_j05x_r3Vr2NIvCw"/>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o.cwohzW4OQHLABH3p2dTQ"/>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4EsinBOUXD6eA1N7podPwQ"/>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feYD25oxHrOVkVKFq3hxJg"/>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ZjuoiyMrJ67opADbzzK.g"/>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pJUQUYLwkcNLlddGIInLhtA"/>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NgiQ9ZCBnnvEDmX.flYLMQ"/>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dUmkqJJPCUT_CyzkVBdZ1g"/>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6OgK.Cx7vplwnQueOlWDFQ"/>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cMhmwhYCW6dCVKFCyJ4PHg"/>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zRxneDNyhgah4vlyg9WGCw"/>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vpVKZLYPlFncdgWV6Rm9DQ"/>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_LEKiz8njOzdxTpgMcrIfw"/>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uTQe0rNINdb9Yg7q5KPylA"/>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TfB.8W1H1M8wg1jtA8wr0g"/>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8heaNl_AqgnkL8Mrtx1RIA"/>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2KRBhcDFWic3UtZ49AmapQ"/>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Upyqd5HNGt0ECS3i6VQJgg"/>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qQGKWt_j05x_r3Vr2NIvCw"/>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o.cwohzW4OQHLABH3p2dTQ"/>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njVVDTByb7V_5YN5cgjeQA"/>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pdBbdkikH0gQ7OmW1fyIww"/>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TiJD3M8hwsjZmNmJNeNw"/>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pJUQUYLwkcNLlddGIInLhtA"/>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zRxneDNyhgah4vlyg9WGCw"/>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NgiQ9ZCBnnvEDmX.flYLMQ"/>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dUmkqJJPCUT_CyzkVBdZ1g"/>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6OgK.Cx7vplwnQueOlWDFQ"/>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cMhmwhYCW6dCVKFCyJ4PHg"/>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vpVKZLYPlFncdgWV6Rm9DQ"/>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_LEKiz8njOzdxTpgMcrIfw"/>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uTQe0rNINdb9Yg7q5KPylA"/>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TfB.8W1H1M8wg1jtA8wr0g"/>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8heaNl_AqgnkL8Mrtx1RIA"/>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2KRBhcDFWic3UtZ49AmapQ"/>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Upyqd5HNGt0ECS3i6VQJgg"/>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qQGKWt_j05x_r3Vr2NIvCw"/>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o.cwohzW4OQHLABH3p2dTQ"/>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XP5uc5J5JfcAoHFMWtCezw"/>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JUsmbWi15P5_VoqxuI9qIQ"/>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5N87_HvGWTCqsVtQCN1Tuw"/>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zaan6V5p_.VeCJDgFSOhxQ"/>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SAUuOoDK6Rixhz0x4ULiqg"/>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5DSYPyM1eCH_95.3NKb5Sg"/>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N3WUhUeHWHiL_WokAnEGOQ"/>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pJUQUYLwkcNLlddGIInLhtA"/>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NgiQ9ZCBnnvEDmX.flYLMQ"/>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dUmkqJJPCUT_CyzkVBdZ1g"/>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6OgK.Cx7vplwnQueOlWDFQ"/>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cMhmwhYCW6dCVKFCyJ4PHg"/>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vpVKZLYPlFncdgWV6Rm9DQ"/>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_LEKiz8njOzdxTpgMcrIfw"/>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uTQe0rNINdb9Yg7q5KPylA"/>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TfB.8W1H1M8wg1jtA8wr0g"/>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8heaNl_AqgnkL8Mrtx1RIA"/>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2KRBhcDFWic3UtZ49AmapQ"/>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Upyqd5HNGt0ECS3i6VQJgg"/>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qQGKWt_j05x_r3Vr2NIvCw"/>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o.cwohzW4OQHLABH3p2dTQ"/>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5ApKLtiXwOoXNxzRUmzkRQ"/>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B2ikEL5Mmnr0uBVQY1.OOA"/>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t4XorWYlOOdaISvD6g7H7w"/>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1a9sqG_6z8oiW4w5XjKB4w"/>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nOEf2rdaVyIL3dkq_kdXJQ"/>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pFQnVDSW39GOxz318wKmPA"/>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KFaG_33g2wL7al414eqD5A"/>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pJUQUYLwkcNLlddGIInLhtA"/>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NgiQ9ZCBnnvEDmX.flYLMQ"/>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dUmkqJJPCUT_CyzkVBdZ1g"/>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6OgK.Cx7vplwnQueOlWDFQ"/>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cMhmwhYCW6dCVKFCyJ4PHg"/>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zRxneDNyhgah4vlyg9WGCw"/>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vpVKZLYPlFncdgWV6Rm9DQ"/>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_LEKiz8njOzdxTpgMcrIfw"/>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uTQe0rNINdb9Yg7q5KPylA"/>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TfB.8W1H1M8wg1jtA8wr0g"/>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8heaNl_AqgnkL8Mrtx1RIA"/>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2KRBhcDFWic3UtZ49AmapQ"/>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Upyqd5HNGt0ECS3i6VQJgg"/>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qQGKWt_j05x_r3Vr2NIvCw"/>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o.cwohzW4OQHLABH3p2dTQ"/>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G3VSoQ0qmbO_QV8RCekMMQ"/>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EPBZmYE.JGH8ECNpV_qrSw"/>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_G1hYGzvFyFfovZ8fa3ZTQ"/>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syzF.ogcGnAabmw7QF9naA"/>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LSS0Hxi4EyzJiMzIbnoY9g"/>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Wkb9wM1w.9Y8obOFAlSmPQ"/>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pJUQUYLwkcNLlddGIInLhtA"/>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NgiQ9ZCBnnvEDmX.flYLMQ"/>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dUmkqJJPCUT_CyzkVBdZ1g"/>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6OgK.Cx7vplwnQueOlWDFQ"/>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cMhmwhYCW6dCVKFCyJ4PHg"/>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zRxneDNyhgah4vlyg9WGCw"/>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vpVKZLYPlFncdgWV6Rm9DQ"/>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_LEKiz8njOzdxTpgMcrIfw"/>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uTQe0rNINdb9Yg7q5KPylA"/>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TfB.8W1H1M8wg1jtA8wr0g"/>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8heaNl_AqgnkL8Mrtx1RIA"/>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2KRBhcDFWic3UtZ49AmapQ"/>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Upyqd5HNGt0ECS3i6VQJgg"/>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qQGKWt_j05x_r3Vr2NIvCw"/>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o.cwohzW4OQHLABH3p2dTQ"/>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UNI.DeGBGAp4mjNb7k6rtw"/>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01SUZbaCst2YgY.yh_Fkig"/>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L0sWFMfr1gzsItVmqhOWXQ"/>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5mu1O1asrOqiLSKqAOUAvw"/>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tS.tQsWISmBJoReKx9ftl3w"/>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pJUQUYLwkcNLlddGIInLhtA"/>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NgiQ9ZCBnnvEDmX.flYLMQ"/>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dUmkqJJPCUT_CyzkVBdZ1g"/>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6OgK.Cx7vplwnQueOlWDFQ"/>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cMhmwhYCW6dCVKFCyJ4PHg"/>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zRxneDNyhgah4vlyg9WGCw"/>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vpVKZLYPlFncdgWV6Rm9DQ"/>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_LEKiz8njOzdxTpgMcrIfw"/>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uTQe0rNINdb9Yg7q5KPylA"/>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TfB.8W1H1M8wg1jtA8wr0g"/>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8heaNl_AqgnkL8Mrtx1RIA"/>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2KRBhcDFWic3UtZ49AmapQ"/>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Upyqd5HNGt0ECS3i6VQJgg"/>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tqQGKWt_j05x_r3Vr2NIvCw"/>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o.cwohzW4OQHLABH3p2dTQ"/>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tm458Zso4CPPY5RqWoK6Uaw"/>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tKsGj9yJcvSFBCmTGK68j3Q"/>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x25lfLrWVhz.b6jFB9qa4Q"/>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ydN5e5WDJIUnnmpHJBUcQ"/>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0NCnz0kvBlAxF788IziCvg"/>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thReqPsN9GoUgGrW32hsGVg"/>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pJUQUYLwkcNLlddGIInLhtA"/>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tNgiQ9ZCBnnvEDmX.flYLMQ"/>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tdUmkqJJPCUT_CyzkVBdZ1g"/>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t6OgK.Cx7vplwnQueOlWDFQ"/>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tcMhmwhYCW6dCVKFCyJ4PHg"/>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tzRxneDNyhgah4vlyg9WGCw"/>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vpVKZLYPlFncdgWV6Rm9DQ"/>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t_LEKiz8njOzdxTpgMcrIfw"/>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tuTQe0rNINdb9Yg7q5KPylA"/>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tTfB.8W1H1M8wg1jtA8wr0g"/>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t8heaNl_AqgnkL8Mrtx1RIA"/>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2KRBhcDFWic3UtZ49AmapQ"/>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Upyqd5HNGt0ECS3i6VQJgg"/>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qQGKWt_j05x_r3Vr2NIvCw"/>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o.cwohzW4OQHLABH3p2dTQ"/>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t5Wj2pJZI9Qx18OjruHFjKg"/>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tf29L5zlj5z2PXYGJHCqopg"/>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yoKLz36OTDGPrP.mOyU.tw"/>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t5LxMcvWZo0_r120IEpPAag"/>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ijdAW2DjwhrGiuRlG_UYLQ"/>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yShuBZFzLc4nAotOsNpE3g"/>
</p:tagLst>
</file>

<file path=ppt/tags/tag309.xml><?xml version="1.0" encoding="utf-8"?>
<p:tagLst xmlns:a="http://schemas.openxmlformats.org/drawingml/2006/main" xmlns:r="http://schemas.openxmlformats.org/officeDocument/2006/relationships" xmlns:p="http://schemas.openxmlformats.org/presentationml/2006/main">
  <p:tag name="THINKCELLSHAPEDONOTDELETE" val="tZ_F702plT1iYl3H0_4ytoA"/>
</p:tagLst>
</file>

<file path=ppt/tags/tag310.xml><?xml version="1.0" encoding="utf-8"?>
<p:tagLst xmlns:a="http://schemas.openxmlformats.org/drawingml/2006/main" xmlns:r="http://schemas.openxmlformats.org/officeDocument/2006/relationships" xmlns:p="http://schemas.openxmlformats.org/presentationml/2006/main">
  <p:tag name="THINKCELLSHAPEDONOTDELETE" val="t5KuhkP.dAxEIhGNETiA7Iw"/>
</p:tagLst>
</file>

<file path=ppt/tags/tag311.xml><?xml version="1.0" encoding="utf-8"?>
<p:tagLst xmlns:a="http://schemas.openxmlformats.org/drawingml/2006/main" xmlns:r="http://schemas.openxmlformats.org/officeDocument/2006/relationships" xmlns:p="http://schemas.openxmlformats.org/presentationml/2006/main">
  <p:tag name="THINKCELLSHAPEDONOTDELETE" val="tK2RjRvUd448OfF6iCVjHig"/>
</p:tagLst>
</file>

<file path=ppt/tags/tag3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Custom 1">
      <a:dk1>
        <a:srgbClr val="0B2026"/>
      </a:dk1>
      <a:lt1>
        <a:srgbClr val="F9F7F4"/>
      </a:lt1>
      <a:dk2>
        <a:srgbClr val="1B3139"/>
      </a:dk2>
      <a:lt2>
        <a:srgbClr val="EEEDE9"/>
      </a:lt2>
      <a:accent1>
        <a:srgbClr val="FF3621"/>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atabricks">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643D66D-C9AA-40BF-BA35-0C46415D001B}">
  <we:reference id="wa200010725" version="1.0.0.1" store="en-US" storeType="OMEX"/>
  <we:alternateReferences>
    <we:reference id="WA200010725" version="1.0.0.1" store="" storeType="OMEX"/>
  </we:alternateReferences>
  <we:properties>
    <we:property name="claude.fileId" value="&quot;dacda28a-8c80-469f-8e04-0023e7a45b7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1407</TotalTime>
  <Words>5993</Words>
  <Application>Microsoft Office PowerPoint</Application>
  <PresentationFormat>Widescreen</PresentationFormat>
  <Paragraphs>938</Paragraphs>
  <Slides>36</Slides>
  <Notes>24</Notes>
  <HiddenSlides>12</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1" baseType="lpstr">
      <vt:lpstr>Aptos</vt:lpstr>
      <vt:lpstr>Arial</vt:lpstr>
      <vt:lpstr>Segoe UI</vt:lpstr>
      <vt:lpstr>Office Theme</vt:lpstr>
      <vt:lpstr>thinkcell Slide</vt:lpstr>
      <vt:lpstr>FloodSense</vt:lpstr>
      <vt:lpstr>Agenda</vt:lpstr>
      <vt:lpstr>Social Impact</vt:lpstr>
      <vt:lpstr>PUB Flood Alerts</vt:lpstr>
      <vt:lpstr>Problem</vt:lpstr>
      <vt:lpstr>Solution: FloodSense</vt:lpstr>
      <vt:lpstr>Solution: FloodSense</vt:lpstr>
      <vt:lpstr>Who benefits?</vt:lpstr>
      <vt:lpstr>Demo</vt:lpstr>
      <vt:lpstr>Metrics</vt:lpstr>
      <vt:lpstr>Metrics</vt:lpstr>
      <vt:lpstr>Why Databricks</vt:lpstr>
      <vt:lpstr>Why Databricks</vt:lpstr>
      <vt:lpstr>The Data Pipeline</vt:lpstr>
      <vt:lpstr>Designing a Model in Databricks</vt:lpstr>
      <vt:lpstr>Building an App</vt:lpstr>
      <vt:lpstr>Data Rigour</vt:lpstr>
      <vt:lpstr>Data sources: what the model reads</vt:lpstr>
      <vt:lpstr>Labels</vt:lpstr>
      <vt:lpstr>Handling of Messy Data</vt:lpstr>
      <vt:lpstr>Limitations</vt:lpstr>
      <vt:lpstr>Q&amp;A</vt:lpstr>
      <vt:lpstr>Physics-based Feature</vt:lpstr>
      <vt:lpstr>Did PUB fix flood hotspots over time, inflating rates in older data?</vt:lpstr>
      <vt:lpstr>One governed platform, from post to phone</vt:lpstr>
      <vt:lpstr>Data Sources</vt:lpstr>
      <vt:lpstr>Lakeflow Jobs || Serverless Compute</vt:lpstr>
      <vt:lpstr>Auto Loader, Unity Catalog Volume</vt:lpstr>
      <vt:lpstr>Lakehouse, Lakeflow Spark Declarative Pipelines, Medallion Architecture, Expectations, Delta Tables</vt:lpstr>
      <vt:lpstr>Unity Catalog, Secrets, One Bundle (DABS), Developer and Production Profiles, Experiments</vt:lpstr>
      <vt:lpstr>MLflow, @Challenger, @Champion, 14 Versions</vt:lpstr>
      <vt:lpstr>ML Schema, AI/BI dashboard, SQL Warehouse</vt:lpstr>
      <vt:lpstr>Databricks Apps, AI/BI Dashboard </vt:lpstr>
      <vt:lpstr>Genie Agent</vt:lpstr>
      <vt:lpstr>The Champion</vt:lpstr>
      <vt:lpstr>ai-dev-kit: leaner builds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KinZheng SeeTho</dc:creator>
  <cp:lastModifiedBy>KinZheng SeeTho</cp:lastModifiedBy>
  <cp:revision>49</cp:revision>
  <dcterms:created xsi:type="dcterms:W3CDTF">2026-10-26T05:53:44Z</dcterms:created>
  <dcterms:modified xsi:type="dcterms:W3CDTF">2026-10-29T08:35:10Z</dcterms:modified>
</cp:coreProperties>
</file>